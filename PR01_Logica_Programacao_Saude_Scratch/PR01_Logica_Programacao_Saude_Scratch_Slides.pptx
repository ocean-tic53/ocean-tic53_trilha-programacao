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5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27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35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22.xml" ContentType="application/vnd.openxmlformats-officedocument.presentationml.slide+xml"/>
  <Override PartName="/ppt/slides/slide34.xml" ContentType="application/vnd.openxmlformats-officedocument.presentationml.slide+xml"/>
  <Override PartName="/ppt/slides/slide23.xml" ContentType="application/vnd.openxmlformats-officedocument.presentationml.slide+xml"/>
  <Override PartName="/ppt/slides/slide35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notesSlides/_rels/notesSlide23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35.xml.rels" ContentType="application/vnd.openxmlformats-package.relationships+xml"/>
  <Override PartName="/ppt/notesSlides/_rels/notesSlide34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3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5.xml.rels" ContentType="application/vnd.openxmlformats-package.relationships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pt-BR" sz="1800" spc="-1" strike="noStrike">
                <a:solidFill>
                  <a:schemeClr val="dk1"/>
                </a:solidFill>
                <a:latin typeface="Lato"/>
              </a:rPr>
              <a:t>Clique para mover o slide</a:t>
            </a:r>
            <a:endParaRPr b="0" lang="pt-BR" sz="1800" spc="-1" strike="noStrike">
              <a:solidFill>
                <a:schemeClr val="dk1"/>
              </a:solidFill>
              <a:latin typeface="Lato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Clique para editar o formato de notas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&lt;cabeçalho&gt;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dt" idx="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ft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6"/>
          <p:cNvSpPr>
            <a:spLocks noGrp="1"/>
          </p:cNvSpPr>
          <p:nvPr>
            <p:ph type="sldNum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B1C8FB9-60C2-49DF-81B9-C06AF38F0EF9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Abertura. Posicionar o encontro como porta de entrada da Trilha de Programação. Reforçar: o objetivo não é decorar blocos do Scratch; é aprender a organizar soluções de forma lógica.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0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7A489A-5A82-48F1-A4C7-055EBE227F67}" type="slidenum">
              <a:rPr b="0" lang="pt-BR" sz="1200" spc="-1" strike="noStrike">
                <a:solidFill>
                  <a:schemeClr val="dk1"/>
                </a:solidFill>
                <a:latin typeface="+mn-lt"/>
                <a:ea typeface="+mn-ea"/>
              </a:rPr>
              <a:t>35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Explicar que este curso cria a base conceitual para a continuidade em Python. Não aprofundar sintaxe textual nesta etapa.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3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B527EB-09C1-4C63-A1F8-EA6630515A27}" type="slidenum">
              <a:rPr b="0" lang="pt-BR" sz="1200" spc="-1" strike="noStrike">
                <a:solidFill>
                  <a:schemeClr val="dk1"/>
                </a:solidFill>
                <a:latin typeface="+mn-lt"/>
                <a:ea typeface="+mn-ea"/>
              </a:rPr>
              <a:t>35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Apresentar quatro objetivos em linguagem simples. Destacar que a avaliação será pelo raciocínio, funcionamento, testes e explicação do algoritmo.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8B2009-4A85-4628-9B8F-7936292BF92A}" type="slidenum">
              <a:rPr b="0" lang="pt-BR" sz="1200" spc="-1" strike="noStrike">
                <a:solidFill>
                  <a:schemeClr val="dk1"/>
                </a:solidFill>
                <a:latin typeface="+mn-lt"/>
                <a:ea typeface="+mn-ea"/>
              </a:rPr>
              <a:t>35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5–10 min. Mostrar exemplos genéricos: aplicativo, wearable, sistema de alertas, dashboard. Evitar exemplos diagnósticos. Pedir à turma outros exemplos.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54BC12-C6F4-499B-BAA3-82548D2229A5}" type="slidenum">
              <a:rPr b="0" lang="pt-BR" sz="1200" spc="-1" strike="noStrike">
                <a:solidFill>
                  <a:schemeClr val="dk1"/>
                </a:solidFill>
                <a:latin typeface="+mn-lt"/>
                <a:ea typeface="+mn-ea"/>
              </a:rPr>
              <a:t>35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Introduzir o padrão entrada → processamento → saída. Reforçar que ele reaparece em aplicações de saúde e no projeto condutor.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2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9A4F5B-210D-4921-BEB2-8801E6526AE8}" type="slidenum">
              <a:rPr b="0" lang="pt-BR" sz="1200" spc="-1" strike="noStrike">
                <a:solidFill>
                  <a:schemeClr val="dk1"/>
                </a:solidFill>
                <a:latin typeface="+mn-lt"/>
                <a:ea typeface="+mn-ea"/>
              </a:rPr>
              <a:t>35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10–15 min. Perguntar exatamente: “Se precisássemos ensinar um computador a receber um dado, analisar uma regra e responder, quais passos seriam necessários?”. Registrar 3–5 respostas.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5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7F2404-EF77-4A73-A3DA-B166F9A3CFD5}" type="slidenum">
              <a:rPr b="0" lang="pt-BR" sz="1200" spc="-1" strike="noStrike">
                <a:solidFill>
                  <a:schemeClr val="dk1"/>
                </a:solidFill>
                <a:latin typeface="+mn-lt"/>
                <a:ea typeface="+mn-ea"/>
              </a:rPr>
              <a:t>35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15–23 min. Definir algoritmo. Usar exemplo cotidiano curto. Depois decompor o projeto do wearable em entrada, processamento e saída.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8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563265-18E1-4D4D-83F4-774D5DA9B85C}" type="slidenum">
              <a:rPr b="0" lang="pt-BR" sz="1200" spc="-1" strike="noStrike">
                <a:solidFill>
                  <a:schemeClr val="dk1"/>
                </a:solidFill>
                <a:latin typeface="+mn-lt"/>
                <a:ea typeface="+mn-ea"/>
              </a:rPr>
              <a:t>35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Decompor o projeto do wearable em quatro ações: receber, armazenar, comparar e responder. Pedir à turma para nomear as etapas.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1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00AF75-908F-4A16-AD4B-E4B5CF408044}" type="slidenum">
              <a:rPr b="0" lang="pt-BR" sz="1200" spc="-1" strike="noStrike">
                <a:solidFill>
                  <a:schemeClr val="dk1"/>
                </a:solidFill>
                <a:latin typeface="+mn-lt"/>
                <a:ea typeface="+mn-ea"/>
              </a:rPr>
              <a:t>35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Atividade rápida: apresentar uma sequência fora de ordem e pedir que os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participantes a reorganizem.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4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39EC5F-ACEB-44E9-BC4A-252B18E16287}" type="slidenum">
              <a:rPr b="0" lang="pt-BR" sz="1200" spc="-1" strike="noStrike">
                <a:solidFill>
                  <a:schemeClr val="dk1"/>
                </a:solidFill>
                <a:latin typeface="+mn-lt"/>
                <a:ea typeface="+mn-ea"/>
              </a:rPr>
              <a:t>35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23–30 min. Desenhar o fluxo receber → armazenar → comparar → responder. Reforçar que 30 e 70 são limites didáticos, não clínicos.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7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97FBC9-B205-4490-8D80-892C210BC15A}" type="slidenum">
              <a:rPr b="0" lang="pt-BR" sz="1200" spc="-1" strike="noStrike">
                <a:solidFill>
                  <a:schemeClr val="dk1"/>
                </a:solidFill>
                <a:latin typeface="+mn-lt"/>
                <a:ea typeface="+mn-ea"/>
              </a:rPr>
              <a:t>35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30–40 min. Abrir o Scratch ao vivo. Localizar blocos, scripts, palco e atores. Este slide serve também como contingência caso a projeção ao vivo falhe.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0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7A72B10-F6FD-4FF3-A777-2E65B24E6EDC}" type="slidenum">
              <a:rPr b="0" lang="pt-BR" sz="1200" spc="-1" strike="noStrike">
                <a:solidFill>
                  <a:schemeClr val="dk1"/>
                </a:solidFill>
                <a:latin typeface="+mn-lt"/>
                <a:ea typeface="+mn-ea"/>
              </a:rPr>
              <a:t>35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Criar ao vivo: quando bandeira verde clicada → dizer → esperar → dizer. Pedir que os participantes reproduzam e alterem a ordem para observar o efeito.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3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59915E-623C-47B1-B507-3E9BF7223DE5}" type="slidenum">
              <a:rPr b="0" lang="pt-BR" sz="1200" spc="-1" strike="noStrike">
                <a:solidFill>
                  <a:schemeClr val="dk1"/>
                </a:solidFill>
                <a:latin typeface="+mn-lt"/>
                <a:ea typeface="+mn-ea"/>
              </a:rPr>
              <a:t>35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40–50 min. Criar valorSensor. Explicar variável como nome associado a valor que pode mudar. Mostrar diferença entre “resposta” e variável criada pelo programador.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6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843996-F12E-4391-A121-FD6426C7406A}" type="slidenum">
              <a:rPr b="0" lang="pt-BR" sz="1200" spc="-1" strike="noStrike">
                <a:solidFill>
                  <a:schemeClr val="dk1"/>
                </a:solidFill>
                <a:latin typeface="+mn-lt"/>
                <a:ea typeface="+mn-ea"/>
              </a:rPr>
              <a:t>35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Criar a variável valorSensor e observar seu valor no palco. Executar com 20, 50 e 90.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9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5104FD-4ADC-4CD8-B3F5-C24F062BDE2C}" type="slidenum">
              <a:rPr b="0" lang="pt-BR" sz="1200" spc="-1" strike="noStrike">
                <a:solidFill>
                  <a:schemeClr val="dk1"/>
                </a:solidFill>
                <a:latin typeface="+mn-lt"/>
                <a:ea typeface="+mn-ea"/>
              </a:rPr>
              <a:t>35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50–60 min. Adicionar “perguntar ... e esperar” e “definir valorSensor para resposta”. Executar com três valores.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2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625201-87F6-4109-83D2-D08F68E12A94}" type="slidenum">
              <a:rPr b="0" lang="pt-BR" sz="1200" spc="-1" strike="noStrike">
                <a:solidFill>
                  <a:schemeClr val="dk1"/>
                </a:solidFill>
                <a:latin typeface="+mn-lt"/>
                <a:ea typeface="+mn-ea"/>
              </a:rPr>
              <a:t>35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60–70 min. Demonstrar soma e comparação. Microexercício: calcular dobro do valor ou testar valorSensor &gt; 50.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5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28D42A-7659-4140-BF2C-5049C317F7C5}" type="slidenum">
              <a:rPr b="0" lang="pt-BR" sz="1200" spc="-1" strike="noStrike">
                <a:solidFill>
                  <a:schemeClr val="dk1"/>
                </a:solidFill>
                <a:latin typeface="+mn-lt"/>
                <a:ea typeface="+mn-ea"/>
              </a:rPr>
              <a:t>35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Resposta esperada: A = 80; B = falso. Usar como microexercício de 1–2 minutos.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8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095C97-65B5-4BD6-8529-4E7D77E14CEB}" type="slidenum">
              <a:rPr b="0" lang="pt-BR" sz="1200" spc="-1" strike="noStrike">
                <a:solidFill>
                  <a:schemeClr val="dk1"/>
                </a:solidFill>
                <a:latin typeface="+mn-lt"/>
                <a:ea typeface="+mn-ea"/>
              </a:rPr>
              <a:t>35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70–80 min. Apresentar o problema: o programa deve responder de maneira diferente conforme o valor. Introduzir se e se/senão.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1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6D4321-903D-4E51-B9D9-2AD86C3ADFFC}" type="slidenum">
              <a:rPr b="0" lang="pt-BR" sz="1200" spc="-1" strike="noStrike">
                <a:solidFill>
                  <a:schemeClr val="dk1"/>
                </a:solidFill>
                <a:latin typeface="+mn-lt"/>
                <a:ea typeface="+mn-ea"/>
              </a:rPr>
              <a:t>35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Mostrar a representação visual de dois caminhos. Pedir que a turma preveja o resultado para valores de teste.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4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C59C0D-9804-4DE6-885A-330DFC3FE66E}" type="slidenum">
              <a:rPr b="0" lang="pt-BR" sz="1200" spc="-1" strike="noStrike">
                <a:solidFill>
                  <a:schemeClr val="dk1"/>
                </a:solidFill>
                <a:latin typeface="+mn-lt"/>
                <a:ea typeface="+mn-ea"/>
              </a:rPr>
              <a:t>35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80–92 min. Implementar se valorSensor &lt; 30 então Faixa A; senão outra faixa. Executar 29 e 30 para destacar a fronteira.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7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82C07D-09B6-45DA-B6B9-927880C8FAA0}" type="slidenum">
              <a:rPr b="0" lang="pt-BR" sz="1200" spc="-1" strike="noStrike">
                <a:solidFill>
                  <a:schemeClr val="dk1"/>
                </a:solidFill>
                <a:latin typeface="+mn-lt"/>
                <a:ea typeface="+mn-ea"/>
              </a:rPr>
              <a:t>35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92–100 min. Adicionar segundo teste para formar A/B/C. Explicar importância da ordem das condições. Testar 0, 29, 30, 70, 71 e 100.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0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DC6555-1AE6-4DB5-8566-1A79669E74E6}" type="slidenum">
              <a:rPr b="0" lang="pt-BR" sz="1200" spc="-1" strike="noStrike">
                <a:solidFill>
                  <a:schemeClr val="dk1"/>
                </a:solidFill>
                <a:latin typeface="+mn-lt"/>
                <a:ea typeface="+mn-ea"/>
              </a:rPr>
              <a:t>35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Explicar condicionais aninhadas: se &lt;30 → A; senão, se &lt;=70 → B; senão → C.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3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584B8C-E185-4E83-8D93-EADA79969A5D}" type="slidenum">
              <a:rPr b="0" lang="pt-BR" sz="1200" spc="-1" strike="noStrike">
                <a:solidFill>
                  <a:schemeClr val="dk1"/>
                </a:solidFill>
                <a:latin typeface="+mn-lt"/>
                <a:ea typeface="+mn-ea"/>
              </a:rPr>
              <a:t>35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100–105 min. Perguntar quais casos ainda podem falhar: texto, negativo, &gt;100. Explicar que validação completa ficará para depois, mas testar limites já é parte da programação.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6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F52266-3D40-47D7-A329-17F2DFE82223}" type="slidenum">
              <a:rPr b="0" lang="pt-BR" sz="1200" spc="-1" strike="noStrike">
                <a:solidFill>
                  <a:schemeClr val="dk1"/>
                </a:solidFill>
                <a:latin typeface="+mn-lt"/>
                <a:ea typeface="+mn-ea"/>
              </a:rPr>
              <a:t>35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105–113 min. Comparar copiar blocos várias vezes com usar repetição. Perguntar qual parte do projeto faz sentido repetir.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9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C9DB64-5788-438B-A386-63290832320E}" type="slidenum">
              <a:rPr b="0" lang="pt-BR" sz="1200" spc="-1" strike="noStrike">
                <a:solidFill>
                  <a:schemeClr val="dk1"/>
                </a:solidFill>
                <a:latin typeface="+mn-lt"/>
                <a:ea typeface="+mn-ea"/>
              </a:rPr>
              <a:t>35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Introduzir repetição contada e, conceitualmente, “sempre”. Não aprofundar demais se a turma estiver lenta.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2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9402BF-B6C2-406C-9C93-2DD9AADA9615}" type="slidenum">
              <a:rPr b="0" lang="pt-BR" sz="1200" spc="-1" strike="noStrike">
                <a:solidFill>
                  <a:schemeClr val="dk1"/>
                </a:solidFill>
                <a:latin typeface="+mn-lt"/>
                <a:ea typeface="+mn-ea"/>
              </a:rPr>
              <a:t>35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113–123 min. Substituir temporariamente entrada manual por número aleatório 0–100. Repetir 5 vezes e inserir pequena espera para observar mudanças.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5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B4D28D-CAF8-4A16-A1D7-FB70ADF835C1}" type="slidenum">
              <a:rPr b="0" lang="pt-BR" sz="1200" spc="-1" strike="noStrike">
                <a:solidFill>
                  <a:schemeClr val="dk1"/>
                </a:solidFill>
                <a:latin typeface="+mn-lt"/>
                <a:ea typeface="+mn-ea"/>
              </a:rPr>
              <a:t>35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123–130 min. Revisar o fluxo completo. Pedir a um participante para explicar o algoritmo em voz alta para um colega.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8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3E545C-732B-4141-82B4-2B6C949BFC41}" type="slidenum">
              <a:rPr b="0" lang="pt-BR" sz="1200" spc="-1" strike="noStrike">
                <a:solidFill>
                  <a:schemeClr val="dk1"/>
                </a:solidFill>
                <a:latin typeface="+mn-lt"/>
                <a:ea typeface="+mn-ea"/>
              </a:rPr>
              <a:t>35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130–135 min. Mostrar critérios mínimos e formar duplas ou trabalho individual conforme a turma. 135–155 min: apoiar sem entregar a solução completa.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1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C831CF-EF97-4E81-9C52-D3199DF5D60D}" type="slidenum">
              <a:rPr b="0" lang="pt-BR" sz="1200" spc="-1" strike="noStrike">
                <a:solidFill>
                  <a:schemeClr val="dk1"/>
                </a:solidFill>
                <a:latin typeface="+mn-lt"/>
                <a:ea typeface="+mn-ea"/>
              </a:rPr>
              <a:t>35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135–155 min. Priorizar perguntas: “qual valor está na variável?”, “qual condição está sendo testada?”, “quantas vezes esse bloco executa?”.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4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DC4329-2ECC-47C7-A9AA-5C918D90F4BC}" type="slidenum">
              <a:rPr b="0" lang="pt-BR" sz="1200" spc="-1" strike="noStrike">
                <a:solidFill>
                  <a:schemeClr val="dk1"/>
                </a:solidFill>
                <a:latin typeface="+mn-lt"/>
                <a:ea typeface="+mn-ea"/>
              </a:rPr>
              <a:t>35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155–165 min. Oferecer extensões opcionais a quem terminar cedo. Incentivar apoio entre pares sem entregar a solução pronta.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7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0FBC81D-A112-47D0-BDDA-B56630ECD9F2}" type="slidenum">
              <a:rPr b="0" lang="pt-BR" sz="1200" spc="-1" strike="noStrike">
                <a:solidFill>
                  <a:schemeClr val="dk1"/>
                </a:solidFill>
                <a:latin typeface="+mn-lt"/>
                <a:ea typeface="+mn-ea"/>
              </a:rPr>
              <a:t>35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165–170 min. Selecionar 2–3 projetos para demonstração de 1 minuto. Destacar diferenças de solução que chegam ao mesmo objetivo.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0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D60718-1975-4C94-9402-5DFF8D57637A}" type="slidenum">
              <a:rPr b="0" lang="pt-BR" sz="1200" spc="-1" strike="noStrike">
                <a:solidFill>
                  <a:schemeClr val="dk1"/>
                </a:solidFill>
                <a:latin typeface="+mn-lt"/>
                <a:ea typeface="+mn-ea"/>
              </a:rPr>
              <a:t>35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170–175 min. Usar erro proposital: classificação fora da repetição (ou condição invertida). Pedir que a turma localize o problema antes de revelar.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3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FEC523-96A2-4831-9D38-678E25297400}" type="slidenum">
              <a:rPr b="0" lang="pt-BR" sz="1200" spc="-1" strike="noStrike">
                <a:solidFill>
                  <a:schemeClr val="dk1"/>
                </a:solidFill>
                <a:latin typeface="+mn-lt"/>
                <a:ea typeface="+mn-ea"/>
              </a:rPr>
              <a:t>35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175–180 min. Mostrar equivalência de entrada e variável. Não ensinar sintaxe Python em profundidade; apenas a continuidade conceitual.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6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E4544D-277F-46B3-861D-02C313D9E83D}" type="slidenum">
              <a:rPr b="0" lang="pt-BR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Mostrar if/elif/else e for ao lado dos blocos equivalentes. Reforçar: a lógica permanece e muda apenas a forma de escrever.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9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15FD8C-A62B-46C4-8796-E46582FCD675}" type="slidenum">
              <a:rPr b="0" lang="pt-BR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Fechar com síntese em quatro palavras. Fazer quiz de saída ou pedir oralmente qual conceito foi mais importante. Indicar o próximo curso em Python.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2" name="PlaceHolder 3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683174-E6D9-46C3-A5DB-55E79EFB093C}" type="slidenum">
              <a:rPr b="0" lang="pt-BR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CEAN - Conteúdo Cla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5CDB59A-A46B-4D36-8229-634C606B633A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CEAN - Destaque Escu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19AC687-FA95-4862-AA84-DB57A8FD6243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Image 0" descr="/mnt/data/ocean_assets/ocean_logo_color_transparent.png"/>
          <p:cNvPicPr/>
          <p:nvPr/>
        </p:nvPicPr>
        <p:blipFill>
          <a:blip r:embed="rId2"/>
          <a:stretch/>
        </p:blipFill>
        <p:spPr>
          <a:xfrm>
            <a:off x="10031040" y="182880"/>
            <a:ext cx="1416960" cy="374400"/>
          </a:xfrm>
          <a:prstGeom prst="rect">
            <a:avLst/>
          </a:prstGeom>
          <a:ln w="0">
            <a:noFill/>
          </a:ln>
        </p:spPr>
      </p:pic>
      <p:sp>
        <p:nvSpPr>
          <p:cNvPr id="1" name="Text 0"/>
          <p:cNvSpPr/>
          <p:nvPr/>
        </p:nvSpPr>
        <p:spPr>
          <a:xfrm>
            <a:off x="685800" y="228600"/>
            <a:ext cx="4937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29" strike="noStrike">
                <a:solidFill>
                  <a:srgbClr val="5b6b86"/>
                </a:solidFill>
                <a:latin typeface="Lato"/>
                <a:ea typeface="Lato"/>
              </a:rPr>
              <a:t>RESIDÊNCIA EM TIC 53 · TRILHA PROGRAMAÇÃO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Shape 1"/>
          <p:cNvSpPr/>
          <p:nvPr/>
        </p:nvSpPr>
        <p:spPr>
          <a:xfrm>
            <a:off x="685800" y="658440"/>
            <a:ext cx="3538440" cy="27000"/>
          </a:xfrm>
          <a:prstGeom prst="rect">
            <a:avLst/>
          </a:prstGeom>
          <a:solidFill>
            <a:srgbClr val="f36b21"/>
          </a:solidFill>
          <a:ln w="12700">
            <a:solidFill>
              <a:srgbClr val="f36b2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Shape 2"/>
          <p:cNvSpPr/>
          <p:nvPr/>
        </p:nvSpPr>
        <p:spPr>
          <a:xfrm>
            <a:off x="4224600" y="658440"/>
            <a:ext cx="3547440" cy="27000"/>
          </a:xfrm>
          <a:prstGeom prst="rect">
            <a:avLst/>
          </a:prstGeom>
          <a:solidFill>
            <a:srgbClr val="e72b76"/>
          </a:solidFill>
          <a:ln w="12700">
            <a:solidFill>
              <a:srgbClr val="e72b7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Shape 3"/>
          <p:cNvSpPr/>
          <p:nvPr/>
        </p:nvSpPr>
        <p:spPr>
          <a:xfrm>
            <a:off x="7772400" y="658440"/>
            <a:ext cx="3501720" cy="27000"/>
          </a:xfrm>
          <a:prstGeom prst="rect">
            <a:avLst/>
          </a:prstGeom>
          <a:solidFill>
            <a:srgbClr val="10b9f3"/>
          </a:solidFill>
          <a:ln w="12700">
            <a:solidFill>
              <a:srgbClr val="10b9f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Text 4"/>
          <p:cNvSpPr/>
          <p:nvPr/>
        </p:nvSpPr>
        <p:spPr>
          <a:xfrm>
            <a:off x="685800" y="6492240"/>
            <a:ext cx="7589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7a879d"/>
                </a:solidFill>
                <a:latin typeface="Lato"/>
                <a:ea typeface="Lato"/>
              </a:rPr>
              <a:t>PR-01 · Lógica de Programação Aplicada à Saúde com Scratch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sldNum" idx="1"/>
          </p:nvPr>
        </p:nvSpPr>
        <p:spPr>
          <a:xfrm>
            <a:off x="11283840" y="644652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pc="-1" strike="noStrike">
                <a:solidFill>
                  <a:srgbClr val="7a879d"/>
                </a:solidFill>
                <a:latin typeface="Lato"/>
                <a:ea typeface="La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01E323-BE36-4378-94B7-6DA06F7374A4}" type="slidenum">
              <a:rPr b="0" lang="en-US" sz="850" spc="-1" strike="noStrike">
                <a:solidFill>
                  <a:srgbClr val="7a879d"/>
                </a:solidFill>
                <a:latin typeface="Lato"/>
                <a:ea typeface="Lato"/>
              </a:rPr>
              <a:t>&lt;número&gt;</a:t>
            </a:fld>
            <a:endParaRPr b="0" lang="pt-BR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chemeClr val="dk1"/>
                </a:solidFill>
                <a:latin typeface="Lato"/>
              </a:rPr>
              <a:t>Clique para </a:t>
            </a:r>
            <a:r>
              <a:rPr b="0" lang="pt-BR" sz="1800" spc="-1" strike="noStrike">
                <a:solidFill>
                  <a:schemeClr val="dk1"/>
                </a:solidFill>
                <a:latin typeface="Lato"/>
              </a:rPr>
              <a:t>editar o </a:t>
            </a:r>
            <a:r>
              <a:rPr b="0" lang="pt-BR" sz="1800" spc="-1" strike="noStrike">
                <a:solidFill>
                  <a:schemeClr val="dk1"/>
                </a:solidFill>
                <a:latin typeface="Lato"/>
              </a:rPr>
              <a:t>formato do </a:t>
            </a:r>
            <a:r>
              <a:rPr b="0" lang="pt-BR" sz="1800" spc="-1" strike="noStrike">
                <a:solidFill>
                  <a:schemeClr val="dk1"/>
                </a:solidFill>
                <a:latin typeface="Lato"/>
              </a:rPr>
              <a:t>texto do </a:t>
            </a:r>
            <a:r>
              <a:rPr b="0" lang="pt-BR" sz="1800" spc="-1" strike="noStrike">
                <a:solidFill>
                  <a:schemeClr val="dk1"/>
                </a:solidFill>
                <a:latin typeface="Lato"/>
              </a:rPr>
              <a:t>título</a:t>
            </a:r>
            <a:endParaRPr b="0" lang="pt-BR" sz="1800" spc="-1" strike="noStrike">
              <a:solidFill>
                <a:schemeClr val="dk1"/>
              </a:solidFill>
              <a:latin typeface="Lato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chemeClr val="dk1"/>
                </a:solidFill>
                <a:latin typeface="Lato"/>
              </a:rPr>
              <a:t>Clique para editar o formato de texto dos tópicos</a:t>
            </a:r>
            <a:endParaRPr b="0" lang="pt-BR" sz="3200" spc="-1" strike="noStrike">
              <a:solidFill>
                <a:schemeClr val="dk1"/>
              </a:solidFill>
              <a:latin typeface="Lato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pc="-1" strike="noStrike">
                <a:solidFill>
                  <a:schemeClr val="dk1"/>
                </a:solidFill>
                <a:latin typeface="Lato"/>
              </a:rPr>
              <a:t>2.º nível de tópicos</a:t>
            </a:r>
            <a:endParaRPr b="0" lang="pt-BR" sz="2400" spc="-1" strike="noStrike">
              <a:solidFill>
                <a:schemeClr val="dk1"/>
              </a:solidFill>
              <a:latin typeface="Lato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Lato"/>
              </a:rPr>
              <a:t>3.º nível de tópicos</a:t>
            </a:r>
            <a:endParaRPr b="0" lang="pt-BR" sz="2000" spc="-1" strike="noStrike">
              <a:solidFill>
                <a:schemeClr val="dk1"/>
              </a:solidFill>
              <a:latin typeface="Lato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chemeClr val="dk1"/>
                </a:solidFill>
                <a:latin typeface="Lato"/>
              </a:rPr>
              <a:t>4.º nível de tópicos</a:t>
            </a:r>
            <a:endParaRPr b="0" lang="pt-BR" sz="2000" spc="-1" strike="noStrike">
              <a:solidFill>
                <a:schemeClr val="dk1"/>
              </a:solidFill>
              <a:latin typeface="Lato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Lato"/>
              </a:rPr>
              <a:t>5.º nível de tópicos</a:t>
            </a:r>
            <a:endParaRPr b="0" lang="pt-BR" sz="2000" spc="-1" strike="noStrike">
              <a:solidFill>
                <a:schemeClr val="dk1"/>
              </a:solidFill>
              <a:latin typeface="Lato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Lato"/>
              </a:rPr>
              <a:t>6.º nível de tópicos</a:t>
            </a:r>
            <a:endParaRPr b="0" lang="pt-BR" sz="2000" spc="-1" strike="noStrike">
              <a:solidFill>
                <a:schemeClr val="dk1"/>
              </a:solidFill>
              <a:latin typeface="Lato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Lato"/>
              </a:rPr>
              <a:t>7.º nível de tópicos</a:t>
            </a:r>
            <a:endParaRPr b="0" lang="pt-BR" sz="2000" spc="-1" strike="noStrike">
              <a:solidFill>
                <a:schemeClr val="dk1"/>
              </a:solidFill>
              <a:latin typeface="Lato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0"/>
          <p:cNvSpPr/>
          <p:nvPr/>
        </p:nvSpPr>
        <p:spPr>
          <a:xfrm>
            <a:off x="594360" y="329040"/>
            <a:ext cx="1663920" cy="4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" name="Image 0" descr="/mnt/data/ocean_assets/ocean_logo_color_transparent.png"/>
          <p:cNvPicPr/>
          <p:nvPr/>
        </p:nvPicPr>
        <p:blipFill>
          <a:blip r:embed="rId2"/>
          <a:stretch/>
        </p:blipFill>
        <p:spPr>
          <a:xfrm>
            <a:off x="731520" y="420480"/>
            <a:ext cx="1325520" cy="347040"/>
          </a:xfrm>
          <a:prstGeom prst="rect">
            <a:avLst/>
          </a:prstGeom>
          <a:ln w="0">
            <a:noFill/>
          </a:ln>
        </p:spPr>
      </p:pic>
      <p:sp>
        <p:nvSpPr>
          <p:cNvPr id="11" name="Text 1"/>
          <p:cNvSpPr/>
          <p:nvPr/>
        </p:nvSpPr>
        <p:spPr>
          <a:xfrm>
            <a:off x="6510600" y="475560"/>
            <a:ext cx="4983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24" strike="noStrike">
                <a:solidFill>
                  <a:srgbClr val="c2cee5"/>
                </a:solidFill>
                <a:latin typeface="Lato"/>
                <a:ea typeface="Lato"/>
              </a:rPr>
              <a:t>RESIDÊNCIA EM TIC 53 · TRILHA PROGRAMAÇÃO</a:t>
            </a:r>
            <a:endParaRPr b="0" lang="pt-B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685800" y="6473880"/>
            <a:ext cx="3108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9fb0d0"/>
                </a:solidFill>
                <a:latin typeface="Lato"/>
                <a:ea typeface="Lato"/>
              </a:rPr>
              <a:t>PR-01 · Projeto Ocean</a:t>
            </a:r>
            <a:endParaRPr b="0" lang="pt-B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sldNum" idx="2"/>
          </p:nvPr>
        </p:nvSpPr>
        <p:spPr>
          <a:xfrm>
            <a:off x="11283840" y="644652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pc="-1" strike="noStrike">
                <a:solidFill>
                  <a:srgbClr val="9fb0d0"/>
                </a:solidFill>
                <a:latin typeface="Lato"/>
                <a:ea typeface="La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5994CF-A2F0-4990-AAF0-46117F8D4B2D}" type="slidenum">
              <a:rPr b="0" lang="en-US" sz="850" spc="-1" strike="noStrike">
                <a:solidFill>
                  <a:srgbClr val="9fb0d0"/>
                </a:solidFill>
                <a:latin typeface="Lato"/>
                <a:ea typeface="Lato"/>
              </a:rPr>
              <a:t>&lt;número&gt;</a:t>
            </a:fld>
            <a:endParaRPr b="0" lang="pt-BR" sz="8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chemeClr val="dk1"/>
                </a:solidFill>
                <a:latin typeface="Lato"/>
              </a:rPr>
              <a:t>Clique para editar o formato do texto do título</a:t>
            </a:r>
            <a:endParaRPr b="0" lang="pt-BR" sz="1800" spc="-1" strike="noStrike">
              <a:solidFill>
                <a:schemeClr val="dk1"/>
              </a:solidFill>
              <a:latin typeface="Lato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chemeClr val="dk1"/>
                </a:solidFill>
                <a:latin typeface="Lato"/>
              </a:rPr>
              <a:t>Clique para editar o formato de texto dos tópicos</a:t>
            </a:r>
            <a:endParaRPr b="0" lang="pt-BR" sz="3200" spc="-1" strike="noStrike">
              <a:solidFill>
                <a:schemeClr val="dk1"/>
              </a:solidFill>
              <a:latin typeface="Lato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2400" spc="-1" strike="noStrike">
                <a:solidFill>
                  <a:schemeClr val="dk1"/>
                </a:solidFill>
                <a:latin typeface="Lato"/>
              </a:rPr>
              <a:t>2.º nível de tópicos</a:t>
            </a:r>
            <a:endParaRPr b="0" lang="pt-BR" sz="2400" spc="-1" strike="noStrike">
              <a:solidFill>
                <a:schemeClr val="dk1"/>
              </a:solidFill>
              <a:latin typeface="Lato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Lato"/>
              </a:rPr>
              <a:t>3.º nível de tópicos</a:t>
            </a:r>
            <a:endParaRPr b="0" lang="pt-BR" sz="2000" spc="-1" strike="noStrike">
              <a:solidFill>
                <a:schemeClr val="dk1"/>
              </a:solidFill>
              <a:latin typeface="Lato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chemeClr val="dk1"/>
                </a:solidFill>
                <a:latin typeface="Lato"/>
              </a:rPr>
              <a:t>4.º nível de tópicos</a:t>
            </a:r>
            <a:endParaRPr b="0" lang="pt-BR" sz="2000" spc="-1" strike="noStrike">
              <a:solidFill>
                <a:schemeClr val="dk1"/>
              </a:solidFill>
              <a:latin typeface="Lato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Lato"/>
              </a:rPr>
              <a:t>5.º nível de tópicos</a:t>
            </a:r>
            <a:endParaRPr b="0" lang="pt-BR" sz="2000" spc="-1" strike="noStrike">
              <a:solidFill>
                <a:schemeClr val="dk1"/>
              </a:solidFill>
              <a:latin typeface="Lato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Lato"/>
              </a:rPr>
              <a:t>6.º nível de tópicos</a:t>
            </a:r>
            <a:endParaRPr b="0" lang="pt-BR" sz="2000" spc="-1" strike="noStrike">
              <a:solidFill>
                <a:schemeClr val="dk1"/>
              </a:solidFill>
              <a:latin typeface="Lato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Lato"/>
              </a:rPr>
              <a:t>7.º nível de tópicos</a:t>
            </a:r>
            <a:endParaRPr b="0" lang="pt-BR" sz="2000" spc="-1" strike="noStrike">
              <a:solidFill>
                <a:schemeClr val="dk1"/>
              </a:solidFill>
              <a:latin typeface="Lato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hyperlink" Target="https://scratch.mit.edu/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/>
          <p:cNvSpPr/>
          <p:nvPr/>
        </p:nvSpPr>
        <p:spPr>
          <a:xfrm>
            <a:off x="-411480" y="987480"/>
            <a:ext cx="1279800" cy="1005480"/>
          </a:xfrm>
          <a:prstGeom prst="hexagon">
            <a:avLst>
              <a:gd name="adj" fmla="val 25000"/>
              <a:gd name="vf" fmla="val 115470"/>
            </a:avLst>
          </a:prstGeom>
          <a:noFill/>
          <a:ln w="30480">
            <a:solidFill>
              <a:srgbClr val="e72b76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"/>
          <p:cNvSpPr/>
          <p:nvPr/>
        </p:nvSpPr>
        <p:spPr>
          <a:xfrm>
            <a:off x="11384280" y="1600200"/>
            <a:ext cx="1234080" cy="987120"/>
          </a:xfrm>
          <a:prstGeom prst="hexagon">
            <a:avLst>
              <a:gd name="adj" fmla="val 25000"/>
              <a:gd name="vf" fmla="val 115470"/>
            </a:avLst>
          </a:prstGeom>
          <a:noFill/>
          <a:ln w="30480">
            <a:solidFill>
              <a:srgbClr val="f36b21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2"/>
          <p:cNvSpPr/>
          <p:nvPr/>
        </p:nvSpPr>
        <p:spPr>
          <a:xfrm>
            <a:off x="10442520" y="5148000"/>
            <a:ext cx="959760" cy="758520"/>
          </a:xfrm>
          <a:prstGeom prst="hexagon">
            <a:avLst>
              <a:gd name="adj" fmla="val 25000"/>
              <a:gd name="vf" fmla="val 115470"/>
            </a:avLst>
          </a:prstGeom>
          <a:noFill/>
          <a:ln w="27940">
            <a:solidFill>
              <a:srgbClr val="10b9f3">
                <a:alpha val="8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3"/>
          <p:cNvSpPr/>
          <p:nvPr/>
        </p:nvSpPr>
        <p:spPr>
          <a:xfrm>
            <a:off x="164520" y="5139000"/>
            <a:ext cx="987120" cy="785880"/>
          </a:xfrm>
          <a:prstGeom prst="hexagon">
            <a:avLst>
              <a:gd name="adj" fmla="val 25000"/>
              <a:gd name="vf" fmla="val 115470"/>
            </a:avLst>
          </a:prstGeom>
          <a:noFill/>
          <a:ln w="27940">
            <a:solidFill>
              <a:srgbClr val="8157b1">
                <a:alpha val="8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4"/>
          <p:cNvSpPr/>
          <p:nvPr/>
        </p:nvSpPr>
        <p:spPr>
          <a:xfrm>
            <a:off x="8192880" y="-283320"/>
            <a:ext cx="987120" cy="785880"/>
          </a:xfrm>
          <a:prstGeom prst="hexagon">
            <a:avLst>
              <a:gd name="adj" fmla="val 25000"/>
              <a:gd name="vf" fmla="val 115470"/>
            </a:avLst>
          </a:prstGeom>
          <a:noFill/>
          <a:ln w="26670">
            <a:solidFill>
              <a:srgbClr val="f36b21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5"/>
          <p:cNvSpPr/>
          <p:nvPr/>
        </p:nvSpPr>
        <p:spPr>
          <a:xfrm>
            <a:off x="2990160" y="-246960"/>
            <a:ext cx="840960" cy="667080"/>
          </a:xfrm>
          <a:prstGeom prst="hexagon">
            <a:avLst>
              <a:gd name="adj" fmla="val 25000"/>
              <a:gd name="vf" fmla="val 115470"/>
            </a:avLst>
          </a:prstGeom>
          <a:noFill/>
          <a:ln w="25400">
            <a:solidFill>
              <a:srgbClr val="10b9f3">
                <a:alpha val="8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6"/>
          <p:cNvSpPr/>
          <p:nvPr/>
        </p:nvSpPr>
        <p:spPr>
          <a:xfrm>
            <a:off x="9079920" y="1517760"/>
            <a:ext cx="2084400" cy="2084400"/>
          </a:xfrm>
          <a:prstGeom prst="roundRect">
            <a:avLst>
              <a:gd name="adj" fmla="val 5263"/>
            </a:avLst>
          </a:prstGeom>
          <a:solidFill>
            <a:srgbClr val="102b68"/>
          </a:solidFill>
          <a:ln w="27940">
            <a:solidFill>
              <a:srgbClr val="10b9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 7"/>
          <p:cNvSpPr/>
          <p:nvPr/>
        </p:nvSpPr>
        <p:spPr>
          <a:xfrm>
            <a:off x="9326880" y="1984320"/>
            <a:ext cx="15998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3400" spc="-1" strike="noStrike">
                <a:solidFill>
                  <a:srgbClr val="ffffff"/>
                </a:solidFill>
                <a:latin typeface="DejaVu Sans Mono"/>
                <a:ea typeface="DejaVu Sans Mono"/>
              </a:rPr>
              <a:t>&lt;/&gt;</a:t>
            </a:r>
            <a:endParaRPr b="0" lang="pt-BR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8"/>
          <p:cNvSpPr/>
          <p:nvPr/>
        </p:nvSpPr>
        <p:spPr>
          <a:xfrm>
            <a:off x="749880" y="1207080"/>
            <a:ext cx="1051200" cy="347040"/>
          </a:xfrm>
          <a:prstGeom prst="roundRect">
            <a:avLst>
              <a:gd name="adj" fmla="val 21053"/>
            </a:avLst>
          </a:prstGeom>
          <a:solidFill>
            <a:srgbClr val="10b9f3"/>
          </a:solidFill>
          <a:ln w="12700">
            <a:solidFill>
              <a:srgbClr val="10b9f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9"/>
          <p:cNvSpPr/>
          <p:nvPr/>
        </p:nvSpPr>
        <p:spPr>
          <a:xfrm>
            <a:off x="822960" y="1271160"/>
            <a:ext cx="905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00" spc="-1" strike="noStrike">
                <a:solidFill>
                  <a:srgbClr val="071a4a"/>
                </a:solidFill>
                <a:latin typeface="Lato"/>
                <a:ea typeface="Lato"/>
              </a:rPr>
              <a:t>PR-01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10"/>
          <p:cNvSpPr/>
          <p:nvPr/>
        </p:nvSpPr>
        <p:spPr>
          <a:xfrm>
            <a:off x="731520" y="1719000"/>
            <a:ext cx="790920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3150" spc="-1" strike="noStrike">
                <a:solidFill>
                  <a:srgbClr val="ffffff"/>
                </a:solidFill>
                <a:latin typeface="Inter Display"/>
                <a:ea typeface="Inter Display"/>
              </a:rPr>
              <a:t>Lógica de Programação</a:t>
            </a: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3150" spc="-1" strike="noStrike">
                <a:solidFill>
                  <a:srgbClr val="ffffff"/>
                </a:solidFill>
                <a:latin typeface="Inter Display"/>
                <a:ea typeface="Inter Display"/>
              </a:rPr>
              <a:t>Aplicada à Saúde com Scratch</a:t>
            </a: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Text 11"/>
          <p:cNvSpPr/>
          <p:nvPr/>
        </p:nvSpPr>
        <p:spPr>
          <a:xfrm>
            <a:off x="749880" y="3346560"/>
            <a:ext cx="7479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700" spc="-1" strike="noStrike">
                <a:solidFill>
                  <a:srgbClr val="c7d4eb"/>
                </a:solidFill>
                <a:latin typeface="Lato"/>
                <a:ea typeface="Lato"/>
              </a:rPr>
              <a:t>Aprender a organizar soluções de forma lógica antes de entrar na sintaxe do Python.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12"/>
          <p:cNvSpPr/>
          <p:nvPr/>
        </p:nvSpPr>
        <p:spPr>
          <a:xfrm>
            <a:off x="749880" y="4187880"/>
            <a:ext cx="840960" cy="347040"/>
          </a:xfrm>
          <a:prstGeom prst="roundRect">
            <a:avLst>
              <a:gd name="adj" fmla="val 21053"/>
            </a:avLst>
          </a:prstGeom>
          <a:solidFill>
            <a:srgbClr val="f36b21"/>
          </a:solidFill>
          <a:ln w="12700">
            <a:solidFill>
              <a:srgbClr val="f36b2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13"/>
          <p:cNvSpPr/>
          <p:nvPr/>
        </p:nvSpPr>
        <p:spPr>
          <a:xfrm>
            <a:off x="822960" y="4251960"/>
            <a:ext cx="694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50" spc="-1" strike="noStrike">
                <a:solidFill>
                  <a:srgbClr val="ffffff"/>
                </a:solidFill>
                <a:latin typeface="Lato"/>
                <a:ea typeface="Lato"/>
              </a:rPr>
              <a:t>3 h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14"/>
          <p:cNvSpPr/>
          <p:nvPr/>
        </p:nvSpPr>
        <p:spPr>
          <a:xfrm>
            <a:off x="1755720" y="4187880"/>
            <a:ext cx="1874160" cy="347040"/>
          </a:xfrm>
          <a:prstGeom prst="roundRect">
            <a:avLst>
              <a:gd name="adj" fmla="val 21053"/>
            </a:avLst>
          </a:prstGeom>
          <a:solidFill>
            <a:srgbClr val="18346f"/>
          </a:solidFill>
          <a:ln w="12700">
            <a:solidFill>
              <a:srgbClr val="18346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15"/>
          <p:cNvSpPr/>
          <p:nvPr/>
        </p:nvSpPr>
        <p:spPr>
          <a:xfrm>
            <a:off x="1828800" y="4251960"/>
            <a:ext cx="17280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-1" strike="noStrike">
                <a:solidFill>
                  <a:srgbClr val="ffffff"/>
                </a:solidFill>
                <a:latin typeface="Lato"/>
                <a:ea typeface="Lato"/>
              </a:rPr>
              <a:t>sem pré-requisitos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16"/>
          <p:cNvSpPr/>
          <p:nvPr/>
        </p:nvSpPr>
        <p:spPr>
          <a:xfrm>
            <a:off x="3822120" y="4187880"/>
            <a:ext cx="1599840" cy="347040"/>
          </a:xfrm>
          <a:prstGeom prst="roundRect">
            <a:avLst>
              <a:gd name="adj" fmla="val 21053"/>
            </a:avLst>
          </a:prstGeom>
          <a:solidFill>
            <a:srgbClr val="18346f"/>
          </a:solidFill>
          <a:ln w="12700">
            <a:solidFill>
              <a:srgbClr val="18346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17"/>
          <p:cNvSpPr/>
          <p:nvPr/>
        </p:nvSpPr>
        <p:spPr>
          <a:xfrm>
            <a:off x="3895200" y="4251960"/>
            <a:ext cx="1453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-1" strike="noStrike">
                <a:solidFill>
                  <a:srgbClr val="ffffff"/>
                </a:solidFill>
                <a:latin typeface="Lato"/>
                <a:ea typeface="Lato"/>
              </a:rPr>
              <a:t>dados sintéticos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18"/>
          <p:cNvSpPr/>
          <p:nvPr/>
        </p:nvSpPr>
        <p:spPr>
          <a:xfrm>
            <a:off x="749880" y="5047560"/>
            <a:ext cx="5120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00" spc="-1" strike="noStrike">
                <a:solidFill>
                  <a:srgbClr val="ffffff"/>
                </a:solidFill>
                <a:latin typeface="Lato"/>
                <a:ea typeface="Lato"/>
              </a:rPr>
              <a:t>Prof. Dr. Guillermo Alvarez Bestard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 19"/>
          <p:cNvSpPr/>
          <p:nvPr/>
        </p:nvSpPr>
        <p:spPr>
          <a:xfrm>
            <a:off x="749880" y="5413320"/>
            <a:ext cx="5120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aabad7"/>
                </a:solidFill>
                <a:latin typeface="Lato"/>
                <a:ea typeface="Lato"/>
              </a:rPr>
              <a:t>Projeto Ocean · Residência em TIC 53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sldNum" idx="6"/>
          </p:nvPr>
        </p:nvSpPr>
        <p:spPr>
          <a:xfrm>
            <a:off x="11283840" y="644652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850" spc="-1" strike="noStrike">
                <a:solidFill>
                  <a:srgbClr val="9fb0d0"/>
                </a:solidFill>
                <a:latin typeface="Lato"/>
                <a:ea typeface="La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4EBD14-8006-4EE9-8FA1-D535696BCEB8}" type="slidenum">
              <a:rPr b="0" lang="pt-BR" sz="850" spc="-1" strike="noStrike">
                <a:solidFill>
                  <a:srgbClr val="9fb0d0"/>
                </a:solidFill>
                <a:latin typeface="Lato"/>
                <a:ea typeface="Lato"/>
              </a:rPr>
              <a:t>1</a:t>
            </a:fld>
            <a:endParaRPr b="0" lang="pt-BR" sz="85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0"/>
          <p:cNvSpPr/>
          <p:nvPr/>
        </p:nvSpPr>
        <p:spPr>
          <a:xfrm>
            <a:off x="713160" y="896040"/>
            <a:ext cx="99666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  <a:ea typeface="Inter Display"/>
              </a:rPr>
              <a:t>Onde este curso está na trilha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1"/>
          <p:cNvSpPr/>
          <p:nvPr/>
        </p:nvSpPr>
        <p:spPr>
          <a:xfrm>
            <a:off x="731520" y="1444680"/>
            <a:ext cx="9692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50" spc="-1" strike="noStrike">
                <a:solidFill>
                  <a:srgbClr val="5b6b86"/>
                </a:solidFill>
                <a:latin typeface="Lato"/>
                <a:ea typeface="Lato"/>
              </a:rPr>
              <a:t>Scratch como nivelamento; Python como próximo passo.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2"/>
          <p:cNvSpPr/>
          <p:nvPr/>
        </p:nvSpPr>
        <p:spPr>
          <a:xfrm>
            <a:off x="1005840" y="2331720"/>
            <a:ext cx="2194200" cy="1855800"/>
          </a:xfrm>
          <a:prstGeom prst="roundRect">
            <a:avLst>
              <a:gd name="adj" fmla="val 3941"/>
            </a:avLst>
          </a:prstGeom>
          <a:solidFill>
            <a:srgbClr val="ffffff"/>
          </a:solidFill>
          <a:ln w="12700">
            <a:solidFill>
              <a:srgbClr val="dce4f0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3"/>
          <p:cNvSpPr/>
          <p:nvPr/>
        </p:nvSpPr>
        <p:spPr>
          <a:xfrm>
            <a:off x="1792080" y="2560320"/>
            <a:ext cx="621360" cy="621360"/>
          </a:xfrm>
          <a:prstGeom prst="ellipse">
            <a:avLst/>
          </a:prstGeom>
          <a:solidFill>
            <a:srgbClr val="071a4a"/>
          </a:solidFill>
          <a:ln w="12700">
            <a:solidFill>
              <a:srgbClr val="071a4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4"/>
          <p:cNvSpPr/>
          <p:nvPr/>
        </p:nvSpPr>
        <p:spPr>
          <a:xfrm>
            <a:off x="1792080" y="2597040"/>
            <a:ext cx="621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pc="-1" strike="noStrike">
                <a:solidFill>
                  <a:srgbClr val="ffffff"/>
                </a:solidFill>
                <a:latin typeface="Inter Display"/>
                <a:ea typeface="Inter Display"/>
              </a:rPr>
              <a:t>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5"/>
          <p:cNvSpPr/>
          <p:nvPr/>
        </p:nvSpPr>
        <p:spPr>
          <a:xfrm>
            <a:off x="1188720" y="33102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-1" strike="noStrike">
                <a:solidFill>
                  <a:srgbClr val="071a4a"/>
                </a:solidFill>
                <a:latin typeface="Inter Display"/>
                <a:ea typeface="Inter Display"/>
              </a:rPr>
              <a:t>Lógica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6"/>
          <p:cNvSpPr/>
          <p:nvPr/>
        </p:nvSpPr>
        <p:spPr>
          <a:xfrm>
            <a:off x="1207080" y="3730680"/>
            <a:ext cx="17917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20" spc="-1" strike="noStrike">
                <a:solidFill>
                  <a:srgbClr val="5b6b86"/>
                </a:solidFill>
                <a:latin typeface="Lato"/>
                <a:ea typeface="Lato"/>
              </a:rPr>
              <a:t>Pensar em passos</a:t>
            </a:r>
            <a:endParaRPr b="0" lang="pt-BR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7"/>
          <p:cNvSpPr/>
          <p:nvPr/>
        </p:nvSpPr>
        <p:spPr>
          <a:xfrm>
            <a:off x="3291840" y="3255120"/>
            <a:ext cx="978120" cy="360"/>
          </a:xfrm>
          <a:prstGeom prst="line">
            <a:avLst/>
          </a:prstGeom>
          <a:ln w="38100">
            <a:solidFill>
              <a:srgbClr val="10b9f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8"/>
          <p:cNvSpPr/>
          <p:nvPr/>
        </p:nvSpPr>
        <p:spPr>
          <a:xfrm>
            <a:off x="4316040" y="2331720"/>
            <a:ext cx="2194200" cy="1855800"/>
          </a:xfrm>
          <a:prstGeom prst="roundRect">
            <a:avLst>
              <a:gd name="adj" fmla="val 3941"/>
            </a:avLst>
          </a:prstGeom>
          <a:solidFill>
            <a:srgbClr val="eaf8fe"/>
          </a:solidFill>
          <a:ln w="12700">
            <a:solidFill>
              <a:srgbClr val="10b9f3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9"/>
          <p:cNvSpPr/>
          <p:nvPr/>
        </p:nvSpPr>
        <p:spPr>
          <a:xfrm>
            <a:off x="5102280" y="2560320"/>
            <a:ext cx="621360" cy="621360"/>
          </a:xfrm>
          <a:prstGeom prst="ellipse">
            <a:avLst/>
          </a:prstGeom>
          <a:solidFill>
            <a:srgbClr val="10b9f3"/>
          </a:solidFill>
          <a:ln w="12700">
            <a:solidFill>
              <a:srgbClr val="10b9f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10"/>
          <p:cNvSpPr/>
          <p:nvPr/>
        </p:nvSpPr>
        <p:spPr>
          <a:xfrm>
            <a:off x="5102280" y="2597040"/>
            <a:ext cx="621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pc="-1" strike="noStrike">
                <a:solidFill>
                  <a:srgbClr val="ffffff"/>
                </a:solidFill>
                <a:latin typeface="Inter Display"/>
                <a:ea typeface="Inter Display"/>
              </a:rPr>
              <a:t>2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11"/>
          <p:cNvSpPr/>
          <p:nvPr/>
        </p:nvSpPr>
        <p:spPr>
          <a:xfrm>
            <a:off x="4498920" y="33102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-1" strike="noStrike">
                <a:solidFill>
                  <a:srgbClr val="071a4a"/>
                </a:solidFill>
                <a:latin typeface="Inter Display"/>
                <a:ea typeface="Inter Display"/>
              </a:rPr>
              <a:t>Scratch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12"/>
          <p:cNvSpPr/>
          <p:nvPr/>
        </p:nvSpPr>
        <p:spPr>
          <a:xfrm>
            <a:off x="4517280" y="3730680"/>
            <a:ext cx="17917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20" spc="-1" strike="noStrike">
                <a:solidFill>
                  <a:srgbClr val="5b6b86"/>
                </a:solidFill>
                <a:latin typeface="Lato"/>
                <a:ea typeface="Lato"/>
              </a:rPr>
              <a:t>Visualizar a lógica</a:t>
            </a:r>
            <a:endParaRPr b="0" lang="pt-BR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13"/>
          <p:cNvSpPr/>
          <p:nvPr/>
        </p:nvSpPr>
        <p:spPr>
          <a:xfrm>
            <a:off x="6601680" y="3255120"/>
            <a:ext cx="978480" cy="360"/>
          </a:xfrm>
          <a:prstGeom prst="line">
            <a:avLst/>
          </a:prstGeom>
          <a:ln w="38100">
            <a:solidFill>
              <a:srgbClr val="10b9f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14"/>
          <p:cNvSpPr/>
          <p:nvPr/>
        </p:nvSpPr>
        <p:spPr>
          <a:xfrm>
            <a:off x="7626240" y="2331720"/>
            <a:ext cx="2194200" cy="1855800"/>
          </a:xfrm>
          <a:prstGeom prst="roundRect">
            <a:avLst>
              <a:gd name="adj" fmla="val 3941"/>
            </a:avLst>
          </a:prstGeom>
          <a:solidFill>
            <a:srgbClr val="ffffff"/>
          </a:solidFill>
          <a:ln w="12700">
            <a:solidFill>
              <a:srgbClr val="dce4f0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15"/>
          <p:cNvSpPr/>
          <p:nvPr/>
        </p:nvSpPr>
        <p:spPr>
          <a:xfrm>
            <a:off x="8412480" y="2560320"/>
            <a:ext cx="621360" cy="621360"/>
          </a:xfrm>
          <a:prstGeom prst="ellipse">
            <a:avLst/>
          </a:prstGeom>
          <a:solidFill>
            <a:srgbClr val="071a4a"/>
          </a:solidFill>
          <a:ln w="12700">
            <a:solidFill>
              <a:srgbClr val="071a4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16"/>
          <p:cNvSpPr/>
          <p:nvPr/>
        </p:nvSpPr>
        <p:spPr>
          <a:xfrm>
            <a:off x="8412480" y="2597040"/>
            <a:ext cx="621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pc="-1" strike="noStrike">
                <a:solidFill>
                  <a:srgbClr val="ffffff"/>
                </a:solidFill>
                <a:latin typeface="Inter Display"/>
                <a:ea typeface="Inter Display"/>
              </a:rPr>
              <a:t>3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17"/>
          <p:cNvSpPr/>
          <p:nvPr/>
        </p:nvSpPr>
        <p:spPr>
          <a:xfrm>
            <a:off x="7809120" y="33102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-1" strike="noStrike">
                <a:solidFill>
                  <a:srgbClr val="071a4a"/>
                </a:solidFill>
                <a:latin typeface="Inter Display"/>
                <a:ea typeface="Inter Display"/>
              </a:rPr>
              <a:t>Python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18"/>
          <p:cNvSpPr/>
          <p:nvPr/>
        </p:nvSpPr>
        <p:spPr>
          <a:xfrm>
            <a:off x="7827120" y="3730680"/>
            <a:ext cx="17917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20" spc="-1" strike="noStrike">
                <a:solidFill>
                  <a:srgbClr val="5b6b86"/>
                </a:solidFill>
                <a:latin typeface="Lato"/>
                <a:ea typeface="Lato"/>
              </a:rPr>
              <a:t>Escrever a mesma lógica</a:t>
            </a:r>
            <a:endParaRPr b="0" lang="pt-BR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19"/>
          <p:cNvSpPr/>
          <p:nvPr/>
        </p:nvSpPr>
        <p:spPr>
          <a:xfrm>
            <a:off x="4809600" y="1938600"/>
            <a:ext cx="1170000" cy="347040"/>
          </a:xfrm>
          <a:prstGeom prst="roundRect">
            <a:avLst>
              <a:gd name="adj" fmla="val 21053"/>
            </a:avLst>
          </a:prstGeom>
          <a:solidFill>
            <a:srgbClr val="e72b76"/>
          </a:solidFill>
          <a:ln w="12700">
            <a:solidFill>
              <a:srgbClr val="e72b7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20"/>
          <p:cNvSpPr/>
          <p:nvPr/>
        </p:nvSpPr>
        <p:spPr>
          <a:xfrm>
            <a:off x="4883040" y="2002680"/>
            <a:ext cx="1023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50" spc="-1" strike="noStrike">
                <a:solidFill>
                  <a:srgbClr val="ffffff"/>
                </a:solidFill>
                <a:latin typeface="Lato"/>
                <a:ea typeface="Lato"/>
              </a:rPr>
              <a:t>HOJE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21"/>
          <p:cNvSpPr/>
          <p:nvPr/>
        </p:nvSpPr>
        <p:spPr>
          <a:xfrm>
            <a:off x="3063240" y="4892040"/>
            <a:ext cx="608040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pc="-1" strike="noStrike">
                <a:solidFill>
                  <a:srgbClr val="071a4a"/>
                </a:solidFill>
                <a:latin typeface="Inter Display"/>
                <a:ea typeface="Inter Display"/>
              </a:rPr>
              <a:t>A lógica permanece; a forma de escrever muda.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1"/>
          <p:cNvSpPr>
            <a:spLocks noGrp="1"/>
          </p:cNvSpPr>
          <p:nvPr>
            <p:ph type="sldNum" idx="7"/>
          </p:nvPr>
        </p:nvSpPr>
        <p:spPr>
          <a:xfrm>
            <a:off x="11283840" y="644652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850" spc="-1" strike="noStrike">
                <a:solidFill>
                  <a:srgbClr val="7a879d"/>
                </a:solidFill>
                <a:latin typeface="Lato"/>
                <a:ea typeface="La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FDCE03-96E8-487E-9830-6621AFBDF30F}" type="slidenum">
              <a:rPr b="0" lang="pt-BR" sz="850" spc="-1" strike="noStrike">
                <a:solidFill>
                  <a:srgbClr val="7a879d"/>
                </a:solidFill>
                <a:latin typeface="Lato"/>
                <a:ea typeface="Lato"/>
              </a:rPr>
              <a:t>2</a:t>
            </a:fld>
            <a:endParaRPr b="0" lang="pt-BR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0"/>
          <p:cNvSpPr/>
          <p:nvPr/>
        </p:nvSpPr>
        <p:spPr>
          <a:xfrm>
            <a:off x="713160" y="896040"/>
            <a:ext cx="99666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  <a:ea typeface="Inter Display"/>
              </a:rPr>
              <a:t>O que você será capaz de fazer hoje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1"/>
          <p:cNvSpPr/>
          <p:nvPr/>
        </p:nvSpPr>
        <p:spPr>
          <a:xfrm>
            <a:off x="822960" y="1965960"/>
            <a:ext cx="2514240" cy="15724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7f0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2"/>
          <p:cNvSpPr/>
          <p:nvPr/>
        </p:nvSpPr>
        <p:spPr>
          <a:xfrm>
            <a:off x="987480" y="2130480"/>
            <a:ext cx="529920" cy="347040"/>
          </a:xfrm>
          <a:prstGeom prst="roundRect">
            <a:avLst>
              <a:gd name="adj" fmla="val 21053"/>
            </a:avLst>
          </a:prstGeom>
          <a:solidFill>
            <a:srgbClr val="10b9f3"/>
          </a:solidFill>
          <a:ln w="12700">
            <a:solidFill>
              <a:srgbClr val="10b9f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3"/>
          <p:cNvSpPr/>
          <p:nvPr/>
        </p:nvSpPr>
        <p:spPr>
          <a:xfrm>
            <a:off x="1060560" y="2194560"/>
            <a:ext cx="383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00" spc="-1" strike="noStrike">
                <a:solidFill>
                  <a:srgbClr val="ffffff"/>
                </a:solidFill>
                <a:latin typeface="Lato"/>
                <a:ea typeface="Lato"/>
              </a:rPr>
              <a:t>01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4"/>
          <p:cNvSpPr/>
          <p:nvPr/>
        </p:nvSpPr>
        <p:spPr>
          <a:xfrm>
            <a:off x="987480" y="2624400"/>
            <a:ext cx="2185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3333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50" spc="-1" strike="noStrike">
                <a:solidFill>
                  <a:srgbClr val="071a4a"/>
                </a:solidFill>
                <a:latin typeface="Inter Display"/>
                <a:ea typeface="Inter Display"/>
              </a:rPr>
              <a:t>Organizar um algoritmo</a:t>
            </a:r>
            <a:endParaRPr b="0" lang="pt-BR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5"/>
          <p:cNvSpPr/>
          <p:nvPr/>
        </p:nvSpPr>
        <p:spPr>
          <a:xfrm>
            <a:off x="987480" y="2999160"/>
            <a:ext cx="2185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50" spc="-1" strike="noStrike">
                <a:solidFill>
                  <a:srgbClr val="5b6b86"/>
                </a:solidFill>
                <a:latin typeface="Lato"/>
                <a:ea typeface="Lato"/>
              </a:rPr>
              <a:t>Sequência de passos, entrada, processamento e saída.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6"/>
          <p:cNvSpPr/>
          <p:nvPr/>
        </p:nvSpPr>
        <p:spPr>
          <a:xfrm>
            <a:off x="3502080" y="1965960"/>
            <a:ext cx="2514240" cy="15724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7f0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7"/>
          <p:cNvSpPr/>
          <p:nvPr/>
        </p:nvSpPr>
        <p:spPr>
          <a:xfrm>
            <a:off x="3666600" y="2130480"/>
            <a:ext cx="529920" cy="347040"/>
          </a:xfrm>
          <a:prstGeom prst="roundRect">
            <a:avLst>
              <a:gd name="adj" fmla="val 21053"/>
            </a:avLst>
          </a:prstGeom>
          <a:solidFill>
            <a:srgbClr val="f36b21"/>
          </a:solidFill>
          <a:ln w="12700">
            <a:solidFill>
              <a:srgbClr val="f36b2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8"/>
          <p:cNvSpPr/>
          <p:nvPr/>
        </p:nvSpPr>
        <p:spPr>
          <a:xfrm>
            <a:off x="3740040" y="2194560"/>
            <a:ext cx="383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00" spc="-1" strike="noStrike">
                <a:solidFill>
                  <a:srgbClr val="ffffff"/>
                </a:solidFill>
                <a:latin typeface="Lato"/>
                <a:ea typeface="Lato"/>
              </a:rPr>
              <a:t>02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9"/>
          <p:cNvSpPr/>
          <p:nvPr/>
        </p:nvSpPr>
        <p:spPr>
          <a:xfrm>
            <a:off x="3666600" y="2624400"/>
            <a:ext cx="2185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50" spc="-1" strike="noStrike">
                <a:solidFill>
                  <a:srgbClr val="071a4a"/>
                </a:solidFill>
                <a:latin typeface="Inter Display"/>
                <a:ea typeface="Inter Display"/>
              </a:rPr>
              <a:t>Usar variáveis</a:t>
            </a:r>
            <a:endParaRPr b="0" lang="pt-BR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10"/>
          <p:cNvSpPr/>
          <p:nvPr/>
        </p:nvSpPr>
        <p:spPr>
          <a:xfrm>
            <a:off x="3666600" y="2999160"/>
            <a:ext cx="2185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50" spc="-1" strike="noStrike">
                <a:solidFill>
                  <a:srgbClr val="5b6b86"/>
                </a:solidFill>
                <a:latin typeface="Lato"/>
                <a:ea typeface="Lato"/>
              </a:rPr>
              <a:t>Guardar dados e resultados intermediários.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11"/>
          <p:cNvSpPr/>
          <p:nvPr/>
        </p:nvSpPr>
        <p:spPr>
          <a:xfrm>
            <a:off x="6181200" y="1965960"/>
            <a:ext cx="2514240" cy="15724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7f0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12"/>
          <p:cNvSpPr/>
          <p:nvPr/>
        </p:nvSpPr>
        <p:spPr>
          <a:xfrm>
            <a:off x="6346080" y="2130480"/>
            <a:ext cx="529920" cy="347040"/>
          </a:xfrm>
          <a:prstGeom prst="roundRect">
            <a:avLst>
              <a:gd name="adj" fmla="val 21053"/>
            </a:avLst>
          </a:prstGeom>
          <a:solidFill>
            <a:srgbClr val="e72b76"/>
          </a:solidFill>
          <a:ln w="12700">
            <a:solidFill>
              <a:srgbClr val="e72b7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 13"/>
          <p:cNvSpPr/>
          <p:nvPr/>
        </p:nvSpPr>
        <p:spPr>
          <a:xfrm>
            <a:off x="6419160" y="2194560"/>
            <a:ext cx="383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00" spc="-1" strike="noStrike">
                <a:solidFill>
                  <a:srgbClr val="ffffff"/>
                </a:solidFill>
                <a:latin typeface="Lato"/>
                <a:ea typeface="Lato"/>
              </a:rPr>
              <a:t>03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14"/>
          <p:cNvSpPr/>
          <p:nvPr/>
        </p:nvSpPr>
        <p:spPr>
          <a:xfrm>
            <a:off x="6346080" y="2624400"/>
            <a:ext cx="2185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50" spc="-1" strike="noStrike">
                <a:solidFill>
                  <a:srgbClr val="071a4a"/>
                </a:solidFill>
                <a:latin typeface="Inter Display"/>
                <a:ea typeface="Inter Display"/>
              </a:rPr>
              <a:t>Decidir e repetir</a:t>
            </a:r>
            <a:endParaRPr b="0" lang="pt-BR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15"/>
          <p:cNvSpPr/>
          <p:nvPr/>
        </p:nvSpPr>
        <p:spPr>
          <a:xfrm>
            <a:off x="6346080" y="2999160"/>
            <a:ext cx="2185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50" spc="-1" strike="noStrike">
                <a:solidFill>
                  <a:srgbClr val="5b6b86"/>
                </a:solidFill>
                <a:latin typeface="Lato"/>
                <a:ea typeface="Lato"/>
              </a:rPr>
              <a:t>Aplicar condições e automatizar comportamentos.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16"/>
          <p:cNvSpPr/>
          <p:nvPr/>
        </p:nvSpPr>
        <p:spPr>
          <a:xfrm>
            <a:off x="8860680" y="1965960"/>
            <a:ext cx="2514240" cy="15724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7f0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17"/>
          <p:cNvSpPr/>
          <p:nvPr/>
        </p:nvSpPr>
        <p:spPr>
          <a:xfrm>
            <a:off x="9025200" y="2130480"/>
            <a:ext cx="529920" cy="347040"/>
          </a:xfrm>
          <a:prstGeom prst="roundRect">
            <a:avLst>
              <a:gd name="adj" fmla="val 21053"/>
            </a:avLst>
          </a:prstGeom>
          <a:solidFill>
            <a:srgbClr val="8157b1"/>
          </a:solidFill>
          <a:ln w="12700">
            <a:solidFill>
              <a:srgbClr val="8157b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18"/>
          <p:cNvSpPr/>
          <p:nvPr/>
        </p:nvSpPr>
        <p:spPr>
          <a:xfrm>
            <a:off x="9098280" y="2194560"/>
            <a:ext cx="383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00" spc="-1" strike="noStrike">
                <a:solidFill>
                  <a:srgbClr val="ffffff"/>
                </a:solidFill>
                <a:latin typeface="Lato"/>
                <a:ea typeface="Lato"/>
              </a:rPr>
              <a:t>04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19"/>
          <p:cNvSpPr/>
          <p:nvPr/>
        </p:nvSpPr>
        <p:spPr>
          <a:xfrm>
            <a:off x="9025200" y="2624400"/>
            <a:ext cx="2185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50" spc="-1" strike="noStrike">
                <a:solidFill>
                  <a:srgbClr val="071a4a"/>
                </a:solidFill>
                <a:latin typeface="Inter Display"/>
                <a:ea typeface="Inter Display"/>
              </a:rPr>
              <a:t>Testar e explicar</a:t>
            </a:r>
            <a:endParaRPr b="0" lang="pt-BR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20"/>
          <p:cNvSpPr/>
          <p:nvPr/>
        </p:nvSpPr>
        <p:spPr>
          <a:xfrm>
            <a:off x="9025200" y="2999160"/>
            <a:ext cx="2185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50" spc="-1" strike="noStrike">
                <a:solidFill>
                  <a:srgbClr val="5b6b86"/>
                </a:solidFill>
                <a:latin typeface="Lato"/>
                <a:ea typeface="Lato"/>
              </a:rPr>
              <a:t>Experimentar casos, encontrar erros e justificar o fluxo.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21"/>
          <p:cNvSpPr/>
          <p:nvPr/>
        </p:nvSpPr>
        <p:spPr>
          <a:xfrm>
            <a:off x="1261800" y="4297680"/>
            <a:ext cx="9646560" cy="959760"/>
          </a:xfrm>
          <a:prstGeom prst="roundRect">
            <a:avLst>
              <a:gd name="adj" fmla="val 7619"/>
            </a:avLst>
          </a:prstGeom>
          <a:solidFill>
            <a:srgbClr val="eef3fa"/>
          </a:solidFill>
          <a:ln w="12700">
            <a:solidFill>
              <a:srgbClr val="d8e2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22"/>
          <p:cNvSpPr/>
          <p:nvPr/>
        </p:nvSpPr>
        <p:spPr>
          <a:xfrm>
            <a:off x="1554480" y="4517280"/>
            <a:ext cx="1416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50" spc="-1" strike="noStrike">
                <a:solidFill>
                  <a:srgbClr val="10b9f3"/>
                </a:solidFill>
                <a:latin typeface="Lato"/>
                <a:ea typeface="Lato"/>
              </a:rPr>
              <a:t>Meta do encontro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23"/>
          <p:cNvSpPr/>
          <p:nvPr/>
        </p:nvSpPr>
        <p:spPr>
          <a:xfrm>
            <a:off x="2743200" y="4453200"/>
            <a:ext cx="7772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3333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40" spc="-1" strike="noStrike">
                <a:solidFill>
                  <a:srgbClr val="071a4a"/>
                </a:solidFill>
                <a:latin typeface="Lato"/>
                <a:ea typeface="Lato"/>
              </a:rPr>
              <a:t>Ao final, você não precisa dominar o Scratch. Precisa reconhecer e usar sequência, variável, decisão e repetição.</a:t>
            </a:r>
            <a:endParaRPr b="0" lang="pt-BR" sz="14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1"/>
          <p:cNvSpPr>
            <a:spLocks noGrp="1"/>
          </p:cNvSpPr>
          <p:nvPr>
            <p:ph type="sldNum" idx="8"/>
          </p:nvPr>
        </p:nvSpPr>
        <p:spPr>
          <a:xfrm>
            <a:off x="11283840" y="644652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850" spc="-1" strike="noStrike">
                <a:solidFill>
                  <a:srgbClr val="7a879d"/>
                </a:solidFill>
                <a:latin typeface="Lato"/>
                <a:ea typeface="La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E82C35-3E58-45FD-B98D-8FA19A4040EC}" type="slidenum">
              <a:rPr b="0" lang="pt-BR" sz="850" spc="-1" strike="noStrike">
                <a:solidFill>
                  <a:srgbClr val="7a879d"/>
                </a:solidFill>
                <a:latin typeface="Lato"/>
                <a:ea typeface="Lato"/>
              </a:rPr>
              <a:t>3</a:t>
            </a:fld>
            <a:endParaRPr b="0" lang="pt-BR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 0"/>
          <p:cNvSpPr/>
          <p:nvPr/>
        </p:nvSpPr>
        <p:spPr>
          <a:xfrm>
            <a:off x="713160" y="896040"/>
            <a:ext cx="99666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  <a:ea typeface="Inter Display"/>
              </a:rPr>
              <a:t>Onde existe programação na saúde digital?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1"/>
          <p:cNvSpPr/>
          <p:nvPr/>
        </p:nvSpPr>
        <p:spPr>
          <a:xfrm>
            <a:off x="731520" y="1444680"/>
            <a:ext cx="9692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50" spc="-1" strike="noStrike">
                <a:solidFill>
                  <a:srgbClr val="5b6b86"/>
                </a:solidFill>
                <a:latin typeface="Lato"/>
                <a:ea typeface="Lato"/>
              </a:rPr>
              <a:t>Do dispositivo ao dashboard, software organiza dados e comportamentos.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2"/>
          <p:cNvSpPr/>
          <p:nvPr/>
        </p:nvSpPr>
        <p:spPr>
          <a:xfrm>
            <a:off x="841320" y="2148840"/>
            <a:ext cx="1782720" cy="2377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7f0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3"/>
          <p:cNvSpPr/>
          <p:nvPr/>
        </p:nvSpPr>
        <p:spPr>
          <a:xfrm>
            <a:off x="1316880" y="2468880"/>
            <a:ext cx="840960" cy="840960"/>
          </a:xfrm>
          <a:prstGeom prst="roundRect">
            <a:avLst>
              <a:gd name="adj" fmla="val 17391"/>
            </a:avLst>
          </a:prstGeom>
          <a:solidFill>
            <a:srgbClr val="10b9f3">
              <a:alpha val="96000"/>
            </a:srgbClr>
          </a:solidFill>
          <a:ln w="12700">
            <a:solidFill>
              <a:srgbClr val="10b9f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Shape 4"/>
          <p:cNvSpPr/>
          <p:nvPr/>
        </p:nvSpPr>
        <p:spPr>
          <a:xfrm>
            <a:off x="1554480" y="2597040"/>
            <a:ext cx="356400" cy="53928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5"/>
          <p:cNvSpPr/>
          <p:nvPr/>
        </p:nvSpPr>
        <p:spPr>
          <a:xfrm>
            <a:off x="1737360" y="2486880"/>
            <a:ext cx="360" cy="137160"/>
          </a:xfrm>
          <a:prstGeom prst="line">
            <a:avLst/>
          </a:prstGeom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6"/>
          <p:cNvSpPr/>
          <p:nvPr/>
        </p:nvSpPr>
        <p:spPr>
          <a:xfrm>
            <a:off x="1737360" y="3136320"/>
            <a:ext cx="360" cy="127800"/>
          </a:xfrm>
          <a:prstGeom prst="line">
            <a:avLst/>
          </a:prstGeom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7"/>
          <p:cNvSpPr/>
          <p:nvPr/>
        </p:nvSpPr>
        <p:spPr>
          <a:xfrm>
            <a:off x="969120" y="3575160"/>
            <a:ext cx="1526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80" spc="-1" strike="noStrike">
                <a:solidFill>
                  <a:srgbClr val="071a4a"/>
                </a:solidFill>
                <a:latin typeface="Inter Display"/>
                <a:ea typeface="Inter Display"/>
              </a:rPr>
              <a:t>Wearables</a:t>
            </a:r>
            <a:endParaRPr b="0" lang="pt-BR" sz="14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8"/>
          <p:cNvSpPr/>
          <p:nvPr/>
        </p:nvSpPr>
        <p:spPr>
          <a:xfrm>
            <a:off x="978480" y="3968640"/>
            <a:ext cx="1508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50" spc="-1" strike="noStrike">
                <a:solidFill>
                  <a:srgbClr val="5b6b86"/>
                </a:solidFill>
                <a:latin typeface="Lato"/>
                <a:ea typeface="Lato"/>
              </a:rPr>
              <a:t>coletam e exibem dados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9"/>
          <p:cNvSpPr/>
          <p:nvPr/>
        </p:nvSpPr>
        <p:spPr>
          <a:xfrm>
            <a:off x="3127320" y="2148840"/>
            <a:ext cx="1782720" cy="2377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7f0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10"/>
          <p:cNvSpPr/>
          <p:nvPr/>
        </p:nvSpPr>
        <p:spPr>
          <a:xfrm>
            <a:off x="3602880" y="2468880"/>
            <a:ext cx="840960" cy="840960"/>
          </a:xfrm>
          <a:prstGeom prst="roundRect">
            <a:avLst>
              <a:gd name="adj" fmla="val 17391"/>
            </a:avLst>
          </a:prstGeom>
          <a:solidFill>
            <a:srgbClr val="f36b21">
              <a:alpha val="96000"/>
            </a:srgbClr>
          </a:solidFill>
          <a:ln w="12700">
            <a:solidFill>
              <a:srgbClr val="f36b2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Shape 11"/>
          <p:cNvSpPr/>
          <p:nvPr/>
        </p:nvSpPr>
        <p:spPr>
          <a:xfrm>
            <a:off x="3822120" y="2660760"/>
            <a:ext cx="365400" cy="365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12"/>
          <p:cNvSpPr/>
          <p:nvPr/>
        </p:nvSpPr>
        <p:spPr>
          <a:xfrm>
            <a:off x="3684960" y="2532960"/>
            <a:ext cx="639720" cy="639720"/>
          </a:xfrm>
          <a:prstGeom prst="arc">
            <a:avLst>
              <a:gd name="adj1" fmla="val 16200000"/>
              <a:gd name="adj2" fmla="val 0"/>
            </a:avLst>
          </a:prstGeom>
          <a:noFill/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13"/>
          <p:cNvSpPr/>
          <p:nvPr/>
        </p:nvSpPr>
        <p:spPr>
          <a:xfrm>
            <a:off x="3255120" y="3575160"/>
            <a:ext cx="1526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80" spc="-1" strike="noStrike">
                <a:solidFill>
                  <a:srgbClr val="071a4a"/>
                </a:solidFill>
                <a:latin typeface="Inter Display"/>
                <a:ea typeface="Inter Display"/>
              </a:rPr>
              <a:t>Sensores</a:t>
            </a:r>
            <a:endParaRPr b="0" lang="pt-BR" sz="14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14"/>
          <p:cNvSpPr/>
          <p:nvPr/>
        </p:nvSpPr>
        <p:spPr>
          <a:xfrm>
            <a:off x="3264480" y="3968640"/>
            <a:ext cx="1508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50" spc="-1" strike="noStrike">
                <a:solidFill>
                  <a:srgbClr val="5b6b86"/>
                </a:solidFill>
                <a:latin typeface="Lato"/>
                <a:ea typeface="Lato"/>
              </a:rPr>
              <a:t>produzem sinais e medidas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Shape 15"/>
          <p:cNvSpPr/>
          <p:nvPr/>
        </p:nvSpPr>
        <p:spPr>
          <a:xfrm>
            <a:off x="5413320" y="2148840"/>
            <a:ext cx="1782720" cy="2377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7f0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16"/>
          <p:cNvSpPr/>
          <p:nvPr/>
        </p:nvSpPr>
        <p:spPr>
          <a:xfrm>
            <a:off x="5888880" y="2468880"/>
            <a:ext cx="840960" cy="840960"/>
          </a:xfrm>
          <a:prstGeom prst="roundRect">
            <a:avLst>
              <a:gd name="adj" fmla="val 17391"/>
            </a:avLst>
          </a:prstGeom>
          <a:solidFill>
            <a:srgbClr val="e72b76">
              <a:alpha val="96000"/>
            </a:srgbClr>
          </a:solidFill>
          <a:ln w="12700">
            <a:solidFill>
              <a:srgbClr val="e72b7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Shape 17"/>
          <p:cNvSpPr/>
          <p:nvPr/>
        </p:nvSpPr>
        <p:spPr>
          <a:xfrm>
            <a:off x="6117480" y="2587680"/>
            <a:ext cx="365400" cy="56664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18"/>
          <p:cNvSpPr/>
          <p:nvPr/>
        </p:nvSpPr>
        <p:spPr>
          <a:xfrm>
            <a:off x="6282000" y="3063240"/>
            <a:ext cx="36360" cy="36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8720" bIns="-1872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19"/>
          <p:cNvSpPr/>
          <p:nvPr/>
        </p:nvSpPr>
        <p:spPr>
          <a:xfrm>
            <a:off x="5541120" y="3575160"/>
            <a:ext cx="1526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80" spc="-1" strike="noStrike">
                <a:solidFill>
                  <a:srgbClr val="071a4a"/>
                </a:solidFill>
                <a:latin typeface="Inter Display"/>
                <a:ea typeface="Inter Display"/>
              </a:rPr>
              <a:t>Apps</a:t>
            </a:r>
            <a:endParaRPr b="0" lang="pt-BR" sz="14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20"/>
          <p:cNvSpPr/>
          <p:nvPr/>
        </p:nvSpPr>
        <p:spPr>
          <a:xfrm>
            <a:off x="5550480" y="3968640"/>
            <a:ext cx="1508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50" spc="-1" strike="noStrike">
                <a:solidFill>
                  <a:srgbClr val="5b6b86"/>
                </a:solidFill>
                <a:latin typeface="Lato"/>
                <a:ea typeface="Lato"/>
              </a:rPr>
              <a:t>interagem com pessoas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21"/>
          <p:cNvSpPr/>
          <p:nvPr/>
        </p:nvSpPr>
        <p:spPr>
          <a:xfrm>
            <a:off x="7699320" y="2148840"/>
            <a:ext cx="1782720" cy="2377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7f0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22"/>
          <p:cNvSpPr/>
          <p:nvPr/>
        </p:nvSpPr>
        <p:spPr>
          <a:xfrm>
            <a:off x="8174880" y="2468880"/>
            <a:ext cx="840960" cy="840960"/>
          </a:xfrm>
          <a:prstGeom prst="roundRect">
            <a:avLst>
              <a:gd name="adj" fmla="val 17391"/>
            </a:avLst>
          </a:prstGeom>
          <a:solidFill>
            <a:srgbClr val="8157b1">
              <a:alpha val="96000"/>
            </a:srgbClr>
          </a:solidFill>
          <a:ln w="12700">
            <a:solidFill>
              <a:srgbClr val="8157b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Shape 23"/>
          <p:cNvSpPr/>
          <p:nvPr/>
        </p:nvSpPr>
        <p:spPr>
          <a:xfrm>
            <a:off x="8302680" y="2660760"/>
            <a:ext cx="585000" cy="4384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24"/>
          <p:cNvSpPr/>
          <p:nvPr/>
        </p:nvSpPr>
        <p:spPr>
          <a:xfrm>
            <a:off x="7827120" y="3575160"/>
            <a:ext cx="1526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80" spc="-1" strike="noStrike">
                <a:solidFill>
                  <a:srgbClr val="071a4a"/>
                </a:solidFill>
                <a:latin typeface="Inter Display"/>
                <a:ea typeface="Inter Display"/>
              </a:rPr>
              <a:t>Backend</a:t>
            </a:r>
            <a:endParaRPr b="0" lang="pt-BR" sz="14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25"/>
          <p:cNvSpPr/>
          <p:nvPr/>
        </p:nvSpPr>
        <p:spPr>
          <a:xfrm>
            <a:off x="7836480" y="3968640"/>
            <a:ext cx="1508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50" spc="-1" strike="noStrike">
                <a:solidFill>
                  <a:srgbClr val="5b6b86"/>
                </a:solidFill>
                <a:latin typeface="Lato"/>
                <a:ea typeface="Lato"/>
              </a:rPr>
              <a:t>processa e organiza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26"/>
          <p:cNvSpPr/>
          <p:nvPr/>
        </p:nvSpPr>
        <p:spPr>
          <a:xfrm>
            <a:off x="9985320" y="2148840"/>
            <a:ext cx="1782720" cy="2377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7f0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27"/>
          <p:cNvSpPr/>
          <p:nvPr/>
        </p:nvSpPr>
        <p:spPr>
          <a:xfrm>
            <a:off x="10460880" y="2468880"/>
            <a:ext cx="840960" cy="840960"/>
          </a:xfrm>
          <a:prstGeom prst="roundRect">
            <a:avLst>
              <a:gd name="adj" fmla="val 17391"/>
            </a:avLst>
          </a:prstGeom>
          <a:solidFill>
            <a:srgbClr val="2c7cc0">
              <a:alpha val="96000"/>
            </a:srgbClr>
          </a:solidFill>
          <a:ln w="12700">
            <a:solidFill>
              <a:srgbClr val="2c7cc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Shape 28"/>
          <p:cNvSpPr/>
          <p:nvPr/>
        </p:nvSpPr>
        <p:spPr>
          <a:xfrm flipV="1">
            <a:off x="10625040" y="2898360"/>
            <a:ext cx="146520" cy="164880"/>
          </a:xfrm>
          <a:prstGeom prst="line">
            <a:avLst/>
          </a:prstGeom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29"/>
          <p:cNvSpPr/>
          <p:nvPr/>
        </p:nvSpPr>
        <p:spPr>
          <a:xfrm>
            <a:off x="10771560" y="2898360"/>
            <a:ext cx="155520" cy="109800"/>
          </a:xfrm>
          <a:prstGeom prst="line">
            <a:avLst/>
          </a:prstGeom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30"/>
          <p:cNvSpPr/>
          <p:nvPr/>
        </p:nvSpPr>
        <p:spPr>
          <a:xfrm flipV="1">
            <a:off x="10927080" y="2733840"/>
            <a:ext cx="191880" cy="274320"/>
          </a:xfrm>
          <a:prstGeom prst="line">
            <a:avLst/>
          </a:prstGeom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31"/>
          <p:cNvSpPr/>
          <p:nvPr/>
        </p:nvSpPr>
        <p:spPr>
          <a:xfrm>
            <a:off x="10113120" y="3575160"/>
            <a:ext cx="1526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80" spc="-1" strike="noStrike">
                <a:solidFill>
                  <a:srgbClr val="071a4a"/>
                </a:solidFill>
                <a:latin typeface="Inter Display"/>
                <a:ea typeface="Inter Display"/>
              </a:rPr>
              <a:t>Dashboards</a:t>
            </a:r>
            <a:endParaRPr b="0" lang="pt-BR" sz="14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32"/>
          <p:cNvSpPr/>
          <p:nvPr/>
        </p:nvSpPr>
        <p:spPr>
          <a:xfrm>
            <a:off x="10122480" y="3968640"/>
            <a:ext cx="1508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50" spc="-1" strike="noStrike">
                <a:solidFill>
                  <a:srgbClr val="5b6b86"/>
                </a:solidFill>
                <a:latin typeface="Lato"/>
                <a:ea typeface="Lato"/>
              </a:rPr>
              <a:t>mostram informação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33"/>
          <p:cNvSpPr/>
          <p:nvPr/>
        </p:nvSpPr>
        <p:spPr>
          <a:xfrm>
            <a:off x="1508760" y="5175360"/>
            <a:ext cx="9235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00" spc="-1" strike="noStrike">
                <a:solidFill>
                  <a:srgbClr val="071a4a"/>
                </a:solidFill>
                <a:latin typeface="Lato"/>
                <a:ea typeface="Lato"/>
              </a:rPr>
              <a:t>Pergunta para a turma: que outros softwares vocês encontram na área de saúde?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1"/>
          <p:cNvSpPr>
            <a:spLocks noGrp="1"/>
          </p:cNvSpPr>
          <p:nvPr>
            <p:ph type="sldNum" idx="9"/>
          </p:nvPr>
        </p:nvSpPr>
        <p:spPr>
          <a:xfrm>
            <a:off x="11283840" y="644652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850" spc="-1" strike="noStrike">
                <a:solidFill>
                  <a:srgbClr val="7a879d"/>
                </a:solidFill>
                <a:latin typeface="Lato"/>
                <a:ea typeface="La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3C3ADD-F981-456B-A0DC-5C85CFA2D2E5}" type="slidenum">
              <a:rPr b="0" lang="pt-BR" sz="850" spc="-1" strike="noStrike">
                <a:solidFill>
                  <a:srgbClr val="7a879d"/>
                </a:solidFill>
                <a:latin typeface="Lato"/>
                <a:ea typeface="Lato"/>
              </a:rPr>
              <a:t>4</a:t>
            </a:fld>
            <a:endParaRPr b="0" lang="pt-BR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 0"/>
          <p:cNvSpPr/>
          <p:nvPr/>
        </p:nvSpPr>
        <p:spPr>
          <a:xfrm>
            <a:off x="713160" y="896040"/>
            <a:ext cx="99666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  <a:ea typeface="Inter Display"/>
              </a:rPr>
              <a:t>Software não é “mágica”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1"/>
          <p:cNvSpPr/>
          <p:nvPr/>
        </p:nvSpPr>
        <p:spPr>
          <a:xfrm>
            <a:off x="731520" y="1444680"/>
            <a:ext cx="9692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50" spc="-1" strike="noStrike">
                <a:solidFill>
                  <a:srgbClr val="5b6b86"/>
                </a:solidFill>
                <a:latin typeface="Lato"/>
                <a:ea typeface="Lato"/>
              </a:rPr>
              <a:t>Quase sempre podemos enxergar um fluxo de entrada, processamento e saída.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2"/>
          <p:cNvSpPr/>
          <p:nvPr/>
        </p:nvSpPr>
        <p:spPr>
          <a:xfrm>
            <a:off x="914400" y="2377440"/>
            <a:ext cx="2880000" cy="20570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1e7f0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3"/>
          <p:cNvSpPr/>
          <p:nvPr/>
        </p:nvSpPr>
        <p:spPr>
          <a:xfrm>
            <a:off x="1115640" y="2633400"/>
            <a:ext cx="2468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50" spc="77" strike="noStrike">
                <a:solidFill>
                  <a:srgbClr val="10b9f3"/>
                </a:solidFill>
                <a:latin typeface="Lato"/>
                <a:ea typeface="Lato"/>
              </a:rPr>
              <a:t>ENTRADA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4"/>
          <p:cNvSpPr/>
          <p:nvPr/>
        </p:nvSpPr>
        <p:spPr>
          <a:xfrm>
            <a:off x="1115640" y="3090600"/>
            <a:ext cx="2468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900" spc="-1" strike="noStrike">
                <a:solidFill>
                  <a:srgbClr val="071a4a"/>
                </a:solidFill>
                <a:latin typeface="Inter Display"/>
                <a:ea typeface="Inter Display"/>
              </a:rPr>
              <a:t>receber um valor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5"/>
          <p:cNvSpPr/>
          <p:nvPr/>
        </p:nvSpPr>
        <p:spPr>
          <a:xfrm>
            <a:off x="1115640" y="383148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20" spc="-1" strike="noStrike">
                <a:solidFill>
                  <a:srgbClr val="5b6b86"/>
                </a:solidFill>
                <a:latin typeface="DejaVu Sans Mono"/>
                <a:ea typeface="DejaVu Sans Mono"/>
              </a:rPr>
              <a:t>ex.: 50</a:t>
            </a:r>
            <a:endParaRPr b="0" lang="pt-BR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6"/>
          <p:cNvSpPr/>
          <p:nvPr/>
        </p:nvSpPr>
        <p:spPr>
          <a:xfrm>
            <a:off x="3959280" y="3364920"/>
            <a:ext cx="941760" cy="360"/>
          </a:xfrm>
          <a:prstGeom prst="line">
            <a:avLst/>
          </a:prstGeom>
          <a:ln w="31750">
            <a:solidFill>
              <a:srgbClr val="071a4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7"/>
          <p:cNvSpPr/>
          <p:nvPr/>
        </p:nvSpPr>
        <p:spPr>
          <a:xfrm>
            <a:off x="4260960" y="2377440"/>
            <a:ext cx="2880000" cy="20570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1e7f0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8"/>
          <p:cNvSpPr/>
          <p:nvPr/>
        </p:nvSpPr>
        <p:spPr>
          <a:xfrm>
            <a:off x="4462200" y="2633400"/>
            <a:ext cx="2468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50" spc="77" strike="noStrike">
                <a:solidFill>
                  <a:srgbClr val="f36b21"/>
                </a:solidFill>
                <a:latin typeface="Lato"/>
                <a:ea typeface="Lato"/>
              </a:rPr>
              <a:t>PROCESSAMENTO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9"/>
          <p:cNvSpPr/>
          <p:nvPr/>
        </p:nvSpPr>
        <p:spPr>
          <a:xfrm>
            <a:off x="4462200" y="3090600"/>
            <a:ext cx="2468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8333" lnSpcReduction="20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900" spc="-1" strike="noStrike">
                <a:solidFill>
                  <a:srgbClr val="071a4a"/>
                </a:solidFill>
                <a:latin typeface="Inter Display"/>
                <a:ea typeface="Inter Display"/>
              </a:rPr>
              <a:t>armazenar + comparar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10"/>
          <p:cNvSpPr/>
          <p:nvPr/>
        </p:nvSpPr>
        <p:spPr>
          <a:xfrm>
            <a:off x="4462200" y="383148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20" spc="-1" strike="noStrike">
                <a:solidFill>
                  <a:srgbClr val="5b6b86"/>
                </a:solidFill>
                <a:latin typeface="DejaVu Sans Mono"/>
                <a:ea typeface="DejaVu Sans Mono"/>
              </a:rPr>
              <a:t>ex.: valorSensor ≤ 70</a:t>
            </a:r>
            <a:endParaRPr b="0" lang="pt-BR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11"/>
          <p:cNvSpPr/>
          <p:nvPr/>
        </p:nvSpPr>
        <p:spPr>
          <a:xfrm>
            <a:off x="7305840" y="3364920"/>
            <a:ext cx="941760" cy="360"/>
          </a:xfrm>
          <a:prstGeom prst="line">
            <a:avLst/>
          </a:prstGeom>
          <a:ln w="31750">
            <a:solidFill>
              <a:srgbClr val="071a4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12"/>
          <p:cNvSpPr/>
          <p:nvPr/>
        </p:nvSpPr>
        <p:spPr>
          <a:xfrm>
            <a:off x="8174880" y="2377440"/>
            <a:ext cx="2880000" cy="20570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1e7f0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13"/>
          <p:cNvSpPr/>
          <p:nvPr/>
        </p:nvSpPr>
        <p:spPr>
          <a:xfrm>
            <a:off x="8375760" y="2633400"/>
            <a:ext cx="2468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50" spc="77" strike="noStrike">
                <a:solidFill>
                  <a:srgbClr val="e72b76"/>
                </a:solidFill>
                <a:latin typeface="Lato"/>
                <a:ea typeface="Lato"/>
              </a:rPr>
              <a:t>SAÍDA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14"/>
          <p:cNvSpPr/>
          <p:nvPr/>
        </p:nvSpPr>
        <p:spPr>
          <a:xfrm>
            <a:off x="8375760" y="3090600"/>
            <a:ext cx="2468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900" spc="-1" strike="noStrike">
                <a:solidFill>
                  <a:srgbClr val="071a4a"/>
                </a:solidFill>
                <a:latin typeface="Inter Display"/>
                <a:ea typeface="Inter Display"/>
              </a:rPr>
              <a:t>responder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15"/>
          <p:cNvSpPr/>
          <p:nvPr/>
        </p:nvSpPr>
        <p:spPr>
          <a:xfrm>
            <a:off x="8375760" y="383148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20" spc="-1" strike="noStrike">
                <a:solidFill>
                  <a:srgbClr val="5b6b86"/>
                </a:solidFill>
                <a:latin typeface="DejaVu Sans Mono"/>
                <a:ea typeface="DejaVu Sans Mono"/>
              </a:rPr>
              <a:t>ex.: “Faixa didática B”</a:t>
            </a:r>
            <a:endParaRPr b="0" lang="pt-BR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16"/>
          <p:cNvSpPr/>
          <p:nvPr/>
        </p:nvSpPr>
        <p:spPr>
          <a:xfrm>
            <a:off x="4407480" y="4937760"/>
            <a:ext cx="3401280" cy="347040"/>
          </a:xfrm>
          <a:prstGeom prst="roundRect">
            <a:avLst>
              <a:gd name="adj" fmla="val 21053"/>
            </a:avLst>
          </a:prstGeom>
          <a:solidFill>
            <a:srgbClr val="eaf8fe"/>
          </a:solidFill>
          <a:ln w="12700">
            <a:solidFill>
              <a:srgbClr val="eaf8f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17"/>
          <p:cNvSpPr/>
          <p:nvPr/>
        </p:nvSpPr>
        <p:spPr>
          <a:xfrm>
            <a:off x="4480560" y="5001840"/>
            <a:ext cx="3254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50" spc="-1" strike="noStrike">
                <a:solidFill>
                  <a:srgbClr val="071a4a"/>
                </a:solidFill>
                <a:latin typeface="Lato"/>
                <a:ea typeface="Lato"/>
              </a:rPr>
              <a:t>PADRÃO QUE VAI SE REPETIR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1"/>
          <p:cNvSpPr>
            <a:spLocks noGrp="1"/>
          </p:cNvSpPr>
          <p:nvPr>
            <p:ph type="sldNum" idx="10"/>
          </p:nvPr>
        </p:nvSpPr>
        <p:spPr>
          <a:xfrm>
            <a:off x="11283840" y="644652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850" spc="-1" strike="noStrike">
                <a:solidFill>
                  <a:srgbClr val="7a879d"/>
                </a:solidFill>
                <a:latin typeface="Lato"/>
                <a:ea typeface="La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3F9FA6-39E5-4BA7-8207-FD03E51E4CE4}" type="slidenum">
              <a:rPr b="0" lang="pt-BR" sz="850" spc="-1" strike="noStrike">
                <a:solidFill>
                  <a:srgbClr val="7a879d"/>
                </a:solidFill>
                <a:latin typeface="Lato"/>
                <a:ea typeface="Lato"/>
              </a:rPr>
              <a:t>5</a:t>
            </a:fld>
            <a:endParaRPr b="0" lang="pt-BR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0"/>
          <p:cNvSpPr/>
          <p:nvPr/>
        </p:nvSpPr>
        <p:spPr>
          <a:xfrm>
            <a:off x="-411480" y="987480"/>
            <a:ext cx="1279800" cy="1005480"/>
          </a:xfrm>
          <a:prstGeom prst="hexagon">
            <a:avLst>
              <a:gd name="adj" fmla="val 25000"/>
              <a:gd name="vf" fmla="val 115470"/>
            </a:avLst>
          </a:prstGeom>
          <a:noFill/>
          <a:ln w="30480">
            <a:solidFill>
              <a:srgbClr val="e72b76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Shape 1"/>
          <p:cNvSpPr/>
          <p:nvPr/>
        </p:nvSpPr>
        <p:spPr>
          <a:xfrm>
            <a:off x="11384280" y="1600200"/>
            <a:ext cx="1234080" cy="987120"/>
          </a:xfrm>
          <a:prstGeom prst="hexagon">
            <a:avLst>
              <a:gd name="adj" fmla="val 25000"/>
              <a:gd name="vf" fmla="val 115470"/>
            </a:avLst>
          </a:prstGeom>
          <a:noFill/>
          <a:ln w="30480">
            <a:solidFill>
              <a:srgbClr val="f36b21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Shape 2"/>
          <p:cNvSpPr/>
          <p:nvPr/>
        </p:nvSpPr>
        <p:spPr>
          <a:xfrm>
            <a:off x="10442520" y="5148000"/>
            <a:ext cx="959760" cy="758520"/>
          </a:xfrm>
          <a:prstGeom prst="hexagon">
            <a:avLst>
              <a:gd name="adj" fmla="val 25000"/>
              <a:gd name="vf" fmla="val 115470"/>
            </a:avLst>
          </a:prstGeom>
          <a:noFill/>
          <a:ln w="27940">
            <a:solidFill>
              <a:srgbClr val="10b9f3">
                <a:alpha val="8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Shape 3"/>
          <p:cNvSpPr/>
          <p:nvPr/>
        </p:nvSpPr>
        <p:spPr>
          <a:xfrm>
            <a:off x="164520" y="5139000"/>
            <a:ext cx="987120" cy="785880"/>
          </a:xfrm>
          <a:prstGeom prst="hexagon">
            <a:avLst>
              <a:gd name="adj" fmla="val 25000"/>
              <a:gd name="vf" fmla="val 115470"/>
            </a:avLst>
          </a:prstGeom>
          <a:noFill/>
          <a:ln w="27940">
            <a:solidFill>
              <a:srgbClr val="8157b1">
                <a:alpha val="8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Shape 4"/>
          <p:cNvSpPr/>
          <p:nvPr/>
        </p:nvSpPr>
        <p:spPr>
          <a:xfrm>
            <a:off x="8192880" y="-283320"/>
            <a:ext cx="987120" cy="785880"/>
          </a:xfrm>
          <a:prstGeom prst="hexagon">
            <a:avLst>
              <a:gd name="adj" fmla="val 25000"/>
              <a:gd name="vf" fmla="val 115470"/>
            </a:avLst>
          </a:prstGeom>
          <a:noFill/>
          <a:ln w="26670">
            <a:solidFill>
              <a:srgbClr val="f36b21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Shape 5"/>
          <p:cNvSpPr/>
          <p:nvPr/>
        </p:nvSpPr>
        <p:spPr>
          <a:xfrm>
            <a:off x="2990160" y="-246960"/>
            <a:ext cx="840960" cy="667080"/>
          </a:xfrm>
          <a:prstGeom prst="hexagon">
            <a:avLst>
              <a:gd name="adj" fmla="val 25000"/>
              <a:gd name="vf" fmla="val 115470"/>
            </a:avLst>
          </a:prstGeom>
          <a:noFill/>
          <a:ln w="25400">
            <a:solidFill>
              <a:srgbClr val="10b9f3">
                <a:alpha val="8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6"/>
          <p:cNvSpPr/>
          <p:nvPr/>
        </p:nvSpPr>
        <p:spPr>
          <a:xfrm>
            <a:off x="749880" y="111564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00" spc="117" strike="noStrike">
                <a:solidFill>
                  <a:srgbClr val="10b9f3"/>
                </a:solidFill>
                <a:latin typeface="Lato"/>
                <a:ea typeface="Lato"/>
              </a:rPr>
              <a:t>DIAGNÓSTICO RÁPIDO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 7"/>
          <p:cNvSpPr/>
          <p:nvPr/>
        </p:nvSpPr>
        <p:spPr>
          <a:xfrm>
            <a:off x="731520" y="1481400"/>
            <a:ext cx="891504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3400" spc="-1" strike="noStrike">
                <a:solidFill>
                  <a:srgbClr val="ffffff"/>
                </a:solidFill>
                <a:latin typeface="Inter Display"/>
                <a:ea typeface="Inter Display"/>
              </a:rPr>
              <a:t>Como ensinar um computador a receber um dado, analisar uma regra e responder?</a:t>
            </a:r>
            <a:endParaRPr b="0" lang="pt-BR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 8"/>
          <p:cNvSpPr/>
          <p:nvPr/>
        </p:nvSpPr>
        <p:spPr>
          <a:xfrm>
            <a:off x="749880" y="2651760"/>
            <a:ext cx="7863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620" spc="-1" strike="noStrike">
                <a:solidFill>
                  <a:srgbClr val="ced8ea"/>
                </a:solidFill>
                <a:latin typeface="Lato"/>
                <a:ea typeface="Lato"/>
              </a:rPr>
              <a:t>Em 2 minutos, proponha os passos em linguagem natural.</a:t>
            </a:r>
            <a:endParaRPr b="0" lang="pt-BR" sz="16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Shape 9"/>
          <p:cNvSpPr/>
          <p:nvPr/>
        </p:nvSpPr>
        <p:spPr>
          <a:xfrm>
            <a:off x="1078920" y="4133160"/>
            <a:ext cx="2578320" cy="1225080"/>
          </a:xfrm>
          <a:prstGeom prst="roundRect">
            <a:avLst>
              <a:gd name="adj" fmla="val 5970"/>
            </a:avLst>
          </a:prstGeom>
          <a:solidFill>
            <a:srgbClr val="10285d"/>
          </a:solidFill>
          <a:ln w="12700">
            <a:solidFill>
              <a:srgbClr val="244b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 10"/>
          <p:cNvSpPr/>
          <p:nvPr/>
        </p:nvSpPr>
        <p:spPr>
          <a:xfrm>
            <a:off x="1261800" y="4370760"/>
            <a:ext cx="2212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50" spc="-1" strike="noStrike">
                <a:solidFill>
                  <a:srgbClr val="10b9f3"/>
                </a:solidFill>
                <a:latin typeface="Lato"/>
                <a:ea typeface="Lato"/>
              </a:rPr>
              <a:t>Primeiro...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11"/>
          <p:cNvSpPr/>
          <p:nvPr/>
        </p:nvSpPr>
        <p:spPr>
          <a:xfrm>
            <a:off x="1261800" y="4773240"/>
            <a:ext cx="221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800" spc="-1" strike="noStrike">
                <a:solidFill>
                  <a:srgbClr val="7187b5"/>
                </a:solidFill>
                <a:latin typeface="Lato"/>
                <a:ea typeface="Lato"/>
              </a:rPr>
              <a:t>________________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Shape 12"/>
          <p:cNvSpPr/>
          <p:nvPr/>
        </p:nvSpPr>
        <p:spPr>
          <a:xfrm>
            <a:off x="4352400" y="4133160"/>
            <a:ext cx="2578320" cy="1225080"/>
          </a:xfrm>
          <a:prstGeom prst="roundRect">
            <a:avLst>
              <a:gd name="adj" fmla="val 5970"/>
            </a:avLst>
          </a:prstGeom>
          <a:solidFill>
            <a:srgbClr val="10285d"/>
          </a:solidFill>
          <a:ln w="12700">
            <a:solidFill>
              <a:srgbClr val="244b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 13"/>
          <p:cNvSpPr/>
          <p:nvPr/>
        </p:nvSpPr>
        <p:spPr>
          <a:xfrm>
            <a:off x="4535280" y="4370760"/>
            <a:ext cx="2212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50" spc="-1" strike="noStrike">
                <a:solidFill>
                  <a:srgbClr val="10b9f3"/>
                </a:solidFill>
                <a:latin typeface="Lato"/>
                <a:ea typeface="Lato"/>
              </a:rPr>
              <a:t>Depois...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 14"/>
          <p:cNvSpPr/>
          <p:nvPr/>
        </p:nvSpPr>
        <p:spPr>
          <a:xfrm>
            <a:off x="4535280" y="4773240"/>
            <a:ext cx="221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800" spc="-1" strike="noStrike">
                <a:solidFill>
                  <a:srgbClr val="7187b5"/>
                </a:solidFill>
                <a:latin typeface="Lato"/>
                <a:ea typeface="Lato"/>
              </a:rPr>
              <a:t>________________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Shape 15"/>
          <p:cNvSpPr/>
          <p:nvPr/>
        </p:nvSpPr>
        <p:spPr>
          <a:xfrm>
            <a:off x="7626240" y="4133160"/>
            <a:ext cx="2578320" cy="1225080"/>
          </a:xfrm>
          <a:prstGeom prst="roundRect">
            <a:avLst>
              <a:gd name="adj" fmla="val 5970"/>
            </a:avLst>
          </a:prstGeom>
          <a:solidFill>
            <a:srgbClr val="10285d"/>
          </a:solidFill>
          <a:ln w="12700">
            <a:solidFill>
              <a:srgbClr val="244b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Text 16"/>
          <p:cNvSpPr/>
          <p:nvPr/>
        </p:nvSpPr>
        <p:spPr>
          <a:xfrm>
            <a:off x="7809120" y="4370760"/>
            <a:ext cx="2212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50" spc="-1" strike="noStrike">
                <a:solidFill>
                  <a:srgbClr val="10b9f3"/>
                </a:solidFill>
                <a:latin typeface="Lato"/>
                <a:ea typeface="Lato"/>
              </a:rPr>
              <a:t>Por fim...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17"/>
          <p:cNvSpPr/>
          <p:nvPr/>
        </p:nvSpPr>
        <p:spPr>
          <a:xfrm>
            <a:off x="7809120" y="4773240"/>
            <a:ext cx="221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800" spc="-1" strike="noStrike">
                <a:solidFill>
                  <a:srgbClr val="7187b5"/>
                </a:solidFill>
                <a:latin typeface="Lato"/>
                <a:ea typeface="Lato"/>
              </a:rPr>
              <a:t>________________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PlaceHolder 1"/>
          <p:cNvSpPr>
            <a:spLocks noGrp="1"/>
          </p:cNvSpPr>
          <p:nvPr>
            <p:ph type="sldNum" idx="11"/>
          </p:nvPr>
        </p:nvSpPr>
        <p:spPr>
          <a:xfrm>
            <a:off x="11283840" y="644652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850" spc="-1" strike="noStrike">
                <a:solidFill>
                  <a:srgbClr val="9fb0d0"/>
                </a:solidFill>
                <a:latin typeface="Lato"/>
                <a:ea typeface="La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E3CADC-048E-4611-AB99-712490342750}" type="slidenum">
              <a:rPr b="0" lang="pt-BR" sz="850" spc="-1" strike="noStrike">
                <a:solidFill>
                  <a:srgbClr val="9fb0d0"/>
                </a:solidFill>
                <a:latin typeface="Lato"/>
                <a:ea typeface="Lato"/>
              </a:rPr>
              <a:t>6</a:t>
            </a:fld>
            <a:endParaRPr b="0" lang="pt-BR" sz="85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 0"/>
          <p:cNvSpPr/>
          <p:nvPr/>
        </p:nvSpPr>
        <p:spPr>
          <a:xfrm>
            <a:off x="713160" y="896040"/>
            <a:ext cx="99666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  <a:ea typeface="Inter Display"/>
              </a:rPr>
              <a:t>O que é um algoritmo?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1"/>
          <p:cNvSpPr/>
          <p:nvPr/>
        </p:nvSpPr>
        <p:spPr>
          <a:xfrm>
            <a:off x="868680" y="1920240"/>
            <a:ext cx="4983120" cy="2907360"/>
          </a:xfrm>
          <a:prstGeom prst="roundRect">
            <a:avLst>
              <a:gd name="adj" fmla="val 2516"/>
            </a:avLst>
          </a:prstGeom>
          <a:solidFill>
            <a:srgbClr val="eaf8fe"/>
          </a:solidFill>
          <a:ln w="12700">
            <a:solidFill>
              <a:srgbClr val="c7eaf9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2"/>
          <p:cNvSpPr/>
          <p:nvPr/>
        </p:nvSpPr>
        <p:spPr>
          <a:xfrm>
            <a:off x="1188720" y="2322720"/>
            <a:ext cx="30628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700" spc="-1" strike="noStrike">
                <a:solidFill>
                  <a:srgbClr val="071a4a"/>
                </a:solidFill>
                <a:latin typeface="Inter Display"/>
                <a:ea typeface="Inter Display"/>
              </a:rPr>
              <a:t>Algoritmo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3"/>
          <p:cNvSpPr/>
          <p:nvPr/>
        </p:nvSpPr>
        <p:spPr>
          <a:xfrm>
            <a:off x="1188720" y="2926080"/>
            <a:ext cx="4187520" cy="11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900" spc="-1" strike="noStrike">
                <a:solidFill>
                  <a:srgbClr val="14213d"/>
                </a:solidFill>
                <a:latin typeface="Lato"/>
                <a:ea typeface="Lato"/>
              </a:rPr>
              <a:t>é uma sequência finita e organizada de passos para resolver um problema.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4"/>
          <p:cNvSpPr/>
          <p:nvPr/>
        </p:nvSpPr>
        <p:spPr>
          <a:xfrm>
            <a:off x="6565320" y="196596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50" spc="77" strike="noStrike">
                <a:solidFill>
                  <a:srgbClr val="f36b21"/>
                </a:solidFill>
                <a:latin typeface="Lato"/>
                <a:ea typeface="Lato"/>
              </a:rPr>
              <a:t>EXEMPLO COTIDIANO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5"/>
          <p:cNvSpPr/>
          <p:nvPr/>
        </p:nvSpPr>
        <p:spPr>
          <a:xfrm>
            <a:off x="6528960" y="2414160"/>
            <a:ext cx="475200" cy="347040"/>
          </a:xfrm>
          <a:prstGeom prst="roundRect">
            <a:avLst>
              <a:gd name="adj" fmla="val 21053"/>
            </a:avLst>
          </a:prstGeom>
          <a:solidFill>
            <a:srgbClr val="f36b21"/>
          </a:solidFill>
          <a:ln w="12700">
            <a:solidFill>
              <a:srgbClr val="f36b2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6"/>
          <p:cNvSpPr/>
          <p:nvPr/>
        </p:nvSpPr>
        <p:spPr>
          <a:xfrm>
            <a:off x="6602040" y="2477880"/>
            <a:ext cx="328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00" spc="-1" strike="noStrike">
                <a:solidFill>
                  <a:srgbClr val="ffffff"/>
                </a:solidFill>
                <a:latin typeface="Lato"/>
                <a:ea typeface="Lato"/>
              </a:rPr>
              <a:t>1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7"/>
          <p:cNvSpPr/>
          <p:nvPr/>
        </p:nvSpPr>
        <p:spPr>
          <a:xfrm>
            <a:off x="7187040" y="2441520"/>
            <a:ext cx="321840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80" spc="-1" strike="noStrike">
                <a:solidFill>
                  <a:srgbClr val="071a4a"/>
                </a:solidFill>
                <a:latin typeface="Lato"/>
                <a:ea typeface="Lato"/>
              </a:rPr>
              <a:t>ferver água</a:t>
            </a:r>
            <a:endParaRPr b="0" lang="pt-BR" sz="14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8"/>
          <p:cNvSpPr/>
          <p:nvPr/>
        </p:nvSpPr>
        <p:spPr>
          <a:xfrm>
            <a:off x="6766560" y="2761200"/>
            <a:ext cx="360" cy="311040"/>
          </a:xfrm>
          <a:prstGeom prst="line">
            <a:avLst/>
          </a:prstGeom>
          <a:ln w="21590">
            <a:solidFill>
              <a:srgbClr val="b9c7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9"/>
          <p:cNvSpPr/>
          <p:nvPr/>
        </p:nvSpPr>
        <p:spPr>
          <a:xfrm>
            <a:off x="6528960" y="3081600"/>
            <a:ext cx="475200" cy="347040"/>
          </a:xfrm>
          <a:prstGeom prst="roundRect">
            <a:avLst>
              <a:gd name="adj" fmla="val 21053"/>
            </a:avLst>
          </a:prstGeom>
          <a:solidFill>
            <a:srgbClr val="dde6f3"/>
          </a:solidFill>
          <a:ln w="12700">
            <a:solidFill>
              <a:srgbClr val="dde6f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10"/>
          <p:cNvSpPr/>
          <p:nvPr/>
        </p:nvSpPr>
        <p:spPr>
          <a:xfrm>
            <a:off x="6602040" y="3145680"/>
            <a:ext cx="328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00" spc="-1" strike="noStrike">
                <a:solidFill>
                  <a:srgbClr val="071a4a"/>
                </a:solidFill>
                <a:latin typeface="Lato"/>
                <a:ea typeface="Lato"/>
              </a:rPr>
              <a:t>2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11"/>
          <p:cNvSpPr/>
          <p:nvPr/>
        </p:nvSpPr>
        <p:spPr>
          <a:xfrm>
            <a:off x="7187040" y="3108960"/>
            <a:ext cx="321840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80" spc="-1" strike="noStrike">
                <a:solidFill>
                  <a:srgbClr val="071a4a"/>
                </a:solidFill>
                <a:latin typeface="Lato"/>
                <a:ea typeface="Lato"/>
              </a:rPr>
              <a:t>colocar o sachê</a:t>
            </a:r>
            <a:endParaRPr b="0" lang="pt-BR" sz="14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12"/>
          <p:cNvSpPr/>
          <p:nvPr/>
        </p:nvSpPr>
        <p:spPr>
          <a:xfrm>
            <a:off x="6766560" y="3429000"/>
            <a:ext cx="360" cy="310680"/>
          </a:xfrm>
          <a:prstGeom prst="line">
            <a:avLst/>
          </a:prstGeom>
          <a:ln w="21590">
            <a:solidFill>
              <a:srgbClr val="b9c7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13"/>
          <p:cNvSpPr/>
          <p:nvPr/>
        </p:nvSpPr>
        <p:spPr>
          <a:xfrm>
            <a:off x="6528960" y="3749040"/>
            <a:ext cx="475200" cy="347040"/>
          </a:xfrm>
          <a:prstGeom prst="roundRect">
            <a:avLst>
              <a:gd name="adj" fmla="val 21053"/>
            </a:avLst>
          </a:prstGeom>
          <a:solidFill>
            <a:srgbClr val="dde6f3"/>
          </a:solidFill>
          <a:ln w="12700">
            <a:solidFill>
              <a:srgbClr val="dde6f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14"/>
          <p:cNvSpPr/>
          <p:nvPr/>
        </p:nvSpPr>
        <p:spPr>
          <a:xfrm>
            <a:off x="6602040" y="3813120"/>
            <a:ext cx="328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00" spc="-1" strike="noStrike">
                <a:solidFill>
                  <a:srgbClr val="071a4a"/>
                </a:solidFill>
                <a:latin typeface="Lato"/>
                <a:ea typeface="Lato"/>
              </a:rPr>
              <a:t>3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15"/>
          <p:cNvSpPr/>
          <p:nvPr/>
        </p:nvSpPr>
        <p:spPr>
          <a:xfrm>
            <a:off x="7187040" y="3776400"/>
            <a:ext cx="321840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80" spc="-1" strike="noStrike">
                <a:solidFill>
                  <a:srgbClr val="071a4a"/>
                </a:solidFill>
                <a:latin typeface="Lato"/>
                <a:ea typeface="Lato"/>
              </a:rPr>
              <a:t>aguardar</a:t>
            </a:r>
            <a:endParaRPr b="0" lang="pt-BR" sz="14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16"/>
          <p:cNvSpPr/>
          <p:nvPr/>
        </p:nvSpPr>
        <p:spPr>
          <a:xfrm>
            <a:off x="6766560" y="4096440"/>
            <a:ext cx="360" cy="310680"/>
          </a:xfrm>
          <a:prstGeom prst="line">
            <a:avLst/>
          </a:prstGeom>
          <a:ln w="21590">
            <a:solidFill>
              <a:srgbClr val="b9c7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17"/>
          <p:cNvSpPr/>
          <p:nvPr/>
        </p:nvSpPr>
        <p:spPr>
          <a:xfrm>
            <a:off x="6528960" y="4416480"/>
            <a:ext cx="475200" cy="347040"/>
          </a:xfrm>
          <a:prstGeom prst="roundRect">
            <a:avLst>
              <a:gd name="adj" fmla="val 21053"/>
            </a:avLst>
          </a:prstGeom>
          <a:solidFill>
            <a:srgbClr val="dde6f3"/>
          </a:solidFill>
          <a:ln w="12700">
            <a:solidFill>
              <a:srgbClr val="dde6f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18"/>
          <p:cNvSpPr/>
          <p:nvPr/>
        </p:nvSpPr>
        <p:spPr>
          <a:xfrm>
            <a:off x="6602040" y="4480560"/>
            <a:ext cx="328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00" spc="-1" strike="noStrike">
                <a:solidFill>
                  <a:srgbClr val="071a4a"/>
                </a:solidFill>
                <a:latin typeface="Lato"/>
                <a:ea typeface="Lato"/>
              </a:rPr>
              <a:t>4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19"/>
          <p:cNvSpPr/>
          <p:nvPr/>
        </p:nvSpPr>
        <p:spPr>
          <a:xfrm>
            <a:off x="7187040" y="4443840"/>
            <a:ext cx="321840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80" spc="-1" strike="noStrike">
                <a:solidFill>
                  <a:srgbClr val="071a4a"/>
                </a:solidFill>
                <a:latin typeface="Lato"/>
                <a:ea typeface="Lato"/>
              </a:rPr>
              <a:t>servir</a:t>
            </a:r>
            <a:endParaRPr b="0" lang="pt-BR" sz="14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20"/>
          <p:cNvSpPr/>
          <p:nvPr/>
        </p:nvSpPr>
        <p:spPr>
          <a:xfrm>
            <a:off x="1316880" y="5212080"/>
            <a:ext cx="9555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20" spc="-1" strike="noStrike">
                <a:solidFill>
                  <a:srgbClr val="5b6b86"/>
                </a:solidFill>
                <a:latin typeface="Lato"/>
                <a:ea typeface="Lato"/>
              </a:rPr>
              <a:t>Quebre o problema até cada passo ficar claro o suficiente para ser executado.</a:t>
            </a:r>
            <a:endParaRPr b="0" lang="pt-BR" sz="14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1"/>
          <p:cNvSpPr>
            <a:spLocks noGrp="1"/>
          </p:cNvSpPr>
          <p:nvPr>
            <p:ph type="sldNum" idx="12"/>
          </p:nvPr>
        </p:nvSpPr>
        <p:spPr>
          <a:xfrm>
            <a:off x="11283840" y="644652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850" spc="-1" strike="noStrike">
                <a:solidFill>
                  <a:srgbClr val="7a879d"/>
                </a:solidFill>
                <a:latin typeface="Lato"/>
                <a:ea typeface="La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8510DC-0631-40B4-BC9C-195FBCB5A4CF}" type="slidenum">
              <a:rPr b="0" lang="pt-BR" sz="850" spc="-1" strike="noStrike">
                <a:solidFill>
                  <a:srgbClr val="7a879d"/>
                </a:solidFill>
                <a:latin typeface="Lato"/>
                <a:ea typeface="Lato"/>
              </a:rPr>
              <a:t>7</a:t>
            </a:fld>
            <a:endParaRPr b="0" lang="pt-BR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 0"/>
          <p:cNvSpPr/>
          <p:nvPr/>
        </p:nvSpPr>
        <p:spPr>
          <a:xfrm>
            <a:off x="713160" y="896040"/>
            <a:ext cx="99666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  <a:ea typeface="Inter Display"/>
              </a:rPr>
              <a:t>Decompor um problema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1"/>
          <p:cNvSpPr/>
          <p:nvPr/>
        </p:nvSpPr>
        <p:spPr>
          <a:xfrm>
            <a:off x="731520" y="1444680"/>
            <a:ext cx="9692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50" spc="-1" strike="noStrike">
                <a:solidFill>
                  <a:srgbClr val="5b6b86"/>
                </a:solidFill>
                <a:latin typeface="Lato"/>
                <a:ea typeface="Lato"/>
              </a:rPr>
              <a:t>Um projeto maior fica mais simples quando quebrado em pequenas etapas.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2"/>
          <p:cNvSpPr/>
          <p:nvPr/>
        </p:nvSpPr>
        <p:spPr>
          <a:xfrm>
            <a:off x="4754880" y="1974960"/>
            <a:ext cx="2678760" cy="2971440"/>
          </a:xfrm>
          <a:prstGeom prst="roundRect">
            <a:avLst>
              <a:gd name="adj" fmla="val 2730"/>
            </a:avLst>
          </a:prstGeom>
          <a:solidFill>
            <a:srgbClr val="0f2a64"/>
          </a:solidFill>
          <a:ln w="12700">
            <a:solidFill>
              <a:srgbClr val="071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Shape 3"/>
          <p:cNvSpPr/>
          <p:nvPr/>
        </p:nvSpPr>
        <p:spPr>
          <a:xfrm>
            <a:off x="5614560" y="2450520"/>
            <a:ext cx="959760" cy="1444320"/>
          </a:xfrm>
          <a:prstGeom prst="roundRect">
            <a:avLst>
              <a:gd name="adj" fmla="val 17143"/>
            </a:avLst>
          </a:prstGeom>
          <a:solidFill>
            <a:srgbClr val="132f71"/>
          </a:solidFill>
          <a:ln w="25400">
            <a:solidFill>
              <a:srgbClr val="10b9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ext 4"/>
          <p:cNvSpPr/>
          <p:nvPr/>
        </p:nvSpPr>
        <p:spPr>
          <a:xfrm>
            <a:off x="5760720" y="2834640"/>
            <a:ext cx="66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600" spc="-1" strike="noStrike">
                <a:solidFill>
                  <a:srgbClr val="ffffff"/>
                </a:solidFill>
                <a:latin typeface="Inter Display"/>
                <a:ea typeface="Inter Display"/>
              </a:rPr>
              <a:t>52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5"/>
          <p:cNvSpPr/>
          <p:nvPr/>
        </p:nvSpPr>
        <p:spPr>
          <a:xfrm>
            <a:off x="5010840" y="4160520"/>
            <a:ext cx="2166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20" spc="-1" strike="noStrike">
                <a:solidFill>
                  <a:srgbClr val="d4deef"/>
                </a:solidFill>
                <a:latin typeface="Lato"/>
                <a:ea typeface="Lato"/>
              </a:rPr>
              <a:t>wearable</a:t>
            </a:r>
            <a:endParaRPr b="0" lang="pt-BR" sz="132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20" spc="-1" strike="noStrike">
                <a:solidFill>
                  <a:srgbClr val="d4deef"/>
                </a:solidFill>
                <a:latin typeface="Lato"/>
                <a:ea typeface="Lato"/>
              </a:rPr>
              <a:t>simulado</a:t>
            </a:r>
            <a:endParaRPr b="0" lang="pt-BR" sz="13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6"/>
          <p:cNvSpPr/>
          <p:nvPr/>
        </p:nvSpPr>
        <p:spPr>
          <a:xfrm>
            <a:off x="822960" y="2103120"/>
            <a:ext cx="2340360" cy="12340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7f0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7"/>
          <p:cNvSpPr/>
          <p:nvPr/>
        </p:nvSpPr>
        <p:spPr>
          <a:xfrm>
            <a:off x="987480" y="2404800"/>
            <a:ext cx="529920" cy="529920"/>
          </a:xfrm>
          <a:prstGeom prst="ellipse">
            <a:avLst/>
          </a:prstGeom>
          <a:solidFill>
            <a:srgbClr val="10b9f3"/>
          </a:solidFill>
          <a:ln w="12700">
            <a:solidFill>
              <a:srgbClr val="10b9f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 8"/>
          <p:cNvSpPr/>
          <p:nvPr/>
        </p:nvSpPr>
        <p:spPr>
          <a:xfrm>
            <a:off x="987480" y="2441520"/>
            <a:ext cx="529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00" spc="-1" strike="noStrike">
                <a:solidFill>
                  <a:srgbClr val="ffffff"/>
                </a:solidFill>
                <a:latin typeface="Inter Display"/>
                <a:ea typeface="Inter Display"/>
              </a:rPr>
              <a:t>1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9"/>
          <p:cNvSpPr/>
          <p:nvPr/>
        </p:nvSpPr>
        <p:spPr>
          <a:xfrm>
            <a:off x="1645920" y="2505600"/>
            <a:ext cx="12981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20" spc="-1" strike="noStrike">
                <a:solidFill>
                  <a:srgbClr val="071a4a"/>
                </a:solidFill>
                <a:latin typeface="Inter Display"/>
                <a:ea typeface="Inter Display"/>
              </a:rPr>
              <a:t>Receber valor</a:t>
            </a:r>
            <a:endParaRPr b="0" lang="pt-BR" sz="15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10"/>
          <p:cNvSpPr/>
          <p:nvPr/>
        </p:nvSpPr>
        <p:spPr>
          <a:xfrm>
            <a:off x="822960" y="3895200"/>
            <a:ext cx="2340360" cy="12340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7f0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11"/>
          <p:cNvSpPr/>
          <p:nvPr/>
        </p:nvSpPr>
        <p:spPr>
          <a:xfrm>
            <a:off x="987480" y="4197240"/>
            <a:ext cx="529920" cy="529920"/>
          </a:xfrm>
          <a:prstGeom prst="ellipse">
            <a:avLst/>
          </a:prstGeom>
          <a:solidFill>
            <a:srgbClr val="f36b21"/>
          </a:solidFill>
          <a:ln w="12700">
            <a:solidFill>
              <a:srgbClr val="f36b2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Text 12"/>
          <p:cNvSpPr/>
          <p:nvPr/>
        </p:nvSpPr>
        <p:spPr>
          <a:xfrm>
            <a:off x="987480" y="4233600"/>
            <a:ext cx="529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00" spc="-1" strike="noStrike">
                <a:solidFill>
                  <a:srgbClr val="ffffff"/>
                </a:solidFill>
                <a:latin typeface="Inter Display"/>
                <a:ea typeface="Inter Display"/>
              </a:rPr>
              <a:t>2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13"/>
          <p:cNvSpPr/>
          <p:nvPr/>
        </p:nvSpPr>
        <p:spPr>
          <a:xfrm>
            <a:off x="1645920" y="4297680"/>
            <a:ext cx="12981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20" spc="-1" strike="noStrike">
                <a:solidFill>
                  <a:srgbClr val="071a4a"/>
                </a:solidFill>
                <a:latin typeface="Inter Display"/>
                <a:ea typeface="Inter Display"/>
              </a:rPr>
              <a:t>Armazenar</a:t>
            </a:r>
            <a:endParaRPr b="0" lang="pt-BR" sz="15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14"/>
          <p:cNvSpPr/>
          <p:nvPr/>
        </p:nvSpPr>
        <p:spPr>
          <a:xfrm>
            <a:off x="8622720" y="2103120"/>
            <a:ext cx="2340360" cy="12340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7f0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15"/>
          <p:cNvSpPr/>
          <p:nvPr/>
        </p:nvSpPr>
        <p:spPr>
          <a:xfrm>
            <a:off x="8787240" y="2404800"/>
            <a:ext cx="529920" cy="529920"/>
          </a:xfrm>
          <a:prstGeom prst="ellipse">
            <a:avLst/>
          </a:prstGeom>
          <a:solidFill>
            <a:srgbClr val="e72b76"/>
          </a:solidFill>
          <a:ln w="12700">
            <a:solidFill>
              <a:srgbClr val="e72b7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 16"/>
          <p:cNvSpPr/>
          <p:nvPr/>
        </p:nvSpPr>
        <p:spPr>
          <a:xfrm>
            <a:off x="8787240" y="2441520"/>
            <a:ext cx="529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00" spc="-1" strike="noStrike">
                <a:solidFill>
                  <a:srgbClr val="ffffff"/>
                </a:solidFill>
                <a:latin typeface="Inter Display"/>
                <a:ea typeface="Inter Display"/>
              </a:rPr>
              <a:t>3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17"/>
          <p:cNvSpPr/>
          <p:nvPr/>
        </p:nvSpPr>
        <p:spPr>
          <a:xfrm>
            <a:off x="9445680" y="2505600"/>
            <a:ext cx="12981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20" spc="-1" strike="noStrike">
                <a:solidFill>
                  <a:srgbClr val="071a4a"/>
                </a:solidFill>
                <a:latin typeface="Inter Display"/>
                <a:ea typeface="Inter Display"/>
              </a:rPr>
              <a:t>Comparar</a:t>
            </a:r>
            <a:endParaRPr b="0" lang="pt-BR" sz="15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18"/>
          <p:cNvSpPr/>
          <p:nvPr/>
        </p:nvSpPr>
        <p:spPr>
          <a:xfrm>
            <a:off x="8622720" y="3895200"/>
            <a:ext cx="2340360" cy="12340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7f0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19"/>
          <p:cNvSpPr/>
          <p:nvPr/>
        </p:nvSpPr>
        <p:spPr>
          <a:xfrm>
            <a:off x="8787240" y="4197240"/>
            <a:ext cx="529920" cy="529920"/>
          </a:xfrm>
          <a:prstGeom prst="ellipse">
            <a:avLst/>
          </a:prstGeom>
          <a:solidFill>
            <a:srgbClr val="8157b1"/>
          </a:solidFill>
          <a:ln w="12700">
            <a:solidFill>
              <a:srgbClr val="8157b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 20"/>
          <p:cNvSpPr/>
          <p:nvPr/>
        </p:nvSpPr>
        <p:spPr>
          <a:xfrm>
            <a:off x="8787240" y="4233600"/>
            <a:ext cx="529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00" spc="-1" strike="noStrike">
                <a:solidFill>
                  <a:srgbClr val="ffffff"/>
                </a:solidFill>
                <a:latin typeface="Inter Display"/>
                <a:ea typeface="Inter Display"/>
              </a:rPr>
              <a:t>4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21"/>
          <p:cNvSpPr/>
          <p:nvPr/>
        </p:nvSpPr>
        <p:spPr>
          <a:xfrm>
            <a:off x="9445680" y="4297680"/>
            <a:ext cx="12981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20" spc="-1" strike="noStrike">
                <a:solidFill>
                  <a:srgbClr val="071a4a"/>
                </a:solidFill>
                <a:latin typeface="Inter Display"/>
                <a:ea typeface="Inter Display"/>
              </a:rPr>
              <a:t>Responder</a:t>
            </a:r>
            <a:endParaRPr b="0" lang="pt-BR" sz="15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22"/>
          <p:cNvSpPr/>
          <p:nvPr/>
        </p:nvSpPr>
        <p:spPr>
          <a:xfrm>
            <a:off x="3291840" y="2724840"/>
            <a:ext cx="1216080" cy="360"/>
          </a:xfrm>
          <a:prstGeom prst="line">
            <a:avLst/>
          </a:prstGeom>
          <a:ln w="25400">
            <a:solidFill>
              <a:srgbClr val="10b9f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23"/>
          <p:cNvSpPr/>
          <p:nvPr/>
        </p:nvSpPr>
        <p:spPr>
          <a:xfrm>
            <a:off x="3291840" y="4516920"/>
            <a:ext cx="1216080" cy="360"/>
          </a:xfrm>
          <a:prstGeom prst="line">
            <a:avLst/>
          </a:prstGeom>
          <a:ln w="25400">
            <a:solidFill>
              <a:srgbClr val="f36b2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24"/>
          <p:cNvSpPr/>
          <p:nvPr/>
        </p:nvSpPr>
        <p:spPr>
          <a:xfrm flipH="1">
            <a:off x="7589520" y="2724840"/>
            <a:ext cx="1033200" cy="360"/>
          </a:xfrm>
          <a:prstGeom prst="line">
            <a:avLst/>
          </a:prstGeom>
          <a:ln w="25400">
            <a:solidFill>
              <a:srgbClr val="e72b76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25"/>
          <p:cNvSpPr/>
          <p:nvPr/>
        </p:nvSpPr>
        <p:spPr>
          <a:xfrm flipH="1">
            <a:off x="7589520" y="4516920"/>
            <a:ext cx="1033200" cy="360"/>
          </a:xfrm>
          <a:prstGeom prst="line">
            <a:avLst/>
          </a:prstGeom>
          <a:ln w="25400">
            <a:solidFill>
              <a:srgbClr val="8157b1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1"/>
          <p:cNvSpPr>
            <a:spLocks noGrp="1"/>
          </p:cNvSpPr>
          <p:nvPr>
            <p:ph type="sldNum" idx="13"/>
          </p:nvPr>
        </p:nvSpPr>
        <p:spPr>
          <a:xfrm>
            <a:off x="11283840" y="644652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850" spc="-1" strike="noStrike">
                <a:solidFill>
                  <a:srgbClr val="7a879d"/>
                </a:solidFill>
                <a:latin typeface="Lato"/>
                <a:ea typeface="La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D6C41E-BD68-4DAA-BE0E-49636B842713}" type="slidenum">
              <a:rPr b="0" lang="pt-BR" sz="850" spc="-1" strike="noStrike">
                <a:solidFill>
                  <a:srgbClr val="7a879d"/>
                </a:solidFill>
                <a:latin typeface="Lato"/>
                <a:ea typeface="Lato"/>
              </a:rPr>
              <a:t>8</a:t>
            </a:fld>
            <a:endParaRPr b="0" lang="pt-BR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ext 0"/>
          <p:cNvSpPr/>
          <p:nvPr/>
        </p:nvSpPr>
        <p:spPr>
          <a:xfrm>
            <a:off x="713160" y="896040"/>
            <a:ext cx="99666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  <a:ea typeface="Inter Display"/>
              </a:rPr>
              <a:t>Sequência importa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1"/>
          <p:cNvSpPr/>
          <p:nvPr/>
        </p:nvSpPr>
        <p:spPr>
          <a:xfrm>
            <a:off x="731520" y="1444680"/>
            <a:ext cx="9692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50" spc="-1" strike="noStrike">
                <a:solidFill>
                  <a:srgbClr val="5b6b86"/>
                </a:solidFill>
                <a:latin typeface="Lato"/>
                <a:ea typeface="Lato"/>
              </a:rPr>
              <a:t>O mesmo conjunto de ações em ordens diferentes pode produzir resultados diferentes.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2"/>
          <p:cNvSpPr/>
          <p:nvPr/>
        </p:nvSpPr>
        <p:spPr>
          <a:xfrm>
            <a:off x="960120" y="2148840"/>
            <a:ext cx="4297320" cy="297144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e1e7f0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3"/>
          <p:cNvSpPr/>
          <p:nvPr/>
        </p:nvSpPr>
        <p:spPr>
          <a:xfrm>
            <a:off x="6537960" y="2148840"/>
            <a:ext cx="4297320" cy="2971440"/>
          </a:xfrm>
          <a:prstGeom prst="roundRect">
            <a:avLst>
              <a:gd name="adj" fmla="val 2462"/>
            </a:avLst>
          </a:prstGeom>
          <a:solidFill>
            <a:srgbClr val="fff6f6"/>
          </a:solidFill>
          <a:ln w="12700">
            <a:solidFill>
              <a:srgbClr val="f2d1d1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4"/>
          <p:cNvSpPr/>
          <p:nvPr/>
        </p:nvSpPr>
        <p:spPr>
          <a:xfrm>
            <a:off x="1179720" y="2414160"/>
            <a:ext cx="1599840" cy="347040"/>
          </a:xfrm>
          <a:prstGeom prst="roundRect">
            <a:avLst>
              <a:gd name="adj" fmla="val 21053"/>
            </a:avLst>
          </a:prstGeom>
          <a:solidFill>
            <a:srgbClr val="58c765"/>
          </a:solidFill>
          <a:ln w="12700">
            <a:solidFill>
              <a:srgbClr val="58c76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 5"/>
          <p:cNvSpPr/>
          <p:nvPr/>
        </p:nvSpPr>
        <p:spPr>
          <a:xfrm>
            <a:off x="1252800" y="2477880"/>
            <a:ext cx="1453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00" spc="-1" strike="noStrike">
                <a:solidFill>
                  <a:srgbClr val="ffffff"/>
                </a:solidFill>
                <a:latin typeface="Lato"/>
                <a:ea typeface="Lato"/>
              </a:rPr>
              <a:t>ORDEM COERENTE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Shape 6"/>
          <p:cNvSpPr/>
          <p:nvPr/>
        </p:nvSpPr>
        <p:spPr>
          <a:xfrm>
            <a:off x="6757560" y="2414160"/>
            <a:ext cx="1901520" cy="347040"/>
          </a:xfrm>
          <a:prstGeom prst="roundRect">
            <a:avLst>
              <a:gd name="adj" fmla="val 21053"/>
            </a:avLst>
          </a:prstGeom>
          <a:solidFill>
            <a:srgbClr val="e85b5b"/>
          </a:solidFill>
          <a:ln w="12700">
            <a:solidFill>
              <a:srgbClr val="e85b5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ext 7"/>
          <p:cNvSpPr/>
          <p:nvPr/>
        </p:nvSpPr>
        <p:spPr>
          <a:xfrm>
            <a:off x="6830640" y="2477880"/>
            <a:ext cx="1755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00" spc="-1" strike="noStrike">
                <a:solidFill>
                  <a:srgbClr val="ffffff"/>
                </a:solidFill>
                <a:latin typeface="Lato"/>
                <a:ea typeface="Lato"/>
              </a:rPr>
              <a:t>ORDEM PROBLEMÁTICA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8"/>
          <p:cNvSpPr/>
          <p:nvPr/>
        </p:nvSpPr>
        <p:spPr>
          <a:xfrm>
            <a:off x="1371600" y="2999160"/>
            <a:ext cx="429480" cy="347040"/>
          </a:xfrm>
          <a:prstGeom prst="roundRect">
            <a:avLst>
              <a:gd name="adj" fmla="val 21053"/>
            </a:avLst>
          </a:prstGeom>
          <a:solidFill>
            <a:srgbClr val="e7f6ea"/>
          </a:solidFill>
          <a:ln w="12700">
            <a:solidFill>
              <a:srgbClr val="e7f6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9"/>
          <p:cNvSpPr/>
          <p:nvPr/>
        </p:nvSpPr>
        <p:spPr>
          <a:xfrm>
            <a:off x="1444680" y="3063240"/>
            <a:ext cx="282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00" spc="-1" strike="noStrike">
                <a:solidFill>
                  <a:srgbClr val="58c765"/>
                </a:solidFill>
                <a:latin typeface="Lato"/>
                <a:ea typeface="Lato"/>
              </a:rPr>
              <a:t>1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10"/>
          <p:cNvSpPr/>
          <p:nvPr/>
        </p:nvSpPr>
        <p:spPr>
          <a:xfrm>
            <a:off x="1965960" y="3026520"/>
            <a:ext cx="24868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50" spc="-1" strike="noStrike">
                <a:solidFill>
                  <a:srgbClr val="071a4a"/>
                </a:solidFill>
                <a:latin typeface="Lato"/>
                <a:ea typeface="Lato"/>
              </a:rPr>
              <a:t>receber valor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11"/>
          <p:cNvSpPr/>
          <p:nvPr/>
        </p:nvSpPr>
        <p:spPr>
          <a:xfrm>
            <a:off x="1499760" y="3401640"/>
            <a:ext cx="164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400" spc="-1" strike="noStrike">
                <a:solidFill>
                  <a:srgbClr val="90a1b8"/>
                </a:solidFill>
                <a:latin typeface="Lato"/>
                <a:ea typeface="Lato"/>
              </a:rPr>
              <a:t>↓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12"/>
          <p:cNvSpPr/>
          <p:nvPr/>
        </p:nvSpPr>
        <p:spPr>
          <a:xfrm>
            <a:off x="1371600" y="3593520"/>
            <a:ext cx="429480" cy="347040"/>
          </a:xfrm>
          <a:prstGeom prst="roundRect">
            <a:avLst>
              <a:gd name="adj" fmla="val 21053"/>
            </a:avLst>
          </a:prstGeom>
          <a:solidFill>
            <a:srgbClr val="e7f6ea"/>
          </a:solidFill>
          <a:ln w="12700">
            <a:solidFill>
              <a:srgbClr val="e7f6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13"/>
          <p:cNvSpPr/>
          <p:nvPr/>
        </p:nvSpPr>
        <p:spPr>
          <a:xfrm>
            <a:off x="1444680" y="3657600"/>
            <a:ext cx="282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00" spc="-1" strike="noStrike">
                <a:solidFill>
                  <a:srgbClr val="58c765"/>
                </a:solidFill>
                <a:latin typeface="Lato"/>
                <a:ea typeface="Lato"/>
              </a:rPr>
              <a:t>2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14"/>
          <p:cNvSpPr/>
          <p:nvPr/>
        </p:nvSpPr>
        <p:spPr>
          <a:xfrm>
            <a:off x="1965960" y="3620880"/>
            <a:ext cx="24868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50" spc="-1" strike="noStrike">
                <a:solidFill>
                  <a:srgbClr val="071a4a"/>
                </a:solidFill>
                <a:latin typeface="Lato"/>
                <a:ea typeface="Lato"/>
              </a:rPr>
              <a:t>armazenar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15"/>
          <p:cNvSpPr/>
          <p:nvPr/>
        </p:nvSpPr>
        <p:spPr>
          <a:xfrm>
            <a:off x="1499760" y="3996000"/>
            <a:ext cx="164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400" spc="-1" strike="noStrike">
                <a:solidFill>
                  <a:srgbClr val="90a1b8"/>
                </a:solidFill>
                <a:latin typeface="Lato"/>
                <a:ea typeface="Lato"/>
              </a:rPr>
              <a:t>↓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16"/>
          <p:cNvSpPr/>
          <p:nvPr/>
        </p:nvSpPr>
        <p:spPr>
          <a:xfrm>
            <a:off x="1371600" y="4187880"/>
            <a:ext cx="429480" cy="347040"/>
          </a:xfrm>
          <a:prstGeom prst="roundRect">
            <a:avLst>
              <a:gd name="adj" fmla="val 21053"/>
            </a:avLst>
          </a:prstGeom>
          <a:solidFill>
            <a:srgbClr val="e7f6ea"/>
          </a:solidFill>
          <a:ln w="12700">
            <a:solidFill>
              <a:srgbClr val="e7f6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17"/>
          <p:cNvSpPr/>
          <p:nvPr/>
        </p:nvSpPr>
        <p:spPr>
          <a:xfrm>
            <a:off x="1444680" y="4251960"/>
            <a:ext cx="282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00" spc="-1" strike="noStrike">
                <a:solidFill>
                  <a:srgbClr val="58c765"/>
                </a:solidFill>
                <a:latin typeface="Lato"/>
                <a:ea typeface="Lato"/>
              </a:rPr>
              <a:t>3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18"/>
          <p:cNvSpPr/>
          <p:nvPr/>
        </p:nvSpPr>
        <p:spPr>
          <a:xfrm>
            <a:off x="1965960" y="4215240"/>
            <a:ext cx="24868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50" spc="-1" strike="noStrike">
                <a:solidFill>
                  <a:srgbClr val="071a4a"/>
                </a:solidFill>
                <a:latin typeface="Lato"/>
                <a:ea typeface="Lato"/>
              </a:rPr>
              <a:t>comparar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19"/>
          <p:cNvSpPr/>
          <p:nvPr/>
        </p:nvSpPr>
        <p:spPr>
          <a:xfrm>
            <a:off x="6949440" y="2999160"/>
            <a:ext cx="429480" cy="347040"/>
          </a:xfrm>
          <a:prstGeom prst="roundRect">
            <a:avLst>
              <a:gd name="adj" fmla="val 21053"/>
            </a:avLst>
          </a:prstGeom>
          <a:solidFill>
            <a:srgbClr val="fce7e7"/>
          </a:solidFill>
          <a:ln w="12700">
            <a:solidFill>
              <a:srgbClr val="fce7e7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20"/>
          <p:cNvSpPr/>
          <p:nvPr/>
        </p:nvSpPr>
        <p:spPr>
          <a:xfrm>
            <a:off x="7022520" y="3063240"/>
            <a:ext cx="282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00" spc="-1" strike="noStrike">
                <a:solidFill>
                  <a:srgbClr val="e85b5b"/>
                </a:solidFill>
                <a:latin typeface="Lato"/>
                <a:ea typeface="Lato"/>
              </a:rPr>
              <a:t>1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21"/>
          <p:cNvSpPr/>
          <p:nvPr/>
        </p:nvSpPr>
        <p:spPr>
          <a:xfrm>
            <a:off x="7543800" y="3026520"/>
            <a:ext cx="24868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50" spc="-1" strike="noStrike">
                <a:solidFill>
                  <a:srgbClr val="071a4a"/>
                </a:solidFill>
                <a:latin typeface="Lato"/>
                <a:ea typeface="Lato"/>
              </a:rPr>
              <a:t>comparar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22"/>
          <p:cNvSpPr/>
          <p:nvPr/>
        </p:nvSpPr>
        <p:spPr>
          <a:xfrm>
            <a:off x="7077600" y="3401640"/>
            <a:ext cx="164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400" spc="-1" strike="noStrike">
                <a:solidFill>
                  <a:srgbClr val="90a1b8"/>
                </a:solidFill>
                <a:latin typeface="Lato"/>
                <a:ea typeface="Lato"/>
              </a:rPr>
              <a:t>↓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23"/>
          <p:cNvSpPr/>
          <p:nvPr/>
        </p:nvSpPr>
        <p:spPr>
          <a:xfrm>
            <a:off x="6949440" y="3593520"/>
            <a:ext cx="429480" cy="347040"/>
          </a:xfrm>
          <a:prstGeom prst="roundRect">
            <a:avLst>
              <a:gd name="adj" fmla="val 21053"/>
            </a:avLst>
          </a:prstGeom>
          <a:solidFill>
            <a:srgbClr val="fce7e7"/>
          </a:solidFill>
          <a:ln w="12700">
            <a:solidFill>
              <a:srgbClr val="fce7e7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 24"/>
          <p:cNvSpPr/>
          <p:nvPr/>
        </p:nvSpPr>
        <p:spPr>
          <a:xfrm>
            <a:off x="7022520" y="3657600"/>
            <a:ext cx="282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00" spc="-1" strike="noStrike">
                <a:solidFill>
                  <a:srgbClr val="e85b5b"/>
                </a:solidFill>
                <a:latin typeface="Lato"/>
                <a:ea typeface="Lato"/>
              </a:rPr>
              <a:t>2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 25"/>
          <p:cNvSpPr/>
          <p:nvPr/>
        </p:nvSpPr>
        <p:spPr>
          <a:xfrm>
            <a:off x="7543800" y="3620880"/>
            <a:ext cx="24868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50" spc="-1" strike="noStrike">
                <a:solidFill>
                  <a:srgbClr val="071a4a"/>
                </a:solidFill>
                <a:latin typeface="Lato"/>
                <a:ea typeface="Lato"/>
              </a:rPr>
              <a:t>receber valor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 26"/>
          <p:cNvSpPr/>
          <p:nvPr/>
        </p:nvSpPr>
        <p:spPr>
          <a:xfrm>
            <a:off x="7077600" y="3996000"/>
            <a:ext cx="164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400" spc="-1" strike="noStrike">
                <a:solidFill>
                  <a:srgbClr val="90a1b8"/>
                </a:solidFill>
                <a:latin typeface="Lato"/>
                <a:ea typeface="Lato"/>
              </a:rPr>
              <a:t>↓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27"/>
          <p:cNvSpPr/>
          <p:nvPr/>
        </p:nvSpPr>
        <p:spPr>
          <a:xfrm>
            <a:off x="6949440" y="4187880"/>
            <a:ext cx="429480" cy="347040"/>
          </a:xfrm>
          <a:prstGeom prst="roundRect">
            <a:avLst>
              <a:gd name="adj" fmla="val 21053"/>
            </a:avLst>
          </a:prstGeom>
          <a:solidFill>
            <a:srgbClr val="fce7e7"/>
          </a:solidFill>
          <a:ln w="12700">
            <a:solidFill>
              <a:srgbClr val="fce7e7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 28"/>
          <p:cNvSpPr/>
          <p:nvPr/>
        </p:nvSpPr>
        <p:spPr>
          <a:xfrm>
            <a:off x="7022520" y="4251960"/>
            <a:ext cx="282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00" spc="-1" strike="noStrike">
                <a:solidFill>
                  <a:srgbClr val="e85b5b"/>
                </a:solidFill>
                <a:latin typeface="Lato"/>
                <a:ea typeface="Lato"/>
              </a:rPr>
              <a:t>3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29"/>
          <p:cNvSpPr/>
          <p:nvPr/>
        </p:nvSpPr>
        <p:spPr>
          <a:xfrm>
            <a:off x="7543800" y="4215240"/>
            <a:ext cx="24868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50" spc="-1" strike="noStrike">
                <a:solidFill>
                  <a:srgbClr val="071a4a"/>
                </a:solidFill>
                <a:latin typeface="Lato"/>
                <a:ea typeface="Lato"/>
              </a:rPr>
              <a:t>armazenar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 30"/>
          <p:cNvSpPr/>
          <p:nvPr/>
        </p:nvSpPr>
        <p:spPr>
          <a:xfrm>
            <a:off x="1938600" y="5440680"/>
            <a:ext cx="83664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20" spc="-1" strike="noStrike">
                <a:solidFill>
                  <a:srgbClr val="071a4a"/>
                </a:solidFill>
                <a:latin typeface="Lato"/>
                <a:ea typeface="Lato"/>
              </a:rPr>
              <a:t>Pergunta: o que o programa estaria comparando antes de receber um valor?</a:t>
            </a:r>
            <a:endParaRPr b="0" lang="pt-BR" sz="14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1"/>
          <p:cNvSpPr>
            <a:spLocks noGrp="1"/>
          </p:cNvSpPr>
          <p:nvPr>
            <p:ph type="sldNum" idx="14"/>
          </p:nvPr>
        </p:nvSpPr>
        <p:spPr>
          <a:xfrm>
            <a:off x="11283840" y="644652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850" spc="-1" strike="noStrike">
                <a:solidFill>
                  <a:srgbClr val="7a879d"/>
                </a:solidFill>
                <a:latin typeface="Lato"/>
                <a:ea typeface="La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11D4B8-5BFB-43E3-B53B-4337BE113134}" type="slidenum">
              <a:rPr b="0" lang="pt-BR" sz="850" spc="-1" strike="noStrike">
                <a:solidFill>
                  <a:srgbClr val="7a879d"/>
                </a:solidFill>
                <a:latin typeface="Lato"/>
                <a:ea typeface="Lato"/>
              </a:rPr>
              <a:t>9</a:t>
            </a:fld>
            <a:endParaRPr b="0" lang="pt-BR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Text 0"/>
          <p:cNvSpPr/>
          <p:nvPr/>
        </p:nvSpPr>
        <p:spPr>
          <a:xfrm>
            <a:off x="713160" y="896040"/>
            <a:ext cx="99666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  <a:ea typeface="Inter Display"/>
              </a:rPr>
              <a:t>Entrada, processamento e saída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 1"/>
          <p:cNvSpPr/>
          <p:nvPr/>
        </p:nvSpPr>
        <p:spPr>
          <a:xfrm>
            <a:off x="731520" y="1444680"/>
            <a:ext cx="9692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50" spc="-1" strike="noStrike">
                <a:solidFill>
                  <a:srgbClr val="5b6b86"/>
                </a:solidFill>
                <a:latin typeface="Lato"/>
                <a:ea typeface="Lato"/>
              </a:rPr>
              <a:t>Fluxo do projeto condutor do encontro.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2"/>
          <p:cNvSpPr/>
          <p:nvPr/>
        </p:nvSpPr>
        <p:spPr>
          <a:xfrm>
            <a:off x="786240" y="2487240"/>
            <a:ext cx="1919880" cy="19566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e7f0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 3"/>
          <p:cNvSpPr/>
          <p:nvPr/>
        </p:nvSpPr>
        <p:spPr>
          <a:xfrm>
            <a:off x="951120" y="2688480"/>
            <a:ext cx="1599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50" spc="77" strike="noStrike">
                <a:solidFill>
                  <a:srgbClr val="10b9f3"/>
                </a:solidFill>
                <a:latin typeface="Lato"/>
                <a:ea typeface="Lato"/>
              </a:rPr>
              <a:t>ENTRADA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 4"/>
          <p:cNvSpPr/>
          <p:nvPr/>
        </p:nvSpPr>
        <p:spPr>
          <a:xfrm>
            <a:off x="951120" y="3200400"/>
            <a:ext cx="15908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20" spc="-1" strike="noStrike">
                <a:solidFill>
                  <a:srgbClr val="071a4a"/>
                </a:solidFill>
                <a:latin typeface="Inter Display"/>
                <a:ea typeface="Inter Display"/>
              </a:rPr>
              <a:t>Digite um valor</a:t>
            </a:r>
            <a:endParaRPr b="0" lang="pt-BR" sz="162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20" spc="-1" strike="noStrike">
                <a:solidFill>
                  <a:srgbClr val="071a4a"/>
                </a:solidFill>
                <a:latin typeface="Inter Display"/>
                <a:ea typeface="Inter Display"/>
              </a:rPr>
              <a:t>sintético 0–100</a:t>
            </a:r>
            <a:endParaRPr b="0" lang="pt-BR" sz="1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hape 5"/>
          <p:cNvSpPr/>
          <p:nvPr/>
        </p:nvSpPr>
        <p:spPr>
          <a:xfrm>
            <a:off x="2779560" y="3465360"/>
            <a:ext cx="887040" cy="360"/>
          </a:xfrm>
          <a:prstGeom prst="line">
            <a:avLst/>
          </a:prstGeom>
          <a:ln w="29210">
            <a:solidFill>
              <a:srgbClr val="071a4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6"/>
          <p:cNvSpPr/>
          <p:nvPr/>
        </p:nvSpPr>
        <p:spPr>
          <a:xfrm>
            <a:off x="3136320" y="2487240"/>
            <a:ext cx="1919880" cy="19566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e7f0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 7"/>
          <p:cNvSpPr/>
          <p:nvPr/>
        </p:nvSpPr>
        <p:spPr>
          <a:xfrm>
            <a:off x="3300840" y="2688480"/>
            <a:ext cx="1599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50" spc="77" strike="noStrike">
                <a:solidFill>
                  <a:srgbClr val="f36b21"/>
                </a:solidFill>
                <a:latin typeface="Lato"/>
                <a:ea typeface="Lato"/>
              </a:rPr>
              <a:t>ARMAZENAR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 8"/>
          <p:cNvSpPr/>
          <p:nvPr/>
        </p:nvSpPr>
        <p:spPr>
          <a:xfrm>
            <a:off x="3300840" y="3200400"/>
            <a:ext cx="15908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20" spc="-1" strike="noStrike">
                <a:solidFill>
                  <a:srgbClr val="071a4a"/>
                </a:solidFill>
                <a:latin typeface="Inter Display"/>
                <a:ea typeface="Inter Display"/>
              </a:rPr>
              <a:t>valorSensor</a:t>
            </a:r>
            <a:endParaRPr b="0" lang="pt-BR" sz="1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Shape 9"/>
          <p:cNvSpPr/>
          <p:nvPr/>
        </p:nvSpPr>
        <p:spPr>
          <a:xfrm>
            <a:off x="5129640" y="3465360"/>
            <a:ext cx="887040" cy="360"/>
          </a:xfrm>
          <a:prstGeom prst="line">
            <a:avLst/>
          </a:prstGeom>
          <a:ln w="29210">
            <a:solidFill>
              <a:srgbClr val="071a4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10"/>
          <p:cNvSpPr/>
          <p:nvPr/>
        </p:nvSpPr>
        <p:spPr>
          <a:xfrm>
            <a:off x="5623560" y="2487240"/>
            <a:ext cx="1919880" cy="19566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e7f0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 11"/>
          <p:cNvSpPr/>
          <p:nvPr/>
        </p:nvSpPr>
        <p:spPr>
          <a:xfrm>
            <a:off x="5788080" y="2688480"/>
            <a:ext cx="1599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50" spc="77" strike="noStrike">
                <a:solidFill>
                  <a:srgbClr val="e72b76"/>
                </a:solidFill>
                <a:latin typeface="Lato"/>
                <a:ea typeface="Lato"/>
              </a:rPr>
              <a:t>PROCESSAR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 12"/>
          <p:cNvSpPr/>
          <p:nvPr/>
        </p:nvSpPr>
        <p:spPr>
          <a:xfrm>
            <a:off x="5788080" y="3200400"/>
            <a:ext cx="15908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20" spc="-1" strike="noStrike">
                <a:solidFill>
                  <a:srgbClr val="071a4a"/>
                </a:solidFill>
                <a:latin typeface="Inter Display"/>
                <a:ea typeface="Inter Display"/>
              </a:rPr>
              <a:t>comparar com</a:t>
            </a:r>
            <a:endParaRPr b="0" lang="pt-BR" sz="162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20" spc="-1" strike="noStrike">
                <a:solidFill>
                  <a:srgbClr val="071a4a"/>
                </a:solidFill>
                <a:latin typeface="Inter Display"/>
                <a:ea typeface="Inter Display"/>
              </a:rPr>
              <a:t>30 e 70</a:t>
            </a:r>
            <a:endParaRPr b="0" lang="pt-BR" sz="1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Shape 13"/>
          <p:cNvSpPr/>
          <p:nvPr/>
        </p:nvSpPr>
        <p:spPr>
          <a:xfrm>
            <a:off x="7616880" y="3465360"/>
            <a:ext cx="887040" cy="360"/>
          </a:xfrm>
          <a:prstGeom prst="line">
            <a:avLst/>
          </a:prstGeom>
          <a:ln w="29210">
            <a:solidFill>
              <a:srgbClr val="071a4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hape 14"/>
          <p:cNvSpPr/>
          <p:nvPr/>
        </p:nvSpPr>
        <p:spPr>
          <a:xfrm>
            <a:off x="8632080" y="2487240"/>
            <a:ext cx="1919880" cy="19566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e7f0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15"/>
          <p:cNvSpPr/>
          <p:nvPr/>
        </p:nvSpPr>
        <p:spPr>
          <a:xfrm>
            <a:off x="8796600" y="2688480"/>
            <a:ext cx="1599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50" spc="77" strike="noStrike">
                <a:solidFill>
                  <a:srgbClr val="8157b1"/>
                </a:solidFill>
                <a:latin typeface="Lato"/>
                <a:ea typeface="Lato"/>
              </a:rPr>
              <a:t>SAÍDA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16"/>
          <p:cNvSpPr/>
          <p:nvPr/>
        </p:nvSpPr>
        <p:spPr>
          <a:xfrm>
            <a:off x="8796600" y="3200400"/>
            <a:ext cx="15908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20" spc="-1" strike="noStrike">
                <a:solidFill>
                  <a:srgbClr val="071a4a"/>
                </a:solidFill>
                <a:latin typeface="Inter Display"/>
                <a:ea typeface="Inter Display"/>
              </a:rPr>
              <a:t>Faixa didática</a:t>
            </a:r>
            <a:endParaRPr b="0" lang="pt-BR" sz="162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20" spc="-1" strike="noStrike">
                <a:solidFill>
                  <a:srgbClr val="071a4a"/>
                </a:solidFill>
                <a:latin typeface="Inter Display"/>
                <a:ea typeface="Inter Display"/>
              </a:rPr>
              <a:t>A, B ou C</a:t>
            </a:r>
            <a:endParaRPr b="0" lang="pt-BR" sz="1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17"/>
          <p:cNvSpPr/>
          <p:nvPr/>
        </p:nvSpPr>
        <p:spPr>
          <a:xfrm>
            <a:off x="1938600" y="4919400"/>
            <a:ext cx="8320680" cy="685440"/>
          </a:xfrm>
          <a:prstGeom prst="roundRect">
            <a:avLst>
              <a:gd name="adj" fmla="val 10667"/>
            </a:avLst>
          </a:prstGeom>
          <a:solidFill>
            <a:srgbClr val="fff6ea"/>
          </a:solidFill>
          <a:ln w="12700">
            <a:solidFill>
              <a:srgbClr val="f8d6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 18"/>
          <p:cNvSpPr/>
          <p:nvPr/>
        </p:nvSpPr>
        <p:spPr>
          <a:xfrm>
            <a:off x="2167200" y="5111640"/>
            <a:ext cx="7863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70" spc="-1" strike="noStrike">
                <a:solidFill>
                  <a:srgbClr val="82450c"/>
                </a:solidFill>
                <a:latin typeface="Lato"/>
                <a:ea typeface="Lato"/>
              </a:rPr>
              <a:t>Importante: 30 e 70 são limites arbitrários para ensinar programação — não são parâmetros clínicos.</a:t>
            </a:r>
            <a:endParaRPr b="0" lang="pt-BR" sz="1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PlaceHolder 1"/>
          <p:cNvSpPr>
            <a:spLocks noGrp="1"/>
          </p:cNvSpPr>
          <p:nvPr>
            <p:ph type="sldNum" idx="15"/>
          </p:nvPr>
        </p:nvSpPr>
        <p:spPr>
          <a:xfrm>
            <a:off x="11283840" y="644652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850" spc="-1" strike="noStrike">
                <a:solidFill>
                  <a:srgbClr val="7a879d"/>
                </a:solidFill>
                <a:latin typeface="Lato"/>
                <a:ea typeface="La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7FA05E-081A-410D-8EE3-451C30687FA1}" type="slidenum">
              <a:rPr b="0" lang="pt-BR" sz="850" spc="-1" strike="noStrike">
                <a:solidFill>
                  <a:srgbClr val="7a879d"/>
                </a:solidFill>
                <a:latin typeface="Lato"/>
                <a:ea typeface="Lato"/>
              </a:rPr>
              <a:t>10</a:t>
            </a:fld>
            <a:endParaRPr b="0" lang="pt-BR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Text 0"/>
          <p:cNvSpPr/>
          <p:nvPr/>
        </p:nvSpPr>
        <p:spPr>
          <a:xfrm>
            <a:off x="713160" y="896040"/>
            <a:ext cx="99666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  <a:ea typeface="Inter Display"/>
              </a:rPr>
              <a:t>Conhecendo o Scratch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1"/>
          <p:cNvSpPr/>
          <p:nvPr/>
        </p:nvSpPr>
        <p:spPr>
          <a:xfrm>
            <a:off x="731520" y="1444680"/>
            <a:ext cx="4128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50" spc="-1" strike="noStrike">
                <a:solidFill>
                  <a:srgbClr val="5b6b86"/>
                </a:solidFill>
                <a:latin typeface="Lato"/>
                <a:ea typeface="Lato"/>
              </a:rPr>
              <a:t>Quatro áreas para localizar antes de começar.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2"/>
          <p:cNvSpPr/>
          <p:nvPr/>
        </p:nvSpPr>
        <p:spPr>
          <a:xfrm>
            <a:off x="841320" y="1828800"/>
            <a:ext cx="10560960" cy="3821760"/>
          </a:xfrm>
          <a:prstGeom prst="roundRect">
            <a:avLst>
              <a:gd name="adj" fmla="val 1914"/>
            </a:avLst>
          </a:prstGeom>
          <a:solidFill>
            <a:srgbClr val="ffffff"/>
          </a:solidFill>
          <a:ln w="12700">
            <a:solidFill>
              <a:srgbClr val="cfd8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Shape 3"/>
          <p:cNvSpPr/>
          <p:nvPr/>
        </p:nvSpPr>
        <p:spPr>
          <a:xfrm>
            <a:off x="841320" y="1828800"/>
            <a:ext cx="10560960" cy="383760"/>
          </a:xfrm>
          <a:prstGeom prst="rect">
            <a:avLst/>
          </a:prstGeom>
          <a:solidFill>
            <a:srgbClr val="4c97ff"/>
          </a:solidFill>
          <a:ln w="12700">
            <a:solidFill>
              <a:srgbClr val="4c9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Text 4"/>
          <p:cNvSpPr/>
          <p:nvPr/>
        </p:nvSpPr>
        <p:spPr>
          <a:xfrm>
            <a:off x="1024200" y="1920240"/>
            <a:ext cx="1096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00" spc="-1" strike="noStrike">
                <a:solidFill>
                  <a:srgbClr val="ffffff"/>
                </a:solidFill>
                <a:latin typeface="Lato"/>
                <a:ea typeface="Lato"/>
              </a:rPr>
              <a:t>Scratch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Shape 5"/>
          <p:cNvSpPr/>
          <p:nvPr/>
        </p:nvSpPr>
        <p:spPr>
          <a:xfrm>
            <a:off x="841320" y="2212920"/>
            <a:ext cx="2267280" cy="3437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fe4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Shape 6"/>
          <p:cNvSpPr/>
          <p:nvPr/>
        </p:nvSpPr>
        <p:spPr>
          <a:xfrm>
            <a:off x="1033200" y="2441520"/>
            <a:ext cx="164160" cy="164160"/>
          </a:xfrm>
          <a:prstGeom prst="ellipse">
            <a:avLst/>
          </a:prstGeom>
          <a:solidFill>
            <a:srgbClr val="4c97ff"/>
          </a:solidFill>
          <a:ln w="12700">
            <a:solidFill>
              <a:srgbClr val="4c9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Text 7"/>
          <p:cNvSpPr/>
          <p:nvPr/>
        </p:nvSpPr>
        <p:spPr>
          <a:xfrm>
            <a:off x="1289160" y="2404800"/>
            <a:ext cx="1416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50" spc="-1" strike="noStrike">
                <a:solidFill>
                  <a:srgbClr val="14213d"/>
                </a:solidFill>
                <a:latin typeface="Lato"/>
                <a:ea typeface="Lato"/>
              </a:rPr>
              <a:t>Movimento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Shape 8"/>
          <p:cNvSpPr/>
          <p:nvPr/>
        </p:nvSpPr>
        <p:spPr>
          <a:xfrm>
            <a:off x="1033200" y="2807280"/>
            <a:ext cx="164160" cy="164160"/>
          </a:xfrm>
          <a:prstGeom prst="ellipse">
            <a:avLst/>
          </a:prstGeom>
          <a:solidFill>
            <a:srgbClr val="9966ff"/>
          </a:solidFill>
          <a:ln w="12700">
            <a:solidFill>
              <a:srgbClr val="996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Text 9"/>
          <p:cNvSpPr/>
          <p:nvPr/>
        </p:nvSpPr>
        <p:spPr>
          <a:xfrm>
            <a:off x="1289160" y="2770560"/>
            <a:ext cx="1416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50" spc="-1" strike="noStrike">
                <a:solidFill>
                  <a:srgbClr val="14213d"/>
                </a:solidFill>
                <a:latin typeface="Lato"/>
                <a:ea typeface="Lato"/>
              </a:rPr>
              <a:t>Aparência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10"/>
          <p:cNvSpPr/>
          <p:nvPr/>
        </p:nvSpPr>
        <p:spPr>
          <a:xfrm>
            <a:off x="1033200" y="3173040"/>
            <a:ext cx="164160" cy="164160"/>
          </a:xfrm>
          <a:prstGeom prst="ellipse">
            <a:avLst/>
          </a:prstGeom>
          <a:solidFill>
            <a:srgbClr val="ffbf00"/>
          </a:solidFill>
          <a:ln w="12700">
            <a:solidFill>
              <a:srgbClr val="ffb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 11"/>
          <p:cNvSpPr/>
          <p:nvPr/>
        </p:nvSpPr>
        <p:spPr>
          <a:xfrm>
            <a:off x="1289160" y="3136320"/>
            <a:ext cx="1416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50" spc="-1" strike="noStrike">
                <a:solidFill>
                  <a:srgbClr val="14213d"/>
                </a:solidFill>
                <a:latin typeface="Lato"/>
                <a:ea typeface="Lato"/>
              </a:rPr>
              <a:t>Eventos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Shape 12"/>
          <p:cNvSpPr/>
          <p:nvPr/>
        </p:nvSpPr>
        <p:spPr>
          <a:xfrm>
            <a:off x="1033200" y="3538800"/>
            <a:ext cx="164160" cy="164160"/>
          </a:xfrm>
          <a:prstGeom prst="ellipse">
            <a:avLst/>
          </a:prstGeom>
          <a:solidFill>
            <a:srgbClr val="ffab19"/>
          </a:solidFill>
          <a:ln w="12700">
            <a:solidFill>
              <a:srgbClr val="ffab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13"/>
          <p:cNvSpPr/>
          <p:nvPr/>
        </p:nvSpPr>
        <p:spPr>
          <a:xfrm>
            <a:off x="1289160" y="3502080"/>
            <a:ext cx="1416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50" spc="-1" strike="noStrike">
                <a:solidFill>
                  <a:srgbClr val="14213d"/>
                </a:solidFill>
                <a:latin typeface="Lato"/>
                <a:ea typeface="Lato"/>
              </a:rPr>
              <a:t>Controle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hape 14"/>
          <p:cNvSpPr/>
          <p:nvPr/>
        </p:nvSpPr>
        <p:spPr>
          <a:xfrm>
            <a:off x="1033200" y="3904560"/>
            <a:ext cx="164160" cy="164160"/>
          </a:xfrm>
          <a:prstGeom prst="ellipse">
            <a:avLst/>
          </a:prstGeom>
          <a:solidFill>
            <a:srgbClr val="5cb1d6"/>
          </a:solidFill>
          <a:ln w="12700">
            <a:solidFill>
              <a:srgbClr val="5cb1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Text 15"/>
          <p:cNvSpPr/>
          <p:nvPr/>
        </p:nvSpPr>
        <p:spPr>
          <a:xfrm>
            <a:off x="1289160" y="3867840"/>
            <a:ext cx="1416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50" spc="-1" strike="noStrike">
                <a:solidFill>
                  <a:srgbClr val="14213d"/>
                </a:solidFill>
                <a:latin typeface="Lato"/>
                <a:ea typeface="Lato"/>
              </a:rPr>
              <a:t>Sensores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Shape 16"/>
          <p:cNvSpPr/>
          <p:nvPr/>
        </p:nvSpPr>
        <p:spPr>
          <a:xfrm>
            <a:off x="1033200" y="4270320"/>
            <a:ext cx="164160" cy="164160"/>
          </a:xfrm>
          <a:prstGeom prst="ellipse">
            <a:avLst/>
          </a:prstGeom>
          <a:solidFill>
            <a:srgbClr val="ff8c1a"/>
          </a:solidFill>
          <a:ln w="12700">
            <a:solidFill>
              <a:srgbClr val="ff8c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 17"/>
          <p:cNvSpPr/>
          <p:nvPr/>
        </p:nvSpPr>
        <p:spPr>
          <a:xfrm>
            <a:off x="1289160" y="4233600"/>
            <a:ext cx="1416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50" spc="-1" strike="noStrike">
                <a:solidFill>
                  <a:srgbClr val="14213d"/>
                </a:solidFill>
                <a:latin typeface="Lato"/>
                <a:ea typeface="Lato"/>
              </a:rPr>
              <a:t>Variáveis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Shape 18"/>
          <p:cNvSpPr/>
          <p:nvPr/>
        </p:nvSpPr>
        <p:spPr>
          <a:xfrm>
            <a:off x="1033200" y="4636080"/>
            <a:ext cx="164160" cy="164160"/>
          </a:xfrm>
          <a:prstGeom prst="ellipse">
            <a:avLst/>
          </a:prstGeom>
          <a:solidFill>
            <a:srgbClr val="59c059"/>
          </a:solidFill>
          <a:ln w="12700">
            <a:solidFill>
              <a:srgbClr val="59c0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Text 19"/>
          <p:cNvSpPr/>
          <p:nvPr/>
        </p:nvSpPr>
        <p:spPr>
          <a:xfrm>
            <a:off x="1289160" y="4599360"/>
            <a:ext cx="1416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50" spc="-1" strike="noStrike">
                <a:solidFill>
                  <a:srgbClr val="14213d"/>
                </a:solidFill>
                <a:latin typeface="Lato"/>
                <a:ea typeface="Lato"/>
              </a:rPr>
              <a:t>Operadores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Shape 20"/>
          <p:cNvSpPr/>
          <p:nvPr/>
        </p:nvSpPr>
        <p:spPr>
          <a:xfrm>
            <a:off x="3108960" y="2212920"/>
            <a:ext cx="4983120" cy="3437640"/>
          </a:xfrm>
          <a:prstGeom prst="rect">
            <a:avLst/>
          </a:prstGeom>
          <a:solidFill>
            <a:srgbClr val="fbfbfc"/>
          </a:solidFill>
          <a:ln w="12700">
            <a:solidFill>
              <a:srgbClr val="e1e5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Shape 21"/>
          <p:cNvSpPr/>
          <p:nvPr/>
        </p:nvSpPr>
        <p:spPr>
          <a:xfrm>
            <a:off x="3456360" y="2697480"/>
            <a:ext cx="2148480" cy="456840"/>
          </a:xfrm>
          <a:prstGeom prst="roundRect">
            <a:avLst>
              <a:gd name="adj" fmla="val 12000"/>
            </a:avLst>
          </a:prstGeom>
          <a:solidFill>
            <a:srgbClr val="f2c94c"/>
          </a:solidFill>
          <a:ln w="7620">
            <a:solidFill>
              <a:srgbClr val="f2c9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 22"/>
          <p:cNvSpPr/>
          <p:nvPr/>
        </p:nvSpPr>
        <p:spPr>
          <a:xfrm>
            <a:off x="3602880" y="2761560"/>
            <a:ext cx="1855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20" spc="-1" strike="noStrike">
                <a:solidFill>
                  <a:srgbClr val="071a4a"/>
                </a:solidFill>
                <a:latin typeface="Lato"/>
                <a:ea typeface="Lato"/>
              </a:rPr>
              <a:t>quando ⚑ clicada</a:t>
            </a:r>
            <a:endParaRPr b="0" lang="pt-BR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Shape 23"/>
          <p:cNvSpPr/>
          <p:nvPr/>
        </p:nvSpPr>
        <p:spPr>
          <a:xfrm>
            <a:off x="3456360" y="3209400"/>
            <a:ext cx="2148480" cy="456840"/>
          </a:xfrm>
          <a:prstGeom prst="roundRect">
            <a:avLst>
              <a:gd name="adj" fmla="val 12000"/>
            </a:avLst>
          </a:prstGeom>
          <a:solidFill>
            <a:srgbClr val="9966ff"/>
          </a:solidFill>
          <a:ln w="7620">
            <a:solidFill>
              <a:srgbClr val="996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Text 24"/>
          <p:cNvSpPr/>
          <p:nvPr/>
        </p:nvSpPr>
        <p:spPr>
          <a:xfrm>
            <a:off x="3602880" y="3273480"/>
            <a:ext cx="1855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00" spc="-1" strike="noStrike">
                <a:solidFill>
                  <a:srgbClr val="ffffff"/>
                </a:solidFill>
                <a:latin typeface="Lato"/>
                <a:ea typeface="Lato"/>
              </a:rPr>
              <a:t>diga “Olá!” por 2 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Shape 25"/>
          <p:cNvSpPr/>
          <p:nvPr/>
        </p:nvSpPr>
        <p:spPr>
          <a:xfrm>
            <a:off x="3456360" y="3721680"/>
            <a:ext cx="1691280" cy="438480"/>
          </a:xfrm>
          <a:prstGeom prst="roundRect">
            <a:avLst>
              <a:gd name="adj" fmla="val 12500"/>
            </a:avLst>
          </a:prstGeom>
          <a:solidFill>
            <a:srgbClr val="ffab19"/>
          </a:solidFill>
          <a:ln w="7620">
            <a:solidFill>
              <a:srgbClr val="ffab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 26"/>
          <p:cNvSpPr/>
          <p:nvPr/>
        </p:nvSpPr>
        <p:spPr>
          <a:xfrm>
            <a:off x="3602880" y="3785760"/>
            <a:ext cx="1398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00" spc="-1" strike="noStrike">
                <a:solidFill>
                  <a:srgbClr val="071a4a"/>
                </a:solidFill>
                <a:latin typeface="Lato"/>
                <a:ea typeface="Lato"/>
              </a:rPr>
              <a:t>espere 1 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Shape 27"/>
          <p:cNvSpPr/>
          <p:nvPr/>
        </p:nvSpPr>
        <p:spPr>
          <a:xfrm>
            <a:off x="8092440" y="2212920"/>
            <a:ext cx="3309840" cy="221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Shape 28"/>
          <p:cNvSpPr/>
          <p:nvPr/>
        </p:nvSpPr>
        <p:spPr>
          <a:xfrm>
            <a:off x="9290160" y="2779920"/>
            <a:ext cx="840960" cy="840960"/>
          </a:xfrm>
          <a:prstGeom prst="ellipse">
            <a:avLst/>
          </a:prstGeom>
          <a:solidFill>
            <a:srgbClr val="f36b21"/>
          </a:solidFill>
          <a:ln w="12700">
            <a:solidFill>
              <a:srgbClr val="f36b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Text 29"/>
          <p:cNvSpPr/>
          <p:nvPr/>
        </p:nvSpPr>
        <p:spPr>
          <a:xfrm>
            <a:off x="9299520" y="3740040"/>
            <a:ext cx="840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50" spc="-1" strike="noStrike">
                <a:solidFill>
                  <a:srgbClr val="5b6b86"/>
                </a:solidFill>
                <a:latin typeface="Lato"/>
                <a:ea typeface="Lato"/>
              </a:rPr>
              <a:t>ator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Shape 30"/>
          <p:cNvSpPr/>
          <p:nvPr/>
        </p:nvSpPr>
        <p:spPr>
          <a:xfrm>
            <a:off x="8092440" y="4425840"/>
            <a:ext cx="3309840" cy="1225080"/>
          </a:xfrm>
          <a:prstGeom prst="rect">
            <a:avLst/>
          </a:prstGeom>
          <a:solidFill>
            <a:srgbClr val="f4f5f7"/>
          </a:solidFill>
          <a:ln w="12700">
            <a:solidFill>
              <a:srgbClr val="d6dc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 31"/>
          <p:cNvSpPr/>
          <p:nvPr/>
        </p:nvSpPr>
        <p:spPr>
          <a:xfrm>
            <a:off x="8348400" y="48006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50" spc="-1" strike="noStrike">
                <a:solidFill>
                  <a:srgbClr val="5b6b86"/>
                </a:solidFill>
                <a:latin typeface="Lato"/>
                <a:ea typeface="Lato"/>
              </a:rPr>
              <a:t>atores / propriedades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Shape 32"/>
          <p:cNvSpPr/>
          <p:nvPr/>
        </p:nvSpPr>
        <p:spPr>
          <a:xfrm>
            <a:off x="1261800" y="5157360"/>
            <a:ext cx="1188360" cy="347040"/>
          </a:xfrm>
          <a:prstGeom prst="roundRect">
            <a:avLst>
              <a:gd name="adj" fmla="val 21053"/>
            </a:avLst>
          </a:prstGeom>
          <a:solidFill>
            <a:srgbClr val="10b9f3"/>
          </a:solidFill>
          <a:ln w="12700">
            <a:solidFill>
              <a:srgbClr val="10b9f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Text 33"/>
          <p:cNvSpPr/>
          <p:nvPr/>
        </p:nvSpPr>
        <p:spPr>
          <a:xfrm>
            <a:off x="1334880" y="5221080"/>
            <a:ext cx="1042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50" spc="-1" strike="noStrike">
                <a:solidFill>
                  <a:srgbClr val="ffffff"/>
                </a:solidFill>
                <a:latin typeface="Lato"/>
                <a:ea typeface="Lato"/>
              </a:rPr>
              <a:t>BLOCOS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Shape 34"/>
          <p:cNvSpPr/>
          <p:nvPr/>
        </p:nvSpPr>
        <p:spPr>
          <a:xfrm>
            <a:off x="5001840" y="5157360"/>
            <a:ext cx="1188360" cy="347040"/>
          </a:xfrm>
          <a:prstGeom prst="roundRect">
            <a:avLst>
              <a:gd name="adj" fmla="val 21053"/>
            </a:avLst>
          </a:prstGeom>
          <a:solidFill>
            <a:srgbClr val="f36b21"/>
          </a:solidFill>
          <a:ln w="12700">
            <a:solidFill>
              <a:srgbClr val="f36b2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Text 35"/>
          <p:cNvSpPr/>
          <p:nvPr/>
        </p:nvSpPr>
        <p:spPr>
          <a:xfrm>
            <a:off x="5074920" y="5221080"/>
            <a:ext cx="1042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50" spc="-1" strike="noStrike">
                <a:solidFill>
                  <a:srgbClr val="ffffff"/>
                </a:solidFill>
                <a:latin typeface="Lato"/>
                <a:ea typeface="Lato"/>
              </a:rPr>
              <a:t>SCRIPTS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Shape 36"/>
          <p:cNvSpPr/>
          <p:nvPr/>
        </p:nvSpPr>
        <p:spPr>
          <a:xfrm>
            <a:off x="8997840" y="2414160"/>
            <a:ext cx="968760" cy="347040"/>
          </a:xfrm>
          <a:prstGeom prst="roundRect">
            <a:avLst>
              <a:gd name="adj" fmla="val 21053"/>
            </a:avLst>
          </a:prstGeom>
          <a:solidFill>
            <a:srgbClr val="e72b76"/>
          </a:solidFill>
          <a:ln w="12700">
            <a:solidFill>
              <a:srgbClr val="e72b7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Text 37"/>
          <p:cNvSpPr/>
          <p:nvPr/>
        </p:nvSpPr>
        <p:spPr>
          <a:xfrm>
            <a:off x="9070920" y="2477880"/>
            <a:ext cx="822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50" spc="-1" strike="noStrike">
                <a:solidFill>
                  <a:srgbClr val="ffffff"/>
                </a:solidFill>
                <a:latin typeface="Lato"/>
                <a:ea typeface="Lato"/>
              </a:rPr>
              <a:t>PALCO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Shape 38"/>
          <p:cNvSpPr/>
          <p:nvPr/>
        </p:nvSpPr>
        <p:spPr>
          <a:xfrm>
            <a:off x="9162360" y="4005000"/>
            <a:ext cx="749520" cy="347040"/>
          </a:xfrm>
          <a:prstGeom prst="roundRect">
            <a:avLst>
              <a:gd name="adj" fmla="val 21053"/>
            </a:avLst>
          </a:prstGeom>
          <a:solidFill>
            <a:srgbClr val="8157b1"/>
          </a:solidFill>
          <a:ln w="12700">
            <a:solidFill>
              <a:srgbClr val="8157b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Text 39"/>
          <p:cNvSpPr/>
          <p:nvPr/>
        </p:nvSpPr>
        <p:spPr>
          <a:xfrm>
            <a:off x="9235440" y="4069080"/>
            <a:ext cx="6030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50" spc="-1" strike="noStrike">
                <a:solidFill>
                  <a:srgbClr val="ffffff"/>
                </a:solidFill>
                <a:latin typeface="Lato"/>
                <a:ea typeface="Lato"/>
              </a:rPr>
              <a:t>ATOR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PlaceHolder 1"/>
          <p:cNvSpPr>
            <a:spLocks noGrp="1"/>
          </p:cNvSpPr>
          <p:nvPr>
            <p:ph type="sldNum" idx="16"/>
          </p:nvPr>
        </p:nvSpPr>
        <p:spPr>
          <a:xfrm>
            <a:off x="11283840" y="644652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850" spc="-1" strike="noStrike">
                <a:solidFill>
                  <a:srgbClr val="7a879d"/>
                </a:solidFill>
                <a:latin typeface="Lato"/>
                <a:ea typeface="La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53B161-E6FB-4624-BECF-D85FA5A6F8C9}" type="slidenum">
              <a:rPr b="0" lang="pt-BR" sz="850" spc="-1" strike="noStrike">
                <a:solidFill>
                  <a:srgbClr val="7a879d"/>
                </a:solidFill>
                <a:latin typeface="Lato"/>
                <a:ea typeface="Lato"/>
              </a:rPr>
              <a:t>11</a:t>
            </a:fld>
            <a:endParaRPr b="0" lang="pt-BR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5580000" y="988560"/>
            <a:ext cx="4140000" cy="45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2400" spc="-1" strike="noStrike">
                <a:solidFill>
                  <a:srgbClr val="000000"/>
                </a:solidFill>
                <a:latin typeface="Times New Roman"/>
                <a:hlinkClick r:id="rId1"/>
              </a:rPr>
              <a:t>https://scratch.mit.edu/</a:t>
            </a:r>
            <a:endParaRPr b="0" lang="pt-B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7" name="Text 40"/>
          <p:cNvSpPr/>
          <p:nvPr/>
        </p:nvSpPr>
        <p:spPr>
          <a:xfrm>
            <a:off x="5580000" y="1425960"/>
            <a:ext cx="5940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50" spc="-1" strike="noStrike">
                <a:solidFill>
                  <a:srgbClr val="5b6b86"/>
                </a:solidFill>
                <a:latin typeface="Lato"/>
                <a:ea typeface="Lato"/>
              </a:rPr>
              <a:t>Crie a sua conta e, em </a:t>
            </a:r>
            <a:r>
              <a:rPr b="1" i="1" lang="pt-BR" sz="1350" spc="-1" strike="noStrike">
                <a:solidFill>
                  <a:srgbClr val="5b6b86"/>
                </a:solidFill>
                <a:latin typeface="Lato"/>
                <a:ea typeface="Lato"/>
              </a:rPr>
              <a:t>Settings</a:t>
            </a:r>
            <a:r>
              <a:rPr b="0" lang="pt-BR" sz="1350" spc="-1" strike="noStrike">
                <a:solidFill>
                  <a:srgbClr val="5b6b86"/>
                </a:solidFill>
                <a:latin typeface="Lato"/>
                <a:ea typeface="Lato"/>
              </a:rPr>
              <a:t> / </a:t>
            </a:r>
            <a:r>
              <a:rPr b="1" i="1" lang="pt-BR" sz="1350" spc="-1" strike="noStrike">
                <a:solidFill>
                  <a:srgbClr val="5b6b86"/>
                </a:solidFill>
                <a:latin typeface="Lato"/>
                <a:ea typeface="Lato"/>
              </a:rPr>
              <a:t>Language,</a:t>
            </a:r>
            <a:r>
              <a:rPr b="0" lang="pt-BR" sz="1350" spc="-1" strike="noStrike">
                <a:solidFill>
                  <a:srgbClr val="5b6b86"/>
                </a:solidFill>
                <a:latin typeface="Lato"/>
                <a:ea typeface="Lato"/>
              </a:rPr>
              <a:t> </a:t>
            </a:r>
            <a:r>
              <a:rPr b="0" lang="pt-BR" sz="1350" spc="-1" strike="noStrike">
                <a:solidFill>
                  <a:srgbClr val="5b6b86"/>
                </a:solidFill>
                <a:latin typeface="Lato"/>
                <a:ea typeface="Lato"/>
              </a:rPr>
              <a:t>selecione  </a:t>
            </a:r>
            <a:r>
              <a:rPr b="1" i="1" lang="pt-BR" sz="1350" spc="-1" strike="noStrike">
                <a:solidFill>
                  <a:srgbClr val="5b6b86"/>
                </a:solidFill>
                <a:latin typeface="Lato"/>
                <a:ea typeface="Lato"/>
              </a:rPr>
              <a:t>Português</a:t>
            </a:r>
            <a:r>
              <a:rPr b="1" i="1" lang="pt-BR" sz="1350" spc="-1" strike="noStrike">
                <a:solidFill>
                  <a:srgbClr val="5b6b86"/>
                </a:solidFill>
                <a:latin typeface="Lato"/>
                <a:ea typeface="Lato"/>
              </a:rPr>
              <a:t> Brasileiro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" descr=""/>
          <p:cNvPicPr/>
          <p:nvPr/>
        </p:nvPicPr>
        <p:blipFill>
          <a:blip r:embed="rId1"/>
          <a:stretch/>
        </p:blipFill>
        <p:spPr>
          <a:xfrm>
            <a:off x="6300000" y="900000"/>
            <a:ext cx="1256040" cy="1260000"/>
          </a:xfrm>
          <a:prstGeom prst="rect">
            <a:avLst/>
          </a:prstGeom>
          <a:ln w="0">
            <a:noFill/>
          </a:ln>
        </p:spPr>
      </p:pic>
      <p:sp>
        <p:nvSpPr>
          <p:cNvPr id="309" name="Text 0"/>
          <p:cNvSpPr/>
          <p:nvPr/>
        </p:nvSpPr>
        <p:spPr>
          <a:xfrm>
            <a:off x="713160" y="896040"/>
            <a:ext cx="99666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  <a:ea typeface="Inter Display"/>
              </a:rPr>
              <a:t>Primeiro programa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Text 1"/>
          <p:cNvSpPr/>
          <p:nvPr/>
        </p:nvSpPr>
        <p:spPr>
          <a:xfrm>
            <a:off x="731520" y="1444680"/>
            <a:ext cx="3948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50" spc="-1" strike="noStrike">
                <a:solidFill>
                  <a:srgbClr val="5b6b86"/>
                </a:solidFill>
                <a:latin typeface="Lato"/>
                <a:ea typeface="Lato"/>
              </a:rPr>
              <a:t>Evento + sequência de ações.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 2"/>
          <p:cNvSpPr/>
          <p:nvPr/>
        </p:nvSpPr>
        <p:spPr>
          <a:xfrm>
            <a:off x="987480" y="193860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50" spc="77" strike="noStrike">
                <a:solidFill>
                  <a:srgbClr val="10b9f3"/>
                </a:solidFill>
                <a:latin typeface="Lato"/>
                <a:ea typeface="Lato"/>
              </a:rPr>
              <a:t>NO SCRATCH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hape 3"/>
          <p:cNvSpPr/>
          <p:nvPr/>
        </p:nvSpPr>
        <p:spPr>
          <a:xfrm>
            <a:off x="969120" y="2322720"/>
            <a:ext cx="3200040" cy="511560"/>
          </a:xfrm>
          <a:prstGeom prst="roundRect">
            <a:avLst>
              <a:gd name="adj" fmla="val 10714"/>
            </a:avLst>
          </a:prstGeom>
          <a:solidFill>
            <a:srgbClr val="f2c94c"/>
          </a:solidFill>
          <a:ln w="7620">
            <a:solidFill>
              <a:srgbClr val="f2c9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 4"/>
          <p:cNvSpPr/>
          <p:nvPr/>
        </p:nvSpPr>
        <p:spPr>
          <a:xfrm>
            <a:off x="1115640" y="2386440"/>
            <a:ext cx="29073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00" spc="-1" strike="noStrike">
                <a:solidFill>
                  <a:srgbClr val="071a4a"/>
                </a:solidFill>
                <a:latin typeface="Lato"/>
                <a:ea typeface="Lato"/>
              </a:rPr>
              <a:t>quando ⚑ clicada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Shape 5"/>
          <p:cNvSpPr/>
          <p:nvPr/>
        </p:nvSpPr>
        <p:spPr>
          <a:xfrm>
            <a:off x="969120" y="2907720"/>
            <a:ext cx="3200040" cy="511560"/>
          </a:xfrm>
          <a:prstGeom prst="roundRect">
            <a:avLst>
              <a:gd name="adj" fmla="val 10714"/>
            </a:avLst>
          </a:prstGeom>
          <a:solidFill>
            <a:srgbClr val="9966ff"/>
          </a:solidFill>
          <a:ln w="7620">
            <a:solidFill>
              <a:srgbClr val="996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Text 6"/>
          <p:cNvSpPr/>
          <p:nvPr/>
        </p:nvSpPr>
        <p:spPr>
          <a:xfrm>
            <a:off x="1115640" y="2971800"/>
            <a:ext cx="29073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00" spc="-1" strike="noStrike">
                <a:solidFill>
                  <a:srgbClr val="ffffff"/>
                </a:solidFill>
                <a:latin typeface="Lato"/>
                <a:ea typeface="Lato"/>
              </a:rPr>
              <a:t>diga “Olá!” por 2 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7"/>
          <p:cNvSpPr/>
          <p:nvPr/>
        </p:nvSpPr>
        <p:spPr>
          <a:xfrm>
            <a:off x="969120" y="3493080"/>
            <a:ext cx="2395440" cy="493560"/>
          </a:xfrm>
          <a:prstGeom prst="roundRect">
            <a:avLst>
              <a:gd name="adj" fmla="val 11111"/>
            </a:avLst>
          </a:prstGeom>
          <a:solidFill>
            <a:srgbClr val="ffab19"/>
          </a:solidFill>
          <a:ln w="7620">
            <a:solidFill>
              <a:srgbClr val="ffab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Text 8"/>
          <p:cNvSpPr/>
          <p:nvPr/>
        </p:nvSpPr>
        <p:spPr>
          <a:xfrm>
            <a:off x="1115640" y="3557160"/>
            <a:ext cx="2102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00" spc="-1" strike="noStrike">
                <a:solidFill>
                  <a:srgbClr val="071a4a"/>
                </a:solidFill>
                <a:latin typeface="Lato"/>
                <a:ea typeface="Lato"/>
              </a:rPr>
              <a:t>espere 1 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Shape 9"/>
          <p:cNvSpPr/>
          <p:nvPr/>
        </p:nvSpPr>
        <p:spPr>
          <a:xfrm>
            <a:off x="969120" y="4060080"/>
            <a:ext cx="3200040" cy="511560"/>
          </a:xfrm>
          <a:prstGeom prst="roundRect">
            <a:avLst>
              <a:gd name="adj" fmla="val 10714"/>
            </a:avLst>
          </a:prstGeom>
          <a:solidFill>
            <a:srgbClr val="9966ff"/>
          </a:solidFill>
          <a:ln w="7620">
            <a:solidFill>
              <a:srgbClr val="996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Text 10"/>
          <p:cNvSpPr/>
          <p:nvPr/>
        </p:nvSpPr>
        <p:spPr>
          <a:xfrm>
            <a:off x="1115640" y="4123800"/>
            <a:ext cx="29073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80" spc="-1" strike="noStrike">
                <a:solidFill>
                  <a:srgbClr val="ffffff"/>
                </a:solidFill>
                <a:latin typeface="Lato"/>
                <a:ea typeface="Lato"/>
              </a:rPr>
              <a:t>diga “Vamos programar!”</a:t>
            </a:r>
            <a:endParaRPr b="0" lang="pt-BR" sz="13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hape 11"/>
          <p:cNvSpPr/>
          <p:nvPr/>
        </p:nvSpPr>
        <p:spPr>
          <a:xfrm>
            <a:off x="5815440" y="2212920"/>
            <a:ext cx="4663080" cy="2559960"/>
          </a:xfrm>
          <a:prstGeom prst="roundRect">
            <a:avLst>
              <a:gd name="adj" fmla="val 2857"/>
            </a:avLst>
          </a:prstGeom>
          <a:solidFill>
            <a:srgbClr val="eef3fa"/>
          </a:solidFill>
          <a:ln w="12700">
            <a:solidFill>
              <a:srgbClr val="d6e1f0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Text 12"/>
          <p:cNvSpPr/>
          <p:nvPr/>
        </p:nvSpPr>
        <p:spPr>
          <a:xfrm>
            <a:off x="6181200" y="2541960"/>
            <a:ext cx="30628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50" spc="-1" strike="noStrike">
                <a:solidFill>
                  <a:srgbClr val="071a4a"/>
                </a:solidFill>
                <a:latin typeface="Inter Display"/>
                <a:ea typeface="Inter Display"/>
              </a:rPr>
              <a:t>Experimento rápido</a:t>
            </a:r>
            <a:endParaRPr b="0" lang="pt-BR" sz="1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Text 13"/>
          <p:cNvSpPr/>
          <p:nvPr/>
        </p:nvSpPr>
        <p:spPr>
          <a:xfrm>
            <a:off x="6181200" y="3072240"/>
            <a:ext cx="36388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530" spc="-1" strike="noStrike">
                <a:solidFill>
                  <a:srgbClr val="14213d"/>
                </a:solidFill>
                <a:latin typeface="Lato"/>
                <a:ea typeface="Lato"/>
              </a:rPr>
              <a:t>Troque a ordem de dois blocos e execute novamente.</a:t>
            </a:r>
            <a:endParaRPr b="0" lang="pt-BR" sz="15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 14"/>
          <p:cNvSpPr/>
          <p:nvPr/>
        </p:nvSpPr>
        <p:spPr>
          <a:xfrm>
            <a:off x="6181200" y="3895200"/>
            <a:ext cx="3611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-1" strike="noStrike">
                <a:solidFill>
                  <a:srgbClr val="10b9f3"/>
                </a:solidFill>
                <a:latin typeface="Inter Display"/>
                <a:ea typeface="Inter Display"/>
              </a:rPr>
              <a:t>O que mudou?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hape 15"/>
          <p:cNvSpPr/>
          <p:nvPr/>
        </p:nvSpPr>
        <p:spPr>
          <a:xfrm>
            <a:off x="6181200" y="4974480"/>
            <a:ext cx="2898360" cy="347040"/>
          </a:xfrm>
          <a:prstGeom prst="roundRect">
            <a:avLst>
              <a:gd name="adj" fmla="val 21053"/>
            </a:avLst>
          </a:prstGeom>
          <a:solidFill>
            <a:srgbClr val="071a4a"/>
          </a:solidFill>
          <a:ln w="12700">
            <a:solidFill>
              <a:srgbClr val="071a4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Text 16"/>
          <p:cNvSpPr/>
          <p:nvPr/>
        </p:nvSpPr>
        <p:spPr>
          <a:xfrm>
            <a:off x="6254640" y="5038200"/>
            <a:ext cx="2751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30" spc="-1" strike="noStrike">
                <a:solidFill>
                  <a:srgbClr val="ffffff"/>
                </a:solidFill>
                <a:latin typeface="Lato"/>
                <a:ea typeface="Lato"/>
              </a:rPr>
              <a:t>ORDEM = COMPORTAMENTO</a:t>
            </a:r>
            <a:endParaRPr b="0" lang="pt-BR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PlaceHolder 1"/>
          <p:cNvSpPr>
            <a:spLocks noGrp="1"/>
          </p:cNvSpPr>
          <p:nvPr>
            <p:ph type="sldNum" idx="17"/>
          </p:nvPr>
        </p:nvSpPr>
        <p:spPr>
          <a:xfrm>
            <a:off x="11283840" y="644652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850" spc="-1" strike="noStrike">
                <a:solidFill>
                  <a:srgbClr val="7a879d"/>
                </a:solidFill>
                <a:latin typeface="Lato"/>
                <a:ea typeface="La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C06685-08A5-473C-B43D-6A9D1C40D198}" type="slidenum">
              <a:rPr b="0" lang="pt-BR" sz="850" spc="-1" strike="noStrike">
                <a:solidFill>
                  <a:srgbClr val="7a879d"/>
                </a:solidFill>
                <a:latin typeface="Lato"/>
                <a:ea typeface="Lato"/>
              </a:rPr>
              <a:t>12</a:t>
            </a:fld>
            <a:endParaRPr b="0" lang="pt-BR" sz="85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27" name="" descr=""/>
          <p:cNvPicPr/>
          <p:nvPr/>
        </p:nvPicPr>
        <p:blipFill>
          <a:blip r:embed="rId2"/>
          <a:stretch/>
        </p:blipFill>
        <p:spPr>
          <a:xfrm>
            <a:off x="1620000" y="4943160"/>
            <a:ext cx="647280" cy="456840"/>
          </a:xfrm>
          <a:prstGeom prst="rect">
            <a:avLst/>
          </a:prstGeom>
          <a:ln w="0">
            <a:noFill/>
          </a:ln>
        </p:spPr>
      </p:pic>
      <p:sp>
        <p:nvSpPr>
          <p:cNvPr id="328" name=""/>
          <p:cNvSpPr txBox="1"/>
          <p:nvPr/>
        </p:nvSpPr>
        <p:spPr>
          <a:xfrm>
            <a:off x="2340000" y="4991400"/>
            <a:ext cx="1440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Executar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9" name="" descr=""/>
          <p:cNvPicPr/>
          <p:nvPr/>
        </p:nvPicPr>
        <p:blipFill>
          <a:blip r:embed="rId3"/>
          <a:stretch/>
        </p:blipFill>
        <p:spPr>
          <a:xfrm>
            <a:off x="1620000" y="5483160"/>
            <a:ext cx="647280" cy="456840"/>
          </a:xfrm>
          <a:prstGeom prst="rect">
            <a:avLst/>
          </a:prstGeom>
          <a:ln w="0">
            <a:noFill/>
          </a:ln>
        </p:spPr>
      </p:pic>
      <p:sp>
        <p:nvSpPr>
          <p:cNvPr id="330" name=""/>
          <p:cNvSpPr txBox="1"/>
          <p:nvPr/>
        </p:nvSpPr>
        <p:spPr>
          <a:xfrm>
            <a:off x="2340000" y="5531400"/>
            <a:ext cx="1440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Parar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1" name="" descr=""/>
          <p:cNvPicPr/>
          <p:nvPr/>
        </p:nvPicPr>
        <p:blipFill>
          <a:blip r:embed="rId4"/>
          <a:stretch/>
        </p:blipFill>
        <p:spPr>
          <a:xfrm>
            <a:off x="8460000" y="900000"/>
            <a:ext cx="1652760" cy="1260000"/>
          </a:xfrm>
          <a:prstGeom prst="rect">
            <a:avLst/>
          </a:prstGeom>
          <a:ln w="0">
            <a:noFill/>
          </a:ln>
        </p:spPr>
      </p:pic>
      <p:sp>
        <p:nvSpPr>
          <p:cNvPr id="332" name=""/>
          <p:cNvSpPr/>
          <p:nvPr/>
        </p:nvSpPr>
        <p:spPr>
          <a:xfrm>
            <a:off x="7740000" y="1425960"/>
            <a:ext cx="540000" cy="374040"/>
          </a:xfrm>
          <a:custGeom>
            <a:avLst/>
            <a:gdLst>
              <a:gd name="textAreaLeft" fmla="*/ 99720 w 540000"/>
              <a:gd name="textAreaRight" fmla="*/ 454680 w 540000"/>
              <a:gd name="textAreaTop" fmla="*/ 110880 h 374040"/>
              <a:gd name="textAreaBottom" fmla="*/ 263160 h 374040"/>
            </a:gdLst>
            <a:ahLst/>
            <a:rect l="textAreaLeft" t="textAreaTop" r="textAreaRight" b="textAreaBottom"/>
            <a:pathLst>
              <a:path w="21600" h="21800">
                <a:moveTo>
                  <a:pt x="13200" y="0"/>
                </a:moveTo>
                <a:lnTo>
                  <a:pt x="21600" y="10800"/>
                </a:lnTo>
                <a:lnTo>
                  <a:pt x="13200" y="21800"/>
                </a:lnTo>
                <a:lnTo>
                  <a:pt x="13200" y="15200"/>
                </a:lnTo>
                <a:lnTo>
                  <a:pt x="4000" y="15200"/>
                </a:lnTo>
                <a:lnTo>
                  <a:pt x="4000" y="6400"/>
                </a:lnTo>
                <a:lnTo>
                  <a:pt x="13200" y="6400"/>
                </a:lnTo>
                <a:lnTo>
                  <a:pt x="13200" y="0"/>
                </a:lnTo>
                <a:moveTo>
                  <a:pt x="0" y="6400"/>
                </a:moveTo>
                <a:lnTo>
                  <a:pt x="0" y="15200"/>
                </a:lnTo>
                <a:lnTo>
                  <a:pt x="1000" y="15200"/>
                </a:lnTo>
                <a:lnTo>
                  <a:pt x="1000" y="6400"/>
                </a:lnTo>
                <a:lnTo>
                  <a:pt x="0" y="6400"/>
                </a:lnTo>
                <a:moveTo>
                  <a:pt x="2000" y="6400"/>
                </a:moveTo>
                <a:lnTo>
                  <a:pt x="2000" y="15200"/>
                </a:lnTo>
                <a:lnTo>
                  <a:pt x="3000" y="15200"/>
                </a:lnTo>
                <a:lnTo>
                  <a:pt x="3000" y="6400"/>
                </a:lnTo>
                <a:lnTo>
                  <a:pt x="2000" y="64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7740000" y="1080000"/>
            <a:ext cx="54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1 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6300000" y="913680"/>
            <a:ext cx="54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 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ext 0"/>
          <p:cNvSpPr/>
          <p:nvPr/>
        </p:nvSpPr>
        <p:spPr>
          <a:xfrm>
            <a:off x="713160" y="896040"/>
            <a:ext cx="99666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  <a:ea typeface="Inter Display"/>
              </a:rPr>
              <a:t>O que é uma variável?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 1"/>
          <p:cNvSpPr/>
          <p:nvPr/>
        </p:nvSpPr>
        <p:spPr>
          <a:xfrm>
            <a:off x="731520" y="1444680"/>
            <a:ext cx="9692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50" spc="-1" strike="noStrike">
                <a:solidFill>
                  <a:srgbClr val="5b6b86"/>
                </a:solidFill>
                <a:latin typeface="Lato"/>
                <a:ea typeface="Lato"/>
              </a:rPr>
              <a:t>Uma “caixa com nome” cujo conteúdo pode mudar durante a execução.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Shape 2"/>
          <p:cNvSpPr/>
          <p:nvPr/>
        </p:nvSpPr>
        <p:spPr>
          <a:xfrm>
            <a:off x="1005840" y="2194560"/>
            <a:ext cx="4297320" cy="2605680"/>
          </a:xfrm>
          <a:prstGeom prst="roundRect">
            <a:avLst>
              <a:gd name="adj" fmla="val 2807"/>
            </a:avLst>
          </a:prstGeom>
          <a:solidFill>
            <a:srgbClr val="fff7ec"/>
          </a:solidFill>
          <a:ln w="12700">
            <a:solidFill>
              <a:srgbClr val="f8d8b3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Text 3"/>
          <p:cNvSpPr/>
          <p:nvPr/>
        </p:nvSpPr>
        <p:spPr>
          <a:xfrm>
            <a:off x="1334880" y="2560320"/>
            <a:ext cx="2331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50" spc="77" strike="noStrike">
                <a:solidFill>
                  <a:srgbClr val="f36b21"/>
                </a:solidFill>
                <a:latin typeface="Lato"/>
                <a:ea typeface="Lato"/>
              </a:rPr>
              <a:t>NOME DA VARIÁVEL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ext 4"/>
          <p:cNvSpPr/>
          <p:nvPr/>
        </p:nvSpPr>
        <p:spPr>
          <a:xfrm>
            <a:off x="1334880" y="2944440"/>
            <a:ext cx="33372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71a4a"/>
                </a:solidFill>
                <a:latin typeface="DejaVu Sans Mono"/>
                <a:ea typeface="DejaVu Sans Mono"/>
              </a:rPr>
              <a:t>valorSensor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Shape 5"/>
          <p:cNvSpPr/>
          <p:nvPr/>
        </p:nvSpPr>
        <p:spPr>
          <a:xfrm>
            <a:off x="1828800" y="3767400"/>
            <a:ext cx="2422800" cy="68544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25400">
            <a:solidFill>
              <a:srgbClr val="f36b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 6"/>
          <p:cNvSpPr/>
          <p:nvPr/>
        </p:nvSpPr>
        <p:spPr>
          <a:xfrm>
            <a:off x="1828800" y="3895200"/>
            <a:ext cx="242280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500" spc="-1" strike="noStrike">
                <a:solidFill>
                  <a:srgbClr val="f36b21"/>
                </a:solidFill>
                <a:latin typeface="Inter Display"/>
                <a:ea typeface="Inter Display"/>
              </a:rPr>
              <a:t>20</a:t>
            </a:r>
            <a:endParaRPr b="0" lang="pt-BR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Shape 7"/>
          <p:cNvSpPr/>
          <p:nvPr/>
        </p:nvSpPr>
        <p:spPr>
          <a:xfrm>
            <a:off x="5623560" y="3584160"/>
            <a:ext cx="822960" cy="360"/>
          </a:xfrm>
          <a:prstGeom prst="line">
            <a:avLst/>
          </a:prstGeom>
          <a:ln w="33020">
            <a:solidFill>
              <a:srgbClr val="071a4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Shape 8"/>
          <p:cNvSpPr/>
          <p:nvPr/>
        </p:nvSpPr>
        <p:spPr>
          <a:xfrm>
            <a:off x="6784920" y="2194560"/>
            <a:ext cx="4297320" cy="26056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1e7f0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 9"/>
          <p:cNvSpPr/>
          <p:nvPr/>
        </p:nvSpPr>
        <p:spPr>
          <a:xfrm>
            <a:off x="7095600" y="2788920"/>
            <a:ext cx="36756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500" spc="-1" strike="noStrike">
                <a:solidFill>
                  <a:srgbClr val="071a4a"/>
                </a:solidFill>
                <a:latin typeface="Inter Display"/>
                <a:ea typeface="Inter Display"/>
              </a:rPr>
              <a:t>20  →  50  →  90</a:t>
            </a:r>
            <a:endParaRPr b="0" lang="pt-BR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 10"/>
          <p:cNvSpPr/>
          <p:nvPr/>
        </p:nvSpPr>
        <p:spPr>
          <a:xfrm>
            <a:off x="7095600" y="3557160"/>
            <a:ext cx="36846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700" spc="-1" strike="noStrike">
                <a:solidFill>
                  <a:srgbClr val="5b6b86"/>
                </a:solidFill>
                <a:latin typeface="Lato"/>
                <a:ea typeface="Lato"/>
              </a:rPr>
              <a:t>O nome continua igual.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700" spc="-1" strike="noStrike">
                <a:solidFill>
                  <a:srgbClr val="5b6b86"/>
                </a:solidFill>
                <a:latin typeface="Lato"/>
                <a:ea typeface="Lato"/>
              </a:rPr>
              <a:t>O valor muda.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Text 11"/>
          <p:cNvSpPr/>
          <p:nvPr/>
        </p:nvSpPr>
        <p:spPr>
          <a:xfrm>
            <a:off x="1682640" y="5212080"/>
            <a:ext cx="882360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50" spc="-1" strike="noStrike">
                <a:solidFill>
                  <a:srgbClr val="5b6b86"/>
                </a:solidFill>
                <a:latin typeface="Lato"/>
                <a:ea typeface="Lato"/>
              </a:rPr>
              <a:t>Definição técnica: nome associado a um valor que pode ser consultado ou alterado durante a execução.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PlaceHolder 1"/>
          <p:cNvSpPr>
            <a:spLocks noGrp="1"/>
          </p:cNvSpPr>
          <p:nvPr>
            <p:ph type="sldNum" idx="18"/>
          </p:nvPr>
        </p:nvSpPr>
        <p:spPr>
          <a:xfrm>
            <a:off x="11283840" y="644652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850" spc="-1" strike="noStrike">
                <a:solidFill>
                  <a:srgbClr val="7a879d"/>
                </a:solidFill>
                <a:latin typeface="Lato"/>
                <a:ea typeface="La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99F257-0B86-4C3E-9DEB-B2DF7D004468}" type="slidenum">
              <a:rPr b="0" lang="pt-BR" sz="850" spc="-1" strike="noStrike">
                <a:solidFill>
                  <a:srgbClr val="7a879d"/>
                </a:solidFill>
                <a:latin typeface="Lato"/>
                <a:ea typeface="Lato"/>
              </a:rPr>
              <a:t>13</a:t>
            </a:fld>
            <a:endParaRPr b="0" lang="pt-BR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Text 0"/>
          <p:cNvSpPr/>
          <p:nvPr/>
        </p:nvSpPr>
        <p:spPr>
          <a:xfrm>
            <a:off x="713160" y="896040"/>
            <a:ext cx="99666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  <a:ea typeface="Inter Display"/>
              </a:rPr>
              <a:t>Nossa variável: valorSensor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Text 1"/>
          <p:cNvSpPr/>
          <p:nvPr/>
        </p:nvSpPr>
        <p:spPr>
          <a:xfrm>
            <a:off x="731520" y="1444680"/>
            <a:ext cx="9692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50" spc="-1" strike="noStrike">
                <a:solidFill>
                  <a:srgbClr val="5b6b86"/>
                </a:solidFill>
                <a:latin typeface="Lato"/>
                <a:ea typeface="Lato"/>
              </a:rPr>
              <a:t>O mesmo nome vai receber diferentes leituras sintéticas.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Shape 2"/>
          <p:cNvSpPr/>
          <p:nvPr/>
        </p:nvSpPr>
        <p:spPr>
          <a:xfrm>
            <a:off x="951120" y="2103120"/>
            <a:ext cx="2468520" cy="2194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7f0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Text 3"/>
          <p:cNvSpPr/>
          <p:nvPr/>
        </p:nvSpPr>
        <p:spPr>
          <a:xfrm>
            <a:off x="1170360" y="2377440"/>
            <a:ext cx="1554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50" spc="77" strike="noStrike">
                <a:solidFill>
                  <a:srgbClr val="10b9f3"/>
                </a:solidFill>
                <a:latin typeface="Lato"/>
                <a:ea typeface="Lato"/>
              </a:rPr>
              <a:t>EXECUÇÃO 1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 4"/>
          <p:cNvSpPr/>
          <p:nvPr/>
        </p:nvSpPr>
        <p:spPr>
          <a:xfrm>
            <a:off x="1170360" y="288036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70" spc="-1" strike="noStrike">
                <a:solidFill>
                  <a:srgbClr val="5b6b86"/>
                </a:solidFill>
                <a:latin typeface="DejaVu Sans Mono"/>
                <a:ea typeface="DejaVu Sans Mono"/>
              </a:rPr>
              <a:t>valorSensor =</a:t>
            </a:r>
            <a:endParaRPr b="0" lang="pt-BR" sz="1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Text 5"/>
          <p:cNvSpPr/>
          <p:nvPr/>
        </p:nvSpPr>
        <p:spPr>
          <a:xfrm>
            <a:off x="1170360" y="3273480"/>
            <a:ext cx="2011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3200" spc="-1" strike="noStrike">
                <a:solidFill>
                  <a:srgbClr val="10b9f3"/>
                </a:solidFill>
                <a:latin typeface="Inter Display"/>
                <a:ea typeface="Inter Display"/>
              </a:rPr>
              <a:t>20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Shape 6"/>
          <p:cNvSpPr/>
          <p:nvPr/>
        </p:nvSpPr>
        <p:spPr>
          <a:xfrm>
            <a:off x="3996000" y="2103120"/>
            <a:ext cx="2468520" cy="2194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7f0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Text 7"/>
          <p:cNvSpPr/>
          <p:nvPr/>
        </p:nvSpPr>
        <p:spPr>
          <a:xfrm>
            <a:off x="4215240" y="2377440"/>
            <a:ext cx="1554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50" spc="77" strike="noStrike">
                <a:solidFill>
                  <a:srgbClr val="f36b21"/>
                </a:solidFill>
                <a:latin typeface="Lato"/>
                <a:ea typeface="Lato"/>
              </a:rPr>
              <a:t>EXECUÇÃO 2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Text 8"/>
          <p:cNvSpPr/>
          <p:nvPr/>
        </p:nvSpPr>
        <p:spPr>
          <a:xfrm>
            <a:off x="4215240" y="288036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70" spc="-1" strike="noStrike">
                <a:solidFill>
                  <a:srgbClr val="5b6b86"/>
                </a:solidFill>
                <a:latin typeface="DejaVu Sans Mono"/>
                <a:ea typeface="DejaVu Sans Mono"/>
              </a:rPr>
              <a:t>valorSensor =</a:t>
            </a:r>
            <a:endParaRPr b="0" lang="pt-BR" sz="1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Text 9"/>
          <p:cNvSpPr/>
          <p:nvPr/>
        </p:nvSpPr>
        <p:spPr>
          <a:xfrm>
            <a:off x="4215240" y="3273480"/>
            <a:ext cx="2011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3200" spc="-1" strike="noStrike">
                <a:solidFill>
                  <a:srgbClr val="f36b21"/>
                </a:solidFill>
                <a:latin typeface="Inter Display"/>
                <a:ea typeface="Inter Display"/>
              </a:rPr>
              <a:t>50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Shape 10"/>
          <p:cNvSpPr/>
          <p:nvPr/>
        </p:nvSpPr>
        <p:spPr>
          <a:xfrm>
            <a:off x="7040880" y="2103120"/>
            <a:ext cx="2468520" cy="2194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7f0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Text 11"/>
          <p:cNvSpPr/>
          <p:nvPr/>
        </p:nvSpPr>
        <p:spPr>
          <a:xfrm>
            <a:off x="7260480" y="2377440"/>
            <a:ext cx="1554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50" spc="77" strike="noStrike">
                <a:solidFill>
                  <a:srgbClr val="e72b76"/>
                </a:solidFill>
                <a:latin typeface="Lato"/>
                <a:ea typeface="Lato"/>
              </a:rPr>
              <a:t>EXECUÇÃO 3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Text 12"/>
          <p:cNvSpPr/>
          <p:nvPr/>
        </p:nvSpPr>
        <p:spPr>
          <a:xfrm>
            <a:off x="7260480" y="288036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70" spc="-1" strike="noStrike">
                <a:solidFill>
                  <a:srgbClr val="5b6b86"/>
                </a:solidFill>
                <a:latin typeface="DejaVu Sans Mono"/>
                <a:ea typeface="DejaVu Sans Mono"/>
              </a:rPr>
              <a:t>valorSensor =</a:t>
            </a:r>
            <a:endParaRPr b="0" lang="pt-BR" sz="1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Text 13"/>
          <p:cNvSpPr/>
          <p:nvPr/>
        </p:nvSpPr>
        <p:spPr>
          <a:xfrm>
            <a:off x="7260480" y="3273480"/>
            <a:ext cx="2011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3200" spc="-1" strike="noStrike">
                <a:solidFill>
                  <a:srgbClr val="e72b76"/>
                </a:solidFill>
                <a:latin typeface="Inter Display"/>
                <a:ea typeface="Inter Display"/>
              </a:rPr>
              <a:t>90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Shape 14"/>
          <p:cNvSpPr/>
          <p:nvPr/>
        </p:nvSpPr>
        <p:spPr>
          <a:xfrm>
            <a:off x="10040040" y="2103120"/>
            <a:ext cx="1389600" cy="2194200"/>
          </a:xfrm>
          <a:prstGeom prst="roundRect">
            <a:avLst>
              <a:gd name="adj" fmla="val 5263"/>
            </a:avLst>
          </a:prstGeom>
          <a:solidFill>
            <a:srgbClr val="eef3fa"/>
          </a:solidFill>
          <a:ln w="12700">
            <a:solidFill>
              <a:srgbClr val="d6e1f0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Text 15"/>
          <p:cNvSpPr/>
          <p:nvPr/>
        </p:nvSpPr>
        <p:spPr>
          <a:xfrm>
            <a:off x="10222920" y="2468880"/>
            <a:ext cx="1005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71a4a"/>
                </a:solidFill>
                <a:latin typeface="Inter Display"/>
                <a:ea typeface="Inter Display"/>
              </a:rPr>
              <a:t>Por que?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Shape 16"/>
          <p:cNvSpPr/>
          <p:nvPr/>
        </p:nvSpPr>
        <p:spPr>
          <a:xfrm>
            <a:off x="10177200" y="2953440"/>
            <a:ext cx="1096920" cy="347040"/>
          </a:xfrm>
          <a:prstGeom prst="roundRect">
            <a:avLst>
              <a:gd name="adj" fmla="val 21053"/>
            </a:avLst>
          </a:prstGeom>
          <a:solidFill>
            <a:srgbClr val="dceaf8"/>
          </a:solidFill>
          <a:ln w="12700">
            <a:solidFill>
              <a:srgbClr val="dceaf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Text 17"/>
          <p:cNvSpPr/>
          <p:nvPr/>
        </p:nvSpPr>
        <p:spPr>
          <a:xfrm>
            <a:off x="10250280" y="3017520"/>
            <a:ext cx="950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50" spc="-1" strike="noStrike">
                <a:solidFill>
                  <a:srgbClr val="071a4a"/>
                </a:solidFill>
                <a:latin typeface="Lato"/>
                <a:ea typeface="Lato"/>
              </a:rPr>
              <a:t>clareza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Shape 18"/>
          <p:cNvSpPr/>
          <p:nvPr/>
        </p:nvSpPr>
        <p:spPr>
          <a:xfrm>
            <a:off x="10177200" y="3346560"/>
            <a:ext cx="1096920" cy="347040"/>
          </a:xfrm>
          <a:prstGeom prst="roundRect">
            <a:avLst>
              <a:gd name="adj" fmla="val 21053"/>
            </a:avLst>
          </a:prstGeom>
          <a:solidFill>
            <a:srgbClr val="dceaf8"/>
          </a:solidFill>
          <a:ln w="12700">
            <a:solidFill>
              <a:srgbClr val="dceaf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Text 19"/>
          <p:cNvSpPr/>
          <p:nvPr/>
        </p:nvSpPr>
        <p:spPr>
          <a:xfrm>
            <a:off x="10250280" y="3410640"/>
            <a:ext cx="950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50" spc="-1" strike="noStrike">
                <a:solidFill>
                  <a:srgbClr val="071a4a"/>
                </a:solidFill>
                <a:latin typeface="Lato"/>
                <a:ea typeface="Lato"/>
              </a:rPr>
              <a:t>reuso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Shape 20"/>
          <p:cNvSpPr/>
          <p:nvPr/>
        </p:nvSpPr>
        <p:spPr>
          <a:xfrm>
            <a:off x="10177200" y="3740040"/>
            <a:ext cx="1096920" cy="347040"/>
          </a:xfrm>
          <a:prstGeom prst="roundRect">
            <a:avLst>
              <a:gd name="adj" fmla="val 21053"/>
            </a:avLst>
          </a:prstGeom>
          <a:solidFill>
            <a:srgbClr val="dceaf8"/>
          </a:solidFill>
          <a:ln w="12700">
            <a:solidFill>
              <a:srgbClr val="dceaf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Text 21"/>
          <p:cNvSpPr/>
          <p:nvPr/>
        </p:nvSpPr>
        <p:spPr>
          <a:xfrm>
            <a:off x="10250280" y="3803760"/>
            <a:ext cx="950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50" spc="-1" strike="noStrike">
                <a:solidFill>
                  <a:srgbClr val="071a4a"/>
                </a:solidFill>
                <a:latin typeface="Lato"/>
                <a:ea typeface="Lato"/>
              </a:rPr>
              <a:t>decisão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Text 22"/>
          <p:cNvSpPr/>
          <p:nvPr/>
        </p:nvSpPr>
        <p:spPr>
          <a:xfrm>
            <a:off x="1865520" y="4965120"/>
            <a:ext cx="8457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40" spc="-1" strike="noStrike">
                <a:solidFill>
                  <a:srgbClr val="071a4a"/>
                </a:solidFill>
                <a:latin typeface="Lato"/>
                <a:ea typeface="Lato"/>
              </a:rPr>
              <a:t>Observe o valor no palco e confirme que ele é atualizado.</a:t>
            </a:r>
            <a:endParaRPr b="0" lang="pt-BR" sz="14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PlaceHolder 1"/>
          <p:cNvSpPr>
            <a:spLocks noGrp="1"/>
          </p:cNvSpPr>
          <p:nvPr>
            <p:ph type="sldNum" idx="19"/>
          </p:nvPr>
        </p:nvSpPr>
        <p:spPr>
          <a:xfrm>
            <a:off x="11283840" y="644652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850" spc="-1" strike="noStrike">
                <a:solidFill>
                  <a:srgbClr val="7a879d"/>
                </a:solidFill>
                <a:latin typeface="Lato"/>
                <a:ea typeface="La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6AFC3A-C891-43B6-B9BA-13808ACE785F}" type="slidenum">
              <a:rPr b="0" lang="pt-BR" sz="850" spc="-1" strike="noStrike">
                <a:solidFill>
                  <a:srgbClr val="7a879d"/>
                </a:solidFill>
                <a:latin typeface="Lato"/>
                <a:ea typeface="Lato"/>
              </a:rPr>
              <a:t>14</a:t>
            </a:fld>
            <a:endParaRPr b="0" lang="pt-BR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Text 0"/>
          <p:cNvSpPr/>
          <p:nvPr/>
        </p:nvSpPr>
        <p:spPr>
          <a:xfrm>
            <a:off x="713160" y="896040"/>
            <a:ext cx="99666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  <a:ea typeface="Inter Display"/>
              </a:rPr>
              <a:t>Recebendo dados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Text 1"/>
          <p:cNvSpPr/>
          <p:nvPr/>
        </p:nvSpPr>
        <p:spPr>
          <a:xfrm>
            <a:off x="731520" y="1444680"/>
            <a:ext cx="9692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50" spc="-1" strike="noStrike">
                <a:solidFill>
                  <a:srgbClr val="5b6b86"/>
                </a:solidFill>
                <a:latin typeface="Lato"/>
                <a:ea typeface="Lato"/>
              </a:rPr>
              <a:t>Perguntar → resposta → definir variável.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Shape 6"/>
          <p:cNvSpPr/>
          <p:nvPr/>
        </p:nvSpPr>
        <p:spPr>
          <a:xfrm>
            <a:off x="6711840" y="2194560"/>
            <a:ext cx="4205880" cy="230400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1e7f0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Text 7"/>
          <p:cNvSpPr/>
          <p:nvPr/>
        </p:nvSpPr>
        <p:spPr>
          <a:xfrm>
            <a:off x="6986160" y="246888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50" spc="77" strike="noStrike">
                <a:solidFill>
                  <a:srgbClr val="10b9f3"/>
                </a:solidFill>
                <a:latin typeface="Lato"/>
                <a:ea typeface="Lato"/>
              </a:rPr>
              <a:t>FLUXO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hape 8"/>
          <p:cNvSpPr/>
          <p:nvPr/>
        </p:nvSpPr>
        <p:spPr>
          <a:xfrm>
            <a:off x="6986160" y="2971800"/>
            <a:ext cx="959760" cy="347040"/>
          </a:xfrm>
          <a:prstGeom prst="roundRect">
            <a:avLst>
              <a:gd name="adj" fmla="val 21053"/>
            </a:avLst>
          </a:prstGeom>
          <a:solidFill>
            <a:srgbClr val="10b9f3"/>
          </a:solidFill>
          <a:ln w="12700">
            <a:solidFill>
              <a:srgbClr val="10b9f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Text 9"/>
          <p:cNvSpPr/>
          <p:nvPr/>
        </p:nvSpPr>
        <p:spPr>
          <a:xfrm>
            <a:off x="7059240" y="3035880"/>
            <a:ext cx="813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20" spc="-1" strike="noStrike">
                <a:solidFill>
                  <a:srgbClr val="ffffff"/>
                </a:solidFill>
                <a:latin typeface="Lato"/>
                <a:ea typeface="Lato"/>
              </a:rPr>
              <a:t>perguntar</a:t>
            </a:r>
            <a:endParaRPr b="0" lang="pt-BR" sz="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Text 10"/>
          <p:cNvSpPr/>
          <p:nvPr/>
        </p:nvSpPr>
        <p:spPr>
          <a:xfrm>
            <a:off x="7936920" y="3026520"/>
            <a:ext cx="20088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00" spc="-1" strike="noStrike">
                <a:solidFill>
                  <a:srgbClr val="071a4a"/>
                </a:solidFill>
                <a:latin typeface="Lato"/>
                <a:ea typeface="Lato"/>
              </a:rPr>
              <a:t>→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Shape 11"/>
          <p:cNvSpPr/>
          <p:nvPr/>
        </p:nvSpPr>
        <p:spPr>
          <a:xfrm>
            <a:off x="8110800" y="2971800"/>
            <a:ext cx="959760" cy="347040"/>
          </a:xfrm>
          <a:prstGeom prst="roundRect">
            <a:avLst>
              <a:gd name="adj" fmla="val 21053"/>
            </a:avLst>
          </a:prstGeom>
          <a:solidFill>
            <a:srgbClr val="f36b21"/>
          </a:solidFill>
          <a:ln w="12700">
            <a:solidFill>
              <a:srgbClr val="f36b2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0" name="Text 12"/>
          <p:cNvSpPr/>
          <p:nvPr/>
        </p:nvSpPr>
        <p:spPr>
          <a:xfrm>
            <a:off x="8183880" y="3035880"/>
            <a:ext cx="813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20" spc="-1" strike="noStrike">
                <a:solidFill>
                  <a:srgbClr val="ffffff"/>
                </a:solidFill>
                <a:latin typeface="Lato"/>
                <a:ea typeface="Lato"/>
              </a:rPr>
              <a:t>resposta</a:t>
            </a:r>
            <a:endParaRPr b="0" lang="pt-BR" sz="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Text 13"/>
          <p:cNvSpPr/>
          <p:nvPr/>
        </p:nvSpPr>
        <p:spPr>
          <a:xfrm>
            <a:off x="9061560" y="3026520"/>
            <a:ext cx="20088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00" spc="-1" strike="noStrike">
                <a:solidFill>
                  <a:srgbClr val="071a4a"/>
                </a:solidFill>
                <a:latin typeface="Lato"/>
                <a:ea typeface="Lato"/>
              </a:rPr>
              <a:t>→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Shape 14"/>
          <p:cNvSpPr/>
          <p:nvPr/>
        </p:nvSpPr>
        <p:spPr>
          <a:xfrm>
            <a:off x="9235440" y="2971800"/>
            <a:ext cx="959760" cy="347040"/>
          </a:xfrm>
          <a:prstGeom prst="roundRect">
            <a:avLst>
              <a:gd name="adj" fmla="val 21053"/>
            </a:avLst>
          </a:prstGeom>
          <a:solidFill>
            <a:srgbClr val="e72b76"/>
          </a:solidFill>
          <a:ln w="12700">
            <a:solidFill>
              <a:srgbClr val="e72b7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Text 15"/>
          <p:cNvSpPr/>
          <p:nvPr/>
        </p:nvSpPr>
        <p:spPr>
          <a:xfrm>
            <a:off x="9308520" y="3035880"/>
            <a:ext cx="813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20" spc="-1" strike="noStrike">
                <a:solidFill>
                  <a:srgbClr val="ffffff"/>
                </a:solidFill>
                <a:latin typeface="Lato"/>
                <a:ea typeface="Lato"/>
              </a:rPr>
              <a:t>valorSensor</a:t>
            </a:r>
            <a:endParaRPr b="0" lang="pt-BR" sz="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Text 16"/>
          <p:cNvSpPr/>
          <p:nvPr/>
        </p:nvSpPr>
        <p:spPr>
          <a:xfrm>
            <a:off x="6986160" y="3785760"/>
            <a:ext cx="347436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20" spc="-1" strike="noStrike">
                <a:solidFill>
                  <a:srgbClr val="071a4a"/>
                </a:solidFill>
                <a:latin typeface="Lato"/>
                <a:ea typeface="Lato"/>
              </a:rPr>
              <a:t>Teste com 20, 50 e 90.</a:t>
            </a:r>
            <a:endParaRPr b="0" lang="pt-BR" sz="14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Text 18"/>
          <p:cNvSpPr/>
          <p:nvPr/>
        </p:nvSpPr>
        <p:spPr>
          <a:xfrm>
            <a:off x="900000" y="4680000"/>
            <a:ext cx="9697680" cy="9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-1" strike="noStrike">
                <a:solidFill>
                  <a:srgbClr val="071a4a"/>
                </a:solidFill>
                <a:latin typeface="Lato"/>
                <a:ea typeface="Lato"/>
              </a:rPr>
              <a:t>Rode e clique no bloco para aparecer o quadro para colocara resposta.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-1" strike="noStrike">
                <a:solidFill>
                  <a:srgbClr val="071a4a"/>
                </a:solidFill>
                <a:latin typeface="Lato"/>
                <a:ea typeface="Lato"/>
              </a:rPr>
              <a:t>A “resposta” é a última entrada; a variável torna o dado explícito e reutilizável.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PlaceHolder 1"/>
          <p:cNvSpPr>
            <a:spLocks noGrp="1"/>
          </p:cNvSpPr>
          <p:nvPr>
            <p:ph type="sldNum" idx="20"/>
          </p:nvPr>
        </p:nvSpPr>
        <p:spPr>
          <a:xfrm>
            <a:off x="11283840" y="644652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850" spc="-1" strike="noStrike">
                <a:solidFill>
                  <a:srgbClr val="7a879d"/>
                </a:solidFill>
                <a:latin typeface="Lato"/>
                <a:ea typeface="La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EFAAD3-3ED6-4057-A235-275B74418DDC}" type="slidenum">
              <a:rPr b="0" lang="pt-BR" sz="850" spc="-1" strike="noStrike">
                <a:solidFill>
                  <a:srgbClr val="7a879d"/>
                </a:solidFill>
                <a:latin typeface="Lato"/>
                <a:ea typeface="Lato"/>
              </a:rPr>
              <a:t>15</a:t>
            </a:fld>
            <a:endParaRPr b="0" lang="pt-BR" sz="85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87" name="" descr=""/>
          <p:cNvPicPr/>
          <p:nvPr/>
        </p:nvPicPr>
        <p:blipFill>
          <a:blip r:embed="rId1"/>
          <a:stretch/>
        </p:blipFill>
        <p:spPr>
          <a:xfrm>
            <a:off x="865440" y="2379240"/>
            <a:ext cx="4714560" cy="1580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Text 0"/>
          <p:cNvSpPr/>
          <p:nvPr/>
        </p:nvSpPr>
        <p:spPr>
          <a:xfrm>
            <a:off x="713160" y="896040"/>
            <a:ext cx="99666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  <a:ea typeface="Inter Display"/>
              </a:rPr>
              <a:t>Operadores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Text 1"/>
          <p:cNvSpPr/>
          <p:nvPr/>
        </p:nvSpPr>
        <p:spPr>
          <a:xfrm>
            <a:off x="731520" y="1444680"/>
            <a:ext cx="9692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50" spc="-1" strike="noStrike">
                <a:solidFill>
                  <a:srgbClr val="5b6b86"/>
                </a:solidFill>
                <a:latin typeface="Lato"/>
                <a:ea typeface="Lato"/>
              </a:rPr>
              <a:t>Eles produzem valores que podem alimentar outros blocos.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Shape 2"/>
          <p:cNvSpPr/>
          <p:nvPr/>
        </p:nvSpPr>
        <p:spPr>
          <a:xfrm>
            <a:off x="960120" y="2084760"/>
            <a:ext cx="4644720" cy="2907360"/>
          </a:xfrm>
          <a:prstGeom prst="roundRect">
            <a:avLst>
              <a:gd name="adj" fmla="val 2516"/>
            </a:avLst>
          </a:prstGeom>
          <a:solidFill>
            <a:srgbClr val="f0faf1"/>
          </a:solidFill>
          <a:ln w="12700">
            <a:solidFill>
              <a:srgbClr val="cdead2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Text 3"/>
          <p:cNvSpPr/>
          <p:nvPr/>
        </p:nvSpPr>
        <p:spPr>
          <a:xfrm>
            <a:off x="1261800" y="239580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50" spc="77" strike="noStrike">
                <a:solidFill>
                  <a:srgbClr val="58c765"/>
                </a:solidFill>
                <a:latin typeface="Lato"/>
                <a:ea typeface="Lato"/>
              </a:rPr>
              <a:t>ARITMÉTICOS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Text 4"/>
          <p:cNvSpPr/>
          <p:nvPr/>
        </p:nvSpPr>
        <p:spPr>
          <a:xfrm>
            <a:off x="1261800" y="2907720"/>
            <a:ext cx="3931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900" spc="-1" strike="noStrike">
                <a:solidFill>
                  <a:srgbClr val="071a4a"/>
                </a:solidFill>
                <a:latin typeface="Inter Display"/>
                <a:ea typeface="Inter Display"/>
              </a:rPr>
              <a:t>+   −   ×   ÷</a:t>
            </a:r>
            <a:endParaRPr b="0" lang="pt-BR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Shape 5"/>
          <p:cNvSpPr/>
          <p:nvPr/>
        </p:nvSpPr>
        <p:spPr>
          <a:xfrm>
            <a:off x="1334880" y="3703320"/>
            <a:ext cx="3913200" cy="840960"/>
          </a:xfrm>
          <a:prstGeom prst="roundRect">
            <a:avLst>
              <a:gd name="adj" fmla="val 8696"/>
            </a:avLst>
          </a:prstGeom>
          <a:solidFill>
            <a:srgbClr val="15345f"/>
          </a:solidFill>
          <a:ln w="12700">
            <a:solidFill>
              <a:srgbClr val="20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4" name="Text 6"/>
          <p:cNvSpPr/>
          <p:nvPr/>
        </p:nvSpPr>
        <p:spPr>
          <a:xfrm>
            <a:off x="1499760" y="3849480"/>
            <a:ext cx="3584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70" spc="-1" strike="noStrike">
                <a:solidFill>
                  <a:srgbClr val="e9f1ff"/>
                </a:solidFill>
                <a:latin typeface="DejaVu Sans Mono"/>
                <a:ea typeface="DejaVu Sans Mono"/>
              </a:rPr>
              <a:t>valorSensor × 2</a:t>
            </a:r>
            <a:endParaRPr b="0" lang="pt-BR" sz="127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70" spc="-1" strike="noStrike">
                <a:solidFill>
                  <a:srgbClr val="e9f1ff"/>
                </a:solidFill>
                <a:latin typeface="DejaVu Sans Mono"/>
                <a:ea typeface="DejaVu Sans Mono"/>
              </a:rPr>
              <a:t>40 × 2  →  80</a:t>
            </a:r>
            <a:endParaRPr b="0" lang="pt-BR" sz="1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Shape 7"/>
          <p:cNvSpPr/>
          <p:nvPr/>
        </p:nvSpPr>
        <p:spPr>
          <a:xfrm>
            <a:off x="6556320" y="2084760"/>
            <a:ext cx="4644720" cy="2907360"/>
          </a:xfrm>
          <a:prstGeom prst="roundRect">
            <a:avLst>
              <a:gd name="adj" fmla="val 2516"/>
            </a:avLst>
          </a:prstGeom>
          <a:solidFill>
            <a:srgbClr val="eff9fd"/>
          </a:solidFill>
          <a:ln w="12700">
            <a:solidFill>
              <a:srgbClr val="c8eaf8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Text 8"/>
          <p:cNvSpPr/>
          <p:nvPr/>
        </p:nvSpPr>
        <p:spPr>
          <a:xfrm>
            <a:off x="6858000" y="239580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50" spc="77" strike="noStrike">
                <a:solidFill>
                  <a:srgbClr val="10b9f3"/>
                </a:solidFill>
                <a:latin typeface="Lato"/>
                <a:ea typeface="Lato"/>
              </a:rPr>
              <a:t>RELACIONAIS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Text 9"/>
          <p:cNvSpPr/>
          <p:nvPr/>
        </p:nvSpPr>
        <p:spPr>
          <a:xfrm>
            <a:off x="6858000" y="2907720"/>
            <a:ext cx="3931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900" spc="-1" strike="noStrike">
                <a:solidFill>
                  <a:srgbClr val="071a4a"/>
                </a:solidFill>
                <a:latin typeface="Inter Display"/>
                <a:ea typeface="Inter Display"/>
              </a:rPr>
              <a:t>&lt;   &gt;   =   ≤</a:t>
            </a:r>
            <a:endParaRPr b="0" lang="pt-BR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Shape 10"/>
          <p:cNvSpPr/>
          <p:nvPr/>
        </p:nvSpPr>
        <p:spPr>
          <a:xfrm>
            <a:off x="6931080" y="3703320"/>
            <a:ext cx="3913200" cy="840960"/>
          </a:xfrm>
          <a:prstGeom prst="roundRect">
            <a:avLst>
              <a:gd name="adj" fmla="val 8696"/>
            </a:avLst>
          </a:prstGeom>
          <a:solidFill>
            <a:srgbClr val="15345f"/>
          </a:solidFill>
          <a:ln w="12700">
            <a:solidFill>
              <a:srgbClr val="20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Text 11"/>
          <p:cNvSpPr/>
          <p:nvPr/>
        </p:nvSpPr>
        <p:spPr>
          <a:xfrm>
            <a:off x="7095600" y="3849480"/>
            <a:ext cx="3584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70" spc="-1" strike="noStrike">
                <a:solidFill>
                  <a:srgbClr val="e9f1ff"/>
                </a:solidFill>
                <a:latin typeface="DejaVu Sans Mono"/>
                <a:ea typeface="DejaVu Sans Mono"/>
              </a:rPr>
              <a:t>valorSensor &gt; 50</a:t>
            </a:r>
            <a:endParaRPr b="0" lang="pt-BR" sz="127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70" spc="-1" strike="noStrike">
                <a:solidFill>
                  <a:srgbClr val="e9f1ff"/>
                </a:solidFill>
                <a:latin typeface="DejaVu Sans Mono"/>
                <a:ea typeface="DejaVu Sans Mono"/>
              </a:rPr>
              <a:t>40 &gt; 50  →  falso</a:t>
            </a:r>
            <a:endParaRPr b="0" lang="pt-BR" sz="1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PlaceHolder 1"/>
          <p:cNvSpPr>
            <a:spLocks noGrp="1"/>
          </p:cNvSpPr>
          <p:nvPr>
            <p:ph type="sldNum" idx="21"/>
          </p:nvPr>
        </p:nvSpPr>
        <p:spPr>
          <a:xfrm>
            <a:off x="11283840" y="644652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850" spc="-1" strike="noStrike">
                <a:solidFill>
                  <a:srgbClr val="7a879d"/>
                </a:solidFill>
                <a:latin typeface="Lato"/>
                <a:ea typeface="La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2DABDD-08E1-42B5-B438-F52E71CDF346}" type="slidenum">
              <a:rPr b="0" lang="pt-BR" sz="850" spc="-1" strike="noStrike">
                <a:solidFill>
                  <a:srgbClr val="7a879d"/>
                </a:solidFill>
                <a:latin typeface="Lato"/>
                <a:ea typeface="Lato"/>
              </a:rPr>
              <a:t>16</a:t>
            </a:fld>
            <a:endParaRPr b="0" lang="pt-BR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Shape 0"/>
          <p:cNvSpPr/>
          <p:nvPr/>
        </p:nvSpPr>
        <p:spPr>
          <a:xfrm>
            <a:off x="-411480" y="987480"/>
            <a:ext cx="1279800" cy="1005480"/>
          </a:xfrm>
          <a:prstGeom prst="hexagon">
            <a:avLst>
              <a:gd name="adj" fmla="val 25000"/>
              <a:gd name="vf" fmla="val 115470"/>
            </a:avLst>
          </a:prstGeom>
          <a:noFill/>
          <a:ln w="30480">
            <a:solidFill>
              <a:srgbClr val="e72b76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Shape 1"/>
          <p:cNvSpPr/>
          <p:nvPr/>
        </p:nvSpPr>
        <p:spPr>
          <a:xfrm>
            <a:off x="11384280" y="1600200"/>
            <a:ext cx="1234080" cy="987120"/>
          </a:xfrm>
          <a:prstGeom prst="hexagon">
            <a:avLst>
              <a:gd name="adj" fmla="val 25000"/>
              <a:gd name="vf" fmla="val 115470"/>
            </a:avLst>
          </a:prstGeom>
          <a:noFill/>
          <a:ln w="30480">
            <a:solidFill>
              <a:srgbClr val="f36b21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Shape 2"/>
          <p:cNvSpPr/>
          <p:nvPr/>
        </p:nvSpPr>
        <p:spPr>
          <a:xfrm>
            <a:off x="10442520" y="5148000"/>
            <a:ext cx="959760" cy="758520"/>
          </a:xfrm>
          <a:prstGeom prst="hexagon">
            <a:avLst>
              <a:gd name="adj" fmla="val 25000"/>
              <a:gd name="vf" fmla="val 115470"/>
            </a:avLst>
          </a:prstGeom>
          <a:noFill/>
          <a:ln w="27940">
            <a:solidFill>
              <a:srgbClr val="10b9f3">
                <a:alpha val="8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Shape 3"/>
          <p:cNvSpPr/>
          <p:nvPr/>
        </p:nvSpPr>
        <p:spPr>
          <a:xfrm>
            <a:off x="164520" y="5139000"/>
            <a:ext cx="987120" cy="785880"/>
          </a:xfrm>
          <a:prstGeom prst="hexagon">
            <a:avLst>
              <a:gd name="adj" fmla="val 25000"/>
              <a:gd name="vf" fmla="val 115470"/>
            </a:avLst>
          </a:prstGeom>
          <a:noFill/>
          <a:ln w="27940">
            <a:solidFill>
              <a:srgbClr val="8157b1">
                <a:alpha val="8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5" name="Shape 4"/>
          <p:cNvSpPr/>
          <p:nvPr/>
        </p:nvSpPr>
        <p:spPr>
          <a:xfrm>
            <a:off x="8192880" y="-283320"/>
            <a:ext cx="987120" cy="785880"/>
          </a:xfrm>
          <a:prstGeom prst="hexagon">
            <a:avLst>
              <a:gd name="adj" fmla="val 25000"/>
              <a:gd name="vf" fmla="val 115470"/>
            </a:avLst>
          </a:prstGeom>
          <a:noFill/>
          <a:ln w="26670">
            <a:solidFill>
              <a:srgbClr val="f36b21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" name="Shape 5"/>
          <p:cNvSpPr/>
          <p:nvPr/>
        </p:nvSpPr>
        <p:spPr>
          <a:xfrm>
            <a:off x="2990160" y="-246960"/>
            <a:ext cx="840960" cy="667080"/>
          </a:xfrm>
          <a:prstGeom prst="hexagon">
            <a:avLst>
              <a:gd name="adj" fmla="val 25000"/>
              <a:gd name="vf" fmla="val 115470"/>
            </a:avLst>
          </a:prstGeom>
          <a:noFill/>
          <a:ln w="25400">
            <a:solidFill>
              <a:srgbClr val="10b9f3">
                <a:alpha val="8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Text 6"/>
          <p:cNvSpPr/>
          <p:nvPr/>
        </p:nvSpPr>
        <p:spPr>
          <a:xfrm>
            <a:off x="749880" y="111564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00" spc="117" strike="noStrike">
                <a:solidFill>
                  <a:srgbClr val="10b9f3"/>
                </a:solidFill>
                <a:latin typeface="Lato"/>
                <a:ea typeface="Lato"/>
              </a:rPr>
              <a:t>MICRODESAFIO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Text 7"/>
          <p:cNvSpPr/>
          <p:nvPr/>
        </p:nvSpPr>
        <p:spPr>
          <a:xfrm>
            <a:off x="731520" y="1481400"/>
            <a:ext cx="891504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3400" spc="-1" strike="noStrike">
                <a:solidFill>
                  <a:srgbClr val="ffffff"/>
                </a:solidFill>
                <a:latin typeface="Inter Display"/>
                <a:ea typeface="Inter Display"/>
              </a:rPr>
              <a:t>Se valorSensor = 40...</a:t>
            </a:r>
            <a:endParaRPr b="0" lang="pt-BR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" name="Text 8"/>
          <p:cNvSpPr/>
          <p:nvPr/>
        </p:nvSpPr>
        <p:spPr>
          <a:xfrm>
            <a:off x="749880" y="2651760"/>
            <a:ext cx="7863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620" spc="-1" strike="noStrike">
                <a:solidFill>
                  <a:srgbClr val="ced8ea"/>
                </a:solidFill>
                <a:latin typeface="Lato"/>
                <a:ea typeface="Lato"/>
              </a:rPr>
              <a:t>Resolva uma das duas tarefas abaixo.</a:t>
            </a:r>
            <a:endParaRPr b="0" lang="pt-BR" sz="16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Shape 9"/>
          <p:cNvSpPr/>
          <p:nvPr/>
        </p:nvSpPr>
        <p:spPr>
          <a:xfrm>
            <a:off x="1005840" y="3813120"/>
            <a:ext cx="4736160" cy="1371240"/>
          </a:xfrm>
          <a:prstGeom prst="roundRect">
            <a:avLst>
              <a:gd name="adj" fmla="val 5333"/>
            </a:avLst>
          </a:prstGeom>
          <a:solidFill>
            <a:srgbClr val="10285d"/>
          </a:solidFill>
          <a:ln w="12700">
            <a:solidFill>
              <a:srgbClr val="244b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Text 10"/>
          <p:cNvSpPr/>
          <p:nvPr/>
        </p:nvSpPr>
        <p:spPr>
          <a:xfrm>
            <a:off x="1280160" y="41695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100" spc="-1" strike="noStrike">
                <a:solidFill>
                  <a:srgbClr val="f36b21"/>
                </a:solidFill>
                <a:latin typeface="Inter Display"/>
                <a:ea typeface="Inter Display"/>
              </a:rPr>
              <a:t>A</a:t>
            </a:r>
            <a:endParaRPr b="0" lang="pt-BR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Text 11"/>
          <p:cNvSpPr/>
          <p:nvPr/>
        </p:nvSpPr>
        <p:spPr>
          <a:xfrm>
            <a:off x="1847160" y="4096440"/>
            <a:ext cx="3382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pc="-1" strike="noStrike">
                <a:solidFill>
                  <a:srgbClr val="ffffff"/>
                </a:solidFill>
                <a:latin typeface="Inter Display"/>
                <a:ea typeface="Inter Display"/>
              </a:rPr>
              <a:t>Exiba o dobro do valor.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Text 12"/>
          <p:cNvSpPr/>
          <p:nvPr/>
        </p:nvSpPr>
        <p:spPr>
          <a:xfrm>
            <a:off x="1847160" y="4590360"/>
            <a:ext cx="32914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afc0dd"/>
                </a:solidFill>
                <a:latin typeface="DejaVu Sans Mono"/>
                <a:ea typeface="DejaVu Sans Mono"/>
              </a:rPr>
              <a:t>resultado: ______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Shape 13"/>
          <p:cNvSpPr/>
          <p:nvPr/>
        </p:nvSpPr>
        <p:spPr>
          <a:xfrm>
            <a:off x="6446520" y="3813120"/>
            <a:ext cx="4736160" cy="1371240"/>
          </a:xfrm>
          <a:prstGeom prst="roundRect">
            <a:avLst>
              <a:gd name="adj" fmla="val 5333"/>
            </a:avLst>
          </a:prstGeom>
          <a:solidFill>
            <a:srgbClr val="10285d"/>
          </a:solidFill>
          <a:ln w="12700">
            <a:solidFill>
              <a:srgbClr val="244b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Text 14"/>
          <p:cNvSpPr/>
          <p:nvPr/>
        </p:nvSpPr>
        <p:spPr>
          <a:xfrm>
            <a:off x="6720840" y="41695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100" spc="-1" strike="noStrike">
                <a:solidFill>
                  <a:srgbClr val="10b9f3"/>
                </a:solidFill>
                <a:latin typeface="Inter Display"/>
                <a:ea typeface="Inter Display"/>
              </a:rPr>
              <a:t>B</a:t>
            </a:r>
            <a:endParaRPr b="0" lang="pt-BR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Text 15"/>
          <p:cNvSpPr/>
          <p:nvPr/>
        </p:nvSpPr>
        <p:spPr>
          <a:xfrm>
            <a:off x="7287840" y="4096440"/>
            <a:ext cx="3382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pc="-1" strike="noStrike">
                <a:solidFill>
                  <a:srgbClr val="ffffff"/>
                </a:solidFill>
                <a:latin typeface="Inter Display"/>
                <a:ea typeface="Inter Display"/>
              </a:rPr>
              <a:t>Teste se é maior que 50.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" name="Text 16"/>
          <p:cNvSpPr/>
          <p:nvPr/>
        </p:nvSpPr>
        <p:spPr>
          <a:xfrm>
            <a:off x="7287840" y="4590360"/>
            <a:ext cx="32914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afc0dd"/>
                </a:solidFill>
                <a:latin typeface="DejaVu Sans Mono"/>
                <a:ea typeface="DejaVu Sans Mono"/>
              </a:rPr>
              <a:t>resultado: ______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" name="PlaceHolder 1"/>
          <p:cNvSpPr>
            <a:spLocks noGrp="1"/>
          </p:cNvSpPr>
          <p:nvPr>
            <p:ph type="sldNum" idx="22"/>
          </p:nvPr>
        </p:nvSpPr>
        <p:spPr>
          <a:xfrm>
            <a:off x="11283840" y="644652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850" spc="-1" strike="noStrike">
                <a:solidFill>
                  <a:srgbClr val="9fb0d0"/>
                </a:solidFill>
                <a:latin typeface="Lato"/>
                <a:ea typeface="La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358344-9711-4F4E-8D4F-ADF00BFD0422}" type="slidenum">
              <a:rPr b="0" lang="pt-BR" sz="850" spc="-1" strike="noStrike">
                <a:solidFill>
                  <a:srgbClr val="9fb0d0"/>
                </a:solidFill>
                <a:latin typeface="Lato"/>
                <a:ea typeface="Lato"/>
              </a:rPr>
              <a:t>17</a:t>
            </a:fld>
            <a:endParaRPr b="0" lang="pt-BR" sz="85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Text 0"/>
          <p:cNvSpPr/>
          <p:nvPr/>
        </p:nvSpPr>
        <p:spPr>
          <a:xfrm>
            <a:off x="713160" y="896040"/>
            <a:ext cx="99666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  <a:ea typeface="Inter Display"/>
              </a:rPr>
              <a:t>Programas precisam decidir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Text 1"/>
          <p:cNvSpPr/>
          <p:nvPr/>
        </p:nvSpPr>
        <p:spPr>
          <a:xfrm>
            <a:off x="731520" y="1444680"/>
            <a:ext cx="9692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50" spc="-1" strike="noStrike">
                <a:solidFill>
                  <a:srgbClr val="5b6b86"/>
                </a:solidFill>
                <a:latin typeface="Lato"/>
                <a:ea typeface="Lato"/>
              </a:rPr>
              <a:t>O mesmo programa pode responder de forma diferente conforme uma regra.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Shape 2"/>
          <p:cNvSpPr/>
          <p:nvPr/>
        </p:nvSpPr>
        <p:spPr>
          <a:xfrm>
            <a:off x="4883040" y="2304360"/>
            <a:ext cx="2431800" cy="2084400"/>
          </a:xfrm>
          <a:prstGeom prst="roundRect">
            <a:avLst>
              <a:gd name="adj" fmla="val 3509"/>
            </a:avLst>
          </a:prstGeom>
          <a:solidFill>
            <a:srgbClr val="eef3fa"/>
          </a:solidFill>
          <a:ln w="12700">
            <a:solidFill>
              <a:srgbClr val="d6e1f0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Text 3"/>
          <p:cNvSpPr/>
          <p:nvPr/>
        </p:nvSpPr>
        <p:spPr>
          <a:xfrm>
            <a:off x="5285160" y="2633400"/>
            <a:ext cx="1627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50" spc="97" strike="noStrike">
                <a:solidFill>
                  <a:srgbClr val="e72b76"/>
                </a:solidFill>
                <a:latin typeface="Lato"/>
                <a:ea typeface="Lato"/>
              </a:rPr>
              <a:t>REGRA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Shape 4"/>
          <p:cNvSpPr/>
          <p:nvPr/>
        </p:nvSpPr>
        <p:spPr>
          <a:xfrm>
            <a:off x="5559480" y="3072240"/>
            <a:ext cx="1051200" cy="71280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e72b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Text 5"/>
          <p:cNvSpPr/>
          <p:nvPr/>
        </p:nvSpPr>
        <p:spPr>
          <a:xfrm>
            <a:off x="5760720" y="3200400"/>
            <a:ext cx="648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-1" strike="noStrike">
                <a:solidFill>
                  <a:srgbClr val="e72b76"/>
                </a:solidFill>
                <a:latin typeface="Inter Display"/>
                <a:ea typeface="Inter Display"/>
              </a:rPr>
              <a:t>?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Shape 6"/>
          <p:cNvSpPr/>
          <p:nvPr/>
        </p:nvSpPr>
        <p:spPr>
          <a:xfrm>
            <a:off x="877680" y="2541960"/>
            <a:ext cx="1572480" cy="15724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7f0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Text 7"/>
          <p:cNvSpPr/>
          <p:nvPr/>
        </p:nvSpPr>
        <p:spPr>
          <a:xfrm>
            <a:off x="1042560" y="2907720"/>
            <a:ext cx="1243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800" spc="-1" strike="noStrike">
                <a:solidFill>
                  <a:srgbClr val="10b9f3"/>
                </a:solidFill>
                <a:latin typeface="Inter Display"/>
                <a:ea typeface="Inter Display"/>
              </a:rPr>
              <a:t>25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Text 8"/>
          <p:cNvSpPr/>
          <p:nvPr/>
        </p:nvSpPr>
        <p:spPr>
          <a:xfrm>
            <a:off x="1042560" y="3575160"/>
            <a:ext cx="124308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50" spc="-1" strike="noStrike">
                <a:solidFill>
                  <a:srgbClr val="5b6b86"/>
                </a:solidFill>
                <a:latin typeface="Lato"/>
                <a:ea typeface="Lato"/>
              </a:rPr>
              <a:t>entrada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Shape 9"/>
          <p:cNvSpPr/>
          <p:nvPr/>
        </p:nvSpPr>
        <p:spPr>
          <a:xfrm>
            <a:off x="2816280" y="2541960"/>
            <a:ext cx="1572480" cy="15724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7f0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Text 10"/>
          <p:cNvSpPr/>
          <p:nvPr/>
        </p:nvSpPr>
        <p:spPr>
          <a:xfrm>
            <a:off x="2980800" y="2907720"/>
            <a:ext cx="1243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800" spc="-1" strike="noStrike">
                <a:solidFill>
                  <a:srgbClr val="f36b21"/>
                </a:solidFill>
                <a:latin typeface="Inter Display"/>
                <a:ea typeface="Inter Display"/>
              </a:rPr>
              <a:t>50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Text 11"/>
          <p:cNvSpPr/>
          <p:nvPr/>
        </p:nvSpPr>
        <p:spPr>
          <a:xfrm>
            <a:off x="2980800" y="3575160"/>
            <a:ext cx="124308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50" spc="-1" strike="noStrike">
                <a:solidFill>
                  <a:srgbClr val="5b6b86"/>
                </a:solidFill>
                <a:latin typeface="Lato"/>
                <a:ea typeface="Lato"/>
              </a:rPr>
              <a:t>entrada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Shape 12"/>
          <p:cNvSpPr/>
          <p:nvPr/>
        </p:nvSpPr>
        <p:spPr>
          <a:xfrm>
            <a:off x="8503920" y="2541960"/>
            <a:ext cx="1572480" cy="15724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7f0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Text 13"/>
          <p:cNvSpPr/>
          <p:nvPr/>
        </p:nvSpPr>
        <p:spPr>
          <a:xfrm>
            <a:off x="8668440" y="2907720"/>
            <a:ext cx="1243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800" spc="-1" strike="noStrike">
                <a:solidFill>
                  <a:srgbClr val="e72b76"/>
                </a:solidFill>
                <a:latin typeface="Inter Display"/>
                <a:ea typeface="Inter Display"/>
              </a:rPr>
              <a:t>90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Text 14"/>
          <p:cNvSpPr/>
          <p:nvPr/>
        </p:nvSpPr>
        <p:spPr>
          <a:xfrm>
            <a:off x="8668440" y="3575160"/>
            <a:ext cx="124308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50" spc="-1" strike="noStrike">
                <a:solidFill>
                  <a:srgbClr val="5b6b86"/>
                </a:solidFill>
                <a:latin typeface="Lato"/>
                <a:ea typeface="Lato"/>
              </a:rPr>
              <a:t>entrada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Shape 15"/>
          <p:cNvSpPr/>
          <p:nvPr/>
        </p:nvSpPr>
        <p:spPr>
          <a:xfrm>
            <a:off x="4480560" y="3328200"/>
            <a:ext cx="365760" cy="360"/>
          </a:xfrm>
          <a:prstGeom prst="line">
            <a:avLst/>
          </a:prstGeom>
          <a:ln w="27940">
            <a:solidFill>
              <a:srgbClr val="071a4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Shape 16"/>
          <p:cNvSpPr/>
          <p:nvPr/>
        </p:nvSpPr>
        <p:spPr>
          <a:xfrm>
            <a:off x="7351560" y="3328200"/>
            <a:ext cx="804600" cy="360"/>
          </a:xfrm>
          <a:prstGeom prst="line">
            <a:avLst/>
          </a:prstGeom>
          <a:ln w="27940">
            <a:solidFill>
              <a:srgbClr val="071a4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Shape 17"/>
          <p:cNvSpPr/>
          <p:nvPr/>
        </p:nvSpPr>
        <p:spPr>
          <a:xfrm>
            <a:off x="996840" y="4800600"/>
            <a:ext cx="1663920" cy="347040"/>
          </a:xfrm>
          <a:prstGeom prst="roundRect">
            <a:avLst>
              <a:gd name="adj" fmla="val 21053"/>
            </a:avLst>
          </a:prstGeom>
          <a:solidFill>
            <a:srgbClr val="10b9f3"/>
          </a:solidFill>
          <a:ln w="12700">
            <a:solidFill>
              <a:srgbClr val="10b9f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Text 18"/>
          <p:cNvSpPr/>
          <p:nvPr/>
        </p:nvSpPr>
        <p:spPr>
          <a:xfrm>
            <a:off x="1069920" y="4864680"/>
            <a:ext cx="1517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50" spc="-1" strike="noStrike">
                <a:solidFill>
                  <a:srgbClr val="ffffff"/>
                </a:solidFill>
                <a:latin typeface="Lato"/>
                <a:ea typeface="Lato"/>
              </a:rPr>
              <a:t>Faixa 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Shape 19"/>
          <p:cNvSpPr/>
          <p:nvPr/>
        </p:nvSpPr>
        <p:spPr>
          <a:xfrm>
            <a:off x="5312520" y="4800600"/>
            <a:ext cx="1663920" cy="347040"/>
          </a:xfrm>
          <a:prstGeom prst="roundRect">
            <a:avLst>
              <a:gd name="adj" fmla="val 21053"/>
            </a:avLst>
          </a:prstGeom>
          <a:solidFill>
            <a:srgbClr val="f36b21"/>
          </a:solidFill>
          <a:ln w="12700">
            <a:solidFill>
              <a:srgbClr val="f36b2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9" name="Text 20"/>
          <p:cNvSpPr/>
          <p:nvPr/>
        </p:nvSpPr>
        <p:spPr>
          <a:xfrm>
            <a:off x="5385960" y="4864680"/>
            <a:ext cx="1517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50" spc="-1" strike="noStrike">
                <a:solidFill>
                  <a:srgbClr val="ffffff"/>
                </a:solidFill>
                <a:latin typeface="Lato"/>
                <a:ea typeface="Lato"/>
              </a:rPr>
              <a:t>Faixa B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Shape 21"/>
          <p:cNvSpPr/>
          <p:nvPr/>
        </p:nvSpPr>
        <p:spPr>
          <a:xfrm>
            <a:off x="9628560" y="4800600"/>
            <a:ext cx="1663920" cy="347040"/>
          </a:xfrm>
          <a:prstGeom prst="roundRect">
            <a:avLst>
              <a:gd name="adj" fmla="val 21053"/>
            </a:avLst>
          </a:prstGeom>
          <a:solidFill>
            <a:srgbClr val="e72b76"/>
          </a:solidFill>
          <a:ln w="12700">
            <a:solidFill>
              <a:srgbClr val="e72b7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" name="Text 22"/>
          <p:cNvSpPr/>
          <p:nvPr/>
        </p:nvSpPr>
        <p:spPr>
          <a:xfrm>
            <a:off x="9701640" y="4864680"/>
            <a:ext cx="1517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50" spc="-1" strike="noStrike">
                <a:solidFill>
                  <a:srgbClr val="ffffff"/>
                </a:solidFill>
                <a:latin typeface="Lato"/>
                <a:ea typeface="Lato"/>
              </a:rPr>
              <a:t>Faixa C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Text 23"/>
          <p:cNvSpPr/>
          <p:nvPr/>
        </p:nvSpPr>
        <p:spPr>
          <a:xfrm>
            <a:off x="2212920" y="5541120"/>
            <a:ext cx="7753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50" spc="-1" strike="noStrike">
                <a:solidFill>
                  <a:srgbClr val="071a4a"/>
                </a:solidFill>
                <a:latin typeface="Inter Display"/>
                <a:ea typeface="Inter Display"/>
              </a:rPr>
              <a:t>A decisão transforma uma regra em comportamento.</a:t>
            </a:r>
            <a:endParaRPr b="0" lang="pt-BR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PlaceHolder 1"/>
          <p:cNvSpPr>
            <a:spLocks noGrp="1"/>
          </p:cNvSpPr>
          <p:nvPr>
            <p:ph type="sldNum" idx="23"/>
          </p:nvPr>
        </p:nvSpPr>
        <p:spPr>
          <a:xfrm>
            <a:off x="11283840" y="644652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850" spc="-1" strike="noStrike">
                <a:solidFill>
                  <a:srgbClr val="7a879d"/>
                </a:solidFill>
                <a:latin typeface="Lato"/>
                <a:ea typeface="La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B073E61-73E9-44D6-9D40-FEAC8886B22D}" type="slidenum">
              <a:rPr b="0" lang="pt-BR" sz="850" spc="-1" strike="noStrike">
                <a:solidFill>
                  <a:srgbClr val="7a879d"/>
                </a:solidFill>
                <a:latin typeface="Lato"/>
                <a:ea typeface="Lato"/>
              </a:rPr>
              <a:t>18</a:t>
            </a:fld>
            <a:endParaRPr b="0" lang="pt-BR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Text 0"/>
          <p:cNvSpPr/>
          <p:nvPr/>
        </p:nvSpPr>
        <p:spPr>
          <a:xfrm>
            <a:off x="713160" y="896040"/>
            <a:ext cx="99666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  <a:ea typeface="Inter Display"/>
              </a:rPr>
              <a:t>Se / senão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Text 1"/>
          <p:cNvSpPr/>
          <p:nvPr/>
        </p:nvSpPr>
        <p:spPr>
          <a:xfrm>
            <a:off x="731520" y="1444680"/>
            <a:ext cx="9692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50" spc="-1" strike="noStrike">
                <a:solidFill>
                  <a:srgbClr val="5b6b86"/>
                </a:solidFill>
                <a:latin typeface="Lato"/>
                <a:ea typeface="Lato"/>
              </a:rPr>
              <a:t>Uma condição cria caminhos diferentes.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Shape 2"/>
          <p:cNvSpPr/>
          <p:nvPr/>
        </p:nvSpPr>
        <p:spPr>
          <a:xfrm>
            <a:off x="5047560" y="1974960"/>
            <a:ext cx="2057040" cy="1261440"/>
          </a:xfrm>
          <a:prstGeom prst="diamond">
            <a:avLst/>
          </a:prstGeom>
          <a:solidFill>
            <a:srgbClr val="fff5e9"/>
          </a:solidFill>
          <a:ln w="27940">
            <a:solidFill>
              <a:srgbClr val="f36b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Text 3"/>
          <p:cNvSpPr/>
          <p:nvPr/>
        </p:nvSpPr>
        <p:spPr>
          <a:xfrm>
            <a:off x="5376600" y="2414160"/>
            <a:ext cx="13986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3333" lnSpcReduction="10000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071a4a"/>
                </a:solidFill>
                <a:latin typeface="DejaVu Sans Mono"/>
                <a:ea typeface="DejaVu Sans Mono"/>
              </a:rPr>
              <a:t>valorSensor &lt; 30?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Shape 4"/>
          <p:cNvSpPr/>
          <p:nvPr/>
        </p:nvSpPr>
        <p:spPr>
          <a:xfrm flipH="1">
            <a:off x="2926080" y="2843640"/>
            <a:ext cx="2148840" cy="1005840"/>
          </a:xfrm>
          <a:prstGeom prst="line">
            <a:avLst/>
          </a:prstGeom>
          <a:ln w="30480">
            <a:solidFill>
              <a:srgbClr val="10b9f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Shape 5"/>
          <p:cNvSpPr/>
          <p:nvPr/>
        </p:nvSpPr>
        <p:spPr>
          <a:xfrm>
            <a:off x="7068240" y="2843640"/>
            <a:ext cx="2148840" cy="1005840"/>
          </a:xfrm>
          <a:prstGeom prst="line">
            <a:avLst/>
          </a:prstGeom>
          <a:ln w="30480">
            <a:solidFill>
              <a:srgbClr val="e72b7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Shape 6"/>
          <p:cNvSpPr/>
          <p:nvPr/>
        </p:nvSpPr>
        <p:spPr>
          <a:xfrm>
            <a:off x="3127320" y="3218760"/>
            <a:ext cx="685440" cy="347040"/>
          </a:xfrm>
          <a:prstGeom prst="roundRect">
            <a:avLst>
              <a:gd name="adj" fmla="val 21053"/>
            </a:avLst>
          </a:prstGeom>
          <a:solidFill>
            <a:srgbClr val="10b9f3"/>
          </a:solidFill>
          <a:ln w="12700">
            <a:solidFill>
              <a:srgbClr val="10b9f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" name="Text 7"/>
          <p:cNvSpPr/>
          <p:nvPr/>
        </p:nvSpPr>
        <p:spPr>
          <a:xfrm>
            <a:off x="3200400" y="3282840"/>
            <a:ext cx="539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50" spc="-1" strike="noStrike">
                <a:solidFill>
                  <a:srgbClr val="ffffff"/>
                </a:solidFill>
                <a:latin typeface="Lato"/>
                <a:ea typeface="Lato"/>
              </a:rPr>
              <a:t>SIM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Shape 8"/>
          <p:cNvSpPr/>
          <p:nvPr/>
        </p:nvSpPr>
        <p:spPr>
          <a:xfrm>
            <a:off x="8366760" y="3218760"/>
            <a:ext cx="685440" cy="347040"/>
          </a:xfrm>
          <a:prstGeom prst="roundRect">
            <a:avLst>
              <a:gd name="adj" fmla="val 21053"/>
            </a:avLst>
          </a:prstGeom>
          <a:solidFill>
            <a:srgbClr val="e72b76"/>
          </a:solidFill>
          <a:ln w="12700">
            <a:solidFill>
              <a:srgbClr val="e72b7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" name="Text 9"/>
          <p:cNvSpPr/>
          <p:nvPr/>
        </p:nvSpPr>
        <p:spPr>
          <a:xfrm>
            <a:off x="8439840" y="3282840"/>
            <a:ext cx="539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50" spc="-1" strike="noStrike">
                <a:solidFill>
                  <a:srgbClr val="ffffff"/>
                </a:solidFill>
                <a:latin typeface="Lato"/>
                <a:ea typeface="Lato"/>
              </a:rPr>
              <a:t>NÃO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Shape 10"/>
          <p:cNvSpPr/>
          <p:nvPr/>
        </p:nvSpPr>
        <p:spPr>
          <a:xfrm>
            <a:off x="1060560" y="3950280"/>
            <a:ext cx="3711960" cy="1298160"/>
          </a:xfrm>
          <a:prstGeom prst="roundRect">
            <a:avLst>
              <a:gd name="adj" fmla="val 5634"/>
            </a:avLst>
          </a:prstGeom>
          <a:solidFill>
            <a:srgbClr val="eaf8fe"/>
          </a:solidFill>
          <a:ln w="12700">
            <a:solidFill>
              <a:srgbClr val="c7eaf9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Text 11"/>
          <p:cNvSpPr/>
          <p:nvPr/>
        </p:nvSpPr>
        <p:spPr>
          <a:xfrm>
            <a:off x="1408320" y="4370760"/>
            <a:ext cx="3017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20" spc="-1" strike="noStrike">
                <a:solidFill>
                  <a:srgbClr val="071a4a"/>
                </a:solidFill>
                <a:latin typeface="Lato"/>
                <a:ea typeface="Lato"/>
              </a:rPr>
              <a:t>dizer “Faixa didática A”</a:t>
            </a:r>
            <a:endParaRPr b="0" lang="pt-BR" sz="1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Shape 12"/>
          <p:cNvSpPr/>
          <p:nvPr/>
        </p:nvSpPr>
        <p:spPr>
          <a:xfrm>
            <a:off x="7425000" y="3950280"/>
            <a:ext cx="3711960" cy="1298160"/>
          </a:xfrm>
          <a:prstGeom prst="roundRect">
            <a:avLst>
              <a:gd name="adj" fmla="val 5634"/>
            </a:avLst>
          </a:prstGeom>
          <a:solidFill>
            <a:srgbClr val="fff1f6"/>
          </a:solidFill>
          <a:ln w="12700">
            <a:solidFill>
              <a:srgbClr val="f5c6d9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Text 13"/>
          <p:cNvSpPr/>
          <p:nvPr/>
        </p:nvSpPr>
        <p:spPr>
          <a:xfrm>
            <a:off x="7772400" y="4370760"/>
            <a:ext cx="3017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20" spc="-1" strike="noStrike">
                <a:solidFill>
                  <a:srgbClr val="071a4a"/>
                </a:solidFill>
                <a:latin typeface="Lato"/>
                <a:ea typeface="Lato"/>
              </a:rPr>
              <a:t>seguir para outra decisão</a:t>
            </a:r>
            <a:endParaRPr b="0" lang="pt-BR" sz="1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PlaceHolder 1"/>
          <p:cNvSpPr>
            <a:spLocks noGrp="1"/>
          </p:cNvSpPr>
          <p:nvPr>
            <p:ph type="sldNum" idx="24"/>
          </p:nvPr>
        </p:nvSpPr>
        <p:spPr>
          <a:xfrm>
            <a:off x="11283840" y="644652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850" spc="-1" strike="noStrike">
                <a:solidFill>
                  <a:srgbClr val="7a879d"/>
                </a:solidFill>
                <a:latin typeface="Lato"/>
                <a:ea typeface="La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F93251-6DAE-4B84-851B-F85A6ADC440C}" type="slidenum">
              <a:rPr b="0" lang="pt-BR" sz="850" spc="-1" strike="noStrike">
                <a:solidFill>
                  <a:srgbClr val="7a879d"/>
                </a:solidFill>
                <a:latin typeface="Lato"/>
                <a:ea typeface="Lato"/>
              </a:rPr>
              <a:t>19</a:t>
            </a:fld>
            <a:endParaRPr b="0" lang="pt-BR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Text 0"/>
          <p:cNvSpPr/>
          <p:nvPr/>
        </p:nvSpPr>
        <p:spPr>
          <a:xfrm>
            <a:off x="713160" y="896040"/>
            <a:ext cx="99666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  <a:ea typeface="Inter Display"/>
              </a:rPr>
              <a:t>Primeira condição no Scratch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Text 1"/>
          <p:cNvSpPr/>
          <p:nvPr/>
        </p:nvSpPr>
        <p:spPr>
          <a:xfrm>
            <a:off x="731520" y="1444680"/>
            <a:ext cx="9692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50" spc="-1" strike="noStrike">
                <a:solidFill>
                  <a:srgbClr val="5b6b86"/>
                </a:solidFill>
                <a:latin typeface="Lato"/>
                <a:ea typeface="Lato"/>
              </a:rPr>
              <a:t>Teste a fronteira com 29 e 30.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Shape 2"/>
          <p:cNvSpPr/>
          <p:nvPr/>
        </p:nvSpPr>
        <p:spPr>
          <a:xfrm>
            <a:off x="1005840" y="2157840"/>
            <a:ext cx="1051200" cy="548280"/>
          </a:xfrm>
          <a:prstGeom prst="roundRect">
            <a:avLst>
              <a:gd name="adj" fmla="val 10000"/>
            </a:avLst>
          </a:prstGeom>
          <a:solidFill>
            <a:srgbClr val="ffab19"/>
          </a:solidFill>
          <a:ln w="7620">
            <a:solidFill>
              <a:srgbClr val="ffab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Text 3"/>
          <p:cNvSpPr/>
          <p:nvPr/>
        </p:nvSpPr>
        <p:spPr>
          <a:xfrm>
            <a:off x="1152000" y="2221920"/>
            <a:ext cx="7585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00" spc="-1" strike="noStrike">
                <a:solidFill>
                  <a:srgbClr val="071a4a"/>
                </a:solidFill>
                <a:latin typeface="Lato"/>
                <a:ea typeface="Lato"/>
              </a:rPr>
              <a:t>se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Shape 4"/>
          <p:cNvSpPr/>
          <p:nvPr/>
        </p:nvSpPr>
        <p:spPr>
          <a:xfrm>
            <a:off x="1874520" y="2221920"/>
            <a:ext cx="2331360" cy="438480"/>
          </a:xfrm>
          <a:prstGeom prst="roundRect">
            <a:avLst>
              <a:gd name="adj" fmla="val 12500"/>
            </a:avLst>
          </a:prstGeom>
          <a:solidFill>
            <a:srgbClr val="59c059"/>
          </a:solidFill>
          <a:ln w="7620">
            <a:solidFill>
              <a:srgbClr val="59c0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" name="Text 5"/>
          <p:cNvSpPr/>
          <p:nvPr/>
        </p:nvSpPr>
        <p:spPr>
          <a:xfrm>
            <a:off x="2020680" y="2286000"/>
            <a:ext cx="203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30" spc="-1" strike="noStrike">
                <a:solidFill>
                  <a:srgbClr val="ffffff"/>
                </a:solidFill>
                <a:latin typeface="Lato"/>
                <a:ea typeface="Lato"/>
              </a:rPr>
              <a:t>valorSensor &lt; 30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Shape 6"/>
          <p:cNvSpPr/>
          <p:nvPr/>
        </p:nvSpPr>
        <p:spPr>
          <a:xfrm>
            <a:off x="1508760" y="2816280"/>
            <a:ext cx="2578320" cy="475200"/>
          </a:xfrm>
          <a:prstGeom prst="roundRect">
            <a:avLst>
              <a:gd name="adj" fmla="val 11538"/>
            </a:avLst>
          </a:prstGeom>
          <a:solidFill>
            <a:srgbClr val="9966ff"/>
          </a:solidFill>
          <a:ln w="7620">
            <a:solidFill>
              <a:srgbClr val="996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" name="Text 7"/>
          <p:cNvSpPr/>
          <p:nvPr/>
        </p:nvSpPr>
        <p:spPr>
          <a:xfrm>
            <a:off x="1654920" y="288036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50" spc="-1" strike="noStrike">
                <a:solidFill>
                  <a:srgbClr val="ffffff"/>
                </a:solidFill>
                <a:latin typeface="Lato"/>
                <a:ea typeface="Lato"/>
              </a:rPr>
              <a:t>diga “Faixa A”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Shape 8"/>
          <p:cNvSpPr/>
          <p:nvPr/>
        </p:nvSpPr>
        <p:spPr>
          <a:xfrm>
            <a:off x="1005840" y="3383280"/>
            <a:ext cx="1243080" cy="475200"/>
          </a:xfrm>
          <a:prstGeom prst="roundRect">
            <a:avLst>
              <a:gd name="adj" fmla="val 11538"/>
            </a:avLst>
          </a:prstGeom>
          <a:solidFill>
            <a:srgbClr val="ffab19"/>
          </a:solidFill>
          <a:ln w="7620">
            <a:solidFill>
              <a:srgbClr val="ffab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Text 9"/>
          <p:cNvSpPr/>
          <p:nvPr/>
        </p:nvSpPr>
        <p:spPr>
          <a:xfrm>
            <a:off x="1152000" y="3447360"/>
            <a:ext cx="950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50" spc="-1" strike="noStrike">
                <a:solidFill>
                  <a:srgbClr val="071a4a"/>
                </a:solidFill>
                <a:latin typeface="Lato"/>
                <a:ea typeface="Lato"/>
              </a:rPr>
              <a:t>senão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Shape 10"/>
          <p:cNvSpPr/>
          <p:nvPr/>
        </p:nvSpPr>
        <p:spPr>
          <a:xfrm>
            <a:off x="1508760" y="3913560"/>
            <a:ext cx="2578320" cy="475200"/>
          </a:xfrm>
          <a:prstGeom prst="roundRect">
            <a:avLst>
              <a:gd name="adj" fmla="val 11538"/>
            </a:avLst>
          </a:prstGeom>
          <a:solidFill>
            <a:srgbClr val="9966ff"/>
          </a:solidFill>
          <a:ln w="7620">
            <a:solidFill>
              <a:srgbClr val="996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" name="Text 11"/>
          <p:cNvSpPr/>
          <p:nvPr/>
        </p:nvSpPr>
        <p:spPr>
          <a:xfrm>
            <a:off x="1654920" y="397764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30" spc="-1" strike="noStrike">
                <a:solidFill>
                  <a:srgbClr val="ffffff"/>
                </a:solidFill>
                <a:latin typeface="Lato"/>
                <a:ea typeface="Lato"/>
              </a:rPr>
              <a:t>diga “outra faixa”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Shape 12"/>
          <p:cNvSpPr/>
          <p:nvPr/>
        </p:nvSpPr>
        <p:spPr>
          <a:xfrm>
            <a:off x="5897880" y="2139840"/>
            <a:ext cx="1965600" cy="2377080"/>
          </a:xfrm>
          <a:prstGeom prst="roundRect">
            <a:avLst>
              <a:gd name="adj" fmla="val 3721"/>
            </a:avLst>
          </a:prstGeom>
          <a:solidFill>
            <a:srgbClr val="eaf8fe"/>
          </a:solidFill>
          <a:ln w="12700">
            <a:solidFill>
              <a:srgbClr val="c7eaf9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Text 13"/>
          <p:cNvSpPr/>
          <p:nvPr/>
        </p:nvSpPr>
        <p:spPr>
          <a:xfrm>
            <a:off x="6163200" y="244152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50" spc="77" strike="noStrike">
                <a:solidFill>
                  <a:srgbClr val="10b9f3"/>
                </a:solidFill>
                <a:latin typeface="Lato"/>
                <a:ea typeface="Lato"/>
              </a:rPr>
              <a:t>TESTE 1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Text 14"/>
          <p:cNvSpPr/>
          <p:nvPr/>
        </p:nvSpPr>
        <p:spPr>
          <a:xfrm>
            <a:off x="6199560" y="2871360"/>
            <a:ext cx="1371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3000" spc="-1" strike="noStrike">
                <a:solidFill>
                  <a:srgbClr val="10b9f3"/>
                </a:solidFill>
                <a:latin typeface="Inter Display"/>
                <a:ea typeface="Inter Display"/>
              </a:rPr>
              <a:t>29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Shape 15"/>
          <p:cNvSpPr/>
          <p:nvPr/>
        </p:nvSpPr>
        <p:spPr>
          <a:xfrm>
            <a:off x="6217920" y="3767400"/>
            <a:ext cx="1316520" cy="347040"/>
          </a:xfrm>
          <a:prstGeom prst="roundRect">
            <a:avLst>
              <a:gd name="adj" fmla="val 21053"/>
            </a:avLst>
          </a:prstGeom>
          <a:solidFill>
            <a:srgbClr val="10b9f3"/>
          </a:solidFill>
          <a:ln w="12700">
            <a:solidFill>
              <a:srgbClr val="10b9f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" name="Text 16"/>
          <p:cNvSpPr/>
          <p:nvPr/>
        </p:nvSpPr>
        <p:spPr>
          <a:xfrm>
            <a:off x="6291000" y="3831480"/>
            <a:ext cx="11700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00" spc="-1" strike="noStrike">
                <a:solidFill>
                  <a:srgbClr val="ffffff"/>
                </a:solidFill>
                <a:latin typeface="Lato"/>
                <a:ea typeface="Lato"/>
              </a:rPr>
              <a:t>Faixa A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Shape 17"/>
          <p:cNvSpPr/>
          <p:nvPr/>
        </p:nvSpPr>
        <p:spPr>
          <a:xfrm>
            <a:off x="8339400" y="2139840"/>
            <a:ext cx="1965600" cy="2377080"/>
          </a:xfrm>
          <a:prstGeom prst="roundRect">
            <a:avLst>
              <a:gd name="adj" fmla="val 3721"/>
            </a:avLst>
          </a:prstGeom>
          <a:solidFill>
            <a:srgbClr val="fff7ec"/>
          </a:solidFill>
          <a:ln w="12700">
            <a:solidFill>
              <a:srgbClr val="f8d8b3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Text 18"/>
          <p:cNvSpPr/>
          <p:nvPr/>
        </p:nvSpPr>
        <p:spPr>
          <a:xfrm>
            <a:off x="8604360" y="244152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50" spc="77" strike="noStrike">
                <a:solidFill>
                  <a:srgbClr val="f36b21"/>
                </a:solidFill>
                <a:latin typeface="Lato"/>
                <a:ea typeface="Lato"/>
              </a:rPr>
              <a:t>TESTE 2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Text 19"/>
          <p:cNvSpPr/>
          <p:nvPr/>
        </p:nvSpPr>
        <p:spPr>
          <a:xfrm>
            <a:off x="8641080" y="2871360"/>
            <a:ext cx="1371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3000" spc="-1" strike="noStrike">
                <a:solidFill>
                  <a:srgbClr val="f36b21"/>
                </a:solidFill>
                <a:latin typeface="Inter Display"/>
                <a:ea typeface="Inter Display"/>
              </a:rPr>
              <a:t>30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Shape 20"/>
          <p:cNvSpPr/>
          <p:nvPr/>
        </p:nvSpPr>
        <p:spPr>
          <a:xfrm>
            <a:off x="8540640" y="3767400"/>
            <a:ext cx="1554120" cy="347040"/>
          </a:xfrm>
          <a:prstGeom prst="roundRect">
            <a:avLst>
              <a:gd name="adj" fmla="val 21053"/>
            </a:avLst>
          </a:prstGeom>
          <a:solidFill>
            <a:srgbClr val="f36b21"/>
          </a:solidFill>
          <a:ln w="12700">
            <a:solidFill>
              <a:srgbClr val="f36b2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" name="Text 21"/>
          <p:cNvSpPr/>
          <p:nvPr/>
        </p:nvSpPr>
        <p:spPr>
          <a:xfrm>
            <a:off x="8613720" y="3831480"/>
            <a:ext cx="1407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39" spc="-1" strike="noStrike">
                <a:solidFill>
                  <a:srgbClr val="ffffff"/>
                </a:solidFill>
                <a:latin typeface="Lato"/>
                <a:ea typeface="Lato"/>
              </a:rPr>
              <a:t>outra faixa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Text 22"/>
          <p:cNvSpPr/>
          <p:nvPr/>
        </p:nvSpPr>
        <p:spPr>
          <a:xfrm>
            <a:off x="5148000" y="5074920"/>
            <a:ext cx="5915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20" spc="-1" strike="noStrike">
                <a:solidFill>
                  <a:srgbClr val="071a4a"/>
                </a:solidFill>
                <a:latin typeface="Lato"/>
                <a:ea typeface="Lato"/>
              </a:rPr>
              <a:t>Por que 30 não entra na primeira faixa? Porque a condição usa “&lt; 30”.</a:t>
            </a:r>
            <a:endParaRPr b="0" lang="pt-BR" sz="14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PlaceHolder 1"/>
          <p:cNvSpPr>
            <a:spLocks noGrp="1"/>
          </p:cNvSpPr>
          <p:nvPr>
            <p:ph type="sldNum" idx="25"/>
          </p:nvPr>
        </p:nvSpPr>
        <p:spPr>
          <a:xfrm>
            <a:off x="11283840" y="644652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850" spc="-1" strike="noStrike">
                <a:solidFill>
                  <a:srgbClr val="7a879d"/>
                </a:solidFill>
                <a:latin typeface="Lato"/>
                <a:ea typeface="La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22719C-65D1-43FF-BC38-0A482DA2B9EB}" type="slidenum">
              <a:rPr b="0" lang="pt-BR" sz="850" spc="-1" strike="noStrike">
                <a:solidFill>
                  <a:srgbClr val="7a879d"/>
                </a:solidFill>
                <a:latin typeface="Lato"/>
                <a:ea typeface="Lato"/>
              </a:rPr>
              <a:t>20</a:t>
            </a:fld>
            <a:endParaRPr b="0" lang="pt-BR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Text 0"/>
          <p:cNvSpPr/>
          <p:nvPr/>
        </p:nvSpPr>
        <p:spPr>
          <a:xfrm>
            <a:off x="713160" y="896040"/>
            <a:ext cx="99666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  <a:ea typeface="Inter Display"/>
              </a:rPr>
              <a:t>Três faixas didáticas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Text 1"/>
          <p:cNvSpPr/>
          <p:nvPr/>
        </p:nvSpPr>
        <p:spPr>
          <a:xfrm>
            <a:off x="731520" y="1444680"/>
            <a:ext cx="9692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50" spc="-1" strike="noStrike">
                <a:solidFill>
                  <a:srgbClr val="5b6b86"/>
                </a:solidFill>
                <a:latin typeface="Lato"/>
                <a:ea typeface="Lato"/>
              </a:rPr>
              <a:t>Agora o programa precisa distinguir A, B e C.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Text 2"/>
          <p:cNvSpPr/>
          <p:nvPr/>
        </p:nvSpPr>
        <p:spPr>
          <a:xfrm>
            <a:off x="1051560" y="2487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00" spc="-1" strike="noStrike">
                <a:solidFill>
                  <a:srgbClr val="5b6b86"/>
                </a:solidFill>
                <a:latin typeface="Lato"/>
                <a:ea typeface="Lato"/>
              </a:rPr>
              <a:t>0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Text 3"/>
          <p:cNvSpPr/>
          <p:nvPr/>
        </p:nvSpPr>
        <p:spPr>
          <a:xfrm>
            <a:off x="10725840" y="248724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00" spc="-1" strike="noStrike">
                <a:solidFill>
                  <a:srgbClr val="5b6b86"/>
                </a:solidFill>
                <a:latin typeface="Lato"/>
                <a:ea typeface="Lato"/>
              </a:rPr>
              <a:t>100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Shape 4"/>
          <p:cNvSpPr/>
          <p:nvPr/>
        </p:nvSpPr>
        <p:spPr>
          <a:xfrm>
            <a:off x="1353240" y="2871360"/>
            <a:ext cx="2678760" cy="658080"/>
          </a:xfrm>
          <a:prstGeom prst="rect">
            <a:avLst/>
          </a:prstGeom>
          <a:solidFill>
            <a:srgbClr val="10b9f3"/>
          </a:solidFill>
          <a:ln w="12700">
            <a:solidFill>
              <a:srgbClr val="10b9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" name="Shape 5"/>
          <p:cNvSpPr/>
          <p:nvPr/>
        </p:nvSpPr>
        <p:spPr>
          <a:xfrm>
            <a:off x="4032360" y="2871360"/>
            <a:ext cx="3803400" cy="658080"/>
          </a:xfrm>
          <a:prstGeom prst="rect">
            <a:avLst/>
          </a:prstGeom>
          <a:solidFill>
            <a:srgbClr val="f36b21"/>
          </a:solidFill>
          <a:ln w="12700">
            <a:solidFill>
              <a:srgbClr val="f36b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9" name="Shape 6"/>
          <p:cNvSpPr/>
          <p:nvPr/>
        </p:nvSpPr>
        <p:spPr>
          <a:xfrm>
            <a:off x="7836480" y="2871360"/>
            <a:ext cx="2998800" cy="658080"/>
          </a:xfrm>
          <a:prstGeom prst="rect">
            <a:avLst/>
          </a:prstGeom>
          <a:solidFill>
            <a:srgbClr val="e72b76"/>
          </a:solidFill>
          <a:ln w="12700">
            <a:solidFill>
              <a:srgbClr val="e72b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" name="Text 7"/>
          <p:cNvSpPr/>
          <p:nvPr/>
        </p:nvSpPr>
        <p:spPr>
          <a:xfrm>
            <a:off x="2258640" y="3017520"/>
            <a:ext cx="859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pc="-1" strike="noStrike">
                <a:solidFill>
                  <a:srgbClr val="ffffff"/>
                </a:solidFill>
                <a:latin typeface="Inter Display"/>
                <a:ea typeface="Inter Display"/>
              </a:rPr>
              <a:t>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Text 8"/>
          <p:cNvSpPr/>
          <p:nvPr/>
        </p:nvSpPr>
        <p:spPr>
          <a:xfrm>
            <a:off x="5477400" y="3017520"/>
            <a:ext cx="859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pc="-1" strike="noStrike">
                <a:solidFill>
                  <a:srgbClr val="ffffff"/>
                </a:solidFill>
                <a:latin typeface="Inter Display"/>
                <a:ea typeface="Inter Display"/>
              </a:rPr>
              <a:t>B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Text 9"/>
          <p:cNvSpPr/>
          <p:nvPr/>
        </p:nvSpPr>
        <p:spPr>
          <a:xfrm>
            <a:off x="8915400" y="3017520"/>
            <a:ext cx="859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pc="-1" strike="noStrike">
                <a:solidFill>
                  <a:srgbClr val="ffffff"/>
                </a:solidFill>
                <a:latin typeface="Inter Display"/>
                <a:ea typeface="Inter Display"/>
              </a:rPr>
              <a:t>C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Shape 10"/>
          <p:cNvSpPr/>
          <p:nvPr/>
        </p:nvSpPr>
        <p:spPr>
          <a:xfrm>
            <a:off x="4032360" y="2496240"/>
            <a:ext cx="360" cy="1517760"/>
          </a:xfrm>
          <a:prstGeom prst="line">
            <a:avLst/>
          </a:prstGeom>
          <a:ln w="25400">
            <a:solidFill>
              <a:srgbClr val="071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Shape 11"/>
          <p:cNvSpPr/>
          <p:nvPr/>
        </p:nvSpPr>
        <p:spPr>
          <a:xfrm>
            <a:off x="7836120" y="2496240"/>
            <a:ext cx="360" cy="1517760"/>
          </a:xfrm>
          <a:prstGeom prst="line">
            <a:avLst/>
          </a:prstGeom>
          <a:ln w="25400">
            <a:solidFill>
              <a:srgbClr val="071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Text 12"/>
          <p:cNvSpPr/>
          <p:nvPr/>
        </p:nvSpPr>
        <p:spPr>
          <a:xfrm>
            <a:off x="3712320" y="2139840"/>
            <a:ext cx="639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pc="-1" strike="noStrike">
                <a:solidFill>
                  <a:srgbClr val="071a4a"/>
                </a:solidFill>
                <a:latin typeface="Inter Display"/>
                <a:ea typeface="Inter Display"/>
              </a:rPr>
              <a:t>30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Text 13"/>
          <p:cNvSpPr/>
          <p:nvPr/>
        </p:nvSpPr>
        <p:spPr>
          <a:xfrm>
            <a:off x="7516440" y="2139840"/>
            <a:ext cx="639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pc="-1" strike="noStrike">
                <a:solidFill>
                  <a:srgbClr val="071a4a"/>
                </a:solidFill>
                <a:latin typeface="Inter Display"/>
                <a:ea typeface="Inter Display"/>
              </a:rPr>
              <a:t>70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Text 14"/>
          <p:cNvSpPr/>
          <p:nvPr/>
        </p:nvSpPr>
        <p:spPr>
          <a:xfrm>
            <a:off x="2148840" y="3849480"/>
            <a:ext cx="1078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00" spc="-1" strike="noStrike">
                <a:solidFill>
                  <a:srgbClr val="10b9f3"/>
                </a:solidFill>
                <a:latin typeface="Lato"/>
                <a:ea typeface="Lato"/>
              </a:rPr>
              <a:t>0–29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Text 15"/>
          <p:cNvSpPr/>
          <p:nvPr/>
        </p:nvSpPr>
        <p:spPr>
          <a:xfrm>
            <a:off x="5422320" y="3849480"/>
            <a:ext cx="1078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00" spc="-1" strike="noStrike">
                <a:solidFill>
                  <a:srgbClr val="f36b21"/>
                </a:solidFill>
                <a:latin typeface="Lato"/>
                <a:ea typeface="Lato"/>
              </a:rPr>
              <a:t>30–70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Text 16"/>
          <p:cNvSpPr/>
          <p:nvPr/>
        </p:nvSpPr>
        <p:spPr>
          <a:xfrm>
            <a:off x="8732520" y="3849480"/>
            <a:ext cx="1261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00" spc="-1" strike="noStrike">
                <a:solidFill>
                  <a:srgbClr val="e72b76"/>
                </a:solidFill>
                <a:latin typeface="Lato"/>
                <a:ea typeface="Lato"/>
              </a:rPr>
              <a:t>71–100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Shape 17"/>
          <p:cNvSpPr/>
          <p:nvPr/>
        </p:nvSpPr>
        <p:spPr>
          <a:xfrm>
            <a:off x="2057400" y="4736520"/>
            <a:ext cx="8064720" cy="712800"/>
          </a:xfrm>
          <a:prstGeom prst="roundRect">
            <a:avLst>
              <a:gd name="adj" fmla="val 10256"/>
            </a:avLst>
          </a:prstGeom>
          <a:solidFill>
            <a:srgbClr val="fff6ea"/>
          </a:solidFill>
          <a:ln w="12700">
            <a:solidFill>
              <a:srgbClr val="f8d6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Text 18"/>
          <p:cNvSpPr/>
          <p:nvPr/>
        </p:nvSpPr>
        <p:spPr>
          <a:xfrm>
            <a:off x="2322720" y="4946760"/>
            <a:ext cx="7534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82450c"/>
                </a:solidFill>
                <a:latin typeface="Lato"/>
                <a:ea typeface="Lato"/>
              </a:rPr>
              <a:t>30 e 70 são limites didáticos para ensinar programação. Não representam critérios clínicos.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PlaceHolder 1"/>
          <p:cNvSpPr>
            <a:spLocks noGrp="1"/>
          </p:cNvSpPr>
          <p:nvPr>
            <p:ph type="sldNum" idx="26"/>
          </p:nvPr>
        </p:nvSpPr>
        <p:spPr>
          <a:xfrm>
            <a:off x="11283840" y="644652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850" spc="-1" strike="noStrike">
                <a:solidFill>
                  <a:srgbClr val="7a879d"/>
                </a:solidFill>
                <a:latin typeface="Lato"/>
                <a:ea typeface="La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689665-2F0F-407D-A37C-B560FA6538A3}" type="slidenum">
              <a:rPr b="0" lang="pt-BR" sz="850" spc="-1" strike="noStrike">
                <a:solidFill>
                  <a:srgbClr val="7a879d"/>
                </a:solidFill>
                <a:latin typeface="Lato"/>
                <a:ea typeface="Lato"/>
              </a:rPr>
              <a:t>21</a:t>
            </a:fld>
            <a:endParaRPr b="0" lang="pt-BR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Text 0"/>
          <p:cNvSpPr/>
          <p:nvPr/>
        </p:nvSpPr>
        <p:spPr>
          <a:xfrm>
            <a:off x="713160" y="896040"/>
            <a:ext cx="99666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  <a:ea typeface="Inter Display"/>
              </a:rPr>
              <a:t>Condições aninhadas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Text 1"/>
          <p:cNvSpPr/>
          <p:nvPr/>
        </p:nvSpPr>
        <p:spPr>
          <a:xfrm>
            <a:off x="731520" y="1444680"/>
            <a:ext cx="9692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50" spc="-1" strike="noStrike">
                <a:solidFill>
                  <a:srgbClr val="5b6b86"/>
                </a:solidFill>
                <a:latin typeface="Lato"/>
                <a:ea typeface="Lato"/>
              </a:rPr>
              <a:t>Se a primeira condição for falsa, fazemos uma segunda pergunta.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Shape 2"/>
          <p:cNvSpPr/>
          <p:nvPr/>
        </p:nvSpPr>
        <p:spPr>
          <a:xfrm>
            <a:off x="1847160" y="2066400"/>
            <a:ext cx="2084400" cy="1170000"/>
          </a:xfrm>
          <a:prstGeom prst="diamond">
            <a:avLst/>
          </a:prstGeom>
          <a:solidFill>
            <a:srgbClr val="eaf8fe"/>
          </a:solidFill>
          <a:ln w="25400">
            <a:solidFill>
              <a:srgbClr val="10b9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Text 3"/>
          <p:cNvSpPr/>
          <p:nvPr/>
        </p:nvSpPr>
        <p:spPr>
          <a:xfrm>
            <a:off x="2459880" y="2477880"/>
            <a:ext cx="859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00" spc="-1" strike="noStrike">
                <a:solidFill>
                  <a:srgbClr val="071a4a"/>
                </a:solidFill>
                <a:latin typeface="DejaVu Sans Mono"/>
                <a:ea typeface="DejaVu Sans Mono"/>
              </a:rPr>
              <a:t>&lt; 30?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Shape 4"/>
          <p:cNvSpPr/>
          <p:nvPr/>
        </p:nvSpPr>
        <p:spPr>
          <a:xfrm>
            <a:off x="2862000" y="3236760"/>
            <a:ext cx="360" cy="987480"/>
          </a:xfrm>
          <a:prstGeom prst="line">
            <a:avLst/>
          </a:prstGeom>
          <a:ln w="27940">
            <a:solidFill>
              <a:srgbClr val="10b9f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Shape 5"/>
          <p:cNvSpPr/>
          <p:nvPr/>
        </p:nvSpPr>
        <p:spPr>
          <a:xfrm>
            <a:off x="1947600" y="3401640"/>
            <a:ext cx="685440" cy="347040"/>
          </a:xfrm>
          <a:prstGeom prst="roundRect">
            <a:avLst>
              <a:gd name="adj" fmla="val 21053"/>
            </a:avLst>
          </a:prstGeom>
          <a:solidFill>
            <a:srgbClr val="10b9f3"/>
          </a:solidFill>
          <a:ln w="12700">
            <a:solidFill>
              <a:srgbClr val="10b9f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9" name="Text 6"/>
          <p:cNvSpPr/>
          <p:nvPr/>
        </p:nvSpPr>
        <p:spPr>
          <a:xfrm>
            <a:off x="2020680" y="3465720"/>
            <a:ext cx="539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30" spc="-1" strike="noStrike">
                <a:solidFill>
                  <a:srgbClr val="ffffff"/>
                </a:solidFill>
                <a:latin typeface="Lato"/>
                <a:ea typeface="Lato"/>
              </a:rPr>
              <a:t>SIM</a:t>
            </a:r>
            <a:endParaRPr b="0" lang="pt-BR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Shape 7"/>
          <p:cNvSpPr/>
          <p:nvPr/>
        </p:nvSpPr>
        <p:spPr>
          <a:xfrm>
            <a:off x="2258640" y="4425840"/>
            <a:ext cx="1206720" cy="347040"/>
          </a:xfrm>
          <a:prstGeom prst="roundRect">
            <a:avLst>
              <a:gd name="adj" fmla="val 21053"/>
            </a:avLst>
          </a:prstGeom>
          <a:solidFill>
            <a:srgbClr val="10b9f3"/>
          </a:solidFill>
          <a:ln w="12700">
            <a:solidFill>
              <a:srgbClr val="10b9f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1" name="Text 8"/>
          <p:cNvSpPr/>
          <p:nvPr/>
        </p:nvSpPr>
        <p:spPr>
          <a:xfrm>
            <a:off x="2331720" y="4489560"/>
            <a:ext cx="106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00" spc="-1" strike="noStrike">
                <a:solidFill>
                  <a:srgbClr val="ffffff"/>
                </a:solidFill>
                <a:latin typeface="Lato"/>
                <a:ea typeface="Lato"/>
              </a:rPr>
              <a:t>A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Shape 9"/>
          <p:cNvSpPr/>
          <p:nvPr/>
        </p:nvSpPr>
        <p:spPr>
          <a:xfrm>
            <a:off x="3931920" y="2651760"/>
            <a:ext cx="1856160" cy="360"/>
          </a:xfrm>
          <a:prstGeom prst="line">
            <a:avLst/>
          </a:prstGeom>
          <a:ln w="27940">
            <a:solidFill>
              <a:srgbClr val="f36b2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Shape 10"/>
          <p:cNvSpPr/>
          <p:nvPr/>
        </p:nvSpPr>
        <p:spPr>
          <a:xfrm>
            <a:off x="4443840" y="2267640"/>
            <a:ext cx="685440" cy="347040"/>
          </a:xfrm>
          <a:prstGeom prst="roundRect">
            <a:avLst>
              <a:gd name="adj" fmla="val 21053"/>
            </a:avLst>
          </a:prstGeom>
          <a:solidFill>
            <a:srgbClr val="f36b21"/>
          </a:solidFill>
          <a:ln w="12700">
            <a:solidFill>
              <a:srgbClr val="f36b2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4" name="Text 11"/>
          <p:cNvSpPr/>
          <p:nvPr/>
        </p:nvSpPr>
        <p:spPr>
          <a:xfrm>
            <a:off x="4517280" y="2331720"/>
            <a:ext cx="539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30" spc="-1" strike="noStrike">
                <a:solidFill>
                  <a:srgbClr val="ffffff"/>
                </a:solidFill>
                <a:latin typeface="Lato"/>
                <a:ea typeface="Lato"/>
              </a:rPr>
              <a:t>NÃO</a:t>
            </a:r>
            <a:endParaRPr b="0" lang="pt-BR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Shape 12"/>
          <p:cNvSpPr/>
          <p:nvPr/>
        </p:nvSpPr>
        <p:spPr>
          <a:xfrm>
            <a:off x="5897880" y="2066400"/>
            <a:ext cx="2212560" cy="1170000"/>
          </a:xfrm>
          <a:prstGeom prst="diamond">
            <a:avLst/>
          </a:prstGeom>
          <a:solidFill>
            <a:srgbClr val="fff7ec"/>
          </a:solidFill>
          <a:ln w="25400">
            <a:solidFill>
              <a:srgbClr val="f36b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Text 13"/>
          <p:cNvSpPr/>
          <p:nvPr/>
        </p:nvSpPr>
        <p:spPr>
          <a:xfrm>
            <a:off x="6510600" y="2477880"/>
            <a:ext cx="987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00" spc="-1" strike="noStrike">
                <a:solidFill>
                  <a:srgbClr val="071a4a"/>
                </a:solidFill>
                <a:latin typeface="DejaVu Sans Mono"/>
                <a:ea typeface="DejaVu Sans Mono"/>
              </a:rPr>
              <a:t>≤ </a:t>
            </a:r>
            <a:r>
              <a:rPr b="1" lang="pt-BR" sz="1300" spc="-1" strike="noStrike">
                <a:solidFill>
                  <a:srgbClr val="071a4a"/>
                </a:solidFill>
                <a:latin typeface="DejaVu Sans Mono"/>
                <a:ea typeface="DejaVu Sans Mono"/>
              </a:rPr>
              <a:t>70?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Shape 14"/>
          <p:cNvSpPr/>
          <p:nvPr/>
        </p:nvSpPr>
        <p:spPr>
          <a:xfrm>
            <a:off x="7004160" y="3236760"/>
            <a:ext cx="360" cy="987480"/>
          </a:xfrm>
          <a:prstGeom prst="line">
            <a:avLst/>
          </a:prstGeom>
          <a:ln w="27940">
            <a:solidFill>
              <a:srgbClr val="f36b2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Shape 15"/>
          <p:cNvSpPr/>
          <p:nvPr/>
        </p:nvSpPr>
        <p:spPr>
          <a:xfrm>
            <a:off x="6108120" y="3401640"/>
            <a:ext cx="685440" cy="347040"/>
          </a:xfrm>
          <a:prstGeom prst="roundRect">
            <a:avLst>
              <a:gd name="adj" fmla="val 21053"/>
            </a:avLst>
          </a:prstGeom>
          <a:solidFill>
            <a:srgbClr val="f36b21"/>
          </a:solidFill>
          <a:ln w="12700">
            <a:solidFill>
              <a:srgbClr val="f36b2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9" name="Text 16"/>
          <p:cNvSpPr/>
          <p:nvPr/>
        </p:nvSpPr>
        <p:spPr>
          <a:xfrm>
            <a:off x="6181200" y="3465720"/>
            <a:ext cx="539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30" spc="-1" strike="noStrike">
                <a:solidFill>
                  <a:srgbClr val="ffffff"/>
                </a:solidFill>
                <a:latin typeface="Lato"/>
                <a:ea typeface="Lato"/>
              </a:rPr>
              <a:t>SIM</a:t>
            </a:r>
            <a:endParaRPr b="0" lang="pt-BR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Shape 17"/>
          <p:cNvSpPr/>
          <p:nvPr/>
        </p:nvSpPr>
        <p:spPr>
          <a:xfrm>
            <a:off x="6409800" y="4425840"/>
            <a:ext cx="1206720" cy="347040"/>
          </a:xfrm>
          <a:prstGeom prst="roundRect">
            <a:avLst>
              <a:gd name="adj" fmla="val 21053"/>
            </a:avLst>
          </a:prstGeom>
          <a:solidFill>
            <a:srgbClr val="f36b21"/>
          </a:solidFill>
          <a:ln w="12700">
            <a:solidFill>
              <a:srgbClr val="f36b2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1" name="Text 18"/>
          <p:cNvSpPr/>
          <p:nvPr/>
        </p:nvSpPr>
        <p:spPr>
          <a:xfrm>
            <a:off x="6483240" y="4489560"/>
            <a:ext cx="106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00" spc="-1" strike="noStrike">
                <a:solidFill>
                  <a:srgbClr val="ffffff"/>
                </a:solidFill>
                <a:latin typeface="Lato"/>
                <a:ea typeface="Lato"/>
              </a:rPr>
              <a:t>B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Shape 19"/>
          <p:cNvSpPr/>
          <p:nvPr/>
        </p:nvSpPr>
        <p:spPr>
          <a:xfrm>
            <a:off x="8110440" y="2651760"/>
            <a:ext cx="1828800" cy="360"/>
          </a:xfrm>
          <a:prstGeom prst="line">
            <a:avLst/>
          </a:prstGeom>
          <a:ln w="27940">
            <a:solidFill>
              <a:srgbClr val="e72b7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Shape 20"/>
          <p:cNvSpPr/>
          <p:nvPr/>
        </p:nvSpPr>
        <p:spPr>
          <a:xfrm>
            <a:off x="8613720" y="2267640"/>
            <a:ext cx="685440" cy="347040"/>
          </a:xfrm>
          <a:prstGeom prst="roundRect">
            <a:avLst>
              <a:gd name="adj" fmla="val 21053"/>
            </a:avLst>
          </a:prstGeom>
          <a:solidFill>
            <a:srgbClr val="e72b76"/>
          </a:solidFill>
          <a:ln w="12700">
            <a:solidFill>
              <a:srgbClr val="e72b7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4" name="Text 21"/>
          <p:cNvSpPr/>
          <p:nvPr/>
        </p:nvSpPr>
        <p:spPr>
          <a:xfrm>
            <a:off x="8686800" y="2331720"/>
            <a:ext cx="539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30" spc="-1" strike="noStrike">
                <a:solidFill>
                  <a:srgbClr val="ffffff"/>
                </a:solidFill>
                <a:latin typeface="Lato"/>
                <a:ea typeface="Lato"/>
              </a:rPr>
              <a:t>NÃO</a:t>
            </a:r>
            <a:endParaRPr b="0" lang="pt-BR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Shape 22"/>
          <p:cNvSpPr/>
          <p:nvPr/>
        </p:nvSpPr>
        <p:spPr>
          <a:xfrm>
            <a:off x="9720000" y="2340720"/>
            <a:ext cx="1206720" cy="347040"/>
          </a:xfrm>
          <a:prstGeom prst="roundRect">
            <a:avLst>
              <a:gd name="adj" fmla="val 21053"/>
            </a:avLst>
          </a:prstGeom>
          <a:solidFill>
            <a:srgbClr val="e72b76"/>
          </a:solidFill>
          <a:ln w="12700">
            <a:solidFill>
              <a:srgbClr val="e72b7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6" name="Text 23"/>
          <p:cNvSpPr/>
          <p:nvPr/>
        </p:nvSpPr>
        <p:spPr>
          <a:xfrm>
            <a:off x="9793080" y="2404800"/>
            <a:ext cx="106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00" spc="-1" strike="noStrike">
                <a:solidFill>
                  <a:srgbClr val="ffffff"/>
                </a:solidFill>
                <a:latin typeface="Lato"/>
                <a:ea typeface="Lato"/>
              </a:rPr>
              <a:t>C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Shape 24"/>
          <p:cNvSpPr/>
          <p:nvPr/>
        </p:nvSpPr>
        <p:spPr>
          <a:xfrm>
            <a:off x="1847160" y="5321880"/>
            <a:ext cx="8988120" cy="475200"/>
          </a:xfrm>
          <a:prstGeom prst="roundRect">
            <a:avLst>
              <a:gd name="adj" fmla="val 15385"/>
            </a:avLst>
          </a:prstGeom>
          <a:solidFill>
            <a:srgbClr val="eef3fa"/>
          </a:solidFill>
          <a:ln w="12700">
            <a:solidFill>
              <a:srgbClr val="d6e1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Text 25"/>
          <p:cNvSpPr/>
          <p:nvPr/>
        </p:nvSpPr>
        <p:spPr>
          <a:xfrm>
            <a:off x="2121480" y="5459040"/>
            <a:ext cx="8439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70" spc="-1" strike="noStrike">
                <a:solidFill>
                  <a:srgbClr val="071a4a"/>
                </a:solidFill>
                <a:latin typeface="Lato"/>
                <a:ea typeface="Lato"/>
              </a:rPr>
              <a:t>A ordem das condições é parte da lógica: primeiro testamos A; só depois distinguimos B de C.</a:t>
            </a:r>
            <a:endParaRPr b="0" lang="pt-BR" sz="1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PlaceHolder 1"/>
          <p:cNvSpPr>
            <a:spLocks noGrp="1"/>
          </p:cNvSpPr>
          <p:nvPr>
            <p:ph type="sldNum" idx="27"/>
          </p:nvPr>
        </p:nvSpPr>
        <p:spPr>
          <a:xfrm>
            <a:off x="11283840" y="644652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850" spc="-1" strike="noStrike">
                <a:solidFill>
                  <a:srgbClr val="7a879d"/>
                </a:solidFill>
                <a:latin typeface="Lato"/>
                <a:ea typeface="La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B2AC13-45D5-47DA-BE16-FC54B3D2E0CE}" type="slidenum">
              <a:rPr b="0" lang="pt-BR" sz="850" spc="-1" strike="noStrike">
                <a:solidFill>
                  <a:srgbClr val="7a879d"/>
                </a:solidFill>
                <a:latin typeface="Lato"/>
                <a:ea typeface="Lato"/>
              </a:rPr>
              <a:t>22</a:t>
            </a:fld>
            <a:endParaRPr b="0" lang="pt-BR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Text 0"/>
          <p:cNvSpPr/>
          <p:nvPr/>
        </p:nvSpPr>
        <p:spPr>
          <a:xfrm>
            <a:off x="713160" y="896040"/>
            <a:ext cx="99666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  <a:ea typeface="Inter Display"/>
              </a:rPr>
              <a:t>Testar as fronteiras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Text 1"/>
          <p:cNvSpPr/>
          <p:nvPr/>
        </p:nvSpPr>
        <p:spPr>
          <a:xfrm>
            <a:off x="731520" y="1444680"/>
            <a:ext cx="9692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50" spc="-1" strike="noStrike">
                <a:solidFill>
                  <a:srgbClr val="5b6b86"/>
                </a:solidFill>
                <a:latin typeface="Lato"/>
                <a:ea typeface="Lato"/>
              </a:rPr>
              <a:t>Casos próximos aos limites revelam erros rapidamente.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32" name="Table 0"/>
          <p:cNvGraphicFramePr/>
          <p:nvPr/>
        </p:nvGraphicFramePr>
        <p:xfrm>
          <a:off x="1298520" y="2103120"/>
          <a:ext cx="9582480" cy="2450160"/>
        </p:xfrm>
        <a:graphic>
          <a:graphicData uri="http://schemas.openxmlformats.org/drawingml/2006/table">
            <a:tbl>
              <a:tblPr/>
              <a:tblGrid>
                <a:gridCol w="1389600"/>
                <a:gridCol w="2578320"/>
                <a:gridCol w="5614200"/>
              </a:tblGrid>
              <a:tr h="475200">
                <a:tc>
                  <a:txBody>
                    <a:bodyPr lIns="109440" rIns="109440" tIns="109440" bIns="1094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300" spc="-1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</a:rPr>
                        <a:t>Entrada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ced8e6"/>
                      </a:solidFill>
                      <a:prstDash val="solid"/>
                    </a:lnL>
                    <a:lnR w="12240">
                      <a:solidFill>
                        <a:srgbClr val="ced8e6"/>
                      </a:solidFill>
                      <a:prstDash val="solid"/>
                    </a:lnR>
                    <a:lnT w="12240">
                      <a:solidFill>
                        <a:srgbClr val="ced8e6"/>
                      </a:solidFill>
                      <a:prstDash val="solid"/>
                    </a:lnT>
                    <a:lnB w="12240">
                      <a:solidFill>
                        <a:srgbClr val="ced8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rIns="109440" tIns="109440" bIns="1094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</a:rPr>
                        <a:t>Resultado esperado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ced8e6"/>
                      </a:solidFill>
                      <a:prstDash val="solid"/>
                    </a:lnL>
                    <a:lnR w="12240">
                      <a:solidFill>
                        <a:srgbClr val="ced8e6"/>
                      </a:solidFill>
                      <a:prstDash val="solid"/>
                    </a:lnR>
                    <a:lnT w="12240">
                      <a:solidFill>
                        <a:srgbClr val="ced8e6"/>
                      </a:solidFill>
                      <a:prstDash val="solid"/>
                    </a:lnT>
                    <a:lnB w="12240">
                      <a:solidFill>
                        <a:srgbClr val="ced8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rIns="109440" tIns="109440" bIns="1094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</a:rPr>
                        <a:t>Por quê?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ced8e6"/>
                      </a:solidFill>
                      <a:prstDash val="solid"/>
                    </a:lnL>
                    <a:lnR w="12240">
                      <a:solidFill>
                        <a:srgbClr val="ced8e6"/>
                      </a:solidFill>
                      <a:prstDash val="solid"/>
                    </a:lnR>
                    <a:lnT w="12240">
                      <a:solidFill>
                        <a:srgbClr val="ced8e6"/>
                      </a:solidFill>
                      <a:prstDash val="solid"/>
                    </a:lnT>
                    <a:lnB w="12240">
                      <a:solidFill>
                        <a:srgbClr val="ced8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3560">
                <a:tc>
                  <a:txBody>
                    <a:bodyPr lIns="109440" rIns="109440" tIns="109440" bIns="1094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14213d"/>
                          </a:solidFill>
                          <a:latin typeface="Lato"/>
                          <a:ea typeface="Lato"/>
                        </a:rPr>
                        <a:t>29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ced8e6"/>
                      </a:solidFill>
                      <a:prstDash val="solid"/>
                    </a:lnL>
                    <a:lnR w="12240">
                      <a:solidFill>
                        <a:srgbClr val="ced8e6"/>
                      </a:solidFill>
                      <a:prstDash val="solid"/>
                    </a:lnR>
                    <a:lnT w="12240">
                      <a:solidFill>
                        <a:srgbClr val="ced8e6"/>
                      </a:solidFill>
                      <a:prstDash val="solid"/>
                    </a:lnT>
                    <a:lnB w="12240">
                      <a:solidFill>
                        <a:srgbClr val="ced8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rIns="109440" tIns="109440" bIns="1094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14213d"/>
                          </a:solidFill>
                          <a:latin typeface="Lato"/>
                          <a:ea typeface="Lato"/>
                        </a:rPr>
                        <a:t>Faixa A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ced8e6"/>
                      </a:solidFill>
                      <a:prstDash val="solid"/>
                    </a:lnL>
                    <a:lnR w="12240">
                      <a:solidFill>
                        <a:srgbClr val="ced8e6"/>
                      </a:solidFill>
                      <a:prstDash val="solid"/>
                    </a:lnR>
                    <a:lnT w="12240">
                      <a:solidFill>
                        <a:srgbClr val="ced8e6"/>
                      </a:solidFill>
                      <a:prstDash val="solid"/>
                    </a:lnT>
                    <a:lnB w="12240">
                      <a:solidFill>
                        <a:srgbClr val="ced8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rIns="109440" tIns="109440" bIns="1094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14213d"/>
                          </a:solidFill>
                          <a:latin typeface="Lato"/>
                          <a:ea typeface="Lato"/>
                        </a:rPr>
                        <a:t>abaixo do primeiro limite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ced8e6"/>
                      </a:solidFill>
                      <a:prstDash val="solid"/>
                    </a:lnL>
                    <a:lnR w="12240">
                      <a:solidFill>
                        <a:srgbClr val="ced8e6"/>
                      </a:solidFill>
                      <a:prstDash val="solid"/>
                    </a:lnR>
                    <a:lnT w="12240">
                      <a:solidFill>
                        <a:srgbClr val="ced8e6"/>
                      </a:solidFill>
                      <a:prstDash val="solid"/>
                    </a:lnT>
                    <a:lnB w="12240">
                      <a:solidFill>
                        <a:srgbClr val="ced8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3560">
                <a:tc>
                  <a:txBody>
                    <a:bodyPr lIns="109440" rIns="109440" tIns="109440" bIns="1094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14213d"/>
                          </a:solidFill>
                          <a:latin typeface="Lato"/>
                          <a:ea typeface="Lato"/>
                        </a:rPr>
                        <a:t>30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ced8e6"/>
                      </a:solidFill>
                      <a:prstDash val="solid"/>
                    </a:lnL>
                    <a:lnR w="12240">
                      <a:solidFill>
                        <a:srgbClr val="ced8e6"/>
                      </a:solidFill>
                      <a:prstDash val="solid"/>
                    </a:lnR>
                    <a:lnT w="12240">
                      <a:solidFill>
                        <a:srgbClr val="ced8e6"/>
                      </a:solidFill>
                      <a:prstDash val="solid"/>
                    </a:lnT>
                    <a:lnB w="12240">
                      <a:solidFill>
                        <a:srgbClr val="ced8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rIns="109440" tIns="109440" bIns="1094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14213d"/>
                          </a:solidFill>
                          <a:latin typeface="Lato"/>
                          <a:ea typeface="Lato"/>
                        </a:rPr>
                        <a:t>Faixa B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ced8e6"/>
                      </a:solidFill>
                      <a:prstDash val="solid"/>
                    </a:lnL>
                    <a:lnR w="12240">
                      <a:solidFill>
                        <a:srgbClr val="ced8e6"/>
                      </a:solidFill>
                      <a:prstDash val="solid"/>
                    </a:lnR>
                    <a:lnT w="12240">
                      <a:solidFill>
                        <a:srgbClr val="ced8e6"/>
                      </a:solidFill>
                      <a:prstDash val="solid"/>
                    </a:lnT>
                    <a:lnB w="12240">
                      <a:solidFill>
                        <a:srgbClr val="ced8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rIns="109440" tIns="109440" bIns="1094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14213d"/>
                          </a:solidFill>
                          <a:latin typeface="Lato"/>
                          <a:ea typeface="Lato"/>
                        </a:rPr>
                        <a:t>no primeiro limite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ced8e6"/>
                      </a:solidFill>
                      <a:prstDash val="solid"/>
                    </a:lnL>
                    <a:lnR w="12240">
                      <a:solidFill>
                        <a:srgbClr val="ced8e6"/>
                      </a:solidFill>
                      <a:prstDash val="solid"/>
                    </a:lnR>
                    <a:lnT w="12240">
                      <a:solidFill>
                        <a:srgbClr val="ced8e6"/>
                      </a:solidFill>
                      <a:prstDash val="solid"/>
                    </a:lnT>
                    <a:lnB w="12240">
                      <a:solidFill>
                        <a:srgbClr val="ced8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3560">
                <a:tc>
                  <a:txBody>
                    <a:bodyPr lIns="109440" rIns="109440" tIns="109440" bIns="1094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14213d"/>
                          </a:solidFill>
                          <a:latin typeface="Lato"/>
                          <a:ea typeface="Lato"/>
                        </a:rPr>
                        <a:t>70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ced8e6"/>
                      </a:solidFill>
                      <a:prstDash val="solid"/>
                    </a:lnL>
                    <a:lnR w="12240">
                      <a:solidFill>
                        <a:srgbClr val="ced8e6"/>
                      </a:solidFill>
                      <a:prstDash val="solid"/>
                    </a:lnR>
                    <a:lnT w="12240">
                      <a:solidFill>
                        <a:srgbClr val="ced8e6"/>
                      </a:solidFill>
                      <a:prstDash val="solid"/>
                    </a:lnT>
                    <a:lnB w="12240">
                      <a:solidFill>
                        <a:srgbClr val="ced8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rIns="109440" tIns="109440" bIns="1094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14213d"/>
                          </a:solidFill>
                          <a:latin typeface="Lato"/>
                          <a:ea typeface="Lato"/>
                        </a:rPr>
                        <a:t>Faixa B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ced8e6"/>
                      </a:solidFill>
                      <a:prstDash val="solid"/>
                    </a:lnL>
                    <a:lnR w="12240">
                      <a:solidFill>
                        <a:srgbClr val="ced8e6"/>
                      </a:solidFill>
                      <a:prstDash val="solid"/>
                    </a:lnR>
                    <a:lnT w="12240">
                      <a:solidFill>
                        <a:srgbClr val="ced8e6"/>
                      </a:solidFill>
                      <a:prstDash val="solid"/>
                    </a:lnT>
                    <a:lnB w="12240">
                      <a:solidFill>
                        <a:srgbClr val="ced8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rIns="109440" tIns="109440" bIns="1094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14213d"/>
                          </a:solidFill>
                          <a:latin typeface="Lato"/>
                          <a:ea typeface="Lato"/>
                        </a:rPr>
                        <a:t>no segundo limite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ced8e6"/>
                      </a:solidFill>
                      <a:prstDash val="solid"/>
                    </a:lnL>
                    <a:lnR w="12240">
                      <a:solidFill>
                        <a:srgbClr val="ced8e6"/>
                      </a:solidFill>
                      <a:prstDash val="solid"/>
                    </a:lnR>
                    <a:lnT w="12240">
                      <a:solidFill>
                        <a:srgbClr val="ced8e6"/>
                      </a:solidFill>
                      <a:prstDash val="solid"/>
                    </a:lnT>
                    <a:lnB w="12240">
                      <a:solidFill>
                        <a:srgbClr val="ced8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3560">
                <a:tc>
                  <a:txBody>
                    <a:bodyPr lIns="109440" rIns="109440" tIns="109440" bIns="1094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14213d"/>
                          </a:solidFill>
                          <a:latin typeface="Lato"/>
                          <a:ea typeface="Lato"/>
                        </a:rPr>
                        <a:t>71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ced8e6"/>
                      </a:solidFill>
                      <a:prstDash val="solid"/>
                    </a:lnL>
                    <a:lnR w="12240">
                      <a:solidFill>
                        <a:srgbClr val="ced8e6"/>
                      </a:solidFill>
                      <a:prstDash val="solid"/>
                    </a:lnR>
                    <a:lnT w="12240">
                      <a:solidFill>
                        <a:srgbClr val="ced8e6"/>
                      </a:solidFill>
                      <a:prstDash val="solid"/>
                    </a:lnT>
                    <a:lnB w="12240">
                      <a:solidFill>
                        <a:srgbClr val="ced8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rIns="109440" tIns="109440" bIns="1094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14213d"/>
                          </a:solidFill>
                          <a:latin typeface="Lato"/>
                          <a:ea typeface="Lato"/>
                        </a:rPr>
                        <a:t>Faixa C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ced8e6"/>
                      </a:solidFill>
                      <a:prstDash val="solid"/>
                    </a:lnL>
                    <a:lnR w="12240">
                      <a:solidFill>
                        <a:srgbClr val="ced8e6"/>
                      </a:solidFill>
                      <a:prstDash val="solid"/>
                    </a:lnR>
                    <a:lnT w="12240">
                      <a:solidFill>
                        <a:srgbClr val="ced8e6"/>
                      </a:solidFill>
                      <a:prstDash val="solid"/>
                    </a:lnT>
                    <a:lnB w="12240">
                      <a:solidFill>
                        <a:srgbClr val="ced8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rIns="109440" tIns="109440" bIns="1094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14213d"/>
                          </a:solidFill>
                          <a:latin typeface="Lato"/>
                          <a:ea typeface="Lato"/>
                        </a:rPr>
                        <a:t>acima do segundo limite</a:t>
                      </a:r>
                      <a:endParaRPr b="0" lang="pt-B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9440" marR="109440">
                    <a:lnL w="12240">
                      <a:solidFill>
                        <a:srgbClr val="ced8e6"/>
                      </a:solidFill>
                      <a:prstDash val="solid"/>
                    </a:lnL>
                    <a:lnR w="12240">
                      <a:solidFill>
                        <a:srgbClr val="ced8e6"/>
                      </a:solidFill>
                      <a:prstDash val="solid"/>
                    </a:lnR>
                    <a:lnT w="12240">
                      <a:solidFill>
                        <a:srgbClr val="ced8e6"/>
                      </a:solidFill>
                      <a:prstDash val="solid"/>
                    </a:lnT>
                    <a:lnB w="12240">
                      <a:solidFill>
                        <a:srgbClr val="ced8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33" name="Shape 2"/>
          <p:cNvSpPr/>
          <p:nvPr/>
        </p:nvSpPr>
        <p:spPr>
          <a:xfrm>
            <a:off x="1298520" y="2103120"/>
            <a:ext cx="9582480" cy="475200"/>
          </a:xfrm>
          <a:prstGeom prst="rect">
            <a:avLst/>
          </a:prstGeom>
          <a:solidFill>
            <a:srgbClr val="071a4a"/>
          </a:solidFill>
          <a:ln w="12700">
            <a:solidFill>
              <a:srgbClr val="071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4" name="Text 3"/>
          <p:cNvSpPr/>
          <p:nvPr/>
        </p:nvSpPr>
        <p:spPr>
          <a:xfrm>
            <a:off x="1426320" y="2231280"/>
            <a:ext cx="1133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20" spc="-1" strike="noStrike">
                <a:solidFill>
                  <a:srgbClr val="ffffff"/>
                </a:solidFill>
                <a:latin typeface="Lato"/>
                <a:ea typeface="Lato"/>
              </a:rPr>
              <a:t>Entrada</a:t>
            </a:r>
            <a:endParaRPr b="0" lang="pt-BR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Text 4"/>
          <p:cNvSpPr/>
          <p:nvPr/>
        </p:nvSpPr>
        <p:spPr>
          <a:xfrm>
            <a:off x="2862000" y="2231280"/>
            <a:ext cx="2322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20" spc="-1" strike="noStrike">
                <a:solidFill>
                  <a:srgbClr val="ffffff"/>
                </a:solidFill>
                <a:latin typeface="Lato"/>
                <a:ea typeface="Lato"/>
              </a:rPr>
              <a:t>Resultado esperado</a:t>
            </a:r>
            <a:endParaRPr b="0" lang="pt-BR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Text 5"/>
          <p:cNvSpPr/>
          <p:nvPr/>
        </p:nvSpPr>
        <p:spPr>
          <a:xfrm>
            <a:off x="5623560" y="2231280"/>
            <a:ext cx="4937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20" spc="-1" strike="noStrike">
                <a:solidFill>
                  <a:srgbClr val="ffffff"/>
                </a:solidFill>
                <a:latin typeface="Lato"/>
                <a:ea typeface="Lato"/>
              </a:rPr>
              <a:t>Por quê?</a:t>
            </a:r>
            <a:endParaRPr b="0" lang="pt-BR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Shape 6"/>
          <p:cNvSpPr/>
          <p:nvPr/>
        </p:nvSpPr>
        <p:spPr>
          <a:xfrm>
            <a:off x="4425840" y="5139000"/>
            <a:ext cx="1462680" cy="347040"/>
          </a:xfrm>
          <a:prstGeom prst="roundRect">
            <a:avLst>
              <a:gd name="adj" fmla="val 21053"/>
            </a:avLst>
          </a:prstGeom>
          <a:solidFill>
            <a:srgbClr val="e72b76"/>
          </a:solidFill>
          <a:ln w="12700">
            <a:solidFill>
              <a:srgbClr val="e72b7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8" name="Text 7"/>
          <p:cNvSpPr/>
          <p:nvPr/>
        </p:nvSpPr>
        <p:spPr>
          <a:xfrm>
            <a:off x="4498920" y="5203080"/>
            <a:ext cx="1316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00" spc="-1" strike="noStrike">
                <a:solidFill>
                  <a:srgbClr val="ffffff"/>
                </a:solidFill>
                <a:latin typeface="Lato"/>
                <a:ea typeface="Lato"/>
              </a:rPr>
              <a:t>FRONTEIRAS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Text 8"/>
          <p:cNvSpPr/>
          <p:nvPr/>
        </p:nvSpPr>
        <p:spPr>
          <a:xfrm>
            <a:off x="1874520" y="5559480"/>
            <a:ext cx="8439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40" spc="-1" strike="noStrike">
                <a:solidFill>
                  <a:srgbClr val="071a4a"/>
                </a:solidFill>
                <a:latin typeface="Lato"/>
                <a:ea typeface="Lato"/>
              </a:rPr>
              <a:t>Testar 29, 30, 70 e 71 é mais informativo do que escolher apenas valores “no meio” das faixas.</a:t>
            </a:r>
            <a:endParaRPr b="0" lang="pt-BR" sz="13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PlaceHolder 1"/>
          <p:cNvSpPr>
            <a:spLocks noGrp="1"/>
          </p:cNvSpPr>
          <p:nvPr>
            <p:ph type="sldNum" idx="28"/>
          </p:nvPr>
        </p:nvSpPr>
        <p:spPr>
          <a:xfrm>
            <a:off x="11283840" y="644652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850" spc="-1" strike="noStrike">
                <a:solidFill>
                  <a:srgbClr val="7a879d"/>
                </a:solidFill>
                <a:latin typeface="Lato"/>
                <a:ea typeface="La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903534-F414-4ED3-89BD-B2825AAFED08}" type="slidenum">
              <a:rPr b="0" lang="pt-BR" sz="850" spc="-1" strike="noStrike">
                <a:solidFill>
                  <a:srgbClr val="7a879d"/>
                </a:solidFill>
                <a:latin typeface="Lato"/>
                <a:ea typeface="Lato"/>
              </a:rPr>
              <a:t>23</a:t>
            </a:fld>
            <a:endParaRPr b="0" lang="pt-BR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Text 0"/>
          <p:cNvSpPr/>
          <p:nvPr/>
        </p:nvSpPr>
        <p:spPr>
          <a:xfrm>
            <a:off x="713160" y="896040"/>
            <a:ext cx="99666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  <a:ea typeface="Inter Display"/>
              </a:rPr>
              <a:t>Por que repetir?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Text 1"/>
          <p:cNvSpPr/>
          <p:nvPr/>
        </p:nvSpPr>
        <p:spPr>
          <a:xfrm>
            <a:off x="731520" y="1444680"/>
            <a:ext cx="9692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50" spc="-1" strike="noStrike">
                <a:solidFill>
                  <a:srgbClr val="5b6b86"/>
                </a:solidFill>
                <a:latin typeface="Lato"/>
                <a:ea typeface="Lato"/>
              </a:rPr>
              <a:t>Repetição evita copiar o mesmo conjunto de blocos muitas vezes.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Shape 2"/>
          <p:cNvSpPr/>
          <p:nvPr/>
        </p:nvSpPr>
        <p:spPr>
          <a:xfrm>
            <a:off x="877680" y="2011680"/>
            <a:ext cx="5047200" cy="3126960"/>
          </a:xfrm>
          <a:prstGeom prst="roundRect">
            <a:avLst>
              <a:gd name="adj" fmla="val 2339"/>
            </a:avLst>
          </a:prstGeom>
          <a:solidFill>
            <a:srgbClr val="fff5f5"/>
          </a:solidFill>
          <a:ln w="12700">
            <a:solidFill>
              <a:srgbClr val="f0d1d1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Text 3"/>
          <p:cNvSpPr/>
          <p:nvPr/>
        </p:nvSpPr>
        <p:spPr>
          <a:xfrm>
            <a:off x="1170360" y="229500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50" spc="77" strike="noStrike">
                <a:solidFill>
                  <a:srgbClr val="e85b5b"/>
                </a:solidFill>
                <a:latin typeface="Lato"/>
                <a:ea typeface="Lato"/>
              </a:rPr>
              <a:t>COPIAR BLOCOS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Shape 4"/>
          <p:cNvSpPr/>
          <p:nvPr/>
        </p:nvSpPr>
        <p:spPr>
          <a:xfrm>
            <a:off x="1207080" y="2797920"/>
            <a:ext cx="3611520" cy="456840"/>
          </a:xfrm>
          <a:prstGeom prst="roundRect">
            <a:avLst>
              <a:gd name="adj" fmla="val 12000"/>
            </a:avLst>
          </a:prstGeom>
          <a:solidFill>
            <a:srgbClr val="4cbfe6"/>
          </a:solidFill>
          <a:ln w="7620">
            <a:solidFill>
              <a:srgbClr val="4cbf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Text 5"/>
          <p:cNvSpPr/>
          <p:nvPr/>
        </p:nvSpPr>
        <p:spPr>
          <a:xfrm>
            <a:off x="1353240" y="2862000"/>
            <a:ext cx="3318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20" spc="-1" strike="noStrike">
                <a:solidFill>
                  <a:srgbClr val="ffffff"/>
                </a:solidFill>
                <a:latin typeface="Lato"/>
                <a:ea typeface="Lato"/>
              </a:rPr>
              <a:t>nova leitura → classificar</a:t>
            </a:r>
            <a:endParaRPr b="0" lang="pt-BR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Shape 6"/>
          <p:cNvSpPr/>
          <p:nvPr/>
        </p:nvSpPr>
        <p:spPr>
          <a:xfrm>
            <a:off x="1207080" y="3410640"/>
            <a:ext cx="3611520" cy="456840"/>
          </a:xfrm>
          <a:prstGeom prst="roundRect">
            <a:avLst>
              <a:gd name="adj" fmla="val 12000"/>
            </a:avLst>
          </a:prstGeom>
          <a:solidFill>
            <a:srgbClr val="9966ff"/>
          </a:solidFill>
          <a:ln w="7620">
            <a:solidFill>
              <a:srgbClr val="996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8" name="Text 7"/>
          <p:cNvSpPr/>
          <p:nvPr/>
        </p:nvSpPr>
        <p:spPr>
          <a:xfrm>
            <a:off x="1353240" y="3474720"/>
            <a:ext cx="3318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20" spc="-1" strike="noStrike">
                <a:solidFill>
                  <a:srgbClr val="ffffff"/>
                </a:solidFill>
                <a:latin typeface="Lato"/>
                <a:ea typeface="Lato"/>
              </a:rPr>
              <a:t>nova leitura → classificar</a:t>
            </a:r>
            <a:endParaRPr b="0" lang="pt-BR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Shape 8"/>
          <p:cNvSpPr/>
          <p:nvPr/>
        </p:nvSpPr>
        <p:spPr>
          <a:xfrm>
            <a:off x="1207080" y="4023360"/>
            <a:ext cx="3611520" cy="456840"/>
          </a:xfrm>
          <a:prstGeom prst="roundRect">
            <a:avLst>
              <a:gd name="adj" fmla="val 12000"/>
            </a:avLst>
          </a:prstGeom>
          <a:solidFill>
            <a:srgbClr val="4cbfe6"/>
          </a:solidFill>
          <a:ln w="7620">
            <a:solidFill>
              <a:srgbClr val="4cbf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Text 9"/>
          <p:cNvSpPr/>
          <p:nvPr/>
        </p:nvSpPr>
        <p:spPr>
          <a:xfrm>
            <a:off x="1353240" y="4087440"/>
            <a:ext cx="3318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20" spc="-1" strike="noStrike">
                <a:solidFill>
                  <a:srgbClr val="ffffff"/>
                </a:solidFill>
                <a:latin typeface="Lato"/>
                <a:ea typeface="Lato"/>
              </a:rPr>
              <a:t>nova leitura → classificar</a:t>
            </a:r>
            <a:endParaRPr b="0" lang="pt-BR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Shape 10"/>
          <p:cNvSpPr/>
          <p:nvPr/>
        </p:nvSpPr>
        <p:spPr>
          <a:xfrm>
            <a:off x="1298520" y="4599360"/>
            <a:ext cx="1718640" cy="347040"/>
          </a:xfrm>
          <a:prstGeom prst="roundRect">
            <a:avLst>
              <a:gd name="adj" fmla="val 21053"/>
            </a:avLst>
          </a:prstGeom>
          <a:solidFill>
            <a:srgbClr val="e85b5b"/>
          </a:solidFill>
          <a:ln w="12700">
            <a:solidFill>
              <a:srgbClr val="e85b5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2" name="Text 11"/>
          <p:cNvSpPr/>
          <p:nvPr/>
        </p:nvSpPr>
        <p:spPr>
          <a:xfrm>
            <a:off x="1371600" y="4663440"/>
            <a:ext cx="1572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80" spc="-1" strike="noStrike">
                <a:solidFill>
                  <a:srgbClr val="ffffff"/>
                </a:solidFill>
                <a:latin typeface="Lato"/>
                <a:ea typeface="Lato"/>
              </a:rPr>
              <a:t>5× MAIS CÓDIGO</a:t>
            </a:r>
            <a:endParaRPr b="0" lang="pt-BR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Shape 12"/>
          <p:cNvSpPr/>
          <p:nvPr/>
        </p:nvSpPr>
        <p:spPr>
          <a:xfrm>
            <a:off x="6272640" y="2011680"/>
            <a:ext cx="5047200" cy="3126960"/>
          </a:xfrm>
          <a:prstGeom prst="roundRect">
            <a:avLst>
              <a:gd name="adj" fmla="val 2339"/>
            </a:avLst>
          </a:prstGeom>
          <a:solidFill>
            <a:srgbClr val="f1faf2"/>
          </a:solidFill>
          <a:ln w="12700">
            <a:solidFill>
              <a:srgbClr val="cce9d0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Text 13"/>
          <p:cNvSpPr/>
          <p:nvPr/>
        </p:nvSpPr>
        <p:spPr>
          <a:xfrm>
            <a:off x="6565320" y="229500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50" spc="77" strike="noStrike">
                <a:solidFill>
                  <a:srgbClr val="58c765"/>
                </a:solidFill>
                <a:latin typeface="Lato"/>
                <a:ea typeface="Lato"/>
              </a:rPr>
              <a:t>REPETIR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Shape 14"/>
          <p:cNvSpPr/>
          <p:nvPr/>
        </p:nvSpPr>
        <p:spPr>
          <a:xfrm>
            <a:off x="6565320" y="2788920"/>
            <a:ext cx="3565800" cy="493560"/>
          </a:xfrm>
          <a:prstGeom prst="roundRect">
            <a:avLst>
              <a:gd name="adj" fmla="val 11111"/>
            </a:avLst>
          </a:prstGeom>
          <a:solidFill>
            <a:srgbClr val="ffab19"/>
          </a:solidFill>
          <a:ln w="7620">
            <a:solidFill>
              <a:srgbClr val="ffab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Text 15"/>
          <p:cNvSpPr/>
          <p:nvPr/>
        </p:nvSpPr>
        <p:spPr>
          <a:xfrm>
            <a:off x="6711840" y="2853000"/>
            <a:ext cx="3273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20" spc="-1" strike="noStrike">
                <a:solidFill>
                  <a:srgbClr val="071a4a"/>
                </a:solidFill>
                <a:latin typeface="Lato"/>
                <a:ea typeface="Lato"/>
              </a:rPr>
              <a:t>repita 5 vezes</a:t>
            </a:r>
            <a:endParaRPr b="0" lang="pt-BR" sz="13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Shape 16"/>
          <p:cNvSpPr/>
          <p:nvPr/>
        </p:nvSpPr>
        <p:spPr>
          <a:xfrm>
            <a:off x="6995160" y="3420000"/>
            <a:ext cx="3200040" cy="475200"/>
          </a:xfrm>
          <a:prstGeom prst="roundRect">
            <a:avLst>
              <a:gd name="adj" fmla="val 11538"/>
            </a:avLst>
          </a:prstGeom>
          <a:solidFill>
            <a:srgbClr val="4cbfe6"/>
          </a:solidFill>
          <a:ln w="7620">
            <a:solidFill>
              <a:srgbClr val="4cbf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Text 17"/>
          <p:cNvSpPr/>
          <p:nvPr/>
        </p:nvSpPr>
        <p:spPr>
          <a:xfrm>
            <a:off x="7141320" y="3483720"/>
            <a:ext cx="2907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00" spc="-1" strike="noStrike">
                <a:solidFill>
                  <a:srgbClr val="ffffff"/>
                </a:solidFill>
                <a:latin typeface="Lato"/>
                <a:ea typeface="Lato"/>
              </a:rPr>
              <a:t>nova leitura → classificar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Shape 18"/>
          <p:cNvSpPr/>
          <p:nvPr/>
        </p:nvSpPr>
        <p:spPr>
          <a:xfrm>
            <a:off x="6647760" y="4599360"/>
            <a:ext cx="1572480" cy="347040"/>
          </a:xfrm>
          <a:prstGeom prst="roundRect">
            <a:avLst>
              <a:gd name="adj" fmla="val 21053"/>
            </a:avLst>
          </a:prstGeom>
          <a:solidFill>
            <a:srgbClr val="58c765"/>
          </a:solidFill>
          <a:ln w="12700">
            <a:solidFill>
              <a:srgbClr val="58c76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0" name="Text 19"/>
          <p:cNvSpPr/>
          <p:nvPr/>
        </p:nvSpPr>
        <p:spPr>
          <a:xfrm>
            <a:off x="6720840" y="4663440"/>
            <a:ext cx="1425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80" spc="-1" strike="noStrike">
                <a:solidFill>
                  <a:srgbClr val="ffffff"/>
                </a:solidFill>
                <a:latin typeface="Lato"/>
                <a:ea typeface="Lato"/>
              </a:rPr>
              <a:t>1× ESTRUTURA</a:t>
            </a:r>
            <a:endParaRPr b="0" lang="pt-BR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PlaceHolder 1"/>
          <p:cNvSpPr>
            <a:spLocks noGrp="1"/>
          </p:cNvSpPr>
          <p:nvPr>
            <p:ph type="sldNum" idx="29"/>
          </p:nvPr>
        </p:nvSpPr>
        <p:spPr>
          <a:xfrm>
            <a:off x="11283840" y="644652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850" spc="-1" strike="noStrike">
                <a:solidFill>
                  <a:srgbClr val="7a879d"/>
                </a:solidFill>
                <a:latin typeface="Lato"/>
                <a:ea typeface="La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2529BE-A17D-44C3-B0A7-85D111CE1A74}" type="slidenum">
              <a:rPr b="0" lang="pt-BR" sz="850" spc="-1" strike="noStrike">
                <a:solidFill>
                  <a:srgbClr val="7a879d"/>
                </a:solidFill>
                <a:latin typeface="Lato"/>
                <a:ea typeface="Lato"/>
              </a:rPr>
              <a:t>24</a:t>
            </a:fld>
            <a:endParaRPr b="0" lang="pt-BR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Text 0"/>
          <p:cNvSpPr/>
          <p:nvPr/>
        </p:nvSpPr>
        <p:spPr>
          <a:xfrm>
            <a:off x="713160" y="896040"/>
            <a:ext cx="99666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  <a:ea typeface="Inter Display"/>
              </a:rPr>
              <a:t>Repita × Sempre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Text 1"/>
          <p:cNvSpPr/>
          <p:nvPr/>
        </p:nvSpPr>
        <p:spPr>
          <a:xfrm>
            <a:off x="731520" y="1444680"/>
            <a:ext cx="9692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50" spc="-1" strike="noStrike">
                <a:solidFill>
                  <a:srgbClr val="5b6b86"/>
                </a:solidFill>
                <a:latin typeface="Lato"/>
                <a:ea typeface="Lato"/>
              </a:rPr>
              <a:t>Dois tipos de repetição; neste exercício usaremos uma repetição contada.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Shape 2"/>
          <p:cNvSpPr/>
          <p:nvPr/>
        </p:nvSpPr>
        <p:spPr>
          <a:xfrm>
            <a:off x="1060560" y="2030040"/>
            <a:ext cx="4443480" cy="285264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1e7f0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Shape 3"/>
          <p:cNvSpPr/>
          <p:nvPr/>
        </p:nvSpPr>
        <p:spPr>
          <a:xfrm>
            <a:off x="1481400" y="2468880"/>
            <a:ext cx="2971440" cy="566640"/>
          </a:xfrm>
          <a:prstGeom prst="roundRect">
            <a:avLst>
              <a:gd name="adj" fmla="val 9677"/>
            </a:avLst>
          </a:prstGeom>
          <a:solidFill>
            <a:srgbClr val="ffab19"/>
          </a:solidFill>
          <a:ln w="7620">
            <a:solidFill>
              <a:srgbClr val="ffab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Text 4"/>
          <p:cNvSpPr/>
          <p:nvPr/>
        </p:nvSpPr>
        <p:spPr>
          <a:xfrm>
            <a:off x="1627560" y="2532960"/>
            <a:ext cx="2678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50" spc="-1" strike="noStrike">
                <a:solidFill>
                  <a:srgbClr val="071a4a"/>
                </a:solidFill>
                <a:latin typeface="Lato"/>
                <a:ea typeface="Lato"/>
              </a:rPr>
              <a:t>repita 5 vezes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Text 5"/>
          <p:cNvSpPr/>
          <p:nvPr/>
        </p:nvSpPr>
        <p:spPr>
          <a:xfrm>
            <a:off x="1490400" y="3374280"/>
            <a:ext cx="356580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500" spc="-1" strike="noStrike">
                <a:solidFill>
                  <a:srgbClr val="14213d"/>
                </a:solidFill>
                <a:latin typeface="Lato"/>
                <a:ea typeface="Lato"/>
              </a:rPr>
              <a:t>Executa um número definido de vezes e termina.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Shape 6"/>
          <p:cNvSpPr/>
          <p:nvPr/>
        </p:nvSpPr>
        <p:spPr>
          <a:xfrm>
            <a:off x="2103120" y="4325040"/>
            <a:ext cx="2011320" cy="347040"/>
          </a:xfrm>
          <a:prstGeom prst="roundRect">
            <a:avLst>
              <a:gd name="adj" fmla="val 21053"/>
            </a:avLst>
          </a:prstGeom>
          <a:solidFill>
            <a:srgbClr val="58c765"/>
          </a:solidFill>
          <a:ln w="12700">
            <a:solidFill>
              <a:srgbClr val="58c76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" name="Text 7"/>
          <p:cNvSpPr/>
          <p:nvPr/>
        </p:nvSpPr>
        <p:spPr>
          <a:xfrm>
            <a:off x="2176200" y="4389120"/>
            <a:ext cx="1865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20" spc="-1" strike="noStrike">
                <a:solidFill>
                  <a:srgbClr val="ffffff"/>
                </a:solidFill>
                <a:latin typeface="Lato"/>
                <a:ea typeface="Lato"/>
              </a:rPr>
              <a:t>USAREMOS HOJE</a:t>
            </a:r>
            <a:endParaRPr b="0" lang="pt-BR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Shape 8"/>
          <p:cNvSpPr/>
          <p:nvPr/>
        </p:nvSpPr>
        <p:spPr>
          <a:xfrm>
            <a:off x="6656760" y="2030040"/>
            <a:ext cx="4443480" cy="285264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1e7f0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Shape 9"/>
          <p:cNvSpPr/>
          <p:nvPr/>
        </p:nvSpPr>
        <p:spPr>
          <a:xfrm>
            <a:off x="7077600" y="2468880"/>
            <a:ext cx="2971440" cy="566640"/>
          </a:xfrm>
          <a:prstGeom prst="roundRect">
            <a:avLst>
              <a:gd name="adj" fmla="val 9677"/>
            </a:avLst>
          </a:prstGeom>
          <a:solidFill>
            <a:srgbClr val="ffab19"/>
          </a:solidFill>
          <a:ln w="7620">
            <a:solidFill>
              <a:srgbClr val="ffab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Text 10"/>
          <p:cNvSpPr/>
          <p:nvPr/>
        </p:nvSpPr>
        <p:spPr>
          <a:xfrm>
            <a:off x="7223760" y="2532960"/>
            <a:ext cx="2678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50" spc="-1" strike="noStrike">
                <a:solidFill>
                  <a:srgbClr val="071a4a"/>
                </a:solidFill>
                <a:latin typeface="Lato"/>
                <a:ea typeface="Lato"/>
              </a:rPr>
              <a:t>sempre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Text 11"/>
          <p:cNvSpPr/>
          <p:nvPr/>
        </p:nvSpPr>
        <p:spPr>
          <a:xfrm>
            <a:off x="7086600" y="3374280"/>
            <a:ext cx="356580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500" spc="-1" strike="noStrike">
                <a:solidFill>
                  <a:srgbClr val="14213d"/>
                </a:solidFill>
                <a:latin typeface="Lato"/>
                <a:ea typeface="Lato"/>
              </a:rPr>
              <a:t>Continua enquanto o programa estiver em execução.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Shape 12"/>
          <p:cNvSpPr/>
          <p:nvPr/>
        </p:nvSpPr>
        <p:spPr>
          <a:xfrm>
            <a:off x="7845480" y="4325040"/>
            <a:ext cx="1481040" cy="347040"/>
          </a:xfrm>
          <a:prstGeom prst="roundRect">
            <a:avLst>
              <a:gd name="adj" fmla="val 21053"/>
            </a:avLst>
          </a:prstGeom>
          <a:solidFill>
            <a:srgbClr val="8157b1"/>
          </a:solidFill>
          <a:ln w="12700">
            <a:solidFill>
              <a:srgbClr val="8157b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5" name="Text 13"/>
          <p:cNvSpPr/>
          <p:nvPr/>
        </p:nvSpPr>
        <p:spPr>
          <a:xfrm>
            <a:off x="7918560" y="4389120"/>
            <a:ext cx="1334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20" spc="-1" strike="noStrike">
                <a:solidFill>
                  <a:srgbClr val="ffffff"/>
                </a:solidFill>
                <a:latin typeface="Lato"/>
                <a:ea typeface="Lato"/>
              </a:rPr>
              <a:t>CONCEITO</a:t>
            </a:r>
            <a:endParaRPr b="0" lang="pt-BR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PlaceHolder 1"/>
          <p:cNvSpPr>
            <a:spLocks noGrp="1"/>
          </p:cNvSpPr>
          <p:nvPr>
            <p:ph type="sldNum" idx="30"/>
          </p:nvPr>
        </p:nvSpPr>
        <p:spPr>
          <a:xfrm>
            <a:off x="11283840" y="644652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850" spc="-1" strike="noStrike">
                <a:solidFill>
                  <a:srgbClr val="7a879d"/>
                </a:solidFill>
                <a:latin typeface="Lato"/>
                <a:ea typeface="La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FB4C5D-CA24-4C36-938A-65B05A0B4695}" type="slidenum">
              <a:rPr b="0" lang="pt-BR" sz="850" spc="-1" strike="noStrike">
                <a:solidFill>
                  <a:srgbClr val="7a879d"/>
                </a:solidFill>
                <a:latin typeface="Lato"/>
                <a:ea typeface="Lato"/>
              </a:rPr>
              <a:t>25</a:t>
            </a:fld>
            <a:endParaRPr b="0" lang="pt-BR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Text 0"/>
          <p:cNvSpPr/>
          <p:nvPr/>
        </p:nvSpPr>
        <p:spPr>
          <a:xfrm>
            <a:off x="713160" y="896040"/>
            <a:ext cx="99666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  <a:ea typeface="Inter Display"/>
              </a:rPr>
              <a:t>Simulando novas leituras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Text 1"/>
          <p:cNvSpPr/>
          <p:nvPr/>
        </p:nvSpPr>
        <p:spPr>
          <a:xfrm>
            <a:off x="731520" y="1444680"/>
            <a:ext cx="9692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50" spc="-1" strike="noStrike">
                <a:solidFill>
                  <a:srgbClr val="5b6b86"/>
                </a:solidFill>
                <a:latin typeface="Lato"/>
                <a:ea typeface="Lato"/>
              </a:rPr>
              <a:t>Número aleatório entre 0 e 100 dentro de “repita 5 vezes”.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Shape 2"/>
          <p:cNvSpPr/>
          <p:nvPr/>
        </p:nvSpPr>
        <p:spPr>
          <a:xfrm>
            <a:off x="877680" y="2103120"/>
            <a:ext cx="3154320" cy="529920"/>
          </a:xfrm>
          <a:prstGeom prst="roundRect">
            <a:avLst>
              <a:gd name="adj" fmla="val 10345"/>
            </a:avLst>
          </a:prstGeom>
          <a:solidFill>
            <a:srgbClr val="ffab19"/>
          </a:solidFill>
          <a:ln w="7620">
            <a:solidFill>
              <a:srgbClr val="ffab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Text 3"/>
          <p:cNvSpPr/>
          <p:nvPr/>
        </p:nvSpPr>
        <p:spPr>
          <a:xfrm>
            <a:off x="1024200" y="2167200"/>
            <a:ext cx="28616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00" spc="-1" strike="noStrike">
                <a:solidFill>
                  <a:srgbClr val="071a4a"/>
                </a:solidFill>
                <a:latin typeface="Lato"/>
                <a:ea typeface="Lato"/>
              </a:rPr>
              <a:t>repita 5 vezes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Shape 4"/>
          <p:cNvSpPr/>
          <p:nvPr/>
        </p:nvSpPr>
        <p:spPr>
          <a:xfrm>
            <a:off x="1280160" y="2724840"/>
            <a:ext cx="3977280" cy="548280"/>
          </a:xfrm>
          <a:prstGeom prst="roundRect">
            <a:avLst>
              <a:gd name="adj" fmla="val 10000"/>
            </a:avLst>
          </a:prstGeom>
          <a:solidFill>
            <a:srgbClr val="ff8c1a"/>
          </a:solidFill>
          <a:ln w="7620">
            <a:solidFill>
              <a:srgbClr val="ff8c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Text 5"/>
          <p:cNvSpPr/>
          <p:nvPr/>
        </p:nvSpPr>
        <p:spPr>
          <a:xfrm>
            <a:off x="1426320" y="2788920"/>
            <a:ext cx="36846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60" spc="-1" strike="noStrike">
                <a:solidFill>
                  <a:srgbClr val="ffffff"/>
                </a:solidFill>
                <a:latin typeface="Lato"/>
                <a:ea typeface="Lato"/>
              </a:rPr>
              <a:t>defina valorSensor para número aleatório 0–100</a:t>
            </a:r>
            <a:endParaRPr b="0" lang="pt-BR" sz="12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Text 6"/>
          <p:cNvSpPr/>
          <p:nvPr/>
        </p:nvSpPr>
        <p:spPr>
          <a:xfrm>
            <a:off x="5888880" y="2103120"/>
            <a:ext cx="4297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50" spc="-1" strike="noStrike">
                <a:solidFill>
                  <a:srgbClr val="5b6b86"/>
                </a:solidFill>
                <a:latin typeface="Lato"/>
                <a:ea typeface="Lato"/>
              </a:rPr>
              <a:t>Exemplo de uma execução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Shape 7"/>
          <p:cNvSpPr/>
          <p:nvPr/>
        </p:nvSpPr>
        <p:spPr>
          <a:xfrm>
            <a:off x="5559480" y="2688480"/>
            <a:ext cx="877320" cy="141696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e7f0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Text 8"/>
          <p:cNvSpPr/>
          <p:nvPr/>
        </p:nvSpPr>
        <p:spPr>
          <a:xfrm>
            <a:off x="5623560" y="2926080"/>
            <a:ext cx="74952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-1" strike="noStrike">
                <a:solidFill>
                  <a:srgbClr val="071a4a"/>
                </a:solidFill>
                <a:latin typeface="Inter Display"/>
                <a:ea typeface="Inter Display"/>
              </a:rPr>
              <a:t>12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Shape 9"/>
          <p:cNvSpPr/>
          <p:nvPr/>
        </p:nvSpPr>
        <p:spPr>
          <a:xfrm>
            <a:off x="5650920" y="3529440"/>
            <a:ext cx="694440" cy="347040"/>
          </a:xfrm>
          <a:prstGeom prst="roundRect">
            <a:avLst>
              <a:gd name="adj" fmla="val 21053"/>
            </a:avLst>
          </a:prstGeom>
          <a:solidFill>
            <a:srgbClr val="10b9f3"/>
          </a:solidFill>
          <a:ln w="12700">
            <a:solidFill>
              <a:srgbClr val="10b9f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7" name="Text 10"/>
          <p:cNvSpPr/>
          <p:nvPr/>
        </p:nvSpPr>
        <p:spPr>
          <a:xfrm>
            <a:off x="5724000" y="3593520"/>
            <a:ext cx="548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50" spc="-1" strike="noStrike">
                <a:solidFill>
                  <a:srgbClr val="ffffff"/>
                </a:solidFill>
                <a:latin typeface="Lato"/>
                <a:ea typeface="Lato"/>
              </a:rPr>
              <a:t>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Shape 11"/>
          <p:cNvSpPr/>
          <p:nvPr/>
        </p:nvSpPr>
        <p:spPr>
          <a:xfrm>
            <a:off x="6656760" y="2688480"/>
            <a:ext cx="877320" cy="141696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e7f0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Text 12"/>
          <p:cNvSpPr/>
          <p:nvPr/>
        </p:nvSpPr>
        <p:spPr>
          <a:xfrm>
            <a:off x="6720840" y="2926080"/>
            <a:ext cx="74952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-1" strike="noStrike">
                <a:solidFill>
                  <a:srgbClr val="071a4a"/>
                </a:solidFill>
                <a:latin typeface="Inter Display"/>
                <a:ea typeface="Inter Display"/>
              </a:rPr>
              <a:t>68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Shape 13"/>
          <p:cNvSpPr/>
          <p:nvPr/>
        </p:nvSpPr>
        <p:spPr>
          <a:xfrm>
            <a:off x="6748200" y="3529440"/>
            <a:ext cx="694440" cy="347040"/>
          </a:xfrm>
          <a:prstGeom prst="roundRect">
            <a:avLst>
              <a:gd name="adj" fmla="val 21053"/>
            </a:avLst>
          </a:prstGeom>
          <a:solidFill>
            <a:srgbClr val="f36b21"/>
          </a:solidFill>
          <a:ln w="12700">
            <a:solidFill>
              <a:srgbClr val="f36b2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1" name="Text 14"/>
          <p:cNvSpPr/>
          <p:nvPr/>
        </p:nvSpPr>
        <p:spPr>
          <a:xfrm>
            <a:off x="6821280" y="3593520"/>
            <a:ext cx="548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50" spc="-1" strike="noStrike">
                <a:solidFill>
                  <a:srgbClr val="ffffff"/>
                </a:solidFill>
                <a:latin typeface="Lato"/>
                <a:ea typeface="Lato"/>
              </a:rPr>
              <a:t>B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Shape 15"/>
          <p:cNvSpPr/>
          <p:nvPr/>
        </p:nvSpPr>
        <p:spPr>
          <a:xfrm>
            <a:off x="7754040" y="2688480"/>
            <a:ext cx="877320" cy="141696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e7f0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Text 16"/>
          <p:cNvSpPr/>
          <p:nvPr/>
        </p:nvSpPr>
        <p:spPr>
          <a:xfrm>
            <a:off x="7818120" y="2926080"/>
            <a:ext cx="74952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-1" strike="noStrike">
                <a:solidFill>
                  <a:srgbClr val="071a4a"/>
                </a:solidFill>
                <a:latin typeface="Inter Display"/>
                <a:ea typeface="Inter Display"/>
              </a:rPr>
              <a:t>87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Shape 17"/>
          <p:cNvSpPr/>
          <p:nvPr/>
        </p:nvSpPr>
        <p:spPr>
          <a:xfrm>
            <a:off x="7845480" y="3529440"/>
            <a:ext cx="694440" cy="347040"/>
          </a:xfrm>
          <a:prstGeom prst="roundRect">
            <a:avLst>
              <a:gd name="adj" fmla="val 21053"/>
            </a:avLst>
          </a:prstGeom>
          <a:solidFill>
            <a:srgbClr val="e72b76"/>
          </a:solidFill>
          <a:ln w="12700">
            <a:solidFill>
              <a:srgbClr val="e72b7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5" name="Text 18"/>
          <p:cNvSpPr/>
          <p:nvPr/>
        </p:nvSpPr>
        <p:spPr>
          <a:xfrm>
            <a:off x="7918560" y="3593520"/>
            <a:ext cx="548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50" spc="-1" strike="noStrike">
                <a:solidFill>
                  <a:srgbClr val="ffffff"/>
                </a:solidFill>
                <a:latin typeface="Lato"/>
                <a:ea typeface="Lato"/>
              </a:rPr>
              <a:t>C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Shape 19"/>
          <p:cNvSpPr/>
          <p:nvPr/>
        </p:nvSpPr>
        <p:spPr>
          <a:xfrm>
            <a:off x="8851320" y="2688480"/>
            <a:ext cx="877320" cy="141696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e7f0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Text 20"/>
          <p:cNvSpPr/>
          <p:nvPr/>
        </p:nvSpPr>
        <p:spPr>
          <a:xfrm>
            <a:off x="8915400" y="2926080"/>
            <a:ext cx="74952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-1" strike="noStrike">
                <a:solidFill>
                  <a:srgbClr val="071a4a"/>
                </a:solidFill>
                <a:latin typeface="Inter Display"/>
                <a:ea typeface="Inter Display"/>
              </a:rPr>
              <a:t>33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Shape 21"/>
          <p:cNvSpPr/>
          <p:nvPr/>
        </p:nvSpPr>
        <p:spPr>
          <a:xfrm>
            <a:off x="8942760" y="3529440"/>
            <a:ext cx="694440" cy="347040"/>
          </a:xfrm>
          <a:prstGeom prst="roundRect">
            <a:avLst>
              <a:gd name="adj" fmla="val 21053"/>
            </a:avLst>
          </a:prstGeom>
          <a:solidFill>
            <a:srgbClr val="f36b21"/>
          </a:solidFill>
          <a:ln w="12700">
            <a:solidFill>
              <a:srgbClr val="f36b2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9" name="Text 22"/>
          <p:cNvSpPr/>
          <p:nvPr/>
        </p:nvSpPr>
        <p:spPr>
          <a:xfrm>
            <a:off x="9015840" y="3593520"/>
            <a:ext cx="548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50" spc="-1" strike="noStrike">
                <a:solidFill>
                  <a:srgbClr val="ffffff"/>
                </a:solidFill>
                <a:latin typeface="Lato"/>
                <a:ea typeface="Lato"/>
              </a:rPr>
              <a:t>B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Shape 23"/>
          <p:cNvSpPr/>
          <p:nvPr/>
        </p:nvSpPr>
        <p:spPr>
          <a:xfrm>
            <a:off x="9948600" y="2688480"/>
            <a:ext cx="877320" cy="141696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e7f0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Text 24"/>
          <p:cNvSpPr/>
          <p:nvPr/>
        </p:nvSpPr>
        <p:spPr>
          <a:xfrm>
            <a:off x="10012680" y="2926080"/>
            <a:ext cx="74952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-1" strike="noStrike">
                <a:solidFill>
                  <a:srgbClr val="071a4a"/>
                </a:solidFill>
                <a:latin typeface="Inter Display"/>
                <a:ea typeface="Inter Display"/>
              </a:rPr>
              <a:t>7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Shape 25"/>
          <p:cNvSpPr/>
          <p:nvPr/>
        </p:nvSpPr>
        <p:spPr>
          <a:xfrm>
            <a:off x="10040040" y="3529440"/>
            <a:ext cx="694440" cy="347040"/>
          </a:xfrm>
          <a:prstGeom prst="roundRect">
            <a:avLst>
              <a:gd name="adj" fmla="val 21053"/>
            </a:avLst>
          </a:prstGeom>
          <a:solidFill>
            <a:srgbClr val="10b9f3"/>
          </a:solidFill>
          <a:ln w="12700">
            <a:solidFill>
              <a:srgbClr val="10b9f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3" name="Text 26"/>
          <p:cNvSpPr/>
          <p:nvPr/>
        </p:nvSpPr>
        <p:spPr>
          <a:xfrm>
            <a:off x="10113120" y="3593520"/>
            <a:ext cx="548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50" spc="-1" strike="noStrike">
                <a:solidFill>
                  <a:srgbClr val="ffffff"/>
                </a:solidFill>
                <a:latin typeface="Lato"/>
                <a:ea typeface="Lato"/>
              </a:rPr>
              <a:t>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Shape 27"/>
          <p:cNvSpPr/>
          <p:nvPr/>
        </p:nvSpPr>
        <p:spPr>
          <a:xfrm>
            <a:off x="5157000" y="3447000"/>
            <a:ext cx="311040" cy="360"/>
          </a:xfrm>
          <a:prstGeom prst="line">
            <a:avLst/>
          </a:prstGeom>
          <a:ln w="27940">
            <a:solidFill>
              <a:srgbClr val="071a4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Shape 28"/>
          <p:cNvSpPr/>
          <p:nvPr/>
        </p:nvSpPr>
        <p:spPr>
          <a:xfrm>
            <a:off x="1170360" y="4242960"/>
            <a:ext cx="9875160" cy="749520"/>
          </a:xfrm>
          <a:prstGeom prst="roundRect">
            <a:avLst>
              <a:gd name="adj" fmla="val 9756"/>
            </a:avLst>
          </a:prstGeom>
          <a:solidFill>
            <a:srgbClr val="eef3fa"/>
          </a:solidFill>
          <a:ln w="12700">
            <a:solidFill>
              <a:srgbClr val="d6e1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Text 29"/>
          <p:cNvSpPr/>
          <p:nvPr/>
        </p:nvSpPr>
        <p:spPr>
          <a:xfrm>
            <a:off x="1472040" y="4471560"/>
            <a:ext cx="9271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30" spc="-1" strike="noStrike">
                <a:solidFill>
                  <a:srgbClr val="071a4a"/>
                </a:solidFill>
                <a:latin typeface="Lato"/>
                <a:ea typeface="Lato"/>
              </a:rPr>
              <a:t>Cada repetição precisa gerar/receber o valor, classificar e mostrar o resultado — o fluxo inteiro se repete.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PlaceHolder 1"/>
          <p:cNvSpPr>
            <a:spLocks noGrp="1"/>
          </p:cNvSpPr>
          <p:nvPr>
            <p:ph type="sldNum" idx="31"/>
          </p:nvPr>
        </p:nvSpPr>
        <p:spPr>
          <a:xfrm>
            <a:off x="11283840" y="644652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850" spc="-1" strike="noStrike">
                <a:solidFill>
                  <a:srgbClr val="7a879d"/>
                </a:solidFill>
                <a:latin typeface="Lato"/>
                <a:ea typeface="La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9D2B76-AA94-4629-B834-9F36BC851520}" type="slidenum">
              <a:rPr b="0" lang="pt-BR" sz="850" spc="-1" strike="noStrike">
                <a:solidFill>
                  <a:srgbClr val="7a879d"/>
                </a:solidFill>
                <a:latin typeface="Lato"/>
                <a:ea typeface="Lato"/>
              </a:rPr>
              <a:t>26</a:t>
            </a:fld>
            <a:endParaRPr b="0" lang="pt-BR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Text 0"/>
          <p:cNvSpPr/>
          <p:nvPr/>
        </p:nvSpPr>
        <p:spPr>
          <a:xfrm>
            <a:off x="713160" y="896040"/>
            <a:ext cx="99666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  <a:ea typeface="Inter Display"/>
              </a:rPr>
              <a:t>Nosso algoritmo completo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Text 1"/>
          <p:cNvSpPr/>
          <p:nvPr/>
        </p:nvSpPr>
        <p:spPr>
          <a:xfrm>
            <a:off x="731520" y="1444680"/>
            <a:ext cx="9692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50" spc="-1" strike="noStrike">
                <a:solidFill>
                  <a:srgbClr val="5b6b86"/>
                </a:solidFill>
                <a:latin typeface="Lato"/>
                <a:ea typeface="Lato"/>
              </a:rPr>
              <a:t>Agora já conseguimos enxergar o projeto inteiro.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Shape 2"/>
          <p:cNvSpPr/>
          <p:nvPr/>
        </p:nvSpPr>
        <p:spPr>
          <a:xfrm>
            <a:off x="685800" y="2395800"/>
            <a:ext cx="1572480" cy="1992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7f0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Shape 3"/>
          <p:cNvSpPr/>
          <p:nvPr/>
        </p:nvSpPr>
        <p:spPr>
          <a:xfrm>
            <a:off x="1179720" y="2670120"/>
            <a:ext cx="585000" cy="585000"/>
          </a:xfrm>
          <a:prstGeom prst="ellipse">
            <a:avLst/>
          </a:prstGeom>
          <a:solidFill>
            <a:srgbClr val="071a4a"/>
          </a:solidFill>
          <a:ln w="12700">
            <a:solidFill>
              <a:srgbClr val="071a4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2" name="Text 4"/>
          <p:cNvSpPr/>
          <p:nvPr/>
        </p:nvSpPr>
        <p:spPr>
          <a:xfrm>
            <a:off x="1179720" y="2706480"/>
            <a:ext cx="5850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00" spc="-1" strike="noStrike">
                <a:solidFill>
                  <a:srgbClr val="ffffff"/>
                </a:solidFill>
                <a:latin typeface="Inter Display"/>
                <a:ea typeface="Inter Display"/>
              </a:rPr>
              <a:t>1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Text 5"/>
          <p:cNvSpPr/>
          <p:nvPr/>
        </p:nvSpPr>
        <p:spPr>
          <a:xfrm>
            <a:off x="831960" y="3493080"/>
            <a:ext cx="1279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30" spc="-1" strike="noStrike">
                <a:solidFill>
                  <a:srgbClr val="071a4a"/>
                </a:solidFill>
                <a:latin typeface="Inter Display"/>
                <a:ea typeface="Inter Display"/>
              </a:rPr>
              <a:t>Evento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Text 6"/>
          <p:cNvSpPr/>
          <p:nvPr/>
        </p:nvSpPr>
        <p:spPr>
          <a:xfrm>
            <a:off x="831960" y="3849480"/>
            <a:ext cx="12798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970" spc="-1" strike="noStrike">
                <a:solidFill>
                  <a:srgbClr val="5b6b86"/>
                </a:solidFill>
                <a:latin typeface="Lato"/>
                <a:ea typeface="Lato"/>
              </a:rPr>
              <a:t>bandeira verde</a:t>
            </a:r>
            <a:endParaRPr b="0" lang="pt-BR" sz="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Shape 7"/>
          <p:cNvSpPr/>
          <p:nvPr/>
        </p:nvSpPr>
        <p:spPr>
          <a:xfrm>
            <a:off x="2313360" y="3355560"/>
            <a:ext cx="191880" cy="360"/>
          </a:xfrm>
          <a:prstGeom prst="line">
            <a:avLst/>
          </a:prstGeom>
          <a:ln w="21590">
            <a:solidFill>
              <a:srgbClr val="071a4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Shape 8"/>
          <p:cNvSpPr/>
          <p:nvPr/>
        </p:nvSpPr>
        <p:spPr>
          <a:xfrm>
            <a:off x="2532960" y="2395800"/>
            <a:ext cx="1572480" cy="1992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7f0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Shape 9"/>
          <p:cNvSpPr/>
          <p:nvPr/>
        </p:nvSpPr>
        <p:spPr>
          <a:xfrm>
            <a:off x="3026520" y="2670120"/>
            <a:ext cx="585000" cy="585000"/>
          </a:xfrm>
          <a:prstGeom prst="ellipse">
            <a:avLst/>
          </a:prstGeom>
          <a:solidFill>
            <a:srgbClr val="f36b21"/>
          </a:solidFill>
          <a:ln w="12700">
            <a:solidFill>
              <a:srgbClr val="f36b2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8" name="Text 10"/>
          <p:cNvSpPr/>
          <p:nvPr/>
        </p:nvSpPr>
        <p:spPr>
          <a:xfrm>
            <a:off x="3026520" y="2706480"/>
            <a:ext cx="5850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00" spc="-1" strike="noStrike">
                <a:solidFill>
                  <a:srgbClr val="ffffff"/>
                </a:solidFill>
                <a:latin typeface="Inter Display"/>
                <a:ea typeface="Inter Display"/>
              </a:rPr>
              <a:t>2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Text 11"/>
          <p:cNvSpPr/>
          <p:nvPr/>
        </p:nvSpPr>
        <p:spPr>
          <a:xfrm>
            <a:off x="2679120" y="3493080"/>
            <a:ext cx="1279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30" spc="-1" strike="noStrike">
                <a:solidFill>
                  <a:srgbClr val="071a4a"/>
                </a:solidFill>
                <a:latin typeface="Inter Display"/>
                <a:ea typeface="Inter Display"/>
              </a:rPr>
              <a:t>Repetição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Text 12"/>
          <p:cNvSpPr/>
          <p:nvPr/>
        </p:nvSpPr>
        <p:spPr>
          <a:xfrm>
            <a:off x="2679120" y="3849480"/>
            <a:ext cx="12798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970" spc="-1" strike="noStrike">
                <a:solidFill>
                  <a:srgbClr val="5b6b86"/>
                </a:solidFill>
                <a:latin typeface="Lato"/>
                <a:ea typeface="Lato"/>
              </a:rPr>
              <a:t>5 leituras</a:t>
            </a:r>
            <a:endParaRPr b="0" lang="pt-BR" sz="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Shape 13"/>
          <p:cNvSpPr/>
          <p:nvPr/>
        </p:nvSpPr>
        <p:spPr>
          <a:xfrm>
            <a:off x="4160520" y="3355560"/>
            <a:ext cx="191880" cy="360"/>
          </a:xfrm>
          <a:prstGeom prst="line">
            <a:avLst/>
          </a:prstGeom>
          <a:ln w="21590">
            <a:solidFill>
              <a:srgbClr val="071a4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Shape 14"/>
          <p:cNvSpPr/>
          <p:nvPr/>
        </p:nvSpPr>
        <p:spPr>
          <a:xfrm>
            <a:off x="4380120" y="2395800"/>
            <a:ext cx="1572480" cy="1992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7f0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Shape 15"/>
          <p:cNvSpPr/>
          <p:nvPr/>
        </p:nvSpPr>
        <p:spPr>
          <a:xfrm>
            <a:off x="4873680" y="2670120"/>
            <a:ext cx="585000" cy="585000"/>
          </a:xfrm>
          <a:prstGeom prst="ellipse">
            <a:avLst/>
          </a:prstGeom>
          <a:solidFill>
            <a:srgbClr val="10b9f3"/>
          </a:solidFill>
          <a:ln w="12700">
            <a:solidFill>
              <a:srgbClr val="10b9f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4" name="Text 16"/>
          <p:cNvSpPr/>
          <p:nvPr/>
        </p:nvSpPr>
        <p:spPr>
          <a:xfrm>
            <a:off x="4873680" y="2706480"/>
            <a:ext cx="5850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00" spc="-1" strike="noStrike">
                <a:solidFill>
                  <a:srgbClr val="ffffff"/>
                </a:solidFill>
                <a:latin typeface="Inter Display"/>
                <a:ea typeface="Inter Display"/>
              </a:rPr>
              <a:t>3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Text 17"/>
          <p:cNvSpPr/>
          <p:nvPr/>
        </p:nvSpPr>
        <p:spPr>
          <a:xfrm>
            <a:off x="4526280" y="3493080"/>
            <a:ext cx="1279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30" spc="-1" strike="noStrike">
                <a:solidFill>
                  <a:srgbClr val="071a4a"/>
                </a:solidFill>
                <a:latin typeface="Inter Display"/>
                <a:ea typeface="Inter Display"/>
              </a:rPr>
              <a:t>Entrada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Text 18"/>
          <p:cNvSpPr/>
          <p:nvPr/>
        </p:nvSpPr>
        <p:spPr>
          <a:xfrm>
            <a:off x="4526280" y="3849480"/>
            <a:ext cx="12798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970" spc="-1" strike="noStrike">
                <a:solidFill>
                  <a:srgbClr val="5b6b86"/>
                </a:solidFill>
                <a:latin typeface="Lato"/>
                <a:ea typeface="Lato"/>
              </a:rPr>
              <a:t>gerar / receber</a:t>
            </a:r>
            <a:endParaRPr b="0" lang="pt-BR" sz="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Shape 19"/>
          <p:cNvSpPr/>
          <p:nvPr/>
        </p:nvSpPr>
        <p:spPr>
          <a:xfrm>
            <a:off x="6007320" y="3355560"/>
            <a:ext cx="192240" cy="360"/>
          </a:xfrm>
          <a:prstGeom prst="line">
            <a:avLst/>
          </a:prstGeom>
          <a:ln w="21590">
            <a:solidFill>
              <a:srgbClr val="071a4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Shape 20"/>
          <p:cNvSpPr/>
          <p:nvPr/>
        </p:nvSpPr>
        <p:spPr>
          <a:xfrm>
            <a:off x="6226920" y="2395800"/>
            <a:ext cx="1572480" cy="1992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7f0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Shape 21"/>
          <p:cNvSpPr/>
          <p:nvPr/>
        </p:nvSpPr>
        <p:spPr>
          <a:xfrm>
            <a:off x="6720840" y="2670120"/>
            <a:ext cx="585000" cy="585000"/>
          </a:xfrm>
          <a:prstGeom prst="ellipse">
            <a:avLst/>
          </a:prstGeom>
          <a:solidFill>
            <a:srgbClr val="8157b1"/>
          </a:solidFill>
          <a:ln w="12700">
            <a:solidFill>
              <a:srgbClr val="8157b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0" name="Text 22"/>
          <p:cNvSpPr/>
          <p:nvPr/>
        </p:nvSpPr>
        <p:spPr>
          <a:xfrm>
            <a:off x="6720840" y="2706480"/>
            <a:ext cx="5850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00" spc="-1" strike="noStrike">
                <a:solidFill>
                  <a:srgbClr val="ffffff"/>
                </a:solidFill>
                <a:latin typeface="Inter Display"/>
                <a:ea typeface="Inter Display"/>
              </a:rPr>
              <a:t>4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Text 23"/>
          <p:cNvSpPr/>
          <p:nvPr/>
        </p:nvSpPr>
        <p:spPr>
          <a:xfrm>
            <a:off x="6373440" y="3493080"/>
            <a:ext cx="1279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30" spc="-1" strike="noStrike">
                <a:solidFill>
                  <a:srgbClr val="071a4a"/>
                </a:solidFill>
                <a:latin typeface="Inter Display"/>
                <a:ea typeface="Inter Display"/>
              </a:rPr>
              <a:t>Variável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Text 24"/>
          <p:cNvSpPr/>
          <p:nvPr/>
        </p:nvSpPr>
        <p:spPr>
          <a:xfrm>
            <a:off x="6373440" y="3849480"/>
            <a:ext cx="12798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970" spc="-1" strike="noStrike">
                <a:solidFill>
                  <a:srgbClr val="5b6b86"/>
                </a:solidFill>
                <a:latin typeface="Lato"/>
                <a:ea typeface="Lato"/>
              </a:rPr>
              <a:t>valorSensor</a:t>
            </a:r>
            <a:endParaRPr b="0" lang="pt-BR" sz="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Shape 25"/>
          <p:cNvSpPr/>
          <p:nvPr/>
        </p:nvSpPr>
        <p:spPr>
          <a:xfrm>
            <a:off x="7854480" y="3355560"/>
            <a:ext cx="192240" cy="360"/>
          </a:xfrm>
          <a:prstGeom prst="line">
            <a:avLst/>
          </a:prstGeom>
          <a:ln w="21590">
            <a:solidFill>
              <a:srgbClr val="071a4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Shape 26"/>
          <p:cNvSpPr/>
          <p:nvPr/>
        </p:nvSpPr>
        <p:spPr>
          <a:xfrm>
            <a:off x="8074080" y="2395800"/>
            <a:ext cx="1572480" cy="1992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7f0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Shape 27"/>
          <p:cNvSpPr/>
          <p:nvPr/>
        </p:nvSpPr>
        <p:spPr>
          <a:xfrm>
            <a:off x="8568000" y="2670120"/>
            <a:ext cx="585000" cy="585000"/>
          </a:xfrm>
          <a:prstGeom prst="ellipse">
            <a:avLst/>
          </a:prstGeom>
          <a:solidFill>
            <a:srgbClr val="e72b76"/>
          </a:solidFill>
          <a:ln w="12700">
            <a:solidFill>
              <a:srgbClr val="e72b7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6" name="Text 28"/>
          <p:cNvSpPr/>
          <p:nvPr/>
        </p:nvSpPr>
        <p:spPr>
          <a:xfrm>
            <a:off x="8568000" y="2706480"/>
            <a:ext cx="5850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00" spc="-1" strike="noStrike">
                <a:solidFill>
                  <a:srgbClr val="ffffff"/>
                </a:solidFill>
                <a:latin typeface="Inter Display"/>
                <a:ea typeface="Inter Display"/>
              </a:rPr>
              <a:t>5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Text 29"/>
          <p:cNvSpPr/>
          <p:nvPr/>
        </p:nvSpPr>
        <p:spPr>
          <a:xfrm>
            <a:off x="8220600" y="3493080"/>
            <a:ext cx="1279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30" spc="-1" strike="noStrike">
                <a:solidFill>
                  <a:srgbClr val="071a4a"/>
                </a:solidFill>
                <a:latin typeface="Inter Display"/>
                <a:ea typeface="Inter Display"/>
              </a:rPr>
              <a:t>Decisão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Text 30"/>
          <p:cNvSpPr/>
          <p:nvPr/>
        </p:nvSpPr>
        <p:spPr>
          <a:xfrm>
            <a:off x="8220600" y="3849480"/>
            <a:ext cx="12798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970" spc="-1" strike="noStrike">
                <a:solidFill>
                  <a:srgbClr val="5b6b86"/>
                </a:solidFill>
                <a:latin typeface="Lato"/>
                <a:ea typeface="Lato"/>
              </a:rPr>
              <a:t>A / B / C</a:t>
            </a:r>
            <a:endParaRPr b="0" lang="pt-BR" sz="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Shape 31"/>
          <p:cNvSpPr/>
          <p:nvPr/>
        </p:nvSpPr>
        <p:spPr>
          <a:xfrm>
            <a:off x="9701640" y="3355560"/>
            <a:ext cx="191880" cy="360"/>
          </a:xfrm>
          <a:prstGeom prst="line">
            <a:avLst/>
          </a:prstGeom>
          <a:ln w="21590">
            <a:solidFill>
              <a:srgbClr val="071a4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Shape 32"/>
          <p:cNvSpPr/>
          <p:nvPr/>
        </p:nvSpPr>
        <p:spPr>
          <a:xfrm>
            <a:off x="9921240" y="2395800"/>
            <a:ext cx="1572480" cy="1992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7f0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Shape 33"/>
          <p:cNvSpPr/>
          <p:nvPr/>
        </p:nvSpPr>
        <p:spPr>
          <a:xfrm>
            <a:off x="10415160" y="2670120"/>
            <a:ext cx="585000" cy="585000"/>
          </a:xfrm>
          <a:prstGeom prst="ellipse">
            <a:avLst/>
          </a:prstGeom>
          <a:solidFill>
            <a:srgbClr val="2c7cc0"/>
          </a:solidFill>
          <a:ln w="12700">
            <a:solidFill>
              <a:srgbClr val="2c7cc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2" name="Text 34"/>
          <p:cNvSpPr/>
          <p:nvPr/>
        </p:nvSpPr>
        <p:spPr>
          <a:xfrm>
            <a:off x="10415160" y="2706480"/>
            <a:ext cx="5850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00" spc="-1" strike="noStrike">
                <a:solidFill>
                  <a:srgbClr val="ffffff"/>
                </a:solidFill>
                <a:latin typeface="Inter Display"/>
                <a:ea typeface="Inter Display"/>
              </a:rPr>
              <a:t>6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Text 35"/>
          <p:cNvSpPr/>
          <p:nvPr/>
        </p:nvSpPr>
        <p:spPr>
          <a:xfrm>
            <a:off x="10067400" y="3493080"/>
            <a:ext cx="1279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30" spc="-1" strike="noStrike">
                <a:solidFill>
                  <a:srgbClr val="071a4a"/>
                </a:solidFill>
                <a:latin typeface="Inter Display"/>
                <a:ea typeface="Inter Display"/>
              </a:rPr>
              <a:t>Saída</a:t>
            </a:r>
            <a:endParaRPr b="0" lang="pt-BR" sz="13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Text 36"/>
          <p:cNvSpPr/>
          <p:nvPr/>
        </p:nvSpPr>
        <p:spPr>
          <a:xfrm>
            <a:off x="10067400" y="3849480"/>
            <a:ext cx="12798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970" spc="-1" strike="noStrike">
                <a:solidFill>
                  <a:srgbClr val="5b6b86"/>
                </a:solidFill>
                <a:latin typeface="Lato"/>
                <a:ea typeface="Lato"/>
              </a:rPr>
              <a:t>mensagem visual</a:t>
            </a:r>
            <a:endParaRPr b="0" lang="pt-BR" sz="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Shape 37"/>
          <p:cNvSpPr/>
          <p:nvPr/>
        </p:nvSpPr>
        <p:spPr>
          <a:xfrm flipH="1">
            <a:off x="3291840" y="4709160"/>
            <a:ext cx="7424640" cy="621720"/>
          </a:xfrm>
          <a:prstGeom prst="line">
            <a:avLst/>
          </a:prstGeom>
          <a:ln w="22860">
            <a:solidFill>
              <a:srgbClr val="f36b2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Text 38"/>
          <p:cNvSpPr/>
          <p:nvPr/>
        </p:nvSpPr>
        <p:spPr>
          <a:xfrm>
            <a:off x="4800600" y="512964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-1" strike="noStrike">
                <a:solidFill>
                  <a:srgbClr val="f36b21"/>
                </a:solidFill>
                <a:latin typeface="Lato"/>
                <a:ea typeface="Lato"/>
              </a:rPr>
              <a:t>volta para a próxima leitura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PlaceHolder 1"/>
          <p:cNvSpPr>
            <a:spLocks noGrp="1"/>
          </p:cNvSpPr>
          <p:nvPr>
            <p:ph type="sldNum" idx="32"/>
          </p:nvPr>
        </p:nvSpPr>
        <p:spPr>
          <a:xfrm>
            <a:off x="11283840" y="644652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850" spc="-1" strike="noStrike">
                <a:solidFill>
                  <a:srgbClr val="7a879d"/>
                </a:solidFill>
                <a:latin typeface="Lato"/>
                <a:ea typeface="La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C929DC-1137-4E26-BE15-F1ABD48E7E77}" type="slidenum">
              <a:rPr b="0" lang="pt-BR" sz="850" spc="-1" strike="noStrike">
                <a:solidFill>
                  <a:srgbClr val="7a879d"/>
                </a:solidFill>
                <a:latin typeface="Lato"/>
                <a:ea typeface="Lato"/>
              </a:rPr>
              <a:t>27</a:t>
            </a:fld>
            <a:endParaRPr b="0" lang="pt-BR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Shape 0"/>
          <p:cNvSpPr/>
          <p:nvPr/>
        </p:nvSpPr>
        <p:spPr>
          <a:xfrm>
            <a:off x="-411480" y="987480"/>
            <a:ext cx="1279800" cy="1005480"/>
          </a:xfrm>
          <a:prstGeom prst="hexagon">
            <a:avLst>
              <a:gd name="adj" fmla="val 25000"/>
              <a:gd name="vf" fmla="val 115470"/>
            </a:avLst>
          </a:prstGeom>
          <a:noFill/>
          <a:ln w="30480">
            <a:solidFill>
              <a:srgbClr val="e72b76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9" name="Shape 1"/>
          <p:cNvSpPr/>
          <p:nvPr/>
        </p:nvSpPr>
        <p:spPr>
          <a:xfrm>
            <a:off x="11384280" y="1600200"/>
            <a:ext cx="1234080" cy="987120"/>
          </a:xfrm>
          <a:prstGeom prst="hexagon">
            <a:avLst>
              <a:gd name="adj" fmla="val 25000"/>
              <a:gd name="vf" fmla="val 115470"/>
            </a:avLst>
          </a:prstGeom>
          <a:noFill/>
          <a:ln w="30480">
            <a:solidFill>
              <a:srgbClr val="f36b21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0" name="Shape 2"/>
          <p:cNvSpPr/>
          <p:nvPr/>
        </p:nvSpPr>
        <p:spPr>
          <a:xfrm>
            <a:off x="10442520" y="5148000"/>
            <a:ext cx="959760" cy="758520"/>
          </a:xfrm>
          <a:prstGeom prst="hexagon">
            <a:avLst>
              <a:gd name="adj" fmla="val 25000"/>
              <a:gd name="vf" fmla="val 115470"/>
            </a:avLst>
          </a:prstGeom>
          <a:noFill/>
          <a:ln w="27940">
            <a:solidFill>
              <a:srgbClr val="10b9f3">
                <a:alpha val="8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1" name="Shape 3"/>
          <p:cNvSpPr/>
          <p:nvPr/>
        </p:nvSpPr>
        <p:spPr>
          <a:xfrm>
            <a:off x="164520" y="5139000"/>
            <a:ext cx="987120" cy="785880"/>
          </a:xfrm>
          <a:prstGeom prst="hexagon">
            <a:avLst>
              <a:gd name="adj" fmla="val 25000"/>
              <a:gd name="vf" fmla="val 115470"/>
            </a:avLst>
          </a:prstGeom>
          <a:noFill/>
          <a:ln w="27940">
            <a:solidFill>
              <a:srgbClr val="8157b1">
                <a:alpha val="8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2" name="Shape 4"/>
          <p:cNvSpPr/>
          <p:nvPr/>
        </p:nvSpPr>
        <p:spPr>
          <a:xfrm>
            <a:off x="8192880" y="-283320"/>
            <a:ext cx="987120" cy="785880"/>
          </a:xfrm>
          <a:prstGeom prst="hexagon">
            <a:avLst>
              <a:gd name="adj" fmla="val 25000"/>
              <a:gd name="vf" fmla="val 115470"/>
            </a:avLst>
          </a:prstGeom>
          <a:noFill/>
          <a:ln w="26670">
            <a:solidFill>
              <a:srgbClr val="f36b21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3" name="Shape 5"/>
          <p:cNvSpPr/>
          <p:nvPr/>
        </p:nvSpPr>
        <p:spPr>
          <a:xfrm>
            <a:off x="2990160" y="-246960"/>
            <a:ext cx="840960" cy="667080"/>
          </a:xfrm>
          <a:prstGeom prst="hexagon">
            <a:avLst>
              <a:gd name="adj" fmla="val 25000"/>
              <a:gd name="vf" fmla="val 115470"/>
            </a:avLst>
          </a:prstGeom>
          <a:noFill/>
          <a:ln w="25400">
            <a:solidFill>
              <a:srgbClr val="10b9f3">
                <a:alpha val="8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4" name="Text 6"/>
          <p:cNvSpPr/>
          <p:nvPr/>
        </p:nvSpPr>
        <p:spPr>
          <a:xfrm>
            <a:off x="749880" y="111564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00" spc="117" strike="noStrike">
                <a:solidFill>
                  <a:srgbClr val="10b9f3"/>
                </a:solidFill>
                <a:latin typeface="Lato"/>
                <a:ea typeface="Lato"/>
              </a:rPr>
              <a:t>DESAFIO HANDS-ON · 40 MIN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5" name="Text 7"/>
          <p:cNvSpPr/>
          <p:nvPr/>
        </p:nvSpPr>
        <p:spPr>
          <a:xfrm>
            <a:off x="731520" y="1481400"/>
            <a:ext cx="891504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3400" spc="-1" strike="noStrike">
                <a:solidFill>
                  <a:srgbClr val="ffffff"/>
                </a:solidFill>
                <a:latin typeface="Inter Display"/>
                <a:ea typeface="Inter Display"/>
              </a:rPr>
              <a:t>Construa um painel de monitoramento de um wearable simulado</a:t>
            </a:r>
            <a:endParaRPr b="0" lang="pt-BR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6" name="Text 8"/>
          <p:cNvSpPr/>
          <p:nvPr/>
        </p:nvSpPr>
        <p:spPr>
          <a:xfrm>
            <a:off x="749880" y="2651760"/>
            <a:ext cx="7863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620" spc="-1" strike="noStrike">
                <a:solidFill>
                  <a:srgbClr val="ced8ea"/>
                </a:solidFill>
                <a:latin typeface="Lato"/>
                <a:ea typeface="Lato"/>
              </a:rPr>
              <a:t>Use somente valores fictícios ou sintéticos.</a:t>
            </a:r>
            <a:endParaRPr b="0" lang="pt-BR" sz="16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7" name="Shape 9"/>
          <p:cNvSpPr/>
          <p:nvPr/>
        </p:nvSpPr>
        <p:spPr>
          <a:xfrm>
            <a:off x="804600" y="3895200"/>
            <a:ext cx="3337200" cy="603000"/>
          </a:xfrm>
          <a:prstGeom prst="roundRect">
            <a:avLst>
              <a:gd name="adj" fmla="val 12121"/>
            </a:avLst>
          </a:prstGeom>
          <a:solidFill>
            <a:srgbClr val="10285d"/>
          </a:solidFill>
          <a:ln w="12700">
            <a:solidFill>
              <a:srgbClr val="244b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8" name="Text 10"/>
          <p:cNvSpPr/>
          <p:nvPr/>
        </p:nvSpPr>
        <p:spPr>
          <a:xfrm>
            <a:off x="951120" y="4005000"/>
            <a:ext cx="978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889" spc="58" strike="noStrike">
                <a:solidFill>
                  <a:srgbClr val="10b9f3"/>
                </a:solidFill>
                <a:latin typeface="Lato"/>
                <a:ea typeface="Lato"/>
              </a:rPr>
              <a:t>VARIÁVEL</a:t>
            </a:r>
            <a:endParaRPr b="0" lang="pt-BR" sz="88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9" name="Text 11"/>
          <p:cNvSpPr/>
          <p:nvPr/>
        </p:nvSpPr>
        <p:spPr>
          <a:xfrm>
            <a:off x="1965960" y="3986640"/>
            <a:ext cx="1974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20" spc="-1" strike="noStrike">
                <a:solidFill>
                  <a:srgbClr val="ffffff"/>
                </a:solidFill>
                <a:latin typeface="Lato"/>
                <a:ea typeface="Lato"/>
              </a:rPr>
              <a:t>valorSensor</a:t>
            </a:r>
            <a:endParaRPr b="0" lang="pt-BR" sz="12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0" name="Shape 12"/>
          <p:cNvSpPr/>
          <p:nvPr/>
        </p:nvSpPr>
        <p:spPr>
          <a:xfrm>
            <a:off x="4535280" y="3895200"/>
            <a:ext cx="3337200" cy="603000"/>
          </a:xfrm>
          <a:prstGeom prst="roundRect">
            <a:avLst>
              <a:gd name="adj" fmla="val 12121"/>
            </a:avLst>
          </a:prstGeom>
          <a:solidFill>
            <a:srgbClr val="10285d"/>
          </a:solidFill>
          <a:ln w="12700">
            <a:solidFill>
              <a:srgbClr val="244b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1" name="Text 13"/>
          <p:cNvSpPr/>
          <p:nvPr/>
        </p:nvSpPr>
        <p:spPr>
          <a:xfrm>
            <a:off x="4681800" y="4005000"/>
            <a:ext cx="978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889" spc="58" strike="noStrike">
                <a:solidFill>
                  <a:srgbClr val="10b9f3"/>
                </a:solidFill>
                <a:latin typeface="Lato"/>
                <a:ea typeface="Lato"/>
              </a:rPr>
              <a:t>ENTRADA</a:t>
            </a:r>
            <a:endParaRPr b="0" lang="pt-BR" sz="88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2" name="Text 14"/>
          <p:cNvSpPr/>
          <p:nvPr/>
        </p:nvSpPr>
        <p:spPr>
          <a:xfrm>
            <a:off x="5696640" y="3986640"/>
            <a:ext cx="1974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20" spc="-1" strike="noStrike">
                <a:solidFill>
                  <a:srgbClr val="ffffff"/>
                </a:solidFill>
                <a:latin typeface="Lato"/>
                <a:ea typeface="Lato"/>
              </a:rPr>
              <a:t>manual ou aleatória</a:t>
            </a:r>
            <a:endParaRPr b="0" lang="pt-BR" sz="12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3" name="Shape 15"/>
          <p:cNvSpPr/>
          <p:nvPr/>
        </p:nvSpPr>
        <p:spPr>
          <a:xfrm>
            <a:off x="8266320" y="3895200"/>
            <a:ext cx="3337200" cy="603000"/>
          </a:xfrm>
          <a:prstGeom prst="roundRect">
            <a:avLst>
              <a:gd name="adj" fmla="val 12121"/>
            </a:avLst>
          </a:prstGeom>
          <a:solidFill>
            <a:srgbClr val="10285d"/>
          </a:solidFill>
          <a:ln w="12700">
            <a:solidFill>
              <a:srgbClr val="244b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4" name="Text 16"/>
          <p:cNvSpPr/>
          <p:nvPr/>
        </p:nvSpPr>
        <p:spPr>
          <a:xfrm>
            <a:off x="8412480" y="4005000"/>
            <a:ext cx="978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889" spc="58" strike="noStrike">
                <a:solidFill>
                  <a:srgbClr val="10b9f3"/>
                </a:solidFill>
                <a:latin typeface="Lato"/>
                <a:ea typeface="Lato"/>
              </a:rPr>
              <a:t>DECISÃO</a:t>
            </a:r>
            <a:endParaRPr b="0" lang="pt-BR" sz="88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5" name="Text 17"/>
          <p:cNvSpPr/>
          <p:nvPr/>
        </p:nvSpPr>
        <p:spPr>
          <a:xfrm>
            <a:off x="9427320" y="3986640"/>
            <a:ext cx="1974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20" spc="-1" strike="noStrike">
                <a:solidFill>
                  <a:srgbClr val="ffffff"/>
                </a:solidFill>
                <a:latin typeface="Lato"/>
                <a:ea typeface="Lato"/>
              </a:rPr>
              <a:t>3 faixas</a:t>
            </a:r>
            <a:endParaRPr b="0" lang="pt-BR" sz="12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6" name="Shape 18"/>
          <p:cNvSpPr/>
          <p:nvPr/>
        </p:nvSpPr>
        <p:spPr>
          <a:xfrm>
            <a:off x="804600" y="4681800"/>
            <a:ext cx="3337200" cy="603000"/>
          </a:xfrm>
          <a:prstGeom prst="roundRect">
            <a:avLst>
              <a:gd name="adj" fmla="val 12121"/>
            </a:avLst>
          </a:prstGeom>
          <a:solidFill>
            <a:srgbClr val="10285d"/>
          </a:solidFill>
          <a:ln w="12700">
            <a:solidFill>
              <a:srgbClr val="244b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7" name="Text 19"/>
          <p:cNvSpPr/>
          <p:nvPr/>
        </p:nvSpPr>
        <p:spPr>
          <a:xfrm>
            <a:off x="951120" y="4791600"/>
            <a:ext cx="978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889" spc="58" strike="noStrike">
                <a:solidFill>
                  <a:srgbClr val="10b9f3"/>
                </a:solidFill>
                <a:latin typeface="Lato"/>
                <a:ea typeface="Lato"/>
              </a:rPr>
              <a:t>REPETIÇÃO</a:t>
            </a:r>
            <a:endParaRPr b="0" lang="pt-BR" sz="88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8" name="Text 20"/>
          <p:cNvSpPr/>
          <p:nvPr/>
        </p:nvSpPr>
        <p:spPr>
          <a:xfrm>
            <a:off x="1965960" y="4773240"/>
            <a:ext cx="1974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20" spc="-1" strike="noStrike">
                <a:solidFill>
                  <a:srgbClr val="ffffff"/>
                </a:solidFill>
                <a:latin typeface="Lato"/>
                <a:ea typeface="Lato"/>
              </a:rPr>
              <a:t>mais de 1 leitura</a:t>
            </a:r>
            <a:endParaRPr b="0" lang="pt-BR" sz="12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9" name="Shape 21"/>
          <p:cNvSpPr/>
          <p:nvPr/>
        </p:nvSpPr>
        <p:spPr>
          <a:xfrm>
            <a:off x="4535280" y="4681800"/>
            <a:ext cx="3337200" cy="603000"/>
          </a:xfrm>
          <a:prstGeom prst="roundRect">
            <a:avLst>
              <a:gd name="adj" fmla="val 12121"/>
            </a:avLst>
          </a:prstGeom>
          <a:solidFill>
            <a:srgbClr val="10285d"/>
          </a:solidFill>
          <a:ln w="12700">
            <a:solidFill>
              <a:srgbClr val="244b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0" name="Text 22"/>
          <p:cNvSpPr/>
          <p:nvPr/>
        </p:nvSpPr>
        <p:spPr>
          <a:xfrm>
            <a:off x="4681800" y="4791600"/>
            <a:ext cx="978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889" spc="58" strike="noStrike">
                <a:solidFill>
                  <a:srgbClr val="10b9f3"/>
                </a:solidFill>
                <a:latin typeface="Lato"/>
                <a:ea typeface="Lato"/>
              </a:rPr>
              <a:t>SAÍDA</a:t>
            </a:r>
            <a:endParaRPr b="0" lang="pt-BR" sz="88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1" name="Text 23"/>
          <p:cNvSpPr/>
          <p:nvPr/>
        </p:nvSpPr>
        <p:spPr>
          <a:xfrm>
            <a:off x="5696640" y="4773240"/>
            <a:ext cx="1974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20" spc="-1" strike="noStrike">
                <a:solidFill>
                  <a:srgbClr val="ffffff"/>
                </a:solidFill>
                <a:latin typeface="Lato"/>
                <a:ea typeface="Lato"/>
              </a:rPr>
              <a:t>mensagem visual</a:t>
            </a:r>
            <a:endParaRPr b="0" lang="pt-BR" sz="12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2" name="Shape 24"/>
          <p:cNvSpPr/>
          <p:nvPr/>
        </p:nvSpPr>
        <p:spPr>
          <a:xfrm>
            <a:off x="8266320" y="4681800"/>
            <a:ext cx="3337200" cy="603000"/>
          </a:xfrm>
          <a:prstGeom prst="roundRect">
            <a:avLst>
              <a:gd name="adj" fmla="val 12121"/>
            </a:avLst>
          </a:prstGeom>
          <a:solidFill>
            <a:srgbClr val="10285d"/>
          </a:solidFill>
          <a:ln w="12700">
            <a:solidFill>
              <a:srgbClr val="244b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3" name="Text 25"/>
          <p:cNvSpPr/>
          <p:nvPr/>
        </p:nvSpPr>
        <p:spPr>
          <a:xfrm>
            <a:off x="8412480" y="4791600"/>
            <a:ext cx="978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889" spc="58" strike="noStrike">
                <a:solidFill>
                  <a:srgbClr val="10b9f3"/>
                </a:solidFill>
                <a:latin typeface="Lato"/>
                <a:ea typeface="Lato"/>
              </a:rPr>
              <a:t>TESTES</a:t>
            </a:r>
            <a:endParaRPr b="0" lang="pt-BR" sz="88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4" name="Text 26"/>
          <p:cNvSpPr/>
          <p:nvPr/>
        </p:nvSpPr>
        <p:spPr>
          <a:xfrm>
            <a:off x="9427320" y="4773240"/>
            <a:ext cx="1974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20" spc="-1" strike="noStrike">
                <a:solidFill>
                  <a:srgbClr val="ffffff"/>
                </a:solidFill>
                <a:latin typeface="Lato"/>
                <a:ea typeface="Lato"/>
              </a:rPr>
              <a:t>mín. 5 casos</a:t>
            </a:r>
            <a:endParaRPr b="0" lang="pt-BR" sz="12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5" name="Text 27"/>
          <p:cNvSpPr/>
          <p:nvPr/>
        </p:nvSpPr>
        <p:spPr>
          <a:xfrm>
            <a:off x="2039040" y="5724000"/>
            <a:ext cx="811044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60" spc="-1" strike="noStrike">
                <a:solidFill>
                  <a:srgbClr val="ffc58a"/>
                </a:solidFill>
                <a:latin typeface="Lato"/>
                <a:ea typeface="Lato"/>
              </a:rPr>
              <a:t>Limites 30/70: apenas para o exercício; não têm significado clínico.</a:t>
            </a:r>
            <a:endParaRPr b="0" lang="pt-BR" sz="11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6" name="PlaceHolder 1"/>
          <p:cNvSpPr>
            <a:spLocks noGrp="1"/>
          </p:cNvSpPr>
          <p:nvPr>
            <p:ph type="sldNum" idx="33"/>
          </p:nvPr>
        </p:nvSpPr>
        <p:spPr>
          <a:xfrm>
            <a:off x="11283840" y="644652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850" spc="-1" strike="noStrike">
                <a:solidFill>
                  <a:srgbClr val="9fb0d0"/>
                </a:solidFill>
                <a:latin typeface="Lato"/>
                <a:ea typeface="La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7E8087-B1D5-4C7F-86F2-2FC6A011DE6B}" type="slidenum">
              <a:rPr b="0" lang="pt-BR" sz="850" spc="-1" strike="noStrike">
                <a:solidFill>
                  <a:srgbClr val="9fb0d0"/>
                </a:solidFill>
                <a:latin typeface="Lato"/>
                <a:ea typeface="Lato"/>
              </a:rPr>
              <a:t>28</a:t>
            </a:fld>
            <a:endParaRPr b="0" lang="pt-BR" sz="85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Text 0"/>
          <p:cNvSpPr/>
          <p:nvPr/>
        </p:nvSpPr>
        <p:spPr>
          <a:xfrm>
            <a:off x="713160" y="896040"/>
            <a:ext cx="99666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  <a:ea typeface="Inter Display"/>
              </a:rPr>
              <a:t>Checklist do projeto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Text 1"/>
          <p:cNvSpPr/>
          <p:nvPr/>
        </p:nvSpPr>
        <p:spPr>
          <a:xfrm>
            <a:off x="731520" y="1444680"/>
            <a:ext cx="9692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50" spc="-1" strike="noStrike">
                <a:solidFill>
                  <a:srgbClr val="5b6b86"/>
                </a:solidFill>
                <a:latin typeface="Lato"/>
                <a:ea typeface="Lato"/>
              </a:rPr>
              <a:t>Mantenha este slide na tela durante a construção.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Shape 2"/>
          <p:cNvSpPr/>
          <p:nvPr/>
        </p:nvSpPr>
        <p:spPr>
          <a:xfrm>
            <a:off x="987480" y="1993320"/>
            <a:ext cx="10149480" cy="51156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de4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Shape 3"/>
          <p:cNvSpPr/>
          <p:nvPr/>
        </p:nvSpPr>
        <p:spPr>
          <a:xfrm>
            <a:off x="1188720" y="2103120"/>
            <a:ext cx="273960" cy="273960"/>
          </a:xfrm>
          <a:prstGeom prst="ellipse">
            <a:avLst/>
          </a:prstGeom>
          <a:noFill/>
          <a:ln w="22860">
            <a:solidFill>
              <a:srgbClr val="10b9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Text 4"/>
          <p:cNvSpPr/>
          <p:nvPr/>
        </p:nvSpPr>
        <p:spPr>
          <a:xfrm>
            <a:off x="1645920" y="2103120"/>
            <a:ext cx="246852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80" spc="-1" strike="noStrike">
                <a:solidFill>
                  <a:srgbClr val="071a4a"/>
                </a:solidFill>
                <a:latin typeface="Lato"/>
                <a:ea typeface="Lato"/>
              </a:rPr>
              <a:t>Sequência e evento</a:t>
            </a:r>
            <a:endParaRPr b="0" lang="pt-BR" sz="1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Text 5"/>
          <p:cNvSpPr/>
          <p:nvPr/>
        </p:nvSpPr>
        <p:spPr>
          <a:xfrm>
            <a:off x="4224600" y="2103120"/>
            <a:ext cx="6491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50" spc="-1" strike="noStrike">
                <a:solidFill>
                  <a:srgbClr val="5b6b86"/>
                </a:solidFill>
                <a:latin typeface="Lato"/>
                <a:ea typeface="Lato"/>
              </a:rPr>
              <a:t>O programa inicia e executa as etapas na ordem esperada.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Shape 6"/>
          <p:cNvSpPr/>
          <p:nvPr/>
        </p:nvSpPr>
        <p:spPr>
          <a:xfrm>
            <a:off x="987480" y="2660760"/>
            <a:ext cx="10149480" cy="511560"/>
          </a:xfrm>
          <a:prstGeom prst="roundRect">
            <a:avLst>
              <a:gd name="adj" fmla="val 14286"/>
            </a:avLst>
          </a:prstGeom>
          <a:solidFill>
            <a:srgbClr val="f0f4fa"/>
          </a:solidFill>
          <a:ln w="12700">
            <a:solidFill>
              <a:srgbClr val="dde4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Shape 7"/>
          <p:cNvSpPr/>
          <p:nvPr/>
        </p:nvSpPr>
        <p:spPr>
          <a:xfrm>
            <a:off x="1188720" y="2770560"/>
            <a:ext cx="273960" cy="273960"/>
          </a:xfrm>
          <a:prstGeom prst="ellipse">
            <a:avLst/>
          </a:prstGeom>
          <a:noFill/>
          <a:ln w="22860">
            <a:solidFill>
              <a:srgbClr val="10b9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Text 8"/>
          <p:cNvSpPr/>
          <p:nvPr/>
        </p:nvSpPr>
        <p:spPr>
          <a:xfrm>
            <a:off x="1645920" y="2770560"/>
            <a:ext cx="246852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80" spc="-1" strike="noStrike">
                <a:solidFill>
                  <a:srgbClr val="071a4a"/>
                </a:solidFill>
                <a:latin typeface="Lato"/>
                <a:ea typeface="Lato"/>
              </a:rPr>
              <a:t>Variável</a:t>
            </a:r>
            <a:endParaRPr b="0" lang="pt-BR" sz="1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Text 9"/>
          <p:cNvSpPr/>
          <p:nvPr/>
        </p:nvSpPr>
        <p:spPr>
          <a:xfrm>
            <a:off x="4224600" y="2770560"/>
            <a:ext cx="6491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50" spc="-1" strike="noStrike">
                <a:solidFill>
                  <a:srgbClr val="5b6b86"/>
                </a:solidFill>
                <a:latin typeface="Lato"/>
                <a:ea typeface="Lato"/>
              </a:rPr>
              <a:t>O valor é armazenado e reutilizado corretamente.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Shape 10"/>
          <p:cNvSpPr/>
          <p:nvPr/>
        </p:nvSpPr>
        <p:spPr>
          <a:xfrm>
            <a:off x="987480" y="3328560"/>
            <a:ext cx="10149480" cy="51156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de4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Shape 11"/>
          <p:cNvSpPr/>
          <p:nvPr/>
        </p:nvSpPr>
        <p:spPr>
          <a:xfrm>
            <a:off x="1188720" y="3438000"/>
            <a:ext cx="273960" cy="273960"/>
          </a:xfrm>
          <a:prstGeom prst="ellipse">
            <a:avLst/>
          </a:prstGeom>
          <a:noFill/>
          <a:ln w="22860">
            <a:solidFill>
              <a:srgbClr val="10b9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Text 12"/>
          <p:cNvSpPr/>
          <p:nvPr/>
        </p:nvSpPr>
        <p:spPr>
          <a:xfrm>
            <a:off x="1645920" y="3438000"/>
            <a:ext cx="246852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80" spc="-1" strike="noStrike">
                <a:solidFill>
                  <a:srgbClr val="071a4a"/>
                </a:solidFill>
                <a:latin typeface="Lato"/>
                <a:ea typeface="Lato"/>
              </a:rPr>
              <a:t>Decisão</a:t>
            </a:r>
            <a:endParaRPr b="0" lang="pt-BR" sz="1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Text 13"/>
          <p:cNvSpPr/>
          <p:nvPr/>
        </p:nvSpPr>
        <p:spPr>
          <a:xfrm>
            <a:off x="4224600" y="3438000"/>
            <a:ext cx="6491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50" spc="-1" strike="noStrike">
                <a:solidFill>
                  <a:srgbClr val="5b6b86"/>
                </a:solidFill>
                <a:latin typeface="Lato"/>
                <a:ea typeface="Lato"/>
              </a:rPr>
              <a:t>As faixas respondem aos casos de teste.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Shape 14"/>
          <p:cNvSpPr/>
          <p:nvPr/>
        </p:nvSpPr>
        <p:spPr>
          <a:xfrm>
            <a:off x="987480" y="3996000"/>
            <a:ext cx="10149480" cy="511560"/>
          </a:xfrm>
          <a:prstGeom prst="roundRect">
            <a:avLst>
              <a:gd name="adj" fmla="val 14286"/>
            </a:avLst>
          </a:prstGeom>
          <a:solidFill>
            <a:srgbClr val="f0f4fa"/>
          </a:solidFill>
          <a:ln w="12700">
            <a:solidFill>
              <a:srgbClr val="dde4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Shape 15"/>
          <p:cNvSpPr/>
          <p:nvPr/>
        </p:nvSpPr>
        <p:spPr>
          <a:xfrm>
            <a:off x="1188720" y="4105800"/>
            <a:ext cx="273960" cy="273960"/>
          </a:xfrm>
          <a:prstGeom prst="ellipse">
            <a:avLst/>
          </a:prstGeom>
          <a:noFill/>
          <a:ln w="22860">
            <a:solidFill>
              <a:srgbClr val="10b9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Text 16"/>
          <p:cNvSpPr/>
          <p:nvPr/>
        </p:nvSpPr>
        <p:spPr>
          <a:xfrm>
            <a:off x="1645920" y="4105800"/>
            <a:ext cx="246852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80" spc="-1" strike="noStrike">
                <a:solidFill>
                  <a:srgbClr val="071a4a"/>
                </a:solidFill>
                <a:latin typeface="Lato"/>
                <a:ea typeface="Lato"/>
              </a:rPr>
              <a:t>Repetição</a:t>
            </a:r>
            <a:endParaRPr b="0" lang="pt-BR" sz="1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4" name="Text 17"/>
          <p:cNvSpPr/>
          <p:nvPr/>
        </p:nvSpPr>
        <p:spPr>
          <a:xfrm>
            <a:off x="4224600" y="4105800"/>
            <a:ext cx="6491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50" spc="-1" strike="noStrike">
                <a:solidFill>
                  <a:srgbClr val="5b6b86"/>
                </a:solidFill>
                <a:latin typeface="Lato"/>
                <a:ea typeface="Lato"/>
              </a:rPr>
              <a:t>Mais de uma leitura é processada sem duplicar todo o código.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Shape 18"/>
          <p:cNvSpPr/>
          <p:nvPr/>
        </p:nvSpPr>
        <p:spPr>
          <a:xfrm>
            <a:off x="987480" y="4663440"/>
            <a:ext cx="10149480" cy="51156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de4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Shape 19"/>
          <p:cNvSpPr/>
          <p:nvPr/>
        </p:nvSpPr>
        <p:spPr>
          <a:xfrm>
            <a:off x="1188720" y="4773240"/>
            <a:ext cx="273960" cy="273960"/>
          </a:xfrm>
          <a:prstGeom prst="ellipse">
            <a:avLst/>
          </a:prstGeom>
          <a:noFill/>
          <a:ln w="22860">
            <a:solidFill>
              <a:srgbClr val="10b9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Text 20"/>
          <p:cNvSpPr/>
          <p:nvPr/>
        </p:nvSpPr>
        <p:spPr>
          <a:xfrm>
            <a:off x="1645920" y="4773240"/>
            <a:ext cx="246852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80" spc="-1" strike="noStrike">
                <a:solidFill>
                  <a:srgbClr val="071a4a"/>
                </a:solidFill>
                <a:latin typeface="Lato"/>
                <a:ea typeface="Lato"/>
              </a:rPr>
              <a:t>Teste e explicação</a:t>
            </a:r>
            <a:endParaRPr b="0" lang="pt-BR" sz="1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Text 21"/>
          <p:cNvSpPr/>
          <p:nvPr/>
        </p:nvSpPr>
        <p:spPr>
          <a:xfrm>
            <a:off x="4224600" y="4773240"/>
            <a:ext cx="6491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50" spc="-1" strike="noStrike">
                <a:solidFill>
                  <a:srgbClr val="5b6b86"/>
                </a:solidFill>
                <a:latin typeface="Lato"/>
                <a:ea typeface="Lato"/>
              </a:rPr>
              <a:t>Você testa limites e consegue explicar o fluxo.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Shape 22"/>
          <p:cNvSpPr/>
          <p:nvPr/>
        </p:nvSpPr>
        <p:spPr>
          <a:xfrm>
            <a:off x="3657600" y="5559480"/>
            <a:ext cx="4882680" cy="347040"/>
          </a:xfrm>
          <a:prstGeom prst="roundRect">
            <a:avLst>
              <a:gd name="adj" fmla="val 21053"/>
            </a:avLst>
          </a:prstGeom>
          <a:solidFill>
            <a:srgbClr val="071a4a"/>
          </a:solidFill>
          <a:ln w="12700">
            <a:solidFill>
              <a:srgbClr val="071a4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0" name="Text 23"/>
          <p:cNvSpPr/>
          <p:nvPr/>
        </p:nvSpPr>
        <p:spPr>
          <a:xfrm>
            <a:off x="3730680" y="5623560"/>
            <a:ext cx="4736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70" spc="-1" strike="noStrike">
                <a:solidFill>
                  <a:srgbClr val="ffffff"/>
                </a:solidFill>
                <a:latin typeface="Lato"/>
                <a:ea typeface="Lato"/>
              </a:rPr>
              <a:t>Primeiro funcionalidade e testes; estética depois.</a:t>
            </a:r>
            <a:endParaRPr b="0" lang="pt-BR" sz="1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" name="PlaceHolder 1"/>
          <p:cNvSpPr>
            <a:spLocks noGrp="1"/>
          </p:cNvSpPr>
          <p:nvPr>
            <p:ph type="sldNum" idx="34"/>
          </p:nvPr>
        </p:nvSpPr>
        <p:spPr>
          <a:xfrm>
            <a:off x="11283840" y="644652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850" spc="-1" strike="noStrike">
                <a:solidFill>
                  <a:srgbClr val="7a879d"/>
                </a:solidFill>
                <a:latin typeface="Lato"/>
                <a:ea typeface="La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B1E1EC-30C3-416D-9C5E-78C4EBCD167A}" type="slidenum">
              <a:rPr b="0" lang="pt-BR" sz="850" spc="-1" strike="noStrike">
                <a:solidFill>
                  <a:srgbClr val="7a879d"/>
                </a:solidFill>
                <a:latin typeface="Lato"/>
                <a:ea typeface="Lato"/>
              </a:rPr>
              <a:t>29</a:t>
            </a:fld>
            <a:endParaRPr b="0" lang="pt-BR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Text 0"/>
          <p:cNvSpPr/>
          <p:nvPr/>
        </p:nvSpPr>
        <p:spPr>
          <a:xfrm>
            <a:off x="713160" y="896040"/>
            <a:ext cx="99666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  <a:ea typeface="Inter Display"/>
              </a:rPr>
              <a:t>Extensões opcionais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Text 1"/>
          <p:cNvSpPr/>
          <p:nvPr/>
        </p:nvSpPr>
        <p:spPr>
          <a:xfrm>
            <a:off x="731520" y="1444680"/>
            <a:ext cx="9692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50" spc="-1" strike="noStrike">
                <a:solidFill>
                  <a:srgbClr val="5b6b86"/>
                </a:solidFill>
                <a:latin typeface="Lato"/>
                <a:ea typeface="Lato"/>
              </a:rPr>
              <a:t>Para quem terminar antes: aumente o desafio sem alterar a lógica central.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" name="Shape 2"/>
          <p:cNvSpPr/>
          <p:nvPr/>
        </p:nvSpPr>
        <p:spPr>
          <a:xfrm>
            <a:off x="868680" y="2103120"/>
            <a:ext cx="2157480" cy="23954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1e7f0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" name="Shape 3"/>
          <p:cNvSpPr/>
          <p:nvPr/>
        </p:nvSpPr>
        <p:spPr>
          <a:xfrm>
            <a:off x="1636920" y="2404800"/>
            <a:ext cx="621360" cy="621360"/>
          </a:xfrm>
          <a:prstGeom prst="ellipse">
            <a:avLst/>
          </a:prstGeom>
          <a:solidFill>
            <a:srgbClr val="10b9f3"/>
          </a:solidFill>
          <a:ln w="12700">
            <a:solidFill>
              <a:srgbClr val="10b9f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6" name="Text 4"/>
          <p:cNvSpPr/>
          <p:nvPr/>
        </p:nvSpPr>
        <p:spPr>
          <a:xfrm>
            <a:off x="1636920" y="2441520"/>
            <a:ext cx="621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00" spc="-1" strike="noStrike">
                <a:solidFill>
                  <a:srgbClr val="ffffff"/>
                </a:solidFill>
                <a:latin typeface="Inter Display"/>
                <a:ea typeface="Inter Display"/>
              </a:rPr>
              <a:t>1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Text 5"/>
          <p:cNvSpPr/>
          <p:nvPr/>
        </p:nvSpPr>
        <p:spPr>
          <a:xfrm>
            <a:off x="1051560" y="3218760"/>
            <a:ext cx="17917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50" spc="-1" strike="noStrike">
                <a:solidFill>
                  <a:srgbClr val="071a4a"/>
                </a:solidFill>
                <a:latin typeface="Inter Display"/>
                <a:ea typeface="Inter Display"/>
              </a:rPr>
              <a:t>Visual por faixa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Text 6"/>
          <p:cNvSpPr/>
          <p:nvPr/>
        </p:nvSpPr>
        <p:spPr>
          <a:xfrm>
            <a:off x="1051560" y="3785760"/>
            <a:ext cx="17917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20" spc="-1" strike="noStrike">
                <a:solidFill>
                  <a:srgbClr val="5b6b86"/>
                </a:solidFill>
                <a:latin typeface="Lato"/>
                <a:ea typeface="Lato"/>
              </a:rPr>
              <a:t>mude figurino, cenário, tamanho ou posição</a:t>
            </a:r>
            <a:endParaRPr b="0" lang="pt-BR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9" name="Shape 7"/>
          <p:cNvSpPr/>
          <p:nvPr/>
        </p:nvSpPr>
        <p:spPr>
          <a:xfrm>
            <a:off x="3639240" y="2103120"/>
            <a:ext cx="2157480" cy="23954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1e7f0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0" name="Shape 8"/>
          <p:cNvSpPr/>
          <p:nvPr/>
        </p:nvSpPr>
        <p:spPr>
          <a:xfrm>
            <a:off x="4407480" y="2404800"/>
            <a:ext cx="621360" cy="621360"/>
          </a:xfrm>
          <a:prstGeom prst="ellipse">
            <a:avLst/>
          </a:prstGeom>
          <a:solidFill>
            <a:srgbClr val="f36b21"/>
          </a:solidFill>
          <a:ln w="12700">
            <a:solidFill>
              <a:srgbClr val="f36b2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1" name="Text 9"/>
          <p:cNvSpPr/>
          <p:nvPr/>
        </p:nvSpPr>
        <p:spPr>
          <a:xfrm>
            <a:off x="4407480" y="2441520"/>
            <a:ext cx="621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00" spc="-1" strike="noStrike">
                <a:solidFill>
                  <a:srgbClr val="ffffff"/>
                </a:solidFill>
                <a:latin typeface="Inter Display"/>
                <a:ea typeface="Inter Display"/>
              </a:rPr>
              <a:t>2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Text 10"/>
          <p:cNvSpPr/>
          <p:nvPr/>
        </p:nvSpPr>
        <p:spPr>
          <a:xfrm>
            <a:off x="3822120" y="3218760"/>
            <a:ext cx="17917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50" spc="-1" strike="noStrike">
                <a:solidFill>
                  <a:srgbClr val="071a4a"/>
                </a:solidFill>
                <a:latin typeface="Inter Display"/>
                <a:ea typeface="Inter Display"/>
              </a:rPr>
              <a:t>Contadores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Text 11"/>
          <p:cNvSpPr/>
          <p:nvPr/>
        </p:nvSpPr>
        <p:spPr>
          <a:xfrm>
            <a:off x="3822120" y="3785760"/>
            <a:ext cx="17917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20" spc="-1" strike="noStrike">
                <a:solidFill>
                  <a:srgbClr val="5b6b86"/>
                </a:solidFill>
                <a:latin typeface="Lato"/>
                <a:ea typeface="Lato"/>
              </a:rPr>
              <a:t>conte quantas leituras caíram em A, B e C</a:t>
            </a:r>
            <a:endParaRPr b="0" lang="pt-BR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4" name="Shape 12"/>
          <p:cNvSpPr/>
          <p:nvPr/>
        </p:nvSpPr>
        <p:spPr>
          <a:xfrm>
            <a:off x="6409800" y="2103120"/>
            <a:ext cx="2157480" cy="23954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1e7f0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" name="Shape 13"/>
          <p:cNvSpPr/>
          <p:nvPr/>
        </p:nvSpPr>
        <p:spPr>
          <a:xfrm>
            <a:off x="7178040" y="2404800"/>
            <a:ext cx="621360" cy="621360"/>
          </a:xfrm>
          <a:prstGeom prst="ellipse">
            <a:avLst/>
          </a:prstGeom>
          <a:solidFill>
            <a:srgbClr val="e72b76"/>
          </a:solidFill>
          <a:ln w="12700">
            <a:solidFill>
              <a:srgbClr val="e72b7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6" name="Text 14"/>
          <p:cNvSpPr/>
          <p:nvPr/>
        </p:nvSpPr>
        <p:spPr>
          <a:xfrm>
            <a:off x="7178040" y="2441520"/>
            <a:ext cx="621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00" spc="-1" strike="noStrike">
                <a:solidFill>
                  <a:srgbClr val="ffffff"/>
                </a:solidFill>
                <a:latin typeface="Inter Display"/>
                <a:ea typeface="Inter Display"/>
              </a:rPr>
              <a:t>3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7" name="Text 15"/>
          <p:cNvSpPr/>
          <p:nvPr/>
        </p:nvSpPr>
        <p:spPr>
          <a:xfrm>
            <a:off x="6592680" y="3218760"/>
            <a:ext cx="17917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50" spc="-1" strike="noStrike">
                <a:solidFill>
                  <a:srgbClr val="071a4a"/>
                </a:solidFill>
                <a:latin typeface="Inter Display"/>
                <a:ea typeface="Inter Display"/>
              </a:rPr>
              <a:t>Modo manual / auto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" name="Text 16"/>
          <p:cNvSpPr/>
          <p:nvPr/>
        </p:nvSpPr>
        <p:spPr>
          <a:xfrm>
            <a:off x="6592680" y="3785760"/>
            <a:ext cx="17917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20" spc="-1" strike="noStrike">
                <a:solidFill>
                  <a:srgbClr val="5b6b86"/>
                </a:solidFill>
                <a:latin typeface="Lato"/>
                <a:ea typeface="Lato"/>
              </a:rPr>
              <a:t>permita escolher como a leitura é obtida</a:t>
            </a:r>
            <a:endParaRPr b="0" lang="pt-BR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9" name="Shape 17"/>
          <p:cNvSpPr/>
          <p:nvPr/>
        </p:nvSpPr>
        <p:spPr>
          <a:xfrm>
            <a:off x="9180720" y="2103120"/>
            <a:ext cx="2157480" cy="23954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1e7f0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" name="Shape 18"/>
          <p:cNvSpPr/>
          <p:nvPr/>
        </p:nvSpPr>
        <p:spPr>
          <a:xfrm>
            <a:off x="9948600" y="2404800"/>
            <a:ext cx="621360" cy="621360"/>
          </a:xfrm>
          <a:prstGeom prst="ellipse">
            <a:avLst/>
          </a:prstGeom>
          <a:solidFill>
            <a:srgbClr val="8157b1"/>
          </a:solidFill>
          <a:ln w="12700">
            <a:solidFill>
              <a:srgbClr val="8157b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1" name="Text 19"/>
          <p:cNvSpPr/>
          <p:nvPr/>
        </p:nvSpPr>
        <p:spPr>
          <a:xfrm>
            <a:off x="9948600" y="2441520"/>
            <a:ext cx="621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00" spc="-1" strike="noStrike">
                <a:solidFill>
                  <a:srgbClr val="ffffff"/>
                </a:solidFill>
                <a:latin typeface="Inter Display"/>
                <a:ea typeface="Inter Display"/>
              </a:rPr>
              <a:t>4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Text 20"/>
          <p:cNvSpPr/>
          <p:nvPr/>
        </p:nvSpPr>
        <p:spPr>
          <a:xfrm>
            <a:off x="9363600" y="3218760"/>
            <a:ext cx="17917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50" spc="-1" strike="noStrike">
                <a:solidFill>
                  <a:srgbClr val="071a4a"/>
                </a:solidFill>
                <a:latin typeface="Inter Display"/>
                <a:ea typeface="Inter Display"/>
              </a:rPr>
              <a:t>Reinício / lista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Text 21"/>
          <p:cNvSpPr/>
          <p:nvPr/>
        </p:nvSpPr>
        <p:spPr>
          <a:xfrm>
            <a:off x="9363600" y="3785760"/>
            <a:ext cx="17917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20" spc="-1" strike="noStrike">
                <a:solidFill>
                  <a:srgbClr val="5b6b86"/>
                </a:solidFill>
                <a:latin typeface="Lato"/>
                <a:ea typeface="Lato"/>
              </a:rPr>
              <a:t>limpe contadores ou use uma lista fixa de valores</a:t>
            </a:r>
            <a:endParaRPr b="0" lang="pt-BR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Shape 22"/>
          <p:cNvSpPr/>
          <p:nvPr/>
        </p:nvSpPr>
        <p:spPr>
          <a:xfrm>
            <a:off x="2450520" y="4974480"/>
            <a:ext cx="7323840" cy="658080"/>
          </a:xfrm>
          <a:prstGeom prst="roundRect">
            <a:avLst>
              <a:gd name="adj" fmla="val 11111"/>
            </a:avLst>
          </a:prstGeom>
          <a:solidFill>
            <a:srgbClr val="fff6ea"/>
          </a:solidFill>
          <a:ln w="12700">
            <a:solidFill>
              <a:srgbClr val="f8d6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Text 23"/>
          <p:cNvSpPr/>
          <p:nvPr/>
        </p:nvSpPr>
        <p:spPr>
          <a:xfrm>
            <a:off x="2724840" y="5166360"/>
            <a:ext cx="676620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82450c"/>
                </a:solidFill>
                <a:latin typeface="Lato"/>
                <a:ea typeface="Lato"/>
              </a:rPr>
              <a:t>Regra: só avance para a extensão depois de validar a lógica e os testes do projeto principal.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" name="PlaceHolder 1"/>
          <p:cNvSpPr>
            <a:spLocks noGrp="1"/>
          </p:cNvSpPr>
          <p:nvPr>
            <p:ph type="sldNum" idx="35"/>
          </p:nvPr>
        </p:nvSpPr>
        <p:spPr>
          <a:xfrm>
            <a:off x="11283840" y="644652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850" spc="-1" strike="noStrike">
                <a:solidFill>
                  <a:srgbClr val="7a879d"/>
                </a:solidFill>
                <a:latin typeface="Lato"/>
                <a:ea typeface="La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A579F6-F2D5-4C86-A69F-A350365E55EA}" type="slidenum">
              <a:rPr b="0" lang="pt-BR" sz="850" spc="-1" strike="noStrike">
                <a:solidFill>
                  <a:srgbClr val="7a879d"/>
                </a:solidFill>
                <a:latin typeface="Lato"/>
                <a:ea typeface="Lato"/>
              </a:rPr>
              <a:t>30</a:t>
            </a:fld>
            <a:endParaRPr b="0" lang="pt-BR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Shape 0"/>
          <p:cNvSpPr/>
          <p:nvPr/>
        </p:nvSpPr>
        <p:spPr>
          <a:xfrm>
            <a:off x="-411480" y="987480"/>
            <a:ext cx="1279800" cy="1005480"/>
          </a:xfrm>
          <a:prstGeom prst="hexagon">
            <a:avLst>
              <a:gd name="adj" fmla="val 25000"/>
              <a:gd name="vf" fmla="val 115470"/>
            </a:avLst>
          </a:prstGeom>
          <a:noFill/>
          <a:ln w="30480">
            <a:solidFill>
              <a:srgbClr val="e72b76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8" name="Shape 1"/>
          <p:cNvSpPr/>
          <p:nvPr/>
        </p:nvSpPr>
        <p:spPr>
          <a:xfrm>
            <a:off x="11384280" y="1600200"/>
            <a:ext cx="1234080" cy="987120"/>
          </a:xfrm>
          <a:prstGeom prst="hexagon">
            <a:avLst>
              <a:gd name="adj" fmla="val 25000"/>
              <a:gd name="vf" fmla="val 115470"/>
            </a:avLst>
          </a:prstGeom>
          <a:noFill/>
          <a:ln w="30480">
            <a:solidFill>
              <a:srgbClr val="f36b21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9" name="Shape 2"/>
          <p:cNvSpPr/>
          <p:nvPr/>
        </p:nvSpPr>
        <p:spPr>
          <a:xfrm>
            <a:off x="10442520" y="5148000"/>
            <a:ext cx="959760" cy="758520"/>
          </a:xfrm>
          <a:prstGeom prst="hexagon">
            <a:avLst>
              <a:gd name="adj" fmla="val 25000"/>
              <a:gd name="vf" fmla="val 115470"/>
            </a:avLst>
          </a:prstGeom>
          <a:noFill/>
          <a:ln w="27940">
            <a:solidFill>
              <a:srgbClr val="10b9f3">
                <a:alpha val="8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0" name="Shape 3"/>
          <p:cNvSpPr/>
          <p:nvPr/>
        </p:nvSpPr>
        <p:spPr>
          <a:xfrm>
            <a:off x="164520" y="5139000"/>
            <a:ext cx="987120" cy="785880"/>
          </a:xfrm>
          <a:prstGeom prst="hexagon">
            <a:avLst>
              <a:gd name="adj" fmla="val 25000"/>
              <a:gd name="vf" fmla="val 115470"/>
            </a:avLst>
          </a:prstGeom>
          <a:noFill/>
          <a:ln w="27940">
            <a:solidFill>
              <a:srgbClr val="8157b1">
                <a:alpha val="8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1" name="Shape 4"/>
          <p:cNvSpPr/>
          <p:nvPr/>
        </p:nvSpPr>
        <p:spPr>
          <a:xfrm>
            <a:off x="8192880" y="-283320"/>
            <a:ext cx="987120" cy="785880"/>
          </a:xfrm>
          <a:prstGeom prst="hexagon">
            <a:avLst>
              <a:gd name="adj" fmla="val 25000"/>
              <a:gd name="vf" fmla="val 115470"/>
            </a:avLst>
          </a:prstGeom>
          <a:noFill/>
          <a:ln w="26670">
            <a:solidFill>
              <a:srgbClr val="f36b21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2" name="Shape 5"/>
          <p:cNvSpPr/>
          <p:nvPr/>
        </p:nvSpPr>
        <p:spPr>
          <a:xfrm>
            <a:off x="2990160" y="-246960"/>
            <a:ext cx="840960" cy="667080"/>
          </a:xfrm>
          <a:prstGeom prst="hexagon">
            <a:avLst>
              <a:gd name="adj" fmla="val 25000"/>
              <a:gd name="vf" fmla="val 115470"/>
            </a:avLst>
          </a:prstGeom>
          <a:noFill/>
          <a:ln w="25400">
            <a:solidFill>
              <a:srgbClr val="10b9f3">
                <a:alpha val="8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3" name="Text 6"/>
          <p:cNvSpPr/>
          <p:nvPr/>
        </p:nvSpPr>
        <p:spPr>
          <a:xfrm>
            <a:off x="749880" y="111564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00" spc="117" strike="noStrike">
                <a:solidFill>
                  <a:srgbClr val="10b9f3"/>
                </a:solidFill>
                <a:latin typeface="Lato"/>
                <a:ea typeface="Lato"/>
              </a:rPr>
              <a:t>SHOWCASE · 5 MIN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4" name="Text 7"/>
          <p:cNvSpPr/>
          <p:nvPr/>
        </p:nvSpPr>
        <p:spPr>
          <a:xfrm>
            <a:off x="731520" y="1481400"/>
            <a:ext cx="891504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3400" spc="-1" strike="noStrike">
                <a:solidFill>
                  <a:srgbClr val="ffffff"/>
                </a:solidFill>
                <a:latin typeface="Inter Display"/>
                <a:ea typeface="Inter Display"/>
              </a:rPr>
              <a:t>2–3 projetos · 1 minuto cada</a:t>
            </a:r>
            <a:endParaRPr b="0" lang="pt-BR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5" name="Text 8"/>
          <p:cNvSpPr/>
          <p:nvPr/>
        </p:nvSpPr>
        <p:spPr>
          <a:xfrm>
            <a:off x="749880" y="2651760"/>
            <a:ext cx="7863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620" spc="-1" strike="noStrike">
                <a:solidFill>
                  <a:srgbClr val="ced8ea"/>
                </a:solidFill>
                <a:latin typeface="Lato"/>
                <a:ea typeface="Lato"/>
              </a:rPr>
              <a:t>Compare soluções diferentes que chegam ao mesmo objetivo.</a:t>
            </a:r>
            <a:endParaRPr b="0" lang="pt-BR" sz="16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6" name="Shape 9"/>
          <p:cNvSpPr/>
          <p:nvPr/>
        </p:nvSpPr>
        <p:spPr>
          <a:xfrm>
            <a:off x="1033200" y="3794760"/>
            <a:ext cx="2697120" cy="1407960"/>
          </a:xfrm>
          <a:prstGeom prst="roundRect">
            <a:avLst>
              <a:gd name="adj" fmla="val 5195"/>
            </a:avLst>
          </a:prstGeom>
          <a:solidFill>
            <a:srgbClr val="10285d"/>
          </a:solidFill>
          <a:ln w="12700">
            <a:solidFill>
              <a:srgbClr val="244b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7" name="Shape 10"/>
          <p:cNvSpPr/>
          <p:nvPr/>
        </p:nvSpPr>
        <p:spPr>
          <a:xfrm>
            <a:off x="1600200" y="4041720"/>
            <a:ext cx="1554120" cy="347040"/>
          </a:xfrm>
          <a:prstGeom prst="roundRect">
            <a:avLst>
              <a:gd name="adj" fmla="val 21053"/>
            </a:avLst>
          </a:prstGeom>
          <a:solidFill>
            <a:srgbClr val="10b9f3"/>
          </a:solidFill>
          <a:ln w="12700">
            <a:solidFill>
              <a:srgbClr val="10b9f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8" name="Text 11"/>
          <p:cNvSpPr/>
          <p:nvPr/>
        </p:nvSpPr>
        <p:spPr>
          <a:xfrm>
            <a:off x="1673280" y="4105800"/>
            <a:ext cx="1407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30" spc="-1" strike="noStrike">
                <a:solidFill>
                  <a:srgbClr val="ffffff"/>
                </a:solidFill>
                <a:latin typeface="Lato"/>
                <a:ea typeface="Lato"/>
              </a:rPr>
              <a:t>PROJETO 1</a:t>
            </a:r>
            <a:endParaRPr b="0" lang="pt-BR" sz="9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9" name="Text 12"/>
          <p:cNvSpPr/>
          <p:nvPr/>
        </p:nvSpPr>
        <p:spPr>
          <a:xfrm>
            <a:off x="1353240" y="4608720"/>
            <a:ext cx="2057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70" spc="-1" strike="noStrike">
                <a:solidFill>
                  <a:srgbClr val="ffffff"/>
                </a:solidFill>
                <a:latin typeface="Lato"/>
                <a:ea typeface="Lato"/>
              </a:rPr>
              <a:t>entrada manual</a:t>
            </a:r>
            <a:endParaRPr b="0" lang="pt-BR" sz="11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0" name="Shape 13"/>
          <p:cNvSpPr/>
          <p:nvPr/>
        </p:nvSpPr>
        <p:spPr>
          <a:xfrm>
            <a:off x="4389120" y="3794760"/>
            <a:ext cx="2697120" cy="1407960"/>
          </a:xfrm>
          <a:prstGeom prst="roundRect">
            <a:avLst>
              <a:gd name="adj" fmla="val 5195"/>
            </a:avLst>
          </a:prstGeom>
          <a:solidFill>
            <a:srgbClr val="10285d"/>
          </a:solidFill>
          <a:ln w="12700">
            <a:solidFill>
              <a:srgbClr val="244b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1" name="Shape 14"/>
          <p:cNvSpPr/>
          <p:nvPr/>
        </p:nvSpPr>
        <p:spPr>
          <a:xfrm>
            <a:off x="4956120" y="4041720"/>
            <a:ext cx="1554120" cy="347040"/>
          </a:xfrm>
          <a:prstGeom prst="roundRect">
            <a:avLst>
              <a:gd name="adj" fmla="val 21053"/>
            </a:avLst>
          </a:prstGeom>
          <a:solidFill>
            <a:srgbClr val="f36b21"/>
          </a:solidFill>
          <a:ln w="12700">
            <a:solidFill>
              <a:srgbClr val="f36b2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2" name="Text 15"/>
          <p:cNvSpPr/>
          <p:nvPr/>
        </p:nvSpPr>
        <p:spPr>
          <a:xfrm>
            <a:off x="5029200" y="4105800"/>
            <a:ext cx="1407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30" spc="-1" strike="noStrike">
                <a:solidFill>
                  <a:srgbClr val="ffffff"/>
                </a:solidFill>
                <a:latin typeface="Lato"/>
                <a:ea typeface="Lato"/>
              </a:rPr>
              <a:t>PROJETO 2</a:t>
            </a:r>
            <a:endParaRPr b="0" lang="pt-BR" sz="9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3" name="Text 16"/>
          <p:cNvSpPr/>
          <p:nvPr/>
        </p:nvSpPr>
        <p:spPr>
          <a:xfrm>
            <a:off x="4709160" y="4608720"/>
            <a:ext cx="2057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70" spc="-1" strike="noStrike">
                <a:solidFill>
                  <a:srgbClr val="ffffff"/>
                </a:solidFill>
                <a:latin typeface="Lato"/>
                <a:ea typeface="Lato"/>
              </a:rPr>
              <a:t>valores aleatórios</a:t>
            </a:r>
            <a:endParaRPr b="0" lang="pt-BR" sz="11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4" name="Shape 17"/>
          <p:cNvSpPr/>
          <p:nvPr/>
        </p:nvSpPr>
        <p:spPr>
          <a:xfrm>
            <a:off x="7745040" y="3794760"/>
            <a:ext cx="2697120" cy="1407960"/>
          </a:xfrm>
          <a:prstGeom prst="roundRect">
            <a:avLst>
              <a:gd name="adj" fmla="val 5195"/>
            </a:avLst>
          </a:prstGeom>
          <a:solidFill>
            <a:srgbClr val="10285d"/>
          </a:solidFill>
          <a:ln w="12700">
            <a:solidFill>
              <a:srgbClr val="244b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5" name="Shape 18"/>
          <p:cNvSpPr/>
          <p:nvPr/>
        </p:nvSpPr>
        <p:spPr>
          <a:xfrm>
            <a:off x="8312040" y="4041720"/>
            <a:ext cx="1554120" cy="347040"/>
          </a:xfrm>
          <a:prstGeom prst="roundRect">
            <a:avLst>
              <a:gd name="adj" fmla="val 21053"/>
            </a:avLst>
          </a:prstGeom>
          <a:solidFill>
            <a:srgbClr val="e72b76"/>
          </a:solidFill>
          <a:ln w="12700">
            <a:solidFill>
              <a:srgbClr val="e72b7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6" name="Text 19"/>
          <p:cNvSpPr/>
          <p:nvPr/>
        </p:nvSpPr>
        <p:spPr>
          <a:xfrm>
            <a:off x="8385120" y="4105800"/>
            <a:ext cx="1407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30" spc="-1" strike="noStrike">
                <a:solidFill>
                  <a:srgbClr val="ffffff"/>
                </a:solidFill>
                <a:latin typeface="Lato"/>
                <a:ea typeface="Lato"/>
              </a:rPr>
              <a:t>PROJETO 3</a:t>
            </a:r>
            <a:endParaRPr b="0" lang="pt-BR" sz="9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7" name="Text 20"/>
          <p:cNvSpPr/>
          <p:nvPr/>
        </p:nvSpPr>
        <p:spPr>
          <a:xfrm>
            <a:off x="8065080" y="4608720"/>
            <a:ext cx="2057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70" spc="-1" strike="noStrike">
                <a:solidFill>
                  <a:srgbClr val="ffffff"/>
                </a:solidFill>
                <a:latin typeface="Lato"/>
                <a:ea typeface="Lato"/>
              </a:rPr>
              <a:t>visual por faixa</a:t>
            </a:r>
            <a:endParaRPr b="0" lang="pt-BR" sz="11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8" name="Text 21"/>
          <p:cNvSpPr/>
          <p:nvPr/>
        </p:nvSpPr>
        <p:spPr>
          <a:xfrm>
            <a:off x="2816280" y="5614560"/>
            <a:ext cx="6564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750" spc="-1" strike="noStrike">
                <a:solidFill>
                  <a:srgbClr val="10b9f3"/>
                </a:solidFill>
                <a:latin typeface="Inter Display"/>
                <a:ea typeface="Inter Display"/>
              </a:rPr>
              <a:t>O que mudou? O que permaneceu?</a:t>
            </a:r>
            <a:endParaRPr b="0" lang="pt-BR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9" name="PlaceHolder 1"/>
          <p:cNvSpPr>
            <a:spLocks noGrp="1"/>
          </p:cNvSpPr>
          <p:nvPr>
            <p:ph type="sldNum" idx="36"/>
          </p:nvPr>
        </p:nvSpPr>
        <p:spPr>
          <a:xfrm>
            <a:off x="11283840" y="644652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850" spc="-1" strike="noStrike">
                <a:solidFill>
                  <a:srgbClr val="9fb0d0"/>
                </a:solidFill>
                <a:latin typeface="Lato"/>
                <a:ea typeface="La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00AE34-F2AF-4D22-8CD6-5ADF6D14D6FF}" type="slidenum">
              <a:rPr b="0" lang="pt-BR" sz="850" spc="-1" strike="noStrike">
                <a:solidFill>
                  <a:srgbClr val="9fb0d0"/>
                </a:solidFill>
                <a:latin typeface="Lato"/>
                <a:ea typeface="Lato"/>
              </a:rPr>
              <a:t>31</a:t>
            </a:fld>
            <a:endParaRPr b="0" lang="pt-BR" sz="85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Text 0"/>
          <p:cNvSpPr/>
          <p:nvPr/>
        </p:nvSpPr>
        <p:spPr>
          <a:xfrm>
            <a:off x="713160" y="896040"/>
            <a:ext cx="99666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  <a:ea typeface="Inter Display"/>
              </a:rPr>
              <a:t>Encontrar bugs faz parte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1" name="Text 1"/>
          <p:cNvSpPr/>
          <p:nvPr/>
        </p:nvSpPr>
        <p:spPr>
          <a:xfrm>
            <a:off x="731520" y="1444680"/>
            <a:ext cx="9692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50" spc="-1" strike="noStrike">
                <a:solidFill>
                  <a:srgbClr val="5b6b86"/>
                </a:solidFill>
                <a:latin typeface="Lato"/>
                <a:ea typeface="Lato"/>
              </a:rPr>
              <a:t>Depurar é localizar a causa do comportamento inesperado e corrigi-la.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Text 2"/>
          <p:cNvSpPr/>
          <p:nvPr/>
        </p:nvSpPr>
        <p:spPr>
          <a:xfrm>
            <a:off x="969120" y="193860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50" spc="77" strike="noStrike">
                <a:solidFill>
                  <a:srgbClr val="e85b5b"/>
                </a:solidFill>
                <a:latin typeface="Lato"/>
                <a:ea typeface="Lato"/>
              </a:rPr>
              <a:t>ENCONTRE O ERRO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Shape 3"/>
          <p:cNvSpPr/>
          <p:nvPr/>
        </p:nvSpPr>
        <p:spPr>
          <a:xfrm>
            <a:off x="969120" y="2331720"/>
            <a:ext cx="3382920" cy="529920"/>
          </a:xfrm>
          <a:prstGeom prst="roundRect">
            <a:avLst>
              <a:gd name="adj" fmla="val 10345"/>
            </a:avLst>
          </a:prstGeom>
          <a:solidFill>
            <a:srgbClr val="ffab19"/>
          </a:solidFill>
          <a:ln w="7620">
            <a:solidFill>
              <a:srgbClr val="ffab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" name="Text 4"/>
          <p:cNvSpPr/>
          <p:nvPr/>
        </p:nvSpPr>
        <p:spPr>
          <a:xfrm>
            <a:off x="1115640" y="2395800"/>
            <a:ext cx="30902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00" spc="-1" strike="noStrike">
                <a:solidFill>
                  <a:srgbClr val="071a4a"/>
                </a:solidFill>
                <a:latin typeface="Lato"/>
                <a:ea typeface="Lato"/>
              </a:rPr>
              <a:t>repita 5 vezes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5" name="Shape 5"/>
          <p:cNvSpPr/>
          <p:nvPr/>
        </p:nvSpPr>
        <p:spPr>
          <a:xfrm>
            <a:off x="1389960" y="2953440"/>
            <a:ext cx="3977280" cy="539280"/>
          </a:xfrm>
          <a:prstGeom prst="roundRect">
            <a:avLst>
              <a:gd name="adj" fmla="val 10169"/>
            </a:avLst>
          </a:prstGeom>
          <a:solidFill>
            <a:srgbClr val="ff8c1a"/>
          </a:solidFill>
          <a:ln w="7620">
            <a:solidFill>
              <a:srgbClr val="ff8c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Text 6"/>
          <p:cNvSpPr/>
          <p:nvPr/>
        </p:nvSpPr>
        <p:spPr>
          <a:xfrm>
            <a:off x="1536120" y="3017520"/>
            <a:ext cx="368460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ffffff"/>
                </a:solidFill>
                <a:latin typeface="Lato"/>
                <a:ea typeface="Lato"/>
              </a:rPr>
              <a:t>defina valorSensor para número aleatório 0–100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7" name="Shape 7"/>
          <p:cNvSpPr/>
          <p:nvPr/>
        </p:nvSpPr>
        <p:spPr>
          <a:xfrm>
            <a:off x="1051560" y="3812760"/>
            <a:ext cx="4526280" cy="360"/>
          </a:xfrm>
          <a:prstGeom prst="line">
            <a:avLst/>
          </a:prstGeom>
          <a:ln w="22860">
            <a:solidFill>
              <a:srgbClr val="e85b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Shape 8"/>
          <p:cNvSpPr/>
          <p:nvPr/>
        </p:nvSpPr>
        <p:spPr>
          <a:xfrm>
            <a:off x="969120" y="4114800"/>
            <a:ext cx="3657240" cy="548280"/>
          </a:xfrm>
          <a:prstGeom prst="roundRect">
            <a:avLst>
              <a:gd name="adj" fmla="val 10000"/>
            </a:avLst>
          </a:prstGeom>
          <a:solidFill>
            <a:srgbClr val="ffab19"/>
          </a:solidFill>
          <a:ln w="7620">
            <a:solidFill>
              <a:srgbClr val="ffab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9" name="Text 9"/>
          <p:cNvSpPr/>
          <p:nvPr/>
        </p:nvSpPr>
        <p:spPr>
          <a:xfrm>
            <a:off x="1115640" y="4178880"/>
            <a:ext cx="3364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40" spc="-1" strike="noStrike">
                <a:solidFill>
                  <a:srgbClr val="071a4a"/>
                </a:solidFill>
                <a:latin typeface="Lato"/>
                <a:ea typeface="Lato"/>
              </a:rPr>
              <a:t>se valorSensor &lt; 30 ...</a:t>
            </a:r>
            <a:endParaRPr b="0" lang="pt-BR" sz="13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0" name="Shape 10"/>
          <p:cNvSpPr/>
          <p:nvPr/>
        </p:nvSpPr>
        <p:spPr>
          <a:xfrm>
            <a:off x="4316040" y="4169520"/>
            <a:ext cx="959760" cy="347040"/>
          </a:xfrm>
          <a:prstGeom prst="roundRect">
            <a:avLst>
              <a:gd name="adj" fmla="val 21053"/>
            </a:avLst>
          </a:prstGeom>
          <a:solidFill>
            <a:srgbClr val="e85b5b"/>
          </a:solidFill>
          <a:ln w="12700">
            <a:solidFill>
              <a:srgbClr val="e85b5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1" name="Text 11"/>
          <p:cNvSpPr/>
          <p:nvPr/>
        </p:nvSpPr>
        <p:spPr>
          <a:xfrm>
            <a:off x="4389120" y="4233600"/>
            <a:ext cx="813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50" spc="-1" strike="noStrike">
                <a:solidFill>
                  <a:srgbClr val="ffffff"/>
                </a:solidFill>
                <a:latin typeface="Lato"/>
                <a:ea typeface="Lato"/>
              </a:rPr>
              <a:t>BUG?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2" name="Shape 12"/>
          <p:cNvSpPr/>
          <p:nvPr/>
        </p:nvSpPr>
        <p:spPr>
          <a:xfrm>
            <a:off x="6492240" y="2331720"/>
            <a:ext cx="4498560" cy="2678760"/>
          </a:xfrm>
          <a:prstGeom prst="roundRect">
            <a:avLst>
              <a:gd name="adj" fmla="val 2730"/>
            </a:avLst>
          </a:prstGeom>
          <a:solidFill>
            <a:srgbClr val="fff5f5"/>
          </a:solidFill>
          <a:ln w="12700">
            <a:solidFill>
              <a:srgbClr val="f0d1d1"/>
            </a:solidFill>
            <a:round/>
          </a:ln>
          <a:effectLst>
            <a:outerShdw algn="bl" blurRad="15120" dir="2700000" dist="50402" kx="0" ky="0" rotWithShape="0" sx="100000" sy="100000">
              <a:srgbClr val="9eb0c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3" name="Text 13"/>
          <p:cNvSpPr/>
          <p:nvPr/>
        </p:nvSpPr>
        <p:spPr>
          <a:xfrm>
            <a:off x="6821280" y="2670120"/>
            <a:ext cx="10238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50" spc="-1" strike="noStrike">
                <a:solidFill>
                  <a:srgbClr val="e85b5b"/>
                </a:solidFill>
                <a:latin typeface="Lato"/>
                <a:ea typeface="Lato"/>
              </a:rPr>
              <a:t>Sintoma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4" name="Text 14"/>
          <p:cNvSpPr/>
          <p:nvPr/>
        </p:nvSpPr>
        <p:spPr>
          <a:xfrm>
            <a:off x="6821280" y="3054240"/>
            <a:ext cx="37486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500" spc="-1" strike="noStrike">
                <a:solidFill>
                  <a:srgbClr val="14213d"/>
                </a:solidFill>
                <a:latin typeface="Lato"/>
                <a:ea typeface="Lato"/>
              </a:rPr>
              <a:t>o valor muda 5 vezes, mas a classificação acontece apenas uma vez.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Text 15"/>
          <p:cNvSpPr/>
          <p:nvPr/>
        </p:nvSpPr>
        <p:spPr>
          <a:xfrm>
            <a:off x="6821280" y="3968640"/>
            <a:ext cx="10238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50" spc="-1" strike="noStrike">
                <a:solidFill>
                  <a:srgbClr val="10b9f3"/>
                </a:solidFill>
                <a:latin typeface="Lato"/>
                <a:ea typeface="Lato"/>
              </a:rPr>
              <a:t>Pergunta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6" name="Text 16"/>
          <p:cNvSpPr/>
          <p:nvPr/>
        </p:nvSpPr>
        <p:spPr>
          <a:xfrm>
            <a:off x="6821280" y="4325040"/>
            <a:ext cx="374868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00" spc="-1" strike="noStrike">
                <a:solidFill>
                  <a:srgbClr val="071a4a"/>
                </a:solidFill>
                <a:latin typeface="Lato"/>
                <a:ea typeface="Lato"/>
              </a:rPr>
              <a:t>qual conjunto completo de ações precisa acontecer a cada nova leitura?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7" name="PlaceHolder 1"/>
          <p:cNvSpPr>
            <a:spLocks noGrp="1"/>
          </p:cNvSpPr>
          <p:nvPr>
            <p:ph type="sldNum" idx="37"/>
          </p:nvPr>
        </p:nvSpPr>
        <p:spPr>
          <a:xfrm>
            <a:off x="11283840" y="644652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850" spc="-1" strike="noStrike">
                <a:solidFill>
                  <a:srgbClr val="7a879d"/>
                </a:solidFill>
                <a:latin typeface="Lato"/>
                <a:ea typeface="La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F3DD1C-F6BC-438D-8EC0-0C1558A3297B}" type="slidenum">
              <a:rPr b="0" lang="pt-BR" sz="850" spc="-1" strike="noStrike">
                <a:solidFill>
                  <a:srgbClr val="7a879d"/>
                </a:solidFill>
                <a:latin typeface="Lato"/>
                <a:ea typeface="Lato"/>
              </a:rPr>
              <a:t>32</a:t>
            </a:fld>
            <a:endParaRPr b="0" lang="pt-BR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Text 0"/>
          <p:cNvSpPr/>
          <p:nvPr/>
        </p:nvSpPr>
        <p:spPr>
          <a:xfrm>
            <a:off x="713160" y="896040"/>
            <a:ext cx="99666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  <a:ea typeface="Inter Display"/>
              </a:rPr>
              <a:t>Scratch → Python: variável e entrada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9" name="Text 1"/>
          <p:cNvSpPr/>
          <p:nvPr/>
        </p:nvSpPr>
        <p:spPr>
          <a:xfrm>
            <a:off x="731520" y="1444680"/>
            <a:ext cx="9692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50" spc="-1" strike="noStrike">
                <a:solidFill>
                  <a:srgbClr val="5b6b86"/>
                </a:solidFill>
                <a:latin typeface="Lato"/>
                <a:ea typeface="Lato"/>
              </a:rPr>
              <a:t>A lógica é a mesma; muda a forma de escrever.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0" name="Text 2"/>
          <p:cNvSpPr/>
          <p:nvPr/>
        </p:nvSpPr>
        <p:spPr>
          <a:xfrm>
            <a:off x="941760" y="1947600"/>
            <a:ext cx="1142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50" spc="77" strike="noStrike">
                <a:solidFill>
                  <a:srgbClr val="10b9f3"/>
                </a:solidFill>
                <a:latin typeface="Lato"/>
                <a:ea typeface="Lato"/>
              </a:rPr>
              <a:t>SCRATCH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1" name="Text 3"/>
          <p:cNvSpPr/>
          <p:nvPr/>
        </p:nvSpPr>
        <p:spPr>
          <a:xfrm>
            <a:off x="6455520" y="1947600"/>
            <a:ext cx="1142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50" spc="77" strike="noStrike">
                <a:solidFill>
                  <a:srgbClr val="f36b21"/>
                </a:solidFill>
                <a:latin typeface="Lato"/>
                <a:ea typeface="Lato"/>
              </a:rPr>
              <a:t>PYTHON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2" name="Shape 4"/>
          <p:cNvSpPr/>
          <p:nvPr/>
        </p:nvSpPr>
        <p:spPr>
          <a:xfrm>
            <a:off x="932760" y="2395800"/>
            <a:ext cx="4407120" cy="585000"/>
          </a:xfrm>
          <a:prstGeom prst="roundRect">
            <a:avLst>
              <a:gd name="adj" fmla="val 9375"/>
            </a:avLst>
          </a:prstGeom>
          <a:solidFill>
            <a:srgbClr val="4cbfe6"/>
          </a:solidFill>
          <a:ln w="7620">
            <a:solidFill>
              <a:srgbClr val="4cbf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" name="Text 5"/>
          <p:cNvSpPr/>
          <p:nvPr/>
        </p:nvSpPr>
        <p:spPr>
          <a:xfrm>
            <a:off x="1078920" y="2459880"/>
            <a:ext cx="41144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00" spc="-1" strike="noStrike">
                <a:solidFill>
                  <a:srgbClr val="ffffff"/>
                </a:solidFill>
                <a:latin typeface="Lato"/>
                <a:ea typeface="Lato"/>
              </a:rPr>
              <a:t>pergunte “Digite um valor” e espere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4" name="Shape 6"/>
          <p:cNvSpPr/>
          <p:nvPr/>
        </p:nvSpPr>
        <p:spPr>
          <a:xfrm>
            <a:off x="932760" y="3072240"/>
            <a:ext cx="3931560" cy="548280"/>
          </a:xfrm>
          <a:prstGeom prst="roundRect">
            <a:avLst>
              <a:gd name="adj" fmla="val 10000"/>
            </a:avLst>
          </a:prstGeom>
          <a:solidFill>
            <a:srgbClr val="ff8c1a"/>
          </a:solidFill>
          <a:ln w="7620">
            <a:solidFill>
              <a:srgbClr val="ff8c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5" name="Text 7"/>
          <p:cNvSpPr/>
          <p:nvPr/>
        </p:nvSpPr>
        <p:spPr>
          <a:xfrm>
            <a:off x="1078920" y="3136320"/>
            <a:ext cx="36388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40" spc="-1" strike="noStrike">
                <a:solidFill>
                  <a:srgbClr val="ffffff"/>
                </a:solidFill>
                <a:latin typeface="Lato"/>
                <a:ea typeface="Lato"/>
              </a:rPr>
              <a:t>defina valorSensor para resposta</a:t>
            </a:r>
            <a:endParaRPr b="0" lang="pt-BR" sz="13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Shape 8"/>
          <p:cNvSpPr/>
          <p:nvPr/>
        </p:nvSpPr>
        <p:spPr>
          <a:xfrm>
            <a:off x="5449680" y="3053880"/>
            <a:ext cx="694800" cy="360"/>
          </a:xfrm>
          <a:prstGeom prst="line">
            <a:avLst/>
          </a:prstGeom>
          <a:ln w="30480">
            <a:solidFill>
              <a:srgbClr val="071a4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Shape 9"/>
          <p:cNvSpPr/>
          <p:nvPr/>
        </p:nvSpPr>
        <p:spPr>
          <a:xfrm>
            <a:off x="6437520" y="2395800"/>
            <a:ext cx="4498560" cy="1554120"/>
          </a:xfrm>
          <a:prstGeom prst="roundRect">
            <a:avLst>
              <a:gd name="adj" fmla="val 4706"/>
            </a:avLst>
          </a:prstGeom>
          <a:solidFill>
            <a:srgbClr val="0b1739"/>
          </a:solidFill>
          <a:ln w="12700">
            <a:solidFill>
              <a:srgbClr val="20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8" name="Text 10"/>
          <p:cNvSpPr/>
          <p:nvPr/>
        </p:nvSpPr>
        <p:spPr>
          <a:xfrm>
            <a:off x="6602040" y="2541960"/>
            <a:ext cx="41691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400" spc="-1" strike="noStrike">
                <a:solidFill>
                  <a:srgbClr val="e9f1ff"/>
                </a:solidFill>
                <a:latin typeface="DejaVu Sans Mono"/>
                <a:ea typeface="DejaVu Sans Mono"/>
              </a:rPr>
              <a:t>valorSensor = int(input(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400" spc="-1" strike="noStrike">
                <a:solidFill>
                  <a:srgbClr val="e9f1ff"/>
                </a:solidFill>
                <a:latin typeface="DejaVu Sans Mono"/>
                <a:ea typeface="DejaVu Sans Mono"/>
              </a:rPr>
              <a:t>    </a:t>
            </a:r>
            <a:r>
              <a:rPr b="0" lang="pt-BR" sz="1400" spc="-1" strike="noStrike">
                <a:solidFill>
                  <a:srgbClr val="e9f1ff"/>
                </a:solidFill>
                <a:latin typeface="DejaVu Sans Mono"/>
                <a:ea typeface="DejaVu Sans Mono"/>
              </a:rPr>
              <a:t>"Digite um valor: "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400" spc="-1" strike="noStrike">
                <a:solidFill>
                  <a:srgbClr val="e9f1ff"/>
                </a:solidFill>
                <a:latin typeface="DejaVu Sans Mono"/>
                <a:ea typeface="DejaVu Sans Mono"/>
              </a:rPr>
              <a:t>))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9" name="Shape 11"/>
          <p:cNvSpPr/>
          <p:nvPr/>
        </p:nvSpPr>
        <p:spPr>
          <a:xfrm>
            <a:off x="1892880" y="4681800"/>
            <a:ext cx="8412120" cy="749520"/>
          </a:xfrm>
          <a:prstGeom prst="roundRect">
            <a:avLst>
              <a:gd name="adj" fmla="val 9756"/>
            </a:avLst>
          </a:prstGeom>
          <a:solidFill>
            <a:srgbClr val="eef3fa"/>
          </a:solidFill>
          <a:ln w="12700">
            <a:solidFill>
              <a:srgbClr val="d6e1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0" name="Text 12"/>
          <p:cNvSpPr/>
          <p:nvPr/>
        </p:nvSpPr>
        <p:spPr>
          <a:xfrm>
            <a:off x="2212920" y="4910400"/>
            <a:ext cx="777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40" spc="-1" strike="noStrike">
                <a:solidFill>
                  <a:srgbClr val="071a4a"/>
                </a:solidFill>
                <a:latin typeface="Lato"/>
                <a:ea typeface="Lato"/>
              </a:rPr>
              <a:t>Perguntar → obter uma resposta → guardar em valorSensor. O conceito é idêntico.</a:t>
            </a:r>
            <a:endParaRPr b="0" lang="pt-BR" sz="13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1" name="PlaceHolder 1"/>
          <p:cNvSpPr>
            <a:spLocks noGrp="1"/>
          </p:cNvSpPr>
          <p:nvPr>
            <p:ph type="sldNum" idx="38"/>
          </p:nvPr>
        </p:nvSpPr>
        <p:spPr>
          <a:xfrm>
            <a:off x="11283840" y="644652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850" spc="-1" strike="noStrike">
                <a:solidFill>
                  <a:srgbClr val="7a879d"/>
                </a:solidFill>
                <a:latin typeface="Lato"/>
                <a:ea typeface="La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76A63E7-4772-4335-8AD9-27A20202B103}" type="slidenum">
              <a:rPr b="0" lang="pt-BR" sz="850" spc="-1" strike="noStrike">
                <a:solidFill>
                  <a:srgbClr val="7a879d"/>
                </a:solidFill>
                <a:latin typeface="Lato"/>
                <a:ea typeface="Lato"/>
              </a:rPr>
              <a:t>33</a:t>
            </a:fld>
            <a:endParaRPr b="0" lang="pt-BR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Text 0"/>
          <p:cNvSpPr/>
          <p:nvPr/>
        </p:nvSpPr>
        <p:spPr>
          <a:xfrm>
            <a:off x="713160" y="896040"/>
            <a:ext cx="99666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750" spc="-1" strike="noStrike">
                <a:solidFill>
                  <a:srgbClr val="071a4a"/>
                </a:solidFill>
                <a:latin typeface="Inter Display"/>
                <a:ea typeface="Inter Display"/>
              </a:rPr>
              <a:t>Scratch → Python: decisão e repetição</a:t>
            </a:r>
            <a:endParaRPr b="0" lang="pt-BR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3" name="Text 1"/>
          <p:cNvSpPr/>
          <p:nvPr/>
        </p:nvSpPr>
        <p:spPr>
          <a:xfrm>
            <a:off x="731520" y="1444680"/>
            <a:ext cx="9692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50" spc="-1" strike="noStrike">
                <a:solidFill>
                  <a:srgbClr val="5b6b86"/>
                </a:solidFill>
                <a:latin typeface="Lato"/>
                <a:ea typeface="Lato"/>
              </a:rPr>
              <a:t>Dois exemplos para enxergar a ponte para o próximo curso.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4" name="Text 2"/>
          <p:cNvSpPr/>
          <p:nvPr/>
        </p:nvSpPr>
        <p:spPr>
          <a:xfrm>
            <a:off x="841320" y="190188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50" spc="77" strike="noStrike">
                <a:solidFill>
                  <a:srgbClr val="e72b76"/>
                </a:solidFill>
                <a:latin typeface="Lato"/>
                <a:ea typeface="Lato"/>
              </a:rPr>
              <a:t>DECISÃO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5" name="Shape 3"/>
          <p:cNvSpPr/>
          <p:nvPr/>
        </p:nvSpPr>
        <p:spPr>
          <a:xfrm>
            <a:off x="841320" y="2258640"/>
            <a:ext cx="4023000" cy="566640"/>
          </a:xfrm>
          <a:prstGeom prst="roundRect">
            <a:avLst>
              <a:gd name="adj" fmla="val 9677"/>
            </a:avLst>
          </a:prstGeom>
          <a:solidFill>
            <a:srgbClr val="ffab19"/>
          </a:solidFill>
          <a:ln w="7620">
            <a:solidFill>
              <a:srgbClr val="ffab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6" name="Text 4"/>
          <p:cNvSpPr/>
          <p:nvPr/>
        </p:nvSpPr>
        <p:spPr>
          <a:xfrm>
            <a:off x="987480" y="2322720"/>
            <a:ext cx="3730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90" spc="-1" strike="noStrike">
                <a:solidFill>
                  <a:srgbClr val="071a4a"/>
                </a:solidFill>
                <a:latin typeface="Lato"/>
                <a:ea typeface="Lato"/>
              </a:rPr>
              <a:t>se valorSensor &lt; 30 ... senão ...</a:t>
            </a:r>
            <a:endParaRPr b="0" lang="pt-BR" sz="12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7" name="Shape 5"/>
          <p:cNvSpPr/>
          <p:nvPr/>
        </p:nvSpPr>
        <p:spPr>
          <a:xfrm>
            <a:off x="5724000" y="2066400"/>
            <a:ext cx="5303160" cy="1947240"/>
          </a:xfrm>
          <a:prstGeom prst="roundRect">
            <a:avLst>
              <a:gd name="adj" fmla="val 3756"/>
            </a:avLst>
          </a:prstGeom>
          <a:solidFill>
            <a:srgbClr val="0b1739"/>
          </a:solidFill>
          <a:ln w="12700">
            <a:solidFill>
              <a:srgbClr val="20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8" name="Text 6"/>
          <p:cNvSpPr/>
          <p:nvPr/>
        </p:nvSpPr>
        <p:spPr>
          <a:xfrm>
            <a:off x="5888880" y="2212920"/>
            <a:ext cx="4974120" cy="16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90" spc="-1" strike="noStrike">
                <a:solidFill>
                  <a:srgbClr val="e9f1ff"/>
                </a:solidFill>
                <a:latin typeface="DejaVu Sans Mono"/>
                <a:ea typeface="DejaVu Sans Mono"/>
              </a:rPr>
              <a:t>if valorSensor &lt; 30:</a:t>
            </a:r>
            <a:endParaRPr b="0" lang="pt-BR" sz="119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90" spc="-1" strike="noStrike">
                <a:solidFill>
                  <a:srgbClr val="e9f1ff"/>
                </a:solidFill>
                <a:latin typeface="DejaVu Sans Mono"/>
                <a:ea typeface="DejaVu Sans Mono"/>
              </a:rPr>
              <a:t>    </a:t>
            </a:r>
            <a:r>
              <a:rPr b="0" lang="pt-BR" sz="1190" spc="-1" strike="noStrike">
                <a:solidFill>
                  <a:srgbClr val="e9f1ff"/>
                </a:solidFill>
                <a:latin typeface="DejaVu Sans Mono"/>
                <a:ea typeface="DejaVu Sans Mono"/>
              </a:rPr>
              <a:t>print("Faixa A")</a:t>
            </a:r>
            <a:endParaRPr b="0" lang="pt-BR" sz="119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90" spc="-1" strike="noStrike">
                <a:solidFill>
                  <a:srgbClr val="e9f1ff"/>
                </a:solidFill>
                <a:latin typeface="DejaVu Sans Mono"/>
                <a:ea typeface="DejaVu Sans Mono"/>
              </a:rPr>
              <a:t>elif valorSensor &lt;= 70:</a:t>
            </a:r>
            <a:endParaRPr b="0" lang="pt-BR" sz="119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90" spc="-1" strike="noStrike">
                <a:solidFill>
                  <a:srgbClr val="e9f1ff"/>
                </a:solidFill>
                <a:latin typeface="DejaVu Sans Mono"/>
                <a:ea typeface="DejaVu Sans Mono"/>
              </a:rPr>
              <a:t>    </a:t>
            </a:r>
            <a:r>
              <a:rPr b="0" lang="pt-BR" sz="1190" spc="-1" strike="noStrike">
                <a:solidFill>
                  <a:srgbClr val="e9f1ff"/>
                </a:solidFill>
                <a:latin typeface="DejaVu Sans Mono"/>
                <a:ea typeface="DejaVu Sans Mono"/>
              </a:rPr>
              <a:t>print("Faixa B")</a:t>
            </a:r>
            <a:endParaRPr b="0" lang="pt-BR" sz="119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90" spc="-1" strike="noStrike">
                <a:solidFill>
                  <a:srgbClr val="e9f1ff"/>
                </a:solidFill>
                <a:latin typeface="DejaVu Sans Mono"/>
                <a:ea typeface="DejaVu Sans Mono"/>
              </a:rPr>
              <a:t>else:</a:t>
            </a:r>
            <a:endParaRPr b="0" lang="pt-BR" sz="119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90" spc="-1" strike="noStrike">
                <a:solidFill>
                  <a:srgbClr val="e9f1ff"/>
                </a:solidFill>
                <a:latin typeface="DejaVu Sans Mono"/>
                <a:ea typeface="DejaVu Sans Mono"/>
              </a:rPr>
              <a:t>    </a:t>
            </a:r>
            <a:r>
              <a:rPr b="0" lang="pt-BR" sz="1190" spc="-1" strike="noStrike">
                <a:solidFill>
                  <a:srgbClr val="e9f1ff"/>
                </a:solidFill>
                <a:latin typeface="DejaVu Sans Mono"/>
                <a:ea typeface="DejaVu Sans Mono"/>
              </a:rPr>
              <a:t>print("Faixa C")</a:t>
            </a:r>
            <a:endParaRPr b="0" lang="pt-BR" sz="1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9" name="Text 7"/>
          <p:cNvSpPr/>
          <p:nvPr/>
        </p:nvSpPr>
        <p:spPr>
          <a:xfrm>
            <a:off x="841320" y="4352400"/>
            <a:ext cx="1279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50" spc="77" strike="noStrike">
                <a:solidFill>
                  <a:srgbClr val="f36b21"/>
                </a:solidFill>
                <a:latin typeface="Lato"/>
                <a:ea typeface="Lato"/>
              </a:rPr>
              <a:t>REPETIÇÃO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0" name="Shape 8"/>
          <p:cNvSpPr/>
          <p:nvPr/>
        </p:nvSpPr>
        <p:spPr>
          <a:xfrm>
            <a:off x="841320" y="4718160"/>
            <a:ext cx="3218400" cy="548280"/>
          </a:xfrm>
          <a:prstGeom prst="roundRect">
            <a:avLst>
              <a:gd name="adj" fmla="val 10000"/>
            </a:avLst>
          </a:prstGeom>
          <a:solidFill>
            <a:srgbClr val="ffab19"/>
          </a:solidFill>
          <a:ln w="7620">
            <a:solidFill>
              <a:srgbClr val="ffab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1" name="Text 9"/>
          <p:cNvSpPr/>
          <p:nvPr/>
        </p:nvSpPr>
        <p:spPr>
          <a:xfrm>
            <a:off x="987480" y="4782240"/>
            <a:ext cx="29257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00" spc="-1" strike="noStrike">
                <a:solidFill>
                  <a:srgbClr val="071a4a"/>
                </a:solidFill>
                <a:latin typeface="Lato"/>
                <a:ea typeface="Lato"/>
              </a:rPr>
              <a:t>repita 5 vezes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" name="Shape 10"/>
          <p:cNvSpPr/>
          <p:nvPr/>
        </p:nvSpPr>
        <p:spPr>
          <a:xfrm>
            <a:off x="5724000" y="4498920"/>
            <a:ext cx="5303160" cy="1096920"/>
          </a:xfrm>
          <a:prstGeom prst="roundRect">
            <a:avLst>
              <a:gd name="adj" fmla="val 6667"/>
            </a:avLst>
          </a:prstGeom>
          <a:solidFill>
            <a:srgbClr val="0b1739"/>
          </a:solidFill>
          <a:ln w="12700">
            <a:solidFill>
              <a:srgbClr val="20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3" name="Text 11"/>
          <p:cNvSpPr/>
          <p:nvPr/>
        </p:nvSpPr>
        <p:spPr>
          <a:xfrm>
            <a:off x="5888880" y="4645080"/>
            <a:ext cx="4974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80" spc="-1" strike="noStrike">
                <a:solidFill>
                  <a:srgbClr val="e9f1ff"/>
                </a:solidFill>
                <a:latin typeface="DejaVu Sans Mono"/>
                <a:ea typeface="DejaVu Sans Mono"/>
              </a:rPr>
              <a:t>for i in range(5):</a:t>
            </a:r>
            <a:endParaRPr b="0" lang="pt-BR" sz="12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80" spc="-1" strike="noStrike">
                <a:solidFill>
                  <a:srgbClr val="e9f1ff"/>
                </a:solidFill>
                <a:latin typeface="DejaVu Sans Mono"/>
                <a:ea typeface="DejaVu Sans Mono"/>
              </a:rPr>
              <a:t>    </a:t>
            </a:r>
            <a:r>
              <a:rPr b="0" lang="pt-BR" sz="1280" spc="-1" strike="noStrike">
                <a:solidFill>
                  <a:srgbClr val="e9f1ff"/>
                </a:solidFill>
                <a:latin typeface="DejaVu Sans Mono"/>
                <a:ea typeface="DejaVu Sans Mono"/>
              </a:rPr>
              <a:t># nova leitura sintética</a:t>
            </a:r>
            <a:endParaRPr b="0" lang="pt-BR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4" name="Shape 12"/>
          <p:cNvSpPr/>
          <p:nvPr/>
        </p:nvSpPr>
        <p:spPr>
          <a:xfrm>
            <a:off x="4955760" y="2541960"/>
            <a:ext cx="521280" cy="360"/>
          </a:xfrm>
          <a:prstGeom prst="line">
            <a:avLst/>
          </a:prstGeom>
          <a:ln w="27940">
            <a:solidFill>
              <a:srgbClr val="071a4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5" name="Shape 13"/>
          <p:cNvSpPr/>
          <p:nvPr/>
        </p:nvSpPr>
        <p:spPr>
          <a:xfrm>
            <a:off x="4169520" y="4992480"/>
            <a:ext cx="1298520" cy="360"/>
          </a:xfrm>
          <a:prstGeom prst="line">
            <a:avLst/>
          </a:prstGeom>
          <a:ln w="27940">
            <a:solidFill>
              <a:srgbClr val="071a4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6" name="PlaceHolder 1"/>
          <p:cNvSpPr>
            <a:spLocks noGrp="1"/>
          </p:cNvSpPr>
          <p:nvPr>
            <p:ph type="sldNum" idx="39"/>
          </p:nvPr>
        </p:nvSpPr>
        <p:spPr>
          <a:xfrm>
            <a:off x="11283840" y="644652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850" spc="-1" strike="noStrike">
                <a:solidFill>
                  <a:srgbClr val="7a879d"/>
                </a:solidFill>
                <a:latin typeface="Lato"/>
                <a:ea typeface="La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03C13F-F17C-4AFB-A3AF-8EBF39E99EDA}" type="slidenum">
              <a:rPr b="0" lang="pt-BR" sz="850" spc="-1" strike="noStrike">
                <a:solidFill>
                  <a:srgbClr val="7a879d"/>
                </a:solidFill>
                <a:latin typeface="Lato"/>
                <a:ea typeface="Lato"/>
              </a:rPr>
              <a:t>34</a:t>
            </a:fld>
            <a:endParaRPr b="0" lang="pt-BR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Shape 0"/>
          <p:cNvSpPr/>
          <p:nvPr/>
        </p:nvSpPr>
        <p:spPr>
          <a:xfrm>
            <a:off x="-411480" y="987480"/>
            <a:ext cx="1279800" cy="1005480"/>
          </a:xfrm>
          <a:prstGeom prst="hexagon">
            <a:avLst>
              <a:gd name="adj" fmla="val 25000"/>
              <a:gd name="vf" fmla="val 115470"/>
            </a:avLst>
          </a:prstGeom>
          <a:noFill/>
          <a:ln w="30480">
            <a:solidFill>
              <a:srgbClr val="e72b76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8" name="Shape 1"/>
          <p:cNvSpPr/>
          <p:nvPr/>
        </p:nvSpPr>
        <p:spPr>
          <a:xfrm>
            <a:off x="11384280" y="1600200"/>
            <a:ext cx="1234080" cy="987120"/>
          </a:xfrm>
          <a:prstGeom prst="hexagon">
            <a:avLst>
              <a:gd name="adj" fmla="val 25000"/>
              <a:gd name="vf" fmla="val 115470"/>
            </a:avLst>
          </a:prstGeom>
          <a:noFill/>
          <a:ln w="30480">
            <a:solidFill>
              <a:srgbClr val="f36b21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9" name="Shape 2"/>
          <p:cNvSpPr/>
          <p:nvPr/>
        </p:nvSpPr>
        <p:spPr>
          <a:xfrm>
            <a:off x="10442520" y="5148000"/>
            <a:ext cx="959760" cy="758520"/>
          </a:xfrm>
          <a:prstGeom prst="hexagon">
            <a:avLst>
              <a:gd name="adj" fmla="val 25000"/>
              <a:gd name="vf" fmla="val 115470"/>
            </a:avLst>
          </a:prstGeom>
          <a:noFill/>
          <a:ln w="27940">
            <a:solidFill>
              <a:srgbClr val="10b9f3">
                <a:alpha val="8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0" name="Shape 3"/>
          <p:cNvSpPr/>
          <p:nvPr/>
        </p:nvSpPr>
        <p:spPr>
          <a:xfrm>
            <a:off x="164520" y="5139000"/>
            <a:ext cx="987120" cy="785880"/>
          </a:xfrm>
          <a:prstGeom prst="hexagon">
            <a:avLst>
              <a:gd name="adj" fmla="val 25000"/>
              <a:gd name="vf" fmla="val 115470"/>
            </a:avLst>
          </a:prstGeom>
          <a:noFill/>
          <a:ln w="27940">
            <a:solidFill>
              <a:srgbClr val="8157b1">
                <a:alpha val="8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1" name="Shape 4"/>
          <p:cNvSpPr/>
          <p:nvPr/>
        </p:nvSpPr>
        <p:spPr>
          <a:xfrm>
            <a:off x="8192880" y="-283320"/>
            <a:ext cx="987120" cy="785880"/>
          </a:xfrm>
          <a:prstGeom prst="hexagon">
            <a:avLst>
              <a:gd name="adj" fmla="val 25000"/>
              <a:gd name="vf" fmla="val 115470"/>
            </a:avLst>
          </a:prstGeom>
          <a:noFill/>
          <a:ln w="26670">
            <a:solidFill>
              <a:srgbClr val="f36b21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2" name="Shape 5"/>
          <p:cNvSpPr/>
          <p:nvPr/>
        </p:nvSpPr>
        <p:spPr>
          <a:xfrm>
            <a:off x="2990160" y="-246960"/>
            <a:ext cx="840960" cy="667080"/>
          </a:xfrm>
          <a:prstGeom prst="hexagon">
            <a:avLst>
              <a:gd name="adj" fmla="val 25000"/>
              <a:gd name="vf" fmla="val 115470"/>
            </a:avLst>
          </a:prstGeom>
          <a:noFill/>
          <a:ln w="25400">
            <a:solidFill>
              <a:srgbClr val="10b9f3">
                <a:alpha val="8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3" name="Text 6"/>
          <p:cNvSpPr/>
          <p:nvPr/>
        </p:nvSpPr>
        <p:spPr>
          <a:xfrm>
            <a:off x="749880" y="111564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00" spc="117" strike="noStrike">
                <a:solidFill>
                  <a:srgbClr val="10b9f3"/>
                </a:solidFill>
                <a:latin typeface="Lato"/>
                <a:ea typeface="Lato"/>
              </a:rPr>
              <a:t>FECHAMENTO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4" name="Text 7"/>
          <p:cNvSpPr/>
          <p:nvPr/>
        </p:nvSpPr>
        <p:spPr>
          <a:xfrm>
            <a:off x="731520" y="1481400"/>
            <a:ext cx="891504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3400" spc="-1" strike="noStrike">
                <a:solidFill>
                  <a:srgbClr val="ffffff"/>
                </a:solidFill>
                <a:latin typeface="Inter Display"/>
                <a:ea typeface="Inter Display"/>
              </a:rPr>
              <a:t>Quatro ideias que você leva para o próximo curso</a:t>
            </a:r>
            <a:endParaRPr b="0" lang="pt-BR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5" name="Text 8"/>
          <p:cNvSpPr/>
          <p:nvPr/>
        </p:nvSpPr>
        <p:spPr>
          <a:xfrm>
            <a:off x="749880" y="2651760"/>
            <a:ext cx="7863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620" spc="-1" strike="noStrike">
                <a:solidFill>
                  <a:srgbClr val="ced8ea"/>
                </a:solidFill>
                <a:latin typeface="Lato"/>
                <a:ea typeface="Lato"/>
              </a:rPr>
              <a:t>Sequência · variável · decisão · repetição</a:t>
            </a:r>
            <a:endParaRPr b="0" lang="pt-BR" sz="16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6" name="Shape 9"/>
          <p:cNvSpPr/>
          <p:nvPr/>
        </p:nvSpPr>
        <p:spPr>
          <a:xfrm>
            <a:off x="896040" y="3840480"/>
            <a:ext cx="2157480" cy="1005480"/>
          </a:xfrm>
          <a:prstGeom prst="roundRect">
            <a:avLst>
              <a:gd name="adj" fmla="val 7273"/>
            </a:avLst>
          </a:prstGeom>
          <a:solidFill>
            <a:srgbClr val="10285d"/>
          </a:solidFill>
          <a:ln w="12700">
            <a:solidFill>
              <a:srgbClr val="244b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7" name="Text 10"/>
          <p:cNvSpPr/>
          <p:nvPr/>
        </p:nvSpPr>
        <p:spPr>
          <a:xfrm>
            <a:off x="1060560" y="4151520"/>
            <a:ext cx="1828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50" spc="-1" strike="noStrike">
                <a:solidFill>
                  <a:srgbClr val="10b9f3"/>
                </a:solidFill>
                <a:latin typeface="Inter Display"/>
                <a:ea typeface="Inter Display"/>
              </a:rPr>
              <a:t>Sequência</a:t>
            </a:r>
            <a:endParaRPr b="0" lang="pt-BR" sz="1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8" name="Shape 11"/>
          <p:cNvSpPr/>
          <p:nvPr/>
        </p:nvSpPr>
        <p:spPr>
          <a:xfrm>
            <a:off x="3639240" y="3840480"/>
            <a:ext cx="2157480" cy="1005480"/>
          </a:xfrm>
          <a:prstGeom prst="roundRect">
            <a:avLst>
              <a:gd name="adj" fmla="val 7273"/>
            </a:avLst>
          </a:prstGeom>
          <a:solidFill>
            <a:srgbClr val="10285d"/>
          </a:solidFill>
          <a:ln w="12700">
            <a:solidFill>
              <a:srgbClr val="244b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9" name="Text 12"/>
          <p:cNvSpPr/>
          <p:nvPr/>
        </p:nvSpPr>
        <p:spPr>
          <a:xfrm>
            <a:off x="3803760" y="4151520"/>
            <a:ext cx="1828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50" spc="-1" strike="noStrike">
                <a:solidFill>
                  <a:srgbClr val="f36b21"/>
                </a:solidFill>
                <a:latin typeface="Inter Display"/>
                <a:ea typeface="Inter Display"/>
              </a:rPr>
              <a:t>Variável</a:t>
            </a:r>
            <a:endParaRPr b="0" lang="pt-BR" sz="1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0" name="Shape 13"/>
          <p:cNvSpPr/>
          <p:nvPr/>
        </p:nvSpPr>
        <p:spPr>
          <a:xfrm>
            <a:off x="6382440" y="3840480"/>
            <a:ext cx="2157480" cy="1005480"/>
          </a:xfrm>
          <a:prstGeom prst="roundRect">
            <a:avLst>
              <a:gd name="adj" fmla="val 7273"/>
            </a:avLst>
          </a:prstGeom>
          <a:solidFill>
            <a:srgbClr val="10285d"/>
          </a:solidFill>
          <a:ln w="12700">
            <a:solidFill>
              <a:srgbClr val="244b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1" name="Text 14"/>
          <p:cNvSpPr/>
          <p:nvPr/>
        </p:nvSpPr>
        <p:spPr>
          <a:xfrm>
            <a:off x="6546960" y="4151520"/>
            <a:ext cx="1828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50" spc="-1" strike="noStrike">
                <a:solidFill>
                  <a:srgbClr val="e72b76"/>
                </a:solidFill>
                <a:latin typeface="Inter Display"/>
                <a:ea typeface="Inter Display"/>
              </a:rPr>
              <a:t>Decisão</a:t>
            </a:r>
            <a:endParaRPr b="0" lang="pt-BR" sz="1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2" name="Shape 15"/>
          <p:cNvSpPr/>
          <p:nvPr/>
        </p:nvSpPr>
        <p:spPr>
          <a:xfrm>
            <a:off x="9125640" y="3840480"/>
            <a:ext cx="2157480" cy="1005480"/>
          </a:xfrm>
          <a:prstGeom prst="roundRect">
            <a:avLst>
              <a:gd name="adj" fmla="val 7273"/>
            </a:avLst>
          </a:prstGeom>
          <a:solidFill>
            <a:srgbClr val="10285d"/>
          </a:solidFill>
          <a:ln w="12700">
            <a:solidFill>
              <a:srgbClr val="244b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3" name="Text 16"/>
          <p:cNvSpPr/>
          <p:nvPr/>
        </p:nvSpPr>
        <p:spPr>
          <a:xfrm>
            <a:off x="9290160" y="4151520"/>
            <a:ext cx="1828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50" spc="-1" strike="noStrike">
                <a:solidFill>
                  <a:srgbClr val="8157b1"/>
                </a:solidFill>
                <a:latin typeface="Inter Display"/>
                <a:ea typeface="Inter Display"/>
              </a:rPr>
              <a:t>Repetição</a:t>
            </a:r>
            <a:endParaRPr b="0" lang="pt-BR" sz="1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4" name="Shape 17"/>
          <p:cNvSpPr/>
          <p:nvPr/>
        </p:nvSpPr>
        <p:spPr>
          <a:xfrm>
            <a:off x="4087440" y="5340240"/>
            <a:ext cx="4004640" cy="347040"/>
          </a:xfrm>
          <a:prstGeom prst="roundRect">
            <a:avLst>
              <a:gd name="adj" fmla="val 21053"/>
            </a:avLst>
          </a:prstGeom>
          <a:solidFill>
            <a:srgbClr val="10b9f3"/>
          </a:solidFill>
          <a:ln w="12700">
            <a:solidFill>
              <a:srgbClr val="10b9f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5" name="Text 18"/>
          <p:cNvSpPr/>
          <p:nvPr/>
        </p:nvSpPr>
        <p:spPr>
          <a:xfrm>
            <a:off x="4160520" y="5403960"/>
            <a:ext cx="3858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20" spc="-1" strike="noStrike">
                <a:solidFill>
                  <a:srgbClr val="071a4a"/>
                </a:solidFill>
                <a:latin typeface="Lato"/>
                <a:ea typeface="Lato"/>
              </a:rPr>
              <a:t>PRÓXIMO PASSO: PYTHON</a:t>
            </a:r>
            <a:endParaRPr b="0" lang="pt-BR" sz="11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6" name="Text 19"/>
          <p:cNvSpPr/>
          <p:nvPr/>
        </p:nvSpPr>
        <p:spPr>
          <a:xfrm>
            <a:off x="2432160" y="588888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30" spc="-1" strike="noStrike">
                <a:solidFill>
                  <a:srgbClr val="c5d2e8"/>
                </a:solidFill>
                <a:latin typeface="Lato"/>
                <a:ea typeface="Lato"/>
              </a:rPr>
              <a:t>Quiz de saída: qual conceito foi mais importante para você hoje?</a:t>
            </a:r>
            <a:endParaRPr b="0" lang="pt-BR" sz="12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7" name="PlaceHolder 1"/>
          <p:cNvSpPr>
            <a:spLocks noGrp="1"/>
          </p:cNvSpPr>
          <p:nvPr>
            <p:ph type="sldNum" idx="40"/>
          </p:nvPr>
        </p:nvSpPr>
        <p:spPr>
          <a:xfrm>
            <a:off x="11283840" y="644652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850" spc="-1" strike="noStrike">
                <a:solidFill>
                  <a:srgbClr val="9fb0d0"/>
                </a:solidFill>
                <a:latin typeface="Lato"/>
                <a:ea typeface="La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A39926-EB3A-47CB-858E-3B61A1299BF4}" type="slidenum">
              <a:rPr b="0" lang="pt-BR" sz="850" spc="-1" strike="noStrike">
                <a:solidFill>
                  <a:srgbClr val="9fb0d0"/>
                </a:solidFill>
                <a:latin typeface="Lato"/>
                <a:ea typeface="Lato"/>
              </a:rPr>
              <a:t>35</a:t>
            </a:fld>
            <a:endParaRPr b="0" lang="pt-BR" sz="85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 pitchFamily="0" charset="1"/>
        <a:ea typeface=""/>
        <a:cs typeface=""/>
      </a:majorFont>
      <a:minorFont>
        <a:latin typeface="Lato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 pitchFamily="0" charset="1"/>
        <a:ea typeface=""/>
        <a:cs typeface=""/>
      </a:majorFont>
      <a:minorFont>
        <a:latin typeface="Lato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 pitchFamily="0" charset="1"/>
        <a:ea typeface=""/>
        <a:cs typeface=""/>
      </a:majorFont>
      <a:minorFont>
        <a:latin typeface="Lato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Application>LibreOffice/24.2.7.2$Linux_X86_64 LibreOffice_project/420$Build-2</Application>
  <AppVersion>15.0000</AppVersion>
  <Words>0</Words>
  <Paragraphs>0</Paragraphs>
  <Company>Projeto Ocean - Residência em TIC 53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2026-09-10T18:13:50Z</dcterms:created>
  <dc:creator>Prof. Dr. Guillermo Alvarez Bestard</dc:creator>
  <dc:description/>
  <dc:language>pt-BR</dc:language>
  <cp:lastModifiedBy/>
  <dcterms:modified xsi:type="dcterms:W3CDTF">2026-09-10T22:24:22Z</dcterms:modified>
  <cp:revision>4</cp:revision>
  <dc:subject>PR-01 - Lógica de Programação Aplicada à Saúde com Scratch</dc:subject>
  <dc:title>PR-01 - Lógica de Programação Aplicada à Saúde com Scratch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35</vt:i4>
  </property>
  <property fmtid="{D5CDD505-2E9C-101B-9397-08002B2CF9AE}" pid="3" name="PresentationFormat">
    <vt:lpwstr>On-screen Show (16:9)</vt:lpwstr>
  </property>
  <property fmtid="{D5CDD505-2E9C-101B-9397-08002B2CF9AE}" pid="4" name="Slides">
    <vt:i4>35</vt:i4>
  </property>
</Properties>
</file>