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30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notesSlides/_rels/notesSlide2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3.xml.rels" ContentType="application/vnd.openxmlformats-package.relationships+xml"/>
  <Override PartName="/ppt/notesSlides/notesSlide42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</a:t>
            </a: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para </a:t>
            </a: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formato </a:t>
            </a: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4AE20AB-2138-4C29-A9AB-26F6B61156F5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Abertura. Posicionar o encontro como porta de entrada da Trilha de Programação. Reforçar: o objetivo não é decorar blocos do Scratch; é aprender a organizar soluções de forma lógica.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4EB6A2-D891-4ED8-A272-B92D3D23AFE1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Explicar que este curso cria a base conceitual para a continuidade em Python. Não aprofundar sintaxe textual nesta etapa.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1A7F9A-8AD3-4B65-983B-EE96FE76B98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Apresentar quatro objetivos em linguagem simples. Destacar que a avaliação será pelo raciocínio, funcionamento, testes e explicação do algoritmo.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96B227-C80F-4064-8D5A-BF3B75F0E32A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5–10 min. Mostrar exemplos genéricos: aplicativo, wearable, sistema de alertas, dashboard. Evitar exemplos diagnósticos. Pedir à turma outros exemplos.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150509-2D4B-4802-83FE-8DBB13936AF7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Introduzir o padrão entrada → processamento → saída. Reforçar que ele reaparece em aplicações de saúde e no projeto condutor.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9F735C-A5DA-4F46-9D98-24F22CDA51D4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10–15 min. Perguntar exatamente: “Se precisássemos ensinar um computador a receber um dado, analisar uma regra e responder, quais passos seriam necessários?”. Registrar 3–5 respostas.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801A08-A501-4D67-B2B4-989E9125B827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15–23 min. Definir algoritmo. Usar exemplo cotidiano curto. Depois decompor o projeto do wearable em entrada, processamento e saída.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BA3B39-780F-4BF8-9D3C-AF550AC16A3A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Decompor o projeto do wearable em quatro ações: receber, armazenar, comparar e responder. Pedir à turma para nomear as etapas.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138381-7460-445E-A16D-D7795A60E196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rápida: apresentar uma sequência fora de ordem e pedir que os participantes a reorganizem.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F899C5-7CCB-4566-9982-03F30C34DE2B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23–30 min. Desenhar o fluxo receber → armazenar → comparar → responder. Reforçar que 30 e 70 são limites didáticos, não clínicos.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391890-7623-468E-9F79-73F08C618AF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30–40 min. Abrir o Scratch ao vivo. Localizar blocos, scripts, palco e atores. Este slide serve também como contingência caso a projeção ao vivo falhe.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A9ADAD-5D26-49DB-B70C-8D606634626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Criar ao vivo: quando bandeira verde clicada → dizer → esperar → dizer. Pedir que os participantes reproduzam e alterem a ordem para observar o efeito.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7A85B3-7FC2-414A-B0AA-0D9A2DA497B2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48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40–50 min. Criar valorSensor. Explicar variável como nome associado a valor que pode mudar. Mostrar diferença entre “resposta” e variável criada pelo programador.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FA20E6-7E8E-4A2C-989D-48460AC829B4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Criar a variável valorSensor e observar seu valor no palco. Executar com 20, 50 e 90.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40B797-6E66-4550-BC27-340B9105F7F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50–60 min. Adicionar “perguntar ... e esperar” e “definir valorSensor para resposta”. Executar com três valores.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848AF4-9581-4695-B9EB-468F21470EFB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60–70 min. Demonstrar soma e comparação. Microexercício: calcular dobro do valor ou testar valorSensor &gt; 50.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BDFAD8-F5EF-4C54-945D-EA3EAD57FF35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Resposta esperada: A = 80; B = falso. Usar como microexercício de 1–2 minutos.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5D426B-B36D-46A8-918A-5D20FC8890DC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70–80 min. Apresentar o problema: o programa deve responder de maneira diferente conforme o valor. Introduzir se e se/senão.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E2642B-F7D1-4664-AE6D-F785C9921846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Mostrar a representação visual de dois caminhos. Pedir que a turma preveja o resultado para valores de teste.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24FBB9-9284-4AF3-BC8E-A3337FE6602E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80–92 min. Implementar se valorSensor &lt; 30 então Faixa A; senão outra faixa. Executar 29 e 30 para destacar a fronteira.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41DC54-79E3-49DE-8FBF-9D1D3991455B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92–100 min. Adicionar segundo teste para formar A/B/C. Explicar importância da ordem das condições. Testar 0, 29, 30, 70, 71 e 100.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CC21D0-46E5-4A78-87BF-57B1C3844D3F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Explicar condicionais aninhadas: se &lt;30 → A; senão, se &lt;=70 → B; senão → C.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E4BC96-DEDF-4AA2-BB3F-596B68D33A58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100–105 min. Perguntar quais casos ainda podem falhar: texto, negativo, &gt;100. Explicar que validação completa ficará para depois, mas testar limites já é parte da programação.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E1B4C2-B0F5-4721-9BC5-38DC62A1461B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105–113 min. Comparar copiar blocos várias vezes com usar repetição. Perguntar qual parte do projeto faz sentido repetir.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DC6FA2-353C-478F-B80F-16987B39AF7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Introduzir repetição contada e, conceitualmente, “sempre”. Não aprofundar demais se a turma estiver lenta.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5357A6-B098-41FB-B7B3-5C24B41329BA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113–123 min. Substituir temporariamente entrada manual por número aleatório 0–100. Repetir 5 vezes e inserir pequena espera para observar mudanças.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E5C194-DAD9-4EF1-B02A-69A340107383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123–130 min. Revisar o fluxo completo. Pedir a um participante para explicar o algoritmo em voz alta para um colega.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C77A25-BE65-4CFB-9727-F16CE7F86235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130–135 min. Mostrar critérios mínimos e formar duplas ou trabalho individual conforme a turma. 135–155 min: apoiar sem entregar a solução completa.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FFD609-15E5-45D6-9CB2-2BDED8152DA2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135–155 min. Priorizar perguntas: “qual valor está na variável?”, “qual condição está sendo testada?”, “quantas vezes esse bloco executa?”.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496204-FA82-46AC-B7BF-DB03B84129B4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155–165 min. Oferecer extensões opcionais a quem terminar cedo. Incentivar apoio entre pares sem entregar a solução pronta.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F4ADE4-D1CA-406C-8D16-62C65F1C2D85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165–170 min. Selecionar 2–3 projetos para demonstração de 1 minuto. Destacar diferenças de solução que chegam ao mesmo objetivo.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3C4238-7748-47EC-869F-3ECA2A173FD4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170–175 min. Usar erro proposital: classificação fora da repetição (ou condição invertida). Pedir que a turma localize o problema antes de revelar.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569086-C482-4CCE-A4A0-F854F04CAD12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175–180 min. Mostrar equivalência de entrada e variável. Não ensinar sintaxe Python em profundidade; apenas a continuidade conceitual.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379171-E13C-468E-8F11-AEAD89A3ECA8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Mostrar if/elif/else e for ao lado dos blocos equivalentes. Reforçar: a lógica permanece e muda apenas a forma de escrever.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422E84-A87D-4098-BDF9-B485FFA80915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Fechar com síntese em quatro palavras. Fazer quiz de saída ou pedir oralmente qual conceito foi mais importante. Indicar o próximo curso em Python.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72C8E5-7E92-4A7D-939D-F9CF5D7D4309}" type="slidenum">
              <a:rPr b="0" lang="pt-BR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Conteúdo Cl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CCACB9F-10C5-4D5D-89AF-8C70BB18CC9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CEAN - Destaque Escu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E68F6D-4DED-4F67-9C04-CF0DCE47350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editar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format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texto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10031040" y="182880"/>
            <a:ext cx="1416600" cy="374040"/>
          </a:xfrm>
          <a:prstGeom prst="rect">
            <a:avLst/>
          </a:prstGeom>
          <a:ln w="0">
            <a:noFill/>
          </a:ln>
        </p:spPr>
      </p:pic>
      <p:sp>
        <p:nvSpPr>
          <p:cNvPr id="3" name="Text 0"/>
          <p:cNvSpPr/>
          <p:nvPr/>
        </p:nvSpPr>
        <p:spPr>
          <a:xfrm>
            <a:off x="685800" y="228600"/>
            <a:ext cx="4937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26" strike="noStrike">
                <a:solidFill>
                  <a:srgbClr val="5b6b86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85800" y="658440"/>
            <a:ext cx="3538080" cy="2664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224600" y="658440"/>
            <a:ext cx="3547080" cy="26640"/>
          </a:xfrm>
          <a:prstGeom prst="rect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772400" y="658440"/>
            <a:ext cx="3501360" cy="2664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 4"/>
          <p:cNvSpPr/>
          <p:nvPr/>
        </p:nvSpPr>
        <p:spPr>
          <a:xfrm>
            <a:off x="685800" y="6492240"/>
            <a:ext cx="75888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PR-01 · Lógica de Programação Aplicada à Saúde com Scratch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sldNum" idx="1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a879d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EB20F7-3175-411E-923B-D9BF9BF2B85C}" type="slidenum">
              <a:rPr b="0" lang="en-US" sz="850" spc="-1" strike="noStrike">
                <a:solidFill>
                  <a:srgbClr val="7a879d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editar 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formato do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0"/>
          <p:cNvSpPr/>
          <p:nvPr/>
        </p:nvSpPr>
        <p:spPr>
          <a:xfrm>
            <a:off x="594360" y="329040"/>
            <a:ext cx="1663560" cy="483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Image 0" descr="/mnt/data/ocean_assets/ocean_logo_color_transparent.png"/>
          <p:cNvPicPr/>
          <p:nvPr/>
        </p:nvPicPr>
        <p:blipFill>
          <a:blip r:embed="rId2"/>
          <a:stretch/>
        </p:blipFill>
        <p:spPr>
          <a:xfrm>
            <a:off x="731520" y="420480"/>
            <a:ext cx="1325160" cy="346680"/>
          </a:xfrm>
          <a:prstGeom prst="rect">
            <a:avLst/>
          </a:prstGeom>
          <a:ln w="0">
            <a:noFill/>
          </a:ln>
        </p:spPr>
      </p:pic>
      <p:sp>
        <p:nvSpPr>
          <p:cNvPr id="13" name="Text 1"/>
          <p:cNvSpPr/>
          <p:nvPr/>
        </p:nvSpPr>
        <p:spPr>
          <a:xfrm>
            <a:off x="6510600" y="475560"/>
            <a:ext cx="4982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21" strike="noStrike">
                <a:solidFill>
                  <a:srgbClr val="c2cee5"/>
                </a:solidFill>
                <a:latin typeface="Lato"/>
                <a:ea typeface="Lato"/>
              </a:rPr>
              <a:t>RESIDÊNCIA EM TIC 53 · TRILHA PROGRAMAÇÃO</a:t>
            </a:r>
            <a:endParaRPr b="0" lang="pt-BR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685800" y="6473880"/>
            <a:ext cx="3108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PR-01 · Projeto Ocean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sldNum" idx="2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9fb0d0"/>
                </a:solidFill>
                <a:latin typeface="Lato"/>
                <a:ea typeface="Lat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E89DFB-976D-4925-BDE7-604B47B6C912}" type="slidenum">
              <a:rPr b="0" lang="en-US" sz="850" spc="-1" strike="noStrike">
                <a:solidFill>
                  <a:srgbClr val="9fb0d0"/>
                </a:solidFill>
                <a:latin typeface="Lato"/>
                <a:ea typeface="Lato"/>
              </a:rPr>
              <a:t>&lt;número&gt;</a:t>
            </a:fld>
            <a:endParaRPr b="0" lang="pt-BR" sz="8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Clique para editar o formato do texto </a:t>
            </a:r>
            <a:r>
              <a:rPr b="0" lang="pt-BR" sz="4400" spc="-1" strike="noStrike">
                <a:solidFill>
                  <a:srgbClr val="ffffff"/>
                </a:solidFill>
                <a:latin typeface="Arial"/>
              </a:rPr>
              <a:t>do título</a:t>
            </a:r>
            <a:endParaRPr b="0" lang="pt-B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ffffff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ffffff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ffffff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ffffff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scratch.mit.edu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9079920" y="1517760"/>
            <a:ext cx="2084040" cy="2084040"/>
          </a:xfrm>
          <a:prstGeom prst="roundRect">
            <a:avLst>
              <a:gd name="adj" fmla="val 5263"/>
            </a:avLst>
          </a:prstGeom>
          <a:solidFill>
            <a:srgbClr val="102b68"/>
          </a:solidFill>
          <a:ln w="2794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9326880" y="1984320"/>
            <a:ext cx="15994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DejaVu Sans Mono"/>
                <a:ea typeface="DejaVu Sans Mono"/>
              </a:rPr>
              <a:t>&lt;/&gt;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749880" y="1207080"/>
            <a:ext cx="105084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822960" y="1271160"/>
            <a:ext cx="90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071a4a"/>
                </a:solidFill>
                <a:latin typeface="Lato"/>
                <a:ea typeface="Lato"/>
              </a:rPr>
              <a:t>PR-01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731520" y="1719000"/>
            <a:ext cx="7908840" cy="144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150" spc="-1" strike="noStrike">
                <a:solidFill>
                  <a:srgbClr val="ffffff"/>
                </a:solidFill>
                <a:latin typeface="Inter Display"/>
                <a:ea typeface="Inter Display"/>
              </a:rPr>
              <a:t>Lógica de Programação</a:t>
            </a:r>
            <a:endParaRPr b="0" lang="pt-BR" sz="31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150" spc="-1" strike="noStrike">
                <a:solidFill>
                  <a:srgbClr val="ffffff"/>
                </a:solidFill>
                <a:latin typeface="Inter Display"/>
                <a:ea typeface="Inter Display"/>
              </a:rPr>
              <a:t>Aplicada à Saúde com Scratch</a:t>
            </a:r>
            <a:endParaRPr b="0" lang="pt-BR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749880" y="3346560"/>
            <a:ext cx="7479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700" spc="-1" strike="noStrike">
                <a:solidFill>
                  <a:srgbClr val="c7d4eb"/>
                </a:solidFill>
                <a:latin typeface="Lato"/>
                <a:ea typeface="Lato"/>
              </a:rPr>
              <a:t>Aprender lógica de programação com exemplos de saúde digital antes de entrar na sintaxe do Python.</a:t>
            </a:r>
            <a:endParaRPr b="0" lang="pt-B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749880" y="4187880"/>
            <a:ext cx="84060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822960" y="4251960"/>
            <a:ext cx="694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ffffff"/>
                </a:solidFill>
                <a:latin typeface="Lato"/>
                <a:ea typeface="Lato"/>
              </a:rPr>
              <a:t>3 h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14"/>
          <p:cNvSpPr/>
          <p:nvPr/>
        </p:nvSpPr>
        <p:spPr>
          <a:xfrm>
            <a:off x="1755720" y="4187880"/>
            <a:ext cx="1873800" cy="346680"/>
          </a:xfrm>
          <a:prstGeom prst="roundRect">
            <a:avLst>
              <a:gd name="adj" fmla="val 21053"/>
            </a:avLst>
          </a:prstGeom>
          <a:solidFill>
            <a:srgbClr val="18346f"/>
          </a:solidFill>
          <a:ln w="12700">
            <a:solidFill>
              <a:srgbClr val="18346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1828800" y="4251960"/>
            <a:ext cx="1727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00" spc="-1" strike="noStrike">
                <a:solidFill>
                  <a:srgbClr val="ffffff"/>
                </a:solidFill>
                <a:latin typeface="Lato"/>
                <a:ea typeface="Lato"/>
              </a:rPr>
              <a:t>sem pré-requisitos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3822120" y="4187880"/>
            <a:ext cx="1599480" cy="346680"/>
          </a:xfrm>
          <a:prstGeom prst="roundRect">
            <a:avLst>
              <a:gd name="adj" fmla="val 21053"/>
            </a:avLst>
          </a:prstGeom>
          <a:solidFill>
            <a:srgbClr val="18346f"/>
          </a:solidFill>
          <a:ln w="12700">
            <a:solidFill>
              <a:srgbClr val="18346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3895200" y="4251960"/>
            <a:ext cx="1453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00" spc="-1" strike="noStrike">
                <a:solidFill>
                  <a:srgbClr val="ffffff"/>
                </a:solidFill>
                <a:latin typeface="Lato"/>
                <a:ea typeface="Lato"/>
              </a:rPr>
              <a:t>saúde digital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749880" y="5047560"/>
            <a:ext cx="5119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Lato"/>
                <a:ea typeface="Lato"/>
              </a:rPr>
              <a:t>Prof. Dr. Guillermo Alvarez Bestard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749880" y="541332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aabad7"/>
                </a:solidFill>
                <a:latin typeface="Lato"/>
                <a:ea typeface="Lato"/>
              </a:rPr>
              <a:t>Projeto Ocean · Residência em TIC 53 - Brasília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sldNum" idx="6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Onde este curso está na trilha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Scratch como nivelamento; Python como próximo passo.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2"/>
          <p:cNvSpPr/>
          <p:nvPr/>
        </p:nvSpPr>
        <p:spPr>
          <a:xfrm>
            <a:off x="1005840" y="2331720"/>
            <a:ext cx="2193840" cy="18554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dce4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1792080" y="2560320"/>
            <a:ext cx="621000" cy="621000"/>
          </a:xfrm>
          <a:prstGeom prst="ellipse">
            <a:avLst/>
          </a:prstGeom>
          <a:solidFill>
            <a:srgbClr val="071a4a"/>
          </a:solidFill>
          <a:ln w="12700">
            <a:solidFill>
              <a:srgbClr val="071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1792080" y="259704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1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5"/>
          <p:cNvSpPr/>
          <p:nvPr/>
        </p:nvSpPr>
        <p:spPr>
          <a:xfrm>
            <a:off x="1188720" y="33102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Lógica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1207080" y="373068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  <a:ea typeface="Lato"/>
              </a:rPr>
              <a:t>Pensar em passos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3291840" y="3255120"/>
            <a:ext cx="978120" cy="360"/>
          </a:xfrm>
          <a:prstGeom prst="line">
            <a:avLst/>
          </a:prstGeom>
          <a:ln w="38100">
            <a:solidFill>
              <a:srgbClr val="10b9f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316040" y="2331720"/>
            <a:ext cx="2193840" cy="1855440"/>
          </a:xfrm>
          <a:prstGeom prst="roundRect">
            <a:avLst>
              <a:gd name="adj" fmla="val 3941"/>
            </a:avLst>
          </a:prstGeom>
          <a:solidFill>
            <a:srgbClr val="eaf8fe"/>
          </a:solidFill>
          <a:ln w="12700">
            <a:solidFill>
              <a:srgbClr val="10b9f3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5102280" y="2560320"/>
            <a:ext cx="621000" cy="621000"/>
          </a:xfrm>
          <a:prstGeom prst="ellipse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0"/>
          <p:cNvSpPr/>
          <p:nvPr/>
        </p:nvSpPr>
        <p:spPr>
          <a:xfrm>
            <a:off x="5102280" y="259704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2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11"/>
          <p:cNvSpPr/>
          <p:nvPr/>
        </p:nvSpPr>
        <p:spPr>
          <a:xfrm>
            <a:off x="4498920" y="33102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Scratch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4517280" y="373068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  <a:ea typeface="Lato"/>
              </a:rPr>
              <a:t>Visualizar a lógica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3"/>
          <p:cNvSpPr/>
          <p:nvPr/>
        </p:nvSpPr>
        <p:spPr>
          <a:xfrm>
            <a:off x="6601680" y="3255120"/>
            <a:ext cx="978480" cy="360"/>
          </a:xfrm>
          <a:prstGeom prst="line">
            <a:avLst/>
          </a:prstGeom>
          <a:ln w="38100">
            <a:solidFill>
              <a:srgbClr val="10b9f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7626240" y="2331720"/>
            <a:ext cx="2193840" cy="18554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dce4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5"/>
          <p:cNvSpPr/>
          <p:nvPr/>
        </p:nvSpPr>
        <p:spPr>
          <a:xfrm>
            <a:off x="8412480" y="2560320"/>
            <a:ext cx="621000" cy="621000"/>
          </a:xfrm>
          <a:prstGeom prst="ellipse">
            <a:avLst/>
          </a:prstGeom>
          <a:solidFill>
            <a:srgbClr val="071a4a"/>
          </a:solidFill>
          <a:ln w="12700">
            <a:solidFill>
              <a:srgbClr val="071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8412480" y="259704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3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7809120" y="33102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Python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8"/>
          <p:cNvSpPr/>
          <p:nvPr/>
        </p:nvSpPr>
        <p:spPr>
          <a:xfrm>
            <a:off x="7827120" y="373068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  <a:ea typeface="Lato"/>
              </a:rPr>
              <a:t>Escrever a mesma lógica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9"/>
          <p:cNvSpPr/>
          <p:nvPr/>
        </p:nvSpPr>
        <p:spPr>
          <a:xfrm>
            <a:off x="4809600" y="1938600"/>
            <a:ext cx="116964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20"/>
          <p:cNvSpPr/>
          <p:nvPr/>
        </p:nvSpPr>
        <p:spPr>
          <a:xfrm>
            <a:off x="4883040" y="2002680"/>
            <a:ext cx="10234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HOJE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21"/>
          <p:cNvSpPr/>
          <p:nvPr/>
        </p:nvSpPr>
        <p:spPr>
          <a:xfrm>
            <a:off x="3063240" y="4892040"/>
            <a:ext cx="608004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 lógica permanece; a forma de escrever muda.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sldNum" idx="7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 que você será capaz de fazer hoje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822960" y="1965960"/>
            <a:ext cx="251388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987480" y="2130480"/>
            <a:ext cx="52956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060560" y="2194560"/>
            <a:ext cx="38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01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987480" y="2624400"/>
            <a:ext cx="218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Organizar um algoritmo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987480" y="2999160"/>
            <a:ext cx="2184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Sequência de passos, entrada, processamento e saída.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3502080" y="1965960"/>
            <a:ext cx="251388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7"/>
          <p:cNvSpPr/>
          <p:nvPr/>
        </p:nvSpPr>
        <p:spPr>
          <a:xfrm>
            <a:off x="3666600" y="2130480"/>
            <a:ext cx="52956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3740040" y="2194560"/>
            <a:ext cx="38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02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3666600" y="2624400"/>
            <a:ext cx="218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Usar variáveis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3666600" y="2999160"/>
            <a:ext cx="2184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Guardar dados e resultados intermediários.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1"/>
          <p:cNvSpPr/>
          <p:nvPr/>
        </p:nvSpPr>
        <p:spPr>
          <a:xfrm>
            <a:off x="6181200" y="1965960"/>
            <a:ext cx="251388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6346080" y="2130480"/>
            <a:ext cx="52956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6419160" y="2194560"/>
            <a:ext cx="38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03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6346080" y="2624400"/>
            <a:ext cx="218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Decidir e repetir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6346080" y="2999160"/>
            <a:ext cx="2184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Aplicar condições, lógica booleana e automatizar comportamentos.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16"/>
          <p:cNvSpPr/>
          <p:nvPr/>
        </p:nvSpPr>
        <p:spPr>
          <a:xfrm>
            <a:off x="8860680" y="1965960"/>
            <a:ext cx="251388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7"/>
          <p:cNvSpPr/>
          <p:nvPr/>
        </p:nvSpPr>
        <p:spPr>
          <a:xfrm>
            <a:off x="9025200" y="2130480"/>
            <a:ext cx="529560" cy="346680"/>
          </a:xfrm>
          <a:prstGeom prst="roundRect">
            <a:avLst>
              <a:gd name="adj" fmla="val 21053"/>
            </a:avLst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9098280" y="2194560"/>
            <a:ext cx="38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04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9025200" y="2624400"/>
            <a:ext cx="218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Testar e explicar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9025200" y="2999160"/>
            <a:ext cx="2184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Experimentar casos, encontrar erros e justificar decisões do algoritmo.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1"/>
          <p:cNvSpPr/>
          <p:nvPr/>
        </p:nvSpPr>
        <p:spPr>
          <a:xfrm>
            <a:off x="1261800" y="4297680"/>
            <a:ext cx="9646200" cy="95940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8e2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2"/>
          <p:cNvSpPr/>
          <p:nvPr/>
        </p:nvSpPr>
        <p:spPr>
          <a:xfrm>
            <a:off x="1554480" y="4517280"/>
            <a:ext cx="1416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10b9f3"/>
                </a:solidFill>
                <a:latin typeface="Lato"/>
                <a:ea typeface="Lato"/>
              </a:rPr>
              <a:t>Meta do encontro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2743200" y="4453200"/>
            <a:ext cx="77716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40" spc="-1" strike="noStrike">
                <a:solidFill>
                  <a:srgbClr val="071a4a"/>
                </a:solidFill>
                <a:latin typeface="Lato"/>
                <a:ea typeface="Lato"/>
              </a:rPr>
              <a:t>Ao final, você não precisa dominar o Scratch. Precisa reconhecer e usar sequência, variável, decisão e repetição.</a:t>
            </a:r>
            <a:endParaRPr b="0" lang="pt-BR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sldNum" idx="8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95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96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97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98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99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Como vamos usar as 3 horas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Mais conceito no início, três momentos práticos e um projeto integrado no final.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9"/>
          <p:cNvSpPr/>
          <p:nvPr/>
        </p:nvSpPr>
        <p:spPr>
          <a:xfrm>
            <a:off x="841320" y="2331720"/>
            <a:ext cx="1140480" cy="594000"/>
          </a:xfrm>
          <a:prstGeom prst="rect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841320" y="2441520"/>
            <a:ext cx="1140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20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11"/>
          <p:cNvSpPr/>
          <p:nvPr/>
        </p:nvSpPr>
        <p:spPr>
          <a:xfrm>
            <a:off x="2009520" y="2331720"/>
            <a:ext cx="1140480" cy="594000"/>
          </a:xfrm>
          <a:prstGeom prst="rect">
            <a:avLst/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2009520" y="2441520"/>
            <a:ext cx="1140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20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ectangle 13"/>
          <p:cNvSpPr/>
          <p:nvPr/>
        </p:nvSpPr>
        <p:spPr>
          <a:xfrm>
            <a:off x="3178080" y="2331720"/>
            <a:ext cx="1724760" cy="594000"/>
          </a:xfrm>
          <a:prstGeom prst="rect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3178080" y="2441520"/>
            <a:ext cx="1724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30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angle 15"/>
          <p:cNvSpPr/>
          <p:nvPr/>
        </p:nvSpPr>
        <p:spPr>
          <a:xfrm>
            <a:off x="4930560" y="2331720"/>
            <a:ext cx="1724760" cy="594000"/>
          </a:xfrm>
          <a:prstGeom prst="rect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8" name="TextBox 16"/>
          <p:cNvSpPr/>
          <p:nvPr/>
        </p:nvSpPr>
        <p:spPr>
          <a:xfrm>
            <a:off x="4930560" y="2441520"/>
            <a:ext cx="1724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30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7"/>
          <p:cNvSpPr/>
          <p:nvPr/>
        </p:nvSpPr>
        <p:spPr>
          <a:xfrm>
            <a:off x="6683400" y="2331720"/>
            <a:ext cx="1140480" cy="594000"/>
          </a:xfrm>
          <a:prstGeom prst="rect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0" name="TextBox 18"/>
          <p:cNvSpPr/>
          <p:nvPr/>
        </p:nvSpPr>
        <p:spPr>
          <a:xfrm>
            <a:off x="6683400" y="2441520"/>
            <a:ext cx="1140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20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ectangle 19"/>
          <p:cNvSpPr/>
          <p:nvPr/>
        </p:nvSpPr>
        <p:spPr>
          <a:xfrm>
            <a:off x="7851600" y="2331720"/>
            <a:ext cx="848520" cy="594000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2" name="TextBox 20"/>
          <p:cNvSpPr/>
          <p:nvPr/>
        </p:nvSpPr>
        <p:spPr>
          <a:xfrm>
            <a:off x="7851600" y="2441520"/>
            <a:ext cx="848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15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ectangle 21"/>
          <p:cNvSpPr/>
          <p:nvPr/>
        </p:nvSpPr>
        <p:spPr>
          <a:xfrm>
            <a:off x="8727840" y="2331720"/>
            <a:ext cx="848520" cy="594000"/>
          </a:xfrm>
          <a:prstGeom prst="rect">
            <a:avLst/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4" name="TextBox 22"/>
          <p:cNvSpPr/>
          <p:nvPr/>
        </p:nvSpPr>
        <p:spPr>
          <a:xfrm>
            <a:off x="8727840" y="2441520"/>
            <a:ext cx="848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15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ectangle 23"/>
          <p:cNvSpPr/>
          <p:nvPr/>
        </p:nvSpPr>
        <p:spPr>
          <a:xfrm>
            <a:off x="9604080" y="2331720"/>
            <a:ext cx="1432800" cy="594000"/>
          </a:xfrm>
          <a:prstGeom prst="rect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6" name="TextBox 24"/>
          <p:cNvSpPr/>
          <p:nvPr/>
        </p:nvSpPr>
        <p:spPr>
          <a:xfrm>
            <a:off x="9604080" y="2441520"/>
            <a:ext cx="1432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25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25"/>
          <p:cNvSpPr/>
          <p:nvPr/>
        </p:nvSpPr>
        <p:spPr>
          <a:xfrm>
            <a:off x="11064600" y="2331720"/>
            <a:ext cx="264240" cy="594000"/>
          </a:xfrm>
          <a:prstGeom prst="rect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18" name="TextBox 26"/>
          <p:cNvSpPr/>
          <p:nvPr/>
        </p:nvSpPr>
        <p:spPr>
          <a:xfrm>
            <a:off x="11064600" y="2441520"/>
            <a:ext cx="264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7"/>
          <p:cNvSpPr/>
          <p:nvPr/>
        </p:nvSpPr>
        <p:spPr>
          <a:xfrm>
            <a:off x="841320" y="3081600"/>
            <a:ext cx="116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Lógica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8"/>
          <p:cNvSpPr/>
          <p:nvPr/>
        </p:nvSpPr>
        <p:spPr>
          <a:xfrm>
            <a:off x="2009520" y="3081600"/>
            <a:ext cx="116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Scratch básico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9"/>
          <p:cNvSpPr/>
          <p:nvPr/>
        </p:nvSpPr>
        <p:spPr>
          <a:xfrm>
            <a:off x="3178080" y="3081600"/>
            <a:ext cx="175212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Dados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30"/>
          <p:cNvSpPr/>
          <p:nvPr/>
        </p:nvSpPr>
        <p:spPr>
          <a:xfrm>
            <a:off x="4930560" y="3081600"/>
            <a:ext cx="175212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Decisões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1"/>
          <p:cNvSpPr/>
          <p:nvPr/>
        </p:nvSpPr>
        <p:spPr>
          <a:xfrm>
            <a:off x="6683400" y="3081600"/>
            <a:ext cx="116820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Repetição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32"/>
          <p:cNvSpPr/>
          <p:nvPr/>
        </p:nvSpPr>
        <p:spPr>
          <a:xfrm>
            <a:off x="7851600" y="3081600"/>
            <a:ext cx="8758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Exemplo 1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33"/>
          <p:cNvSpPr/>
          <p:nvPr/>
        </p:nvSpPr>
        <p:spPr>
          <a:xfrm>
            <a:off x="8727840" y="3081600"/>
            <a:ext cx="8758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Exemplo 2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4"/>
          <p:cNvSpPr/>
          <p:nvPr/>
        </p:nvSpPr>
        <p:spPr>
          <a:xfrm>
            <a:off x="9604080" y="3081600"/>
            <a:ext cx="146016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Projeto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5"/>
          <p:cNvSpPr/>
          <p:nvPr/>
        </p:nvSpPr>
        <p:spPr>
          <a:xfrm>
            <a:off x="11064600" y="3081600"/>
            <a:ext cx="68544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30" spc="-1" strike="noStrike">
                <a:solidFill>
                  <a:srgbClr val="071a4a"/>
                </a:solidFill>
                <a:latin typeface="Lato"/>
              </a:rPr>
              <a:t>Ponte Python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ounded Rectangle 36"/>
          <p:cNvSpPr/>
          <p:nvPr/>
        </p:nvSpPr>
        <p:spPr>
          <a:xfrm>
            <a:off x="1143000" y="4892040"/>
            <a:ext cx="9875160" cy="59400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0" lang="pt-BR" sz="1420" spc="-1" strike="noStrike">
                <a:solidFill>
                  <a:srgbClr val="5b6b86"/>
                </a:solidFill>
                <a:latin typeface="Lato"/>
              </a:rPr>
              <a:t>A aula alterna explicação curta → demonstração → atividade (exemplos)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37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4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Onde existe programação na saúde digital?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Do dispositivo ao dashboard, software organiza dados e comportamentos.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841320" y="2148840"/>
            <a:ext cx="1782360" cy="2376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1316880" y="2468880"/>
            <a:ext cx="840600" cy="840600"/>
          </a:xfrm>
          <a:prstGeom prst="roundRect">
            <a:avLst>
              <a:gd name="adj" fmla="val 17391"/>
            </a:avLst>
          </a:prstGeom>
          <a:solidFill>
            <a:srgbClr val="10b9f3">
              <a:alpha val="96000"/>
            </a:srgbClr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1554480" y="2597040"/>
            <a:ext cx="356040" cy="5389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737360" y="2486880"/>
            <a:ext cx="360" cy="1371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6"/>
          <p:cNvSpPr/>
          <p:nvPr/>
        </p:nvSpPr>
        <p:spPr>
          <a:xfrm>
            <a:off x="1737360" y="3136320"/>
            <a:ext cx="360" cy="12780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969120" y="3575160"/>
            <a:ext cx="1526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Inter Display"/>
                <a:ea typeface="Inter Display"/>
              </a:rPr>
              <a:t>Wearables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978480" y="3968640"/>
            <a:ext cx="1508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coletam e exibem dados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3127320" y="2148840"/>
            <a:ext cx="1782360" cy="2376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3602880" y="2468880"/>
            <a:ext cx="840600" cy="840600"/>
          </a:xfrm>
          <a:prstGeom prst="roundRect">
            <a:avLst>
              <a:gd name="adj" fmla="val 17391"/>
            </a:avLst>
          </a:prstGeom>
          <a:solidFill>
            <a:srgbClr val="f36b21">
              <a:alpha val="96000"/>
            </a:srgbClr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822120" y="2660760"/>
            <a:ext cx="365040" cy="365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2"/>
          <p:cNvSpPr/>
          <p:nvPr/>
        </p:nvSpPr>
        <p:spPr>
          <a:xfrm>
            <a:off x="3684960" y="2532960"/>
            <a:ext cx="639360" cy="639360"/>
          </a:xfrm>
          <a:prstGeom prst="arc">
            <a:avLst>
              <a:gd name="adj1" fmla="val 16200000"/>
              <a:gd name="adj2" fmla="val 0"/>
            </a:avLst>
          </a:prstGeom>
          <a:noFill/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3255120" y="3575160"/>
            <a:ext cx="1526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Sensores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3264480" y="3968640"/>
            <a:ext cx="1508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produzem sinais e medidas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5413320" y="2148840"/>
            <a:ext cx="1782360" cy="2376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5888880" y="2468880"/>
            <a:ext cx="840600" cy="840600"/>
          </a:xfrm>
          <a:prstGeom prst="roundRect">
            <a:avLst>
              <a:gd name="adj" fmla="val 17391"/>
            </a:avLst>
          </a:prstGeom>
          <a:solidFill>
            <a:srgbClr val="e72b76">
              <a:alpha val="96000"/>
            </a:srgbClr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6117480" y="2587680"/>
            <a:ext cx="365040" cy="5662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8"/>
          <p:cNvSpPr/>
          <p:nvPr/>
        </p:nvSpPr>
        <p:spPr>
          <a:xfrm>
            <a:off x="6282000" y="3063240"/>
            <a:ext cx="36000" cy="3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8720" bIns="-18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541120" y="3575160"/>
            <a:ext cx="1526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Apps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550480" y="3968640"/>
            <a:ext cx="1508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interagem com pessoas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699320" y="2148840"/>
            <a:ext cx="1782360" cy="2376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8174880" y="2468880"/>
            <a:ext cx="840600" cy="840600"/>
          </a:xfrm>
          <a:prstGeom prst="roundRect">
            <a:avLst>
              <a:gd name="adj" fmla="val 17391"/>
            </a:avLst>
          </a:prstGeom>
          <a:solidFill>
            <a:srgbClr val="8157b1">
              <a:alpha val="96000"/>
            </a:srgbClr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302680" y="2660760"/>
            <a:ext cx="584640" cy="43812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7827120" y="3575160"/>
            <a:ext cx="1526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Inter Display"/>
                <a:ea typeface="Inter Display"/>
              </a:rPr>
              <a:t>Backend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836480" y="3968640"/>
            <a:ext cx="1508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processa e organiza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26"/>
          <p:cNvSpPr/>
          <p:nvPr/>
        </p:nvSpPr>
        <p:spPr>
          <a:xfrm>
            <a:off x="9985320" y="2148840"/>
            <a:ext cx="1782360" cy="2376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10460880" y="2468880"/>
            <a:ext cx="840600" cy="840600"/>
          </a:xfrm>
          <a:prstGeom prst="roundRect">
            <a:avLst>
              <a:gd name="adj" fmla="val 17391"/>
            </a:avLst>
          </a:prstGeom>
          <a:solidFill>
            <a:srgbClr val="2c7cc0">
              <a:alpha val="96000"/>
            </a:srgbClr>
          </a:solidFill>
          <a:ln w="12700">
            <a:solidFill>
              <a:srgbClr val="2c7cc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28"/>
          <p:cNvSpPr/>
          <p:nvPr/>
        </p:nvSpPr>
        <p:spPr>
          <a:xfrm flipV="1">
            <a:off x="10625040" y="2898360"/>
            <a:ext cx="146520" cy="16488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771560" y="2898360"/>
            <a:ext cx="155520" cy="10980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0"/>
          <p:cNvSpPr/>
          <p:nvPr/>
        </p:nvSpPr>
        <p:spPr>
          <a:xfrm flipV="1">
            <a:off x="10927080" y="2733840"/>
            <a:ext cx="191880" cy="27432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10113120" y="3575160"/>
            <a:ext cx="1526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Inter Display"/>
                <a:ea typeface="Inter Display"/>
              </a:rPr>
              <a:t>Dashboards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10122480" y="3968640"/>
            <a:ext cx="1508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mostram informação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3"/>
          <p:cNvSpPr/>
          <p:nvPr/>
        </p:nvSpPr>
        <p:spPr>
          <a:xfrm>
            <a:off x="1508760" y="5175360"/>
            <a:ext cx="9234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071a4a"/>
                </a:solidFill>
                <a:latin typeface="Lato"/>
                <a:ea typeface="Lato"/>
              </a:rPr>
              <a:t>Pergunta para a turma: que outros softwares vocês encontram na área de saúde?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sldNum" idx="9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5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Software não é “mágica”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Quase sempre podemos enxergar um fluxo de entrada, processamento e saída.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914400" y="2377440"/>
            <a:ext cx="2879640" cy="20566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1115640" y="2633400"/>
            <a:ext cx="2468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115640" y="3090600"/>
            <a:ext cx="2468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9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receber um valor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1115640" y="3831480"/>
            <a:ext cx="24681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2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ex.: 78 bpm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3959280" y="3364920"/>
            <a:ext cx="941760" cy="360"/>
          </a:xfrm>
          <a:prstGeom prst="line">
            <a:avLst/>
          </a:prstGeom>
          <a:ln w="3175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4260960" y="2377440"/>
            <a:ext cx="2879640" cy="20566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4462200" y="2633400"/>
            <a:ext cx="2468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PROCESSAMENTO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4462200" y="3090600"/>
            <a:ext cx="2468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8333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9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armazenar + comparar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4462200" y="3831480"/>
            <a:ext cx="24681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2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ex.: freqCardiaca ≤ 100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7305840" y="3364920"/>
            <a:ext cx="941760" cy="360"/>
          </a:xfrm>
          <a:prstGeom prst="line">
            <a:avLst/>
          </a:prstGeom>
          <a:ln w="3175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2"/>
          <p:cNvSpPr/>
          <p:nvPr/>
        </p:nvSpPr>
        <p:spPr>
          <a:xfrm>
            <a:off x="8174880" y="2377440"/>
            <a:ext cx="2879640" cy="205668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8375760" y="2633400"/>
            <a:ext cx="2468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72b76"/>
                </a:solidFill>
                <a:latin typeface="Lato"/>
                <a:ea typeface="Lato"/>
              </a:rPr>
              <a:t>SAÍDA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8375760" y="3090600"/>
            <a:ext cx="2468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9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responder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5"/>
          <p:cNvSpPr/>
          <p:nvPr/>
        </p:nvSpPr>
        <p:spPr>
          <a:xfrm>
            <a:off x="8375760" y="3831480"/>
            <a:ext cx="24681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2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ex.: “faixa-alvo do exercício”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6"/>
          <p:cNvSpPr/>
          <p:nvPr/>
        </p:nvSpPr>
        <p:spPr>
          <a:xfrm>
            <a:off x="4407480" y="4937760"/>
            <a:ext cx="3400920" cy="346680"/>
          </a:xfrm>
          <a:prstGeom prst="roundRect">
            <a:avLst>
              <a:gd name="adj" fmla="val 21053"/>
            </a:avLst>
          </a:prstGeom>
          <a:solidFill>
            <a:srgbClr val="eaf8fe"/>
          </a:solidFill>
          <a:ln w="12700">
            <a:solidFill>
              <a:srgbClr val="eaf8f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7"/>
          <p:cNvSpPr/>
          <p:nvPr/>
        </p:nvSpPr>
        <p:spPr>
          <a:xfrm>
            <a:off x="4480560" y="5001840"/>
            <a:ext cx="3254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071a4a"/>
                </a:solidFill>
                <a:latin typeface="Lato"/>
                <a:ea typeface="Lato"/>
              </a:rPr>
              <a:t>PADRÃO QUE VAI SE REPETIR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sldNum" idx="10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6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85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186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187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188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189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190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Do problema ao programa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Lógica de programação é transformar uma intenção em passos que o computador consegue executar.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9"/>
          <p:cNvSpPr/>
          <p:nvPr/>
        </p:nvSpPr>
        <p:spPr>
          <a:xfrm>
            <a:off x="685800" y="2331720"/>
            <a:ext cx="20570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3" name="TextBox 10"/>
          <p:cNvSpPr/>
          <p:nvPr/>
        </p:nvSpPr>
        <p:spPr>
          <a:xfrm>
            <a:off x="822960" y="2541960"/>
            <a:ext cx="1782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PROBLEMA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1"/>
          <p:cNvSpPr/>
          <p:nvPr/>
        </p:nvSpPr>
        <p:spPr>
          <a:xfrm>
            <a:off x="868680" y="3212640"/>
            <a:ext cx="16912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O que queremos resolver?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5" name="Connector 12"/>
          <p:cNvCxnSpPr>
            <a:endCxn id="196" idx="1"/>
          </p:cNvCxnSpPr>
          <p:nvPr/>
        </p:nvCxnSpPr>
        <p:spPr>
          <a:xfrm flipV="1">
            <a:off x="2797920" y="3360240"/>
            <a:ext cx="155880" cy="5040"/>
          </a:xfrm>
          <a:prstGeom prst="straightConnector1">
            <a:avLst/>
          </a:prstGeom>
          <a:ln w="19050">
            <a:solidFill>
              <a:srgbClr val="5b6b86"/>
            </a:solidFill>
          </a:ln>
        </p:spPr>
      </p:cxnSp>
      <p:sp>
        <p:nvSpPr>
          <p:cNvPr id="197" name="Chevron 13"/>
          <p:cNvSpPr/>
          <p:nvPr/>
        </p:nvSpPr>
        <p:spPr>
          <a:xfrm>
            <a:off x="2926080" y="3291840"/>
            <a:ext cx="127800" cy="145800"/>
          </a:xfrm>
          <a:prstGeom prst="chevron">
            <a:avLst>
              <a:gd name="adj" fmla="val 50000"/>
            </a:avLst>
          </a:prstGeom>
          <a:solidFill>
            <a:srgbClr val="5b6b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6" name="Rounded Rectangle 14"/>
          <p:cNvSpPr/>
          <p:nvPr/>
        </p:nvSpPr>
        <p:spPr>
          <a:xfrm>
            <a:off x="2953440" y="2331720"/>
            <a:ext cx="20570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98" name="TextBox 15"/>
          <p:cNvSpPr/>
          <p:nvPr/>
        </p:nvSpPr>
        <p:spPr>
          <a:xfrm>
            <a:off x="3090600" y="2541960"/>
            <a:ext cx="1782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10b9f3"/>
                </a:solidFill>
                <a:latin typeface="Lato"/>
              </a:rPr>
              <a:t>DADOS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3136320" y="3212640"/>
            <a:ext cx="16912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O que entra no sistema?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0" name="Connector 17"/>
          <p:cNvCxnSpPr/>
          <p:nvPr/>
        </p:nvCxnSpPr>
        <p:spPr>
          <a:xfrm>
            <a:off x="5065560" y="3364920"/>
            <a:ext cx="201600" cy="360"/>
          </a:xfrm>
          <a:prstGeom prst="straightConnector1">
            <a:avLst/>
          </a:prstGeom>
          <a:ln w="19050">
            <a:solidFill>
              <a:srgbClr val="5b6b86"/>
            </a:solidFill>
          </a:ln>
        </p:spPr>
      </p:cxnSp>
      <p:sp>
        <p:nvSpPr>
          <p:cNvPr id="201" name="Chevron 18"/>
          <p:cNvSpPr/>
          <p:nvPr/>
        </p:nvSpPr>
        <p:spPr>
          <a:xfrm>
            <a:off x="5193720" y="3291840"/>
            <a:ext cx="127800" cy="145800"/>
          </a:xfrm>
          <a:prstGeom prst="chevron">
            <a:avLst>
              <a:gd name="adj" fmla="val 50000"/>
            </a:avLst>
          </a:prstGeom>
          <a:solidFill>
            <a:srgbClr val="5b6b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2" name="Rounded Rectangle 19"/>
          <p:cNvSpPr/>
          <p:nvPr/>
        </p:nvSpPr>
        <p:spPr>
          <a:xfrm>
            <a:off x="5221080" y="2331720"/>
            <a:ext cx="20570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3" name="TextBox 20"/>
          <p:cNvSpPr/>
          <p:nvPr/>
        </p:nvSpPr>
        <p:spPr>
          <a:xfrm>
            <a:off x="5358240" y="2541960"/>
            <a:ext cx="1782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72585"/>
                </a:solidFill>
                <a:latin typeface="Lato"/>
              </a:rPr>
              <a:t>REGRAS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1"/>
          <p:cNvSpPr/>
          <p:nvPr/>
        </p:nvSpPr>
        <p:spPr>
          <a:xfrm>
            <a:off x="5403960" y="3212640"/>
            <a:ext cx="16912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Como decidimos?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5" name="Connector 22"/>
          <p:cNvCxnSpPr/>
          <p:nvPr/>
        </p:nvCxnSpPr>
        <p:spPr>
          <a:xfrm>
            <a:off x="7333200" y="3364920"/>
            <a:ext cx="201600" cy="360"/>
          </a:xfrm>
          <a:prstGeom prst="straightConnector1">
            <a:avLst/>
          </a:prstGeom>
          <a:ln w="19050">
            <a:solidFill>
              <a:srgbClr val="5b6b86"/>
            </a:solidFill>
          </a:ln>
        </p:spPr>
      </p:cxnSp>
      <p:sp>
        <p:nvSpPr>
          <p:cNvPr id="206" name="Chevron 23"/>
          <p:cNvSpPr/>
          <p:nvPr/>
        </p:nvSpPr>
        <p:spPr>
          <a:xfrm>
            <a:off x="7461360" y="3291840"/>
            <a:ext cx="127800" cy="145800"/>
          </a:xfrm>
          <a:prstGeom prst="chevron">
            <a:avLst>
              <a:gd name="adj" fmla="val 50000"/>
            </a:avLst>
          </a:prstGeom>
          <a:solidFill>
            <a:srgbClr val="5b6b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7" name="Rounded Rectangle 24"/>
          <p:cNvSpPr/>
          <p:nvPr/>
        </p:nvSpPr>
        <p:spPr>
          <a:xfrm>
            <a:off x="7489080" y="2331720"/>
            <a:ext cx="20570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08" name="TextBox 25"/>
          <p:cNvSpPr/>
          <p:nvPr/>
        </p:nvSpPr>
        <p:spPr>
          <a:xfrm>
            <a:off x="7626240" y="2541960"/>
            <a:ext cx="1782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725ac1"/>
                </a:solidFill>
                <a:latin typeface="Lato"/>
              </a:rPr>
              <a:t>ALGORITMO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26"/>
          <p:cNvSpPr/>
          <p:nvPr/>
        </p:nvSpPr>
        <p:spPr>
          <a:xfrm>
            <a:off x="7671960" y="3212640"/>
            <a:ext cx="16912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Qual é a sequência?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0" name="Connector 27"/>
          <p:cNvCxnSpPr/>
          <p:nvPr/>
        </p:nvCxnSpPr>
        <p:spPr>
          <a:xfrm>
            <a:off x="9601200" y="3364920"/>
            <a:ext cx="201240" cy="360"/>
          </a:xfrm>
          <a:prstGeom prst="straightConnector1">
            <a:avLst/>
          </a:prstGeom>
          <a:ln w="19050">
            <a:solidFill>
              <a:srgbClr val="5b6b86"/>
            </a:solidFill>
          </a:ln>
        </p:spPr>
      </p:cxnSp>
      <p:sp>
        <p:nvSpPr>
          <p:cNvPr id="211" name="Chevron 28"/>
          <p:cNvSpPr/>
          <p:nvPr/>
        </p:nvSpPr>
        <p:spPr>
          <a:xfrm>
            <a:off x="9729360" y="3291840"/>
            <a:ext cx="127800" cy="145800"/>
          </a:xfrm>
          <a:prstGeom prst="chevron">
            <a:avLst>
              <a:gd name="adj" fmla="val 50000"/>
            </a:avLst>
          </a:prstGeom>
          <a:solidFill>
            <a:srgbClr val="5b6b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12" name="Rounded Rectangle 29"/>
          <p:cNvSpPr/>
          <p:nvPr/>
        </p:nvSpPr>
        <p:spPr>
          <a:xfrm>
            <a:off x="9756720" y="2331720"/>
            <a:ext cx="214848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13" name="TextBox 30"/>
          <p:cNvSpPr/>
          <p:nvPr/>
        </p:nvSpPr>
        <p:spPr>
          <a:xfrm>
            <a:off x="9893880" y="2541960"/>
            <a:ext cx="18741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2cb67d"/>
                </a:solidFill>
                <a:latin typeface="Lato"/>
              </a:rPr>
              <a:t>PROGRAMA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31"/>
          <p:cNvSpPr/>
          <p:nvPr/>
        </p:nvSpPr>
        <p:spPr>
          <a:xfrm>
            <a:off x="9939600" y="3212640"/>
            <a:ext cx="17827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Como isso vira código?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ounded Rectangle 32"/>
          <p:cNvSpPr/>
          <p:nvPr/>
        </p:nvSpPr>
        <p:spPr>
          <a:xfrm>
            <a:off x="1234440" y="4983480"/>
            <a:ext cx="9738000" cy="566640"/>
          </a:xfrm>
          <a:prstGeom prst="roundRect">
            <a:avLst>
              <a:gd name="adj" fmla="val 16667"/>
            </a:avLst>
          </a:prstGeom>
          <a:solidFill>
            <a:srgbClr val="eef7fc"/>
          </a:solidFill>
          <a:ln w="12700">
            <a:solidFill>
              <a:srgbClr val="d4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420" spc="-1" strike="noStrike">
                <a:solidFill>
                  <a:srgbClr val="14213d"/>
                </a:solidFill>
                <a:latin typeface="Lato"/>
              </a:rPr>
              <a:t>Exemplo: “monitorar uma medida” → receber leitura → guardar → comparar com uma regra → mostrar uma resposta.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3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8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219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220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221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222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223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Pensamento computacional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Quatro estratégias úteis antes de abrir o Scratch.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9"/>
          <p:cNvSpPr/>
          <p:nvPr/>
        </p:nvSpPr>
        <p:spPr>
          <a:xfrm>
            <a:off x="822960" y="2148840"/>
            <a:ext cx="242280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26" name="Oval 10"/>
          <p:cNvSpPr/>
          <p:nvPr/>
        </p:nvSpPr>
        <p:spPr>
          <a:xfrm>
            <a:off x="987480" y="2340720"/>
            <a:ext cx="456840" cy="456840"/>
          </a:xfrm>
          <a:prstGeom prst="ellipse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1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Box 11"/>
          <p:cNvSpPr/>
          <p:nvPr/>
        </p:nvSpPr>
        <p:spPr>
          <a:xfrm>
            <a:off x="987480" y="3029760"/>
            <a:ext cx="2057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Decompor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987480" y="3584520"/>
            <a:ext cx="201132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Quebrar o problema em partes menores.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ounded Rectangle 13"/>
          <p:cNvSpPr/>
          <p:nvPr/>
        </p:nvSpPr>
        <p:spPr>
          <a:xfrm>
            <a:off x="3566160" y="2148840"/>
            <a:ext cx="242280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0" name="Oval 14"/>
          <p:cNvSpPr/>
          <p:nvPr/>
        </p:nvSpPr>
        <p:spPr>
          <a:xfrm>
            <a:off x="3730680" y="2340720"/>
            <a:ext cx="456840" cy="456840"/>
          </a:xfrm>
          <a:prstGeom prst="ellipse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2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15"/>
          <p:cNvSpPr/>
          <p:nvPr/>
        </p:nvSpPr>
        <p:spPr>
          <a:xfrm>
            <a:off x="3730680" y="2900160"/>
            <a:ext cx="2057040" cy="55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Reconhecer padrões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6"/>
          <p:cNvSpPr/>
          <p:nvPr/>
        </p:nvSpPr>
        <p:spPr>
          <a:xfrm>
            <a:off x="3730680" y="3584520"/>
            <a:ext cx="201132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Perceber o que se repete entre situações.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ounded Rectangle 17"/>
          <p:cNvSpPr/>
          <p:nvPr/>
        </p:nvSpPr>
        <p:spPr>
          <a:xfrm>
            <a:off x="6309360" y="2148840"/>
            <a:ext cx="242280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4" name="Oval 18"/>
          <p:cNvSpPr/>
          <p:nvPr/>
        </p:nvSpPr>
        <p:spPr>
          <a:xfrm>
            <a:off x="6473880" y="2340720"/>
            <a:ext cx="456840" cy="45684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3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19"/>
          <p:cNvSpPr/>
          <p:nvPr/>
        </p:nvSpPr>
        <p:spPr>
          <a:xfrm>
            <a:off x="6473880" y="3029760"/>
            <a:ext cx="2057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Abstrair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6473880" y="3584520"/>
            <a:ext cx="201132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Ficar com os dados e regras que importam.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ounded Rectangle 21"/>
          <p:cNvSpPr/>
          <p:nvPr/>
        </p:nvSpPr>
        <p:spPr>
          <a:xfrm>
            <a:off x="9052560" y="2148840"/>
            <a:ext cx="242280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238" name="Oval 22"/>
          <p:cNvSpPr/>
          <p:nvPr/>
        </p:nvSpPr>
        <p:spPr>
          <a:xfrm>
            <a:off x="9217080" y="2340720"/>
            <a:ext cx="456840" cy="456840"/>
          </a:xfrm>
          <a:prstGeom prst="ellipse">
            <a:avLst/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4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Box 23"/>
          <p:cNvSpPr/>
          <p:nvPr/>
        </p:nvSpPr>
        <p:spPr>
          <a:xfrm>
            <a:off x="9217080" y="3029760"/>
            <a:ext cx="2057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Algoritmo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9217080" y="3584520"/>
            <a:ext cx="201132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Organizar uma sequência executável.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25"/>
          <p:cNvSpPr/>
          <p:nvPr/>
        </p:nvSpPr>
        <p:spPr>
          <a:xfrm>
            <a:off x="1417320" y="5074920"/>
            <a:ext cx="9326520" cy="5025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4213d"/>
                </a:solidFill>
                <a:latin typeface="Lato"/>
              </a:rPr>
              <a:t>No projeto final, vamos decompor o wearable em aquisição de dados, regras, interface e repetição.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26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8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6"/>
          <p:cNvSpPr/>
          <p:nvPr/>
        </p:nvSpPr>
        <p:spPr>
          <a:xfrm>
            <a:off x="749880" y="1115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114" strike="noStrike">
                <a:solidFill>
                  <a:srgbClr val="10b9f3"/>
                </a:solidFill>
                <a:latin typeface="Lato"/>
                <a:ea typeface="Lato"/>
              </a:rPr>
              <a:t>DIAGNÓSTICO RÁPIDO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7"/>
          <p:cNvSpPr/>
          <p:nvPr/>
        </p:nvSpPr>
        <p:spPr>
          <a:xfrm>
            <a:off x="731520" y="1481400"/>
            <a:ext cx="89146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Como ensinar um computador a receber um dado, analisar uma regra e responder?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8"/>
          <p:cNvSpPr/>
          <p:nvPr/>
        </p:nvSpPr>
        <p:spPr>
          <a:xfrm>
            <a:off x="749880" y="265176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620" spc="-1" strike="noStrike">
                <a:solidFill>
                  <a:srgbClr val="ced8ea"/>
                </a:solidFill>
                <a:latin typeface="Lato"/>
                <a:ea typeface="Lato"/>
              </a:rPr>
              <a:t>Em 2 minutos, proponha os passos em linguagem natural.</a:t>
            </a:r>
            <a:endParaRPr b="0" lang="pt-BR" sz="1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9"/>
          <p:cNvSpPr/>
          <p:nvPr/>
        </p:nvSpPr>
        <p:spPr>
          <a:xfrm>
            <a:off x="1078920" y="4133160"/>
            <a:ext cx="2577960" cy="1224720"/>
          </a:xfrm>
          <a:prstGeom prst="roundRect">
            <a:avLst>
              <a:gd name="adj" fmla="val 5970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1261800" y="4370760"/>
            <a:ext cx="221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10b9f3"/>
                </a:solidFill>
                <a:latin typeface="Lato"/>
                <a:ea typeface="Lato"/>
              </a:rPr>
              <a:t>Primeiro...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11"/>
          <p:cNvSpPr/>
          <p:nvPr/>
        </p:nvSpPr>
        <p:spPr>
          <a:xfrm>
            <a:off x="1261800" y="4773240"/>
            <a:ext cx="221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800" spc="-1" strike="noStrike">
                <a:solidFill>
                  <a:srgbClr val="7187b5"/>
                </a:solidFill>
                <a:latin typeface="Lato"/>
                <a:ea typeface="Lato"/>
              </a:rPr>
              <a:t>________________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12"/>
          <p:cNvSpPr/>
          <p:nvPr/>
        </p:nvSpPr>
        <p:spPr>
          <a:xfrm>
            <a:off x="4352400" y="4133160"/>
            <a:ext cx="2577960" cy="1224720"/>
          </a:xfrm>
          <a:prstGeom prst="roundRect">
            <a:avLst>
              <a:gd name="adj" fmla="val 5970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4535280" y="4370760"/>
            <a:ext cx="221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10b9f3"/>
                </a:solidFill>
                <a:latin typeface="Lato"/>
                <a:ea typeface="Lato"/>
              </a:rPr>
              <a:t>Depois...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4"/>
          <p:cNvSpPr/>
          <p:nvPr/>
        </p:nvSpPr>
        <p:spPr>
          <a:xfrm>
            <a:off x="4535280" y="4773240"/>
            <a:ext cx="221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800" spc="-1" strike="noStrike">
                <a:solidFill>
                  <a:srgbClr val="7187b5"/>
                </a:solidFill>
                <a:latin typeface="Lato"/>
                <a:ea typeface="Lato"/>
              </a:rPr>
              <a:t>________________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15"/>
          <p:cNvSpPr/>
          <p:nvPr/>
        </p:nvSpPr>
        <p:spPr>
          <a:xfrm>
            <a:off x="7626240" y="4133160"/>
            <a:ext cx="2577960" cy="1224720"/>
          </a:xfrm>
          <a:prstGeom prst="roundRect">
            <a:avLst>
              <a:gd name="adj" fmla="val 5970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7809120" y="4370760"/>
            <a:ext cx="221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10b9f3"/>
                </a:solidFill>
                <a:latin typeface="Lato"/>
                <a:ea typeface="Lato"/>
              </a:rPr>
              <a:t>Por fim...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7809120" y="4773240"/>
            <a:ext cx="221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800" spc="-1" strike="noStrike">
                <a:solidFill>
                  <a:srgbClr val="7187b5"/>
                </a:solidFill>
                <a:latin typeface="Lato"/>
                <a:ea typeface="Lato"/>
              </a:rPr>
              <a:t>________________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 type="sldNum" idx="11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9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 que é um algoritmo?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"/>
          <p:cNvSpPr/>
          <p:nvPr/>
        </p:nvSpPr>
        <p:spPr>
          <a:xfrm>
            <a:off x="868680" y="1920240"/>
            <a:ext cx="4982760" cy="2907000"/>
          </a:xfrm>
          <a:prstGeom prst="roundRect">
            <a:avLst>
              <a:gd name="adj" fmla="val 2516"/>
            </a:avLst>
          </a:prstGeom>
          <a:solidFill>
            <a:srgbClr val="eaf8fe"/>
          </a:solidFill>
          <a:ln w="12700">
            <a:solidFill>
              <a:srgbClr val="c7eaf9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1188720" y="2322720"/>
            <a:ext cx="3062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Algoritmo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1188720" y="2926080"/>
            <a:ext cx="418716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900" spc="-1" strike="noStrike">
                <a:solidFill>
                  <a:srgbClr val="14213d"/>
                </a:solidFill>
                <a:latin typeface="Lato"/>
                <a:ea typeface="Lato"/>
              </a:rPr>
              <a:t>é uma sequência finita e organizada de passos para resolver um problema.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6565320" y="196596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EXEMPLO COTIDIANO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5"/>
          <p:cNvSpPr/>
          <p:nvPr/>
        </p:nvSpPr>
        <p:spPr>
          <a:xfrm>
            <a:off x="6528960" y="2414160"/>
            <a:ext cx="47484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6602040" y="2477880"/>
            <a:ext cx="328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7187040" y="2441520"/>
            <a:ext cx="3218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Lato"/>
                <a:ea typeface="Lato"/>
              </a:rPr>
              <a:t>ferver água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8"/>
          <p:cNvSpPr/>
          <p:nvPr/>
        </p:nvSpPr>
        <p:spPr>
          <a:xfrm>
            <a:off x="6766560" y="2761200"/>
            <a:ext cx="360" cy="311040"/>
          </a:xfrm>
          <a:prstGeom prst="line">
            <a:avLst/>
          </a:prstGeom>
          <a:ln w="21590">
            <a:solidFill>
              <a:srgbClr val="b9c7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9"/>
          <p:cNvSpPr/>
          <p:nvPr/>
        </p:nvSpPr>
        <p:spPr>
          <a:xfrm>
            <a:off x="6528960" y="3081600"/>
            <a:ext cx="474840" cy="346680"/>
          </a:xfrm>
          <a:prstGeom prst="roundRect">
            <a:avLst>
              <a:gd name="adj" fmla="val 21053"/>
            </a:avLst>
          </a:prstGeom>
          <a:solidFill>
            <a:srgbClr val="dde6f3"/>
          </a:solidFill>
          <a:ln w="12700">
            <a:solidFill>
              <a:srgbClr val="dde6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10"/>
          <p:cNvSpPr/>
          <p:nvPr/>
        </p:nvSpPr>
        <p:spPr>
          <a:xfrm>
            <a:off x="6602040" y="3145680"/>
            <a:ext cx="328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  <a:ea typeface="Lato"/>
              </a:rPr>
              <a:t>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11"/>
          <p:cNvSpPr/>
          <p:nvPr/>
        </p:nvSpPr>
        <p:spPr>
          <a:xfrm>
            <a:off x="7187040" y="3108960"/>
            <a:ext cx="3218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Lato"/>
                <a:ea typeface="Lato"/>
              </a:rPr>
              <a:t>colocar o sachê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2"/>
          <p:cNvSpPr/>
          <p:nvPr/>
        </p:nvSpPr>
        <p:spPr>
          <a:xfrm>
            <a:off x="6766560" y="3429000"/>
            <a:ext cx="360" cy="310680"/>
          </a:xfrm>
          <a:prstGeom prst="line">
            <a:avLst/>
          </a:prstGeom>
          <a:ln w="21590">
            <a:solidFill>
              <a:srgbClr val="b9c7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3"/>
          <p:cNvSpPr/>
          <p:nvPr/>
        </p:nvSpPr>
        <p:spPr>
          <a:xfrm>
            <a:off x="6528960" y="3749040"/>
            <a:ext cx="474840" cy="346680"/>
          </a:xfrm>
          <a:prstGeom prst="roundRect">
            <a:avLst>
              <a:gd name="adj" fmla="val 21053"/>
            </a:avLst>
          </a:prstGeom>
          <a:solidFill>
            <a:srgbClr val="dde6f3"/>
          </a:solidFill>
          <a:ln w="12700">
            <a:solidFill>
              <a:srgbClr val="dde6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14"/>
          <p:cNvSpPr/>
          <p:nvPr/>
        </p:nvSpPr>
        <p:spPr>
          <a:xfrm>
            <a:off x="6602040" y="3813120"/>
            <a:ext cx="328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  <a:ea typeface="Lato"/>
              </a:rPr>
              <a:t>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15"/>
          <p:cNvSpPr/>
          <p:nvPr/>
        </p:nvSpPr>
        <p:spPr>
          <a:xfrm>
            <a:off x="7187040" y="3776400"/>
            <a:ext cx="3218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Lato"/>
                <a:ea typeface="Lato"/>
              </a:rPr>
              <a:t>aguardar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6"/>
          <p:cNvSpPr/>
          <p:nvPr/>
        </p:nvSpPr>
        <p:spPr>
          <a:xfrm>
            <a:off x="6766560" y="4096440"/>
            <a:ext cx="360" cy="310680"/>
          </a:xfrm>
          <a:prstGeom prst="line">
            <a:avLst/>
          </a:prstGeom>
          <a:ln w="21590">
            <a:solidFill>
              <a:srgbClr val="b9c7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7"/>
          <p:cNvSpPr/>
          <p:nvPr/>
        </p:nvSpPr>
        <p:spPr>
          <a:xfrm>
            <a:off x="6528960" y="4416480"/>
            <a:ext cx="474840" cy="346680"/>
          </a:xfrm>
          <a:prstGeom prst="roundRect">
            <a:avLst>
              <a:gd name="adj" fmla="val 21053"/>
            </a:avLst>
          </a:prstGeom>
          <a:solidFill>
            <a:srgbClr val="dde6f3"/>
          </a:solidFill>
          <a:ln w="12700">
            <a:solidFill>
              <a:srgbClr val="dde6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18"/>
          <p:cNvSpPr/>
          <p:nvPr/>
        </p:nvSpPr>
        <p:spPr>
          <a:xfrm>
            <a:off x="6602040" y="4480560"/>
            <a:ext cx="328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071a4a"/>
                </a:solidFill>
                <a:latin typeface="Lato"/>
                <a:ea typeface="Lato"/>
              </a:rPr>
              <a:t>4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19"/>
          <p:cNvSpPr/>
          <p:nvPr/>
        </p:nvSpPr>
        <p:spPr>
          <a:xfrm>
            <a:off x="7187040" y="4443840"/>
            <a:ext cx="3218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80" spc="-1" strike="noStrike">
                <a:solidFill>
                  <a:srgbClr val="071a4a"/>
                </a:solidFill>
                <a:latin typeface="Lato"/>
                <a:ea typeface="Lato"/>
              </a:rPr>
              <a:t>servir</a:t>
            </a:r>
            <a:endParaRPr b="0" lang="pt-BR" sz="14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20"/>
          <p:cNvSpPr/>
          <p:nvPr/>
        </p:nvSpPr>
        <p:spPr>
          <a:xfrm>
            <a:off x="1316880" y="5212080"/>
            <a:ext cx="9554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20" spc="-1" strike="noStrike">
                <a:solidFill>
                  <a:srgbClr val="5b6b86"/>
                </a:solidFill>
                <a:latin typeface="Lato"/>
                <a:ea typeface="Lato"/>
              </a:rPr>
              <a:t>Quebre o problema até cada passo ficar claro o suficiente para ser executado.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1"/>
          <p:cNvSpPr>
            <a:spLocks noGrp="1"/>
          </p:cNvSpPr>
          <p:nvPr>
            <p:ph type="sldNum" idx="12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10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Decompor um problema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Um projeto maior fica mais simples quando quebrado em pequenas etapas.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2"/>
          <p:cNvSpPr/>
          <p:nvPr/>
        </p:nvSpPr>
        <p:spPr>
          <a:xfrm>
            <a:off x="4754880" y="1974960"/>
            <a:ext cx="2678400" cy="2971080"/>
          </a:xfrm>
          <a:prstGeom prst="roundRect">
            <a:avLst>
              <a:gd name="adj" fmla="val 2730"/>
            </a:avLst>
          </a:prstGeom>
          <a:solidFill>
            <a:srgbClr val="0f2a64"/>
          </a:solidFill>
          <a:ln w="12700">
            <a:solidFill>
              <a:srgbClr val="071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3"/>
          <p:cNvSpPr/>
          <p:nvPr/>
        </p:nvSpPr>
        <p:spPr>
          <a:xfrm>
            <a:off x="5614560" y="2450520"/>
            <a:ext cx="959400" cy="1443960"/>
          </a:xfrm>
          <a:prstGeom prst="roundRect">
            <a:avLst>
              <a:gd name="adj" fmla="val 17143"/>
            </a:avLst>
          </a:prstGeom>
          <a:solidFill>
            <a:srgbClr val="132f71"/>
          </a:solidFill>
          <a:ln w="2540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4"/>
          <p:cNvSpPr/>
          <p:nvPr/>
        </p:nvSpPr>
        <p:spPr>
          <a:xfrm>
            <a:off x="5760720" y="2834640"/>
            <a:ext cx="666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6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52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5010840" y="4160520"/>
            <a:ext cx="2166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20" spc="-1" strike="noStrike">
                <a:solidFill>
                  <a:srgbClr val="d4deef"/>
                </a:solidFill>
                <a:latin typeface="Lato"/>
                <a:ea typeface="Lato"/>
              </a:rPr>
              <a:t>wearable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20" spc="-1" strike="noStrike">
                <a:solidFill>
                  <a:srgbClr val="d4deef"/>
                </a:solidFill>
                <a:latin typeface="Lato"/>
                <a:ea typeface="Lato"/>
              </a:rPr>
              <a:t>simulado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6"/>
          <p:cNvSpPr/>
          <p:nvPr/>
        </p:nvSpPr>
        <p:spPr>
          <a:xfrm>
            <a:off x="822960" y="2103120"/>
            <a:ext cx="23400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7"/>
          <p:cNvSpPr/>
          <p:nvPr/>
        </p:nvSpPr>
        <p:spPr>
          <a:xfrm>
            <a:off x="987480" y="2404800"/>
            <a:ext cx="529560" cy="529560"/>
          </a:xfrm>
          <a:prstGeom prst="ellipse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8"/>
          <p:cNvSpPr/>
          <p:nvPr/>
        </p:nvSpPr>
        <p:spPr>
          <a:xfrm>
            <a:off x="987480" y="2441520"/>
            <a:ext cx="529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1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9"/>
          <p:cNvSpPr/>
          <p:nvPr/>
        </p:nvSpPr>
        <p:spPr>
          <a:xfrm>
            <a:off x="1645920" y="2505600"/>
            <a:ext cx="12978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2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Receber valor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0"/>
          <p:cNvSpPr/>
          <p:nvPr/>
        </p:nvSpPr>
        <p:spPr>
          <a:xfrm>
            <a:off x="822960" y="3895200"/>
            <a:ext cx="23400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1"/>
          <p:cNvSpPr/>
          <p:nvPr/>
        </p:nvSpPr>
        <p:spPr>
          <a:xfrm>
            <a:off x="987480" y="4197240"/>
            <a:ext cx="529560" cy="529560"/>
          </a:xfrm>
          <a:prstGeom prst="ellipse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12"/>
          <p:cNvSpPr/>
          <p:nvPr/>
        </p:nvSpPr>
        <p:spPr>
          <a:xfrm>
            <a:off x="987480" y="4233600"/>
            <a:ext cx="529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13"/>
          <p:cNvSpPr/>
          <p:nvPr/>
        </p:nvSpPr>
        <p:spPr>
          <a:xfrm>
            <a:off x="1645920" y="4297680"/>
            <a:ext cx="12978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2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Armazenar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4"/>
          <p:cNvSpPr/>
          <p:nvPr/>
        </p:nvSpPr>
        <p:spPr>
          <a:xfrm>
            <a:off x="8622720" y="2103120"/>
            <a:ext cx="23400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5"/>
          <p:cNvSpPr/>
          <p:nvPr/>
        </p:nvSpPr>
        <p:spPr>
          <a:xfrm>
            <a:off x="8787240" y="2404800"/>
            <a:ext cx="529560" cy="529560"/>
          </a:xfrm>
          <a:prstGeom prst="ellipse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16"/>
          <p:cNvSpPr/>
          <p:nvPr/>
        </p:nvSpPr>
        <p:spPr>
          <a:xfrm>
            <a:off x="8787240" y="2441520"/>
            <a:ext cx="529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17"/>
          <p:cNvSpPr/>
          <p:nvPr/>
        </p:nvSpPr>
        <p:spPr>
          <a:xfrm>
            <a:off x="9445680" y="2505600"/>
            <a:ext cx="12978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20" spc="-1" strike="noStrike">
                <a:solidFill>
                  <a:srgbClr val="071a4a"/>
                </a:solidFill>
                <a:latin typeface="Inter Display"/>
                <a:ea typeface="Inter Display"/>
              </a:rPr>
              <a:t>Comparar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8"/>
          <p:cNvSpPr/>
          <p:nvPr/>
        </p:nvSpPr>
        <p:spPr>
          <a:xfrm>
            <a:off x="8622720" y="3895200"/>
            <a:ext cx="2340000" cy="12337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9"/>
          <p:cNvSpPr/>
          <p:nvPr/>
        </p:nvSpPr>
        <p:spPr>
          <a:xfrm>
            <a:off x="8787240" y="4197240"/>
            <a:ext cx="529560" cy="529560"/>
          </a:xfrm>
          <a:prstGeom prst="ellipse">
            <a:avLst/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20"/>
          <p:cNvSpPr/>
          <p:nvPr/>
        </p:nvSpPr>
        <p:spPr>
          <a:xfrm>
            <a:off x="8787240" y="4233600"/>
            <a:ext cx="529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21"/>
          <p:cNvSpPr/>
          <p:nvPr/>
        </p:nvSpPr>
        <p:spPr>
          <a:xfrm>
            <a:off x="9445680" y="4297680"/>
            <a:ext cx="12978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2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Responder</a:t>
            </a:r>
            <a:endParaRPr b="0" lang="pt-BR" sz="1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2"/>
          <p:cNvSpPr/>
          <p:nvPr/>
        </p:nvSpPr>
        <p:spPr>
          <a:xfrm>
            <a:off x="3291840" y="2724840"/>
            <a:ext cx="1216080" cy="360"/>
          </a:xfrm>
          <a:prstGeom prst="line">
            <a:avLst/>
          </a:prstGeom>
          <a:ln w="25400">
            <a:solidFill>
              <a:srgbClr val="10b9f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3"/>
          <p:cNvSpPr/>
          <p:nvPr/>
        </p:nvSpPr>
        <p:spPr>
          <a:xfrm>
            <a:off x="3291840" y="4516920"/>
            <a:ext cx="1216080" cy="360"/>
          </a:xfrm>
          <a:prstGeom prst="line">
            <a:avLst/>
          </a:prstGeom>
          <a:ln w="25400">
            <a:solidFill>
              <a:srgbClr val="f36b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4"/>
          <p:cNvSpPr/>
          <p:nvPr/>
        </p:nvSpPr>
        <p:spPr>
          <a:xfrm flipH="1">
            <a:off x="7589520" y="2724840"/>
            <a:ext cx="1033200" cy="360"/>
          </a:xfrm>
          <a:prstGeom prst="line">
            <a:avLst/>
          </a:prstGeom>
          <a:ln w="25400">
            <a:solidFill>
              <a:srgbClr val="e72b76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5"/>
          <p:cNvSpPr/>
          <p:nvPr/>
        </p:nvSpPr>
        <p:spPr>
          <a:xfrm flipH="1">
            <a:off x="7589520" y="4516920"/>
            <a:ext cx="1033200" cy="360"/>
          </a:xfrm>
          <a:prstGeom prst="line">
            <a:avLst/>
          </a:prstGeom>
          <a:ln w="25400">
            <a:solidFill>
              <a:srgbClr val="8157b1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sldNum" idx="13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11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Sequência importa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O mesmo conjunto de ações em ordens diferentes pode produzir resultados diferentes.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"/>
          <p:cNvSpPr/>
          <p:nvPr/>
        </p:nvSpPr>
        <p:spPr>
          <a:xfrm>
            <a:off x="960120" y="2148840"/>
            <a:ext cx="4296960" cy="297108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"/>
          <p:cNvSpPr/>
          <p:nvPr/>
        </p:nvSpPr>
        <p:spPr>
          <a:xfrm>
            <a:off x="6537960" y="2148840"/>
            <a:ext cx="4296960" cy="2971080"/>
          </a:xfrm>
          <a:prstGeom prst="roundRect">
            <a:avLst>
              <a:gd name="adj" fmla="val 2462"/>
            </a:avLst>
          </a:prstGeom>
          <a:solidFill>
            <a:srgbClr val="fff6f6"/>
          </a:solidFill>
          <a:ln w="12700">
            <a:solidFill>
              <a:srgbClr val="f2d1d1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4"/>
          <p:cNvSpPr/>
          <p:nvPr/>
        </p:nvSpPr>
        <p:spPr>
          <a:xfrm>
            <a:off x="1179720" y="2414160"/>
            <a:ext cx="1599480" cy="346680"/>
          </a:xfrm>
          <a:prstGeom prst="roundRect">
            <a:avLst>
              <a:gd name="adj" fmla="val 21053"/>
            </a:avLst>
          </a:prstGeom>
          <a:solidFill>
            <a:srgbClr val="58c765"/>
          </a:solidFill>
          <a:ln w="12700">
            <a:solidFill>
              <a:srgbClr val="58c76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5"/>
          <p:cNvSpPr/>
          <p:nvPr/>
        </p:nvSpPr>
        <p:spPr>
          <a:xfrm>
            <a:off x="1252800" y="2477880"/>
            <a:ext cx="1453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ORDEM COERENTE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6"/>
          <p:cNvSpPr/>
          <p:nvPr/>
        </p:nvSpPr>
        <p:spPr>
          <a:xfrm>
            <a:off x="6757560" y="2414160"/>
            <a:ext cx="1901160" cy="346680"/>
          </a:xfrm>
          <a:prstGeom prst="roundRect">
            <a:avLst>
              <a:gd name="adj" fmla="val 21053"/>
            </a:avLst>
          </a:prstGeom>
          <a:solidFill>
            <a:srgbClr val="e85b5b"/>
          </a:solidFill>
          <a:ln w="12700">
            <a:solidFill>
              <a:srgbClr val="e85b5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7"/>
          <p:cNvSpPr/>
          <p:nvPr/>
        </p:nvSpPr>
        <p:spPr>
          <a:xfrm>
            <a:off x="6830640" y="2477880"/>
            <a:ext cx="1755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ORDEM PROBLEMÁTICA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8"/>
          <p:cNvSpPr/>
          <p:nvPr/>
        </p:nvSpPr>
        <p:spPr>
          <a:xfrm>
            <a:off x="1371600" y="299916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e7f6ea"/>
          </a:solidFill>
          <a:ln w="12700">
            <a:solidFill>
              <a:srgbClr val="e7f6e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 9"/>
          <p:cNvSpPr/>
          <p:nvPr/>
        </p:nvSpPr>
        <p:spPr>
          <a:xfrm>
            <a:off x="1444680" y="306324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58c765"/>
                </a:solidFill>
                <a:latin typeface="Lato"/>
                <a:ea typeface="Lato"/>
              </a:rPr>
              <a:t>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10"/>
          <p:cNvSpPr/>
          <p:nvPr/>
        </p:nvSpPr>
        <p:spPr>
          <a:xfrm>
            <a:off x="1965960" y="302652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receber valor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11"/>
          <p:cNvSpPr/>
          <p:nvPr/>
        </p:nvSpPr>
        <p:spPr>
          <a:xfrm>
            <a:off x="1499760" y="3401640"/>
            <a:ext cx="163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90a1b8"/>
                </a:solidFill>
                <a:latin typeface="Lato"/>
                <a:ea typeface="Lato"/>
              </a:rPr>
              <a:t>↓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12"/>
          <p:cNvSpPr/>
          <p:nvPr/>
        </p:nvSpPr>
        <p:spPr>
          <a:xfrm>
            <a:off x="1371600" y="359352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e7f6ea"/>
          </a:solidFill>
          <a:ln w="12700">
            <a:solidFill>
              <a:srgbClr val="e7f6e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13"/>
          <p:cNvSpPr/>
          <p:nvPr/>
        </p:nvSpPr>
        <p:spPr>
          <a:xfrm>
            <a:off x="1444680" y="365760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58c765"/>
                </a:solidFill>
                <a:latin typeface="Lato"/>
                <a:ea typeface="Lato"/>
              </a:rPr>
              <a:t>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14"/>
          <p:cNvSpPr/>
          <p:nvPr/>
        </p:nvSpPr>
        <p:spPr>
          <a:xfrm>
            <a:off x="1965960" y="362088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armazenar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15"/>
          <p:cNvSpPr/>
          <p:nvPr/>
        </p:nvSpPr>
        <p:spPr>
          <a:xfrm>
            <a:off x="1499760" y="3996000"/>
            <a:ext cx="163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90a1b8"/>
                </a:solidFill>
                <a:latin typeface="Lato"/>
                <a:ea typeface="Lato"/>
              </a:rPr>
              <a:t>↓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16"/>
          <p:cNvSpPr/>
          <p:nvPr/>
        </p:nvSpPr>
        <p:spPr>
          <a:xfrm>
            <a:off x="1371600" y="418788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e7f6ea"/>
          </a:solidFill>
          <a:ln w="12700">
            <a:solidFill>
              <a:srgbClr val="e7f6e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17"/>
          <p:cNvSpPr/>
          <p:nvPr/>
        </p:nvSpPr>
        <p:spPr>
          <a:xfrm>
            <a:off x="1444680" y="425196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58c765"/>
                </a:solidFill>
                <a:latin typeface="Lato"/>
                <a:ea typeface="Lato"/>
              </a:rPr>
              <a:t>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18"/>
          <p:cNvSpPr/>
          <p:nvPr/>
        </p:nvSpPr>
        <p:spPr>
          <a:xfrm>
            <a:off x="1965960" y="421524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comparar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9"/>
          <p:cNvSpPr/>
          <p:nvPr/>
        </p:nvSpPr>
        <p:spPr>
          <a:xfrm>
            <a:off x="6949440" y="299916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fce7e7"/>
          </a:solidFill>
          <a:ln w="12700">
            <a:solidFill>
              <a:srgbClr val="fce7e7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20"/>
          <p:cNvSpPr/>
          <p:nvPr/>
        </p:nvSpPr>
        <p:spPr>
          <a:xfrm>
            <a:off x="7022520" y="306324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e85b5b"/>
                </a:solidFill>
                <a:latin typeface="Lato"/>
                <a:ea typeface="Lato"/>
              </a:rPr>
              <a:t>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21"/>
          <p:cNvSpPr/>
          <p:nvPr/>
        </p:nvSpPr>
        <p:spPr>
          <a:xfrm>
            <a:off x="7543800" y="302652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comparar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22"/>
          <p:cNvSpPr/>
          <p:nvPr/>
        </p:nvSpPr>
        <p:spPr>
          <a:xfrm>
            <a:off x="7077600" y="3401640"/>
            <a:ext cx="163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90a1b8"/>
                </a:solidFill>
                <a:latin typeface="Lato"/>
                <a:ea typeface="Lato"/>
              </a:rPr>
              <a:t>↓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23"/>
          <p:cNvSpPr/>
          <p:nvPr/>
        </p:nvSpPr>
        <p:spPr>
          <a:xfrm>
            <a:off x="6949440" y="359352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fce7e7"/>
          </a:solidFill>
          <a:ln w="12700">
            <a:solidFill>
              <a:srgbClr val="fce7e7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24"/>
          <p:cNvSpPr/>
          <p:nvPr/>
        </p:nvSpPr>
        <p:spPr>
          <a:xfrm>
            <a:off x="7022520" y="365760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e85b5b"/>
                </a:solidFill>
                <a:latin typeface="Lato"/>
                <a:ea typeface="Lato"/>
              </a:rPr>
              <a:t>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25"/>
          <p:cNvSpPr/>
          <p:nvPr/>
        </p:nvSpPr>
        <p:spPr>
          <a:xfrm>
            <a:off x="7543800" y="362088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receber valor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26"/>
          <p:cNvSpPr/>
          <p:nvPr/>
        </p:nvSpPr>
        <p:spPr>
          <a:xfrm>
            <a:off x="7077600" y="3996000"/>
            <a:ext cx="163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90a1b8"/>
                </a:solidFill>
                <a:latin typeface="Lato"/>
                <a:ea typeface="Lato"/>
              </a:rPr>
              <a:t>↓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7"/>
          <p:cNvSpPr/>
          <p:nvPr/>
        </p:nvSpPr>
        <p:spPr>
          <a:xfrm>
            <a:off x="6949440" y="4187880"/>
            <a:ext cx="429120" cy="346680"/>
          </a:xfrm>
          <a:prstGeom prst="roundRect">
            <a:avLst>
              <a:gd name="adj" fmla="val 21053"/>
            </a:avLst>
          </a:prstGeom>
          <a:solidFill>
            <a:srgbClr val="fce7e7"/>
          </a:solidFill>
          <a:ln w="12700">
            <a:solidFill>
              <a:srgbClr val="fce7e7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28"/>
          <p:cNvSpPr/>
          <p:nvPr/>
        </p:nvSpPr>
        <p:spPr>
          <a:xfrm>
            <a:off x="7022520" y="4251960"/>
            <a:ext cx="282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e85b5b"/>
                </a:solidFill>
                <a:latin typeface="Lato"/>
                <a:ea typeface="Lato"/>
              </a:rPr>
              <a:t>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29"/>
          <p:cNvSpPr/>
          <p:nvPr/>
        </p:nvSpPr>
        <p:spPr>
          <a:xfrm>
            <a:off x="7543800" y="4215240"/>
            <a:ext cx="248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armazenar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30"/>
          <p:cNvSpPr/>
          <p:nvPr/>
        </p:nvSpPr>
        <p:spPr>
          <a:xfrm>
            <a:off x="1938600" y="5440680"/>
            <a:ext cx="8366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20" spc="-1" strike="noStrike">
                <a:solidFill>
                  <a:srgbClr val="071a4a"/>
                </a:solidFill>
                <a:latin typeface="Lato"/>
                <a:ea typeface="Lato"/>
              </a:rPr>
              <a:t>Pergunta: o que o programa estaria comparando antes de receber um valor?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1"/>
          <p:cNvSpPr>
            <a:spLocks noGrp="1"/>
          </p:cNvSpPr>
          <p:nvPr>
            <p:ph type="sldNum" idx="14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12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4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345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346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347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348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349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Antes dos blocos: escreva a lógica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Pseudocódigo ajuda a verificar a ideia sem se preocupar com a sintaxe.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9"/>
          <p:cNvSpPr/>
          <p:nvPr/>
        </p:nvSpPr>
        <p:spPr>
          <a:xfrm>
            <a:off x="868680" y="1993320"/>
            <a:ext cx="18284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PSEUDOCÓDIGO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Oval 10"/>
          <p:cNvSpPr/>
          <p:nvPr/>
        </p:nvSpPr>
        <p:spPr>
          <a:xfrm>
            <a:off x="914400" y="2414160"/>
            <a:ext cx="347040" cy="347040"/>
          </a:xfrm>
          <a:prstGeom prst="ellipse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Inter Display"/>
              </a:rPr>
              <a:t>1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11"/>
          <p:cNvSpPr/>
          <p:nvPr/>
        </p:nvSpPr>
        <p:spPr>
          <a:xfrm>
            <a:off x="1389960" y="2455200"/>
            <a:ext cx="4754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</a:rPr>
              <a:t>receber frequência cardíaca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Oval 12"/>
          <p:cNvSpPr/>
          <p:nvPr/>
        </p:nvSpPr>
        <p:spPr>
          <a:xfrm>
            <a:off x="914400" y="3017520"/>
            <a:ext cx="347040" cy="347040"/>
          </a:xfrm>
          <a:prstGeom prst="ellipse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Inter Display"/>
              </a:rPr>
              <a:t>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Box 13"/>
          <p:cNvSpPr/>
          <p:nvPr/>
        </p:nvSpPr>
        <p:spPr>
          <a:xfrm>
            <a:off x="1389960" y="3058560"/>
            <a:ext cx="4754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</a:rPr>
              <a:t>guardar em freqCardiaca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Oval 14"/>
          <p:cNvSpPr/>
          <p:nvPr/>
        </p:nvSpPr>
        <p:spPr>
          <a:xfrm>
            <a:off x="914400" y="3620880"/>
            <a:ext cx="347040" cy="347040"/>
          </a:xfrm>
          <a:prstGeom prst="ellipse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Inter Display"/>
              </a:rPr>
              <a:t>3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Box 15"/>
          <p:cNvSpPr/>
          <p:nvPr/>
        </p:nvSpPr>
        <p:spPr>
          <a:xfrm>
            <a:off x="1389960" y="3662280"/>
            <a:ext cx="4754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</a:rPr>
              <a:t>se freqCardiaca &lt; 60 → mostrar “abaixo”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Oval 16"/>
          <p:cNvSpPr/>
          <p:nvPr/>
        </p:nvSpPr>
        <p:spPr>
          <a:xfrm>
            <a:off x="914400" y="4224600"/>
            <a:ext cx="347040" cy="347040"/>
          </a:xfrm>
          <a:prstGeom prst="ellipse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Inter Display"/>
              </a:rPr>
              <a:t>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17"/>
          <p:cNvSpPr/>
          <p:nvPr/>
        </p:nvSpPr>
        <p:spPr>
          <a:xfrm>
            <a:off x="1389960" y="4265640"/>
            <a:ext cx="4754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</a:rPr>
              <a:t>senão, se ≤ 100 → mostrar “alvo”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Oval 18"/>
          <p:cNvSpPr/>
          <p:nvPr/>
        </p:nvSpPr>
        <p:spPr>
          <a:xfrm>
            <a:off x="914400" y="4827960"/>
            <a:ext cx="347040" cy="347040"/>
          </a:xfrm>
          <a:prstGeom prst="ellipse">
            <a:avLst/>
          </a:prstGeom>
          <a:solidFill>
            <a:srgbClr val="07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fffff"/>
                </a:solidFill>
                <a:latin typeface="Inter Display"/>
              </a:rPr>
              <a:t>5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Box 19"/>
          <p:cNvSpPr/>
          <p:nvPr/>
        </p:nvSpPr>
        <p:spPr>
          <a:xfrm>
            <a:off x="1389960" y="4869000"/>
            <a:ext cx="47545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</a:rPr>
              <a:t>senão → mostrar “acima”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ounded Rectangle 20"/>
          <p:cNvSpPr/>
          <p:nvPr/>
        </p:nvSpPr>
        <p:spPr>
          <a:xfrm>
            <a:off x="6629400" y="2148840"/>
            <a:ext cx="4480200" cy="3337200"/>
          </a:xfrm>
          <a:prstGeom prst="roundRect">
            <a:avLst>
              <a:gd name="adj" fmla="val 16667"/>
            </a:avLst>
          </a:prstGeom>
          <a:solidFill>
            <a:srgbClr val="eef7fc"/>
          </a:solidFill>
          <a:ln w="12700">
            <a:solidFill>
              <a:srgbClr val="cf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363" name="TextBox 21"/>
          <p:cNvSpPr/>
          <p:nvPr/>
        </p:nvSpPr>
        <p:spPr>
          <a:xfrm>
            <a:off x="6967800" y="2468880"/>
            <a:ext cx="20113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Ideia importante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2"/>
          <p:cNvSpPr/>
          <p:nvPr/>
        </p:nvSpPr>
        <p:spPr>
          <a:xfrm>
            <a:off x="6967800" y="2971800"/>
            <a:ext cx="3702960" cy="14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O computador não “entende saúde”.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Ele executa operações sobre dados conforme as regras que programamos.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23"/>
          <p:cNvSpPr/>
          <p:nvPr/>
        </p:nvSpPr>
        <p:spPr>
          <a:xfrm>
            <a:off x="6967800" y="4343400"/>
            <a:ext cx="361152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00" spc="-1" strike="noStrike">
                <a:solidFill>
                  <a:srgbClr val="5b6b86"/>
                </a:solidFill>
                <a:latin typeface="Lato"/>
              </a:rPr>
              <a:t>Por isso, qualidade da regra e qualidade dos dados importam.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24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13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Entrada, processamento e saída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Fluxo do projeto condutor do encontro.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"/>
          <p:cNvSpPr/>
          <p:nvPr/>
        </p:nvSpPr>
        <p:spPr>
          <a:xfrm>
            <a:off x="786240" y="2487240"/>
            <a:ext cx="1919520" cy="1956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3"/>
          <p:cNvSpPr/>
          <p:nvPr/>
        </p:nvSpPr>
        <p:spPr>
          <a:xfrm>
            <a:off x="951120" y="2688480"/>
            <a:ext cx="1599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ENTRADA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4"/>
          <p:cNvSpPr/>
          <p:nvPr/>
        </p:nvSpPr>
        <p:spPr>
          <a:xfrm>
            <a:off x="951120" y="3200400"/>
            <a:ext cx="15904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FC sintética (bpm)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ex.: 78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5"/>
          <p:cNvSpPr/>
          <p:nvPr/>
        </p:nvSpPr>
        <p:spPr>
          <a:xfrm>
            <a:off x="2779560" y="3465360"/>
            <a:ext cx="887040" cy="360"/>
          </a:xfrm>
          <a:prstGeom prst="line">
            <a:avLst/>
          </a:prstGeom>
          <a:ln w="2921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6"/>
          <p:cNvSpPr/>
          <p:nvPr/>
        </p:nvSpPr>
        <p:spPr>
          <a:xfrm>
            <a:off x="3136320" y="2487240"/>
            <a:ext cx="1919520" cy="1956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7"/>
          <p:cNvSpPr/>
          <p:nvPr/>
        </p:nvSpPr>
        <p:spPr>
          <a:xfrm>
            <a:off x="3300840" y="2688480"/>
            <a:ext cx="1599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ARMAZENAR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8"/>
          <p:cNvSpPr/>
          <p:nvPr/>
        </p:nvSpPr>
        <p:spPr>
          <a:xfrm>
            <a:off x="3300840" y="3200400"/>
            <a:ext cx="15904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Inter Display"/>
                <a:ea typeface="Inter Display"/>
              </a:rPr>
              <a:t>freqCardiaca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9"/>
          <p:cNvSpPr/>
          <p:nvPr/>
        </p:nvSpPr>
        <p:spPr>
          <a:xfrm>
            <a:off x="5129640" y="3465360"/>
            <a:ext cx="887040" cy="360"/>
          </a:xfrm>
          <a:prstGeom prst="line">
            <a:avLst/>
          </a:prstGeom>
          <a:ln w="2921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0"/>
          <p:cNvSpPr/>
          <p:nvPr/>
        </p:nvSpPr>
        <p:spPr>
          <a:xfrm>
            <a:off x="5623560" y="2487240"/>
            <a:ext cx="1919520" cy="1956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 11"/>
          <p:cNvSpPr/>
          <p:nvPr/>
        </p:nvSpPr>
        <p:spPr>
          <a:xfrm>
            <a:off x="5788080" y="2688480"/>
            <a:ext cx="1599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72b76"/>
                </a:solidFill>
                <a:latin typeface="Lato"/>
                <a:ea typeface="Lato"/>
              </a:rPr>
              <a:t>PROCESSAR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12"/>
          <p:cNvSpPr/>
          <p:nvPr/>
        </p:nvSpPr>
        <p:spPr>
          <a:xfrm>
            <a:off x="5788080" y="3200400"/>
            <a:ext cx="15904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comparar com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60 e 100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3"/>
          <p:cNvSpPr/>
          <p:nvPr/>
        </p:nvSpPr>
        <p:spPr>
          <a:xfrm>
            <a:off x="7616880" y="3465360"/>
            <a:ext cx="887040" cy="360"/>
          </a:xfrm>
          <a:prstGeom prst="line">
            <a:avLst/>
          </a:prstGeom>
          <a:ln w="2921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4"/>
          <p:cNvSpPr/>
          <p:nvPr/>
        </p:nvSpPr>
        <p:spPr>
          <a:xfrm>
            <a:off x="8632080" y="2487240"/>
            <a:ext cx="1919520" cy="1956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15"/>
          <p:cNvSpPr/>
          <p:nvPr/>
        </p:nvSpPr>
        <p:spPr>
          <a:xfrm>
            <a:off x="8796600" y="2688480"/>
            <a:ext cx="1599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8157b1"/>
                </a:solidFill>
                <a:latin typeface="Lato"/>
                <a:ea typeface="Lato"/>
              </a:rPr>
              <a:t>SAÍDA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16"/>
          <p:cNvSpPr/>
          <p:nvPr/>
        </p:nvSpPr>
        <p:spPr>
          <a:xfrm>
            <a:off x="8796600" y="3200400"/>
            <a:ext cx="15904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abaixo / alvo /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Inter Display"/>
              </a:rPr>
              <a:t>acima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7"/>
          <p:cNvSpPr/>
          <p:nvPr/>
        </p:nvSpPr>
        <p:spPr>
          <a:xfrm>
            <a:off x="1938600" y="4919400"/>
            <a:ext cx="8320320" cy="685080"/>
          </a:xfrm>
          <a:prstGeom prst="roundRect">
            <a:avLst>
              <a:gd name="adj" fmla="val 10667"/>
            </a:avLst>
          </a:prstGeom>
          <a:solidFill>
            <a:srgbClr val="fff6ea"/>
          </a:solidFill>
          <a:ln w="12700">
            <a:solidFill>
              <a:srgbClr val="f8d6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18"/>
          <p:cNvSpPr/>
          <p:nvPr/>
        </p:nvSpPr>
        <p:spPr>
          <a:xfrm>
            <a:off x="2167200" y="5111640"/>
            <a:ext cx="7863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70" spc="-1" strike="noStrike">
                <a:solidFill>
                  <a:srgbClr val="82450c"/>
                </a:solidFill>
                <a:latin typeface="Lato"/>
                <a:ea typeface="Lato"/>
              </a:rPr>
              <a:t>60 e 100 são limites usados apenas para o exercício de programação. Não constituem orientação clínica.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1"/>
          <p:cNvSpPr>
            <a:spLocks noGrp="1"/>
          </p:cNvSpPr>
          <p:nvPr>
            <p:ph type="sldNum" idx="15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14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Conhecendo o Scratch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1"/>
          <p:cNvSpPr/>
          <p:nvPr/>
        </p:nvSpPr>
        <p:spPr>
          <a:xfrm>
            <a:off x="731520" y="1444680"/>
            <a:ext cx="4128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Quatro áreas para localizar antes de começar.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"/>
          <p:cNvSpPr/>
          <p:nvPr/>
        </p:nvSpPr>
        <p:spPr>
          <a:xfrm>
            <a:off x="841320" y="1828800"/>
            <a:ext cx="10560600" cy="3821400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f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3"/>
          <p:cNvSpPr/>
          <p:nvPr/>
        </p:nvSpPr>
        <p:spPr>
          <a:xfrm>
            <a:off x="841320" y="1828800"/>
            <a:ext cx="10560600" cy="383400"/>
          </a:xfrm>
          <a:prstGeom prst="rect">
            <a:avLst/>
          </a:prstGeom>
          <a:solidFill>
            <a:srgbClr val="4c97ff"/>
          </a:solidFill>
          <a:ln w="12700">
            <a:solidFill>
              <a:srgbClr val="4c97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4"/>
          <p:cNvSpPr/>
          <p:nvPr/>
        </p:nvSpPr>
        <p:spPr>
          <a:xfrm>
            <a:off x="1024200" y="1920240"/>
            <a:ext cx="1096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ffffff"/>
                </a:solidFill>
                <a:latin typeface="Lato"/>
                <a:ea typeface="Lato"/>
              </a:rPr>
              <a:t>Scratch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5"/>
          <p:cNvSpPr/>
          <p:nvPr/>
        </p:nvSpPr>
        <p:spPr>
          <a:xfrm>
            <a:off x="841320" y="2212920"/>
            <a:ext cx="2266920" cy="3437280"/>
          </a:xfrm>
          <a:prstGeom prst="rect">
            <a:avLst/>
          </a:prstGeom>
          <a:solidFill>
            <a:srgbClr val="f4f5f7"/>
          </a:solidFill>
          <a:ln w="12700">
            <a:solidFill>
              <a:srgbClr val="dfe4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6"/>
          <p:cNvSpPr/>
          <p:nvPr/>
        </p:nvSpPr>
        <p:spPr>
          <a:xfrm>
            <a:off x="1033200" y="2441520"/>
            <a:ext cx="163800" cy="163800"/>
          </a:xfrm>
          <a:prstGeom prst="ellipse">
            <a:avLst/>
          </a:prstGeom>
          <a:solidFill>
            <a:srgbClr val="4c97ff"/>
          </a:solidFill>
          <a:ln w="12700">
            <a:solidFill>
              <a:srgbClr val="4c97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7"/>
          <p:cNvSpPr/>
          <p:nvPr/>
        </p:nvSpPr>
        <p:spPr>
          <a:xfrm>
            <a:off x="1289160" y="240480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Movimento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8"/>
          <p:cNvSpPr/>
          <p:nvPr/>
        </p:nvSpPr>
        <p:spPr>
          <a:xfrm>
            <a:off x="1033200" y="2807280"/>
            <a:ext cx="163800" cy="163800"/>
          </a:xfrm>
          <a:prstGeom prst="ellipse">
            <a:avLst/>
          </a:prstGeom>
          <a:solidFill>
            <a:srgbClr val="9966ff"/>
          </a:solidFill>
          <a:ln w="1270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9"/>
          <p:cNvSpPr/>
          <p:nvPr/>
        </p:nvSpPr>
        <p:spPr>
          <a:xfrm>
            <a:off x="1289160" y="277056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Aparência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10"/>
          <p:cNvSpPr/>
          <p:nvPr/>
        </p:nvSpPr>
        <p:spPr>
          <a:xfrm>
            <a:off x="1033200" y="3173040"/>
            <a:ext cx="163800" cy="163800"/>
          </a:xfrm>
          <a:prstGeom prst="ellipse">
            <a:avLst/>
          </a:prstGeom>
          <a:solidFill>
            <a:srgbClr val="ffbf00"/>
          </a:solidFill>
          <a:ln w="12700">
            <a:solidFill>
              <a:srgbClr val="ffb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11"/>
          <p:cNvSpPr/>
          <p:nvPr/>
        </p:nvSpPr>
        <p:spPr>
          <a:xfrm>
            <a:off x="1289160" y="313632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Eventos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2"/>
          <p:cNvSpPr/>
          <p:nvPr/>
        </p:nvSpPr>
        <p:spPr>
          <a:xfrm>
            <a:off x="1033200" y="3538800"/>
            <a:ext cx="163800" cy="163800"/>
          </a:xfrm>
          <a:prstGeom prst="ellipse">
            <a:avLst/>
          </a:prstGeom>
          <a:solidFill>
            <a:srgbClr val="ffab19"/>
          </a:solidFill>
          <a:ln w="1270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13"/>
          <p:cNvSpPr/>
          <p:nvPr/>
        </p:nvSpPr>
        <p:spPr>
          <a:xfrm>
            <a:off x="1289160" y="350208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Controle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14"/>
          <p:cNvSpPr/>
          <p:nvPr/>
        </p:nvSpPr>
        <p:spPr>
          <a:xfrm>
            <a:off x="1033200" y="3904560"/>
            <a:ext cx="163800" cy="163800"/>
          </a:xfrm>
          <a:prstGeom prst="ellipse">
            <a:avLst/>
          </a:prstGeom>
          <a:solidFill>
            <a:srgbClr val="5cb1d6"/>
          </a:solidFill>
          <a:ln w="12700">
            <a:solidFill>
              <a:srgbClr val="5cb1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15"/>
          <p:cNvSpPr/>
          <p:nvPr/>
        </p:nvSpPr>
        <p:spPr>
          <a:xfrm>
            <a:off x="1289160" y="386784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Sensores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6"/>
          <p:cNvSpPr/>
          <p:nvPr/>
        </p:nvSpPr>
        <p:spPr>
          <a:xfrm>
            <a:off x="1033200" y="4270320"/>
            <a:ext cx="163800" cy="163800"/>
          </a:xfrm>
          <a:prstGeom prst="ellipse">
            <a:avLst/>
          </a:prstGeom>
          <a:solidFill>
            <a:srgbClr val="ff8c1a"/>
          </a:solidFill>
          <a:ln w="12700">
            <a:solidFill>
              <a:srgbClr val="ff8c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17"/>
          <p:cNvSpPr/>
          <p:nvPr/>
        </p:nvSpPr>
        <p:spPr>
          <a:xfrm>
            <a:off x="1289160" y="423360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Variáveis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8"/>
          <p:cNvSpPr/>
          <p:nvPr/>
        </p:nvSpPr>
        <p:spPr>
          <a:xfrm>
            <a:off x="1033200" y="4636080"/>
            <a:ext cx="163800" cy="163800"/>
          </a:xfrm>
          <a:prstGeom prst="ellipse">
            <a:avLst/>
          </a:prstGeom>
          <a:solidFill>
            <a:srgbClr val="59c059"/>
          </a:solidFill>
          <a:ln w="12700">
            <a:solidFill>
              <a:srgbClr val="59c0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19"/>
          <p:cNvSpPr/>
          <p:nvPr/>
        </p:nvSpPr>
        <p:spPr>
          <a:xfrm>
            <a:off x="1289160" y="4599360"/>
            <a:ext cx="1416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14213d"/>
                </a:solidFill>
                <a:latin typeface="Lato"/>
                <a:ea typeface="Lato"/>
              </a:rPr>
              <a:t>Operadores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20"/>
          <p:cNvSpPr/>
          <p:nvPr/>
        </p:nvSpPr>
        <p:spPr>
          <a:xfrm>
            <a:off x="3108960" y="2212920"/>
            <a:ext cx="4982760" cy="3437280"/>
          </a:xfrm>
          <a:prstGeom prst="rect">
            <a:avLst/>
          </a:prstGeom>
          <a:solidFill>
            <a:srgbClr val="fbfbfc"/>
          </a:solidFill>
          <a:ln w="12700">
            <a:solidFill>
              <a:srgbClr val="e1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21"/>
          <p:cNvSpPr/>
          <p:nvPr/>
        </p:nvSpPr>
        <p:spPr>
          <a:xfrm>
            <a:off x="3456360" y="2697480"/>
            <a:ext cx="2148120" cy="456480"/>
          </a:xfrm>
          <a:prstGeom prst="roundRect">
            <a:avLst>
              <a:gd name="adj" fmla="val 12000"/>
            </a:avLst>
          </a:prstGeom>
          <a:solidFill>
            <a:srgbClr val="f2c94c"/>
          </a:solidFill>
          <a:ln w="7620">
            <a:solidFill>
              <a:srgbClr val="f2c94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22"/>
          <p:cNvSpPr/>
          <p:nvPr/>
        </p:nvSpPr>
        <p:spPr>
          <a:xfrm>
            <a:off x="3602880" y="2761560"/>
            <a:ext cx="185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071a4a"/>
                </a:solidFill>
                <a:latin typeface="Lato"/>
                <a:ea typeface="Lato"/>
              </a:rPr>
              <a:t>quando ⚑ clicada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3"/>
          <p:cNvSpPr/>
          <p:nvPr/>
        </p:nvSpPr>
        <p:spPr>
          <a:xfrm>
            <a:off x="3456360" y="3209400"/>
            <a:ext cx="2148120" cy="456480"/>
          </a:xfrm>
          <a:prstGeom prst="roundRect">
            <a:avLst>
              <a:gd name="adj" fmla="val 12000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24"/>
          <p:cNvSpPr/>
          <p:nvPr/>
        </p:nvSpPr>
        <p:spPr>
          <a:xfrm>
            <a:off x="3602880" y="3273480"/>
            <a:ext cx="185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ffffff"/>
                </a:solidFill>
                <a:latin typeface="Lato"/>
                <a:ea typeface="Lato"/>
              </a:rPr>
              <a:t>diga “Olá!” por 2 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5"/>
          <p:cNvSpPr/>
          <p:nvPr/>
        </p:nvSpPr>
        <p:spPr>
          <a:xfrm>
            <a:off x="3456360" y="3721680"/>
            <a:ext cx="1690920" cy="438120"/>
          </a:xfrm>
          <a:prstGeom prst="roundRect">
            <a:avLst>
              <a:gd name="adj" fmla="val 12500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26"/>
          <p:cNvSpPr/>
          <p:nvPr/>
        </p:nvSpPr>
        <p:spPr>
          <a:xfrm>
            <a:off x="3602880" y="3785760"/>
            <a:ext cx="13982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071a4a"/>
                </a:solidFill>
                <a:latin typeface="Lato"/>
                <a:ea typeface="Lato"/>
              </a:rPr>
              <a:t>espere 1 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7"/>
          <p:cNvSpPr/>
          <p:nvPr/>
        </p:nvSpPr>
        <p:spPr>
          <a:xfrm>
            <a:off x="8092440" y="2212920"/>
            <a:ext cx="3309480" cy="2212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8"/>
          <p:cNvSpPr/>
          <p:nvPr/>
        </p:nvSpPr>
        <p:spPr>
          <a:xfrm>
            <a:off x="9290160" y="2779920"/>
            <a:ext cx="840600" cy="840600"/>
          </a:xfrm>
          <a:prstGeom prst="ellipse">
            <a:avLst/>
          </a:prstGeom>
          <a:solidFill>
            <a:srgbClr val="f36b21"/>
          </a:solidFill>
          <a:ln w="12700">
            <a:solidFill>
              <a:srgbClr val="f36b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29"/>
          <p:cNvSpPr/>
          <p:nvPr/>
        </p:nvSpPr>
        <p:spPr>
          <a:xfrm>
            <a:off x="9299520" y="3740040"/>
            <a:ext cx="840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ator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30"/>
          <p:cNvSpPr/>
          <p:nvPr/>
        </p:nvSpPr>
        <p:spPr>
          <a:xfrm>
            <a:off x="8092440" y="4425840"/>
            <a:ext cx="3309480" cy="1224720"/>
          </a:xfrm>
          <a:prstGeom prst="rect">
            <a:avLst/>
          </a:prstGeom>
          <a:solidFill>
            <a:srgbClr val="f4f5f7"/>
          </a:solidFill>
          <a:ln w="12700">
            <a:solidFill>
              <a:srgbClr val="d6dc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31"/>
          <p:cNvSpPr/>
          <p:nvPr/>
        </p:nvSpPr>
        <p:spPr>
          <a:xfrm>
            <a:off x="8348400" y="480060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atores / propriedades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2"/>
          <p:cNvSpPr/>
          <p:nvPr/>
        </p:nvSpPr>
        <p:spPr>
          <a:xfrm>
            <a:off x="1261800" y="5157360"/>
            <a:ext cx="118800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33"/>
          <p:cNvSpPr/>
          <p:nvPr/>
        </p:nvSpPr>
        <p:spPr>
          <a:xfrm>
            <a:off x="1334880" y="5221080"/>
            <a:ext cx="1041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BLOCOS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4"/>
          <p:cNvSpPr/>
          <p:nvPr/>
        </p:nvSpPr>
        <p:spPr>
          <a:xfrm>
            <a:off x="5001840" y="5157360"/>
            <a:ext cx="118800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35"/>
          <p:cNvSpPr/>
          <p:nvPr/>
        </p:nvSpPr>
        <p:spPr>
          <a:xfrm>
            <a:off x="5074920" y="5221080"/>
            <a:ext cx="1041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SCRIPTS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6"/>
          <p:cNvSpPr/>
          <p:nvPr/>
        </p:nvSpPr>
        <p:spPr>
          <a:xfrm>
            <a:off x="8997840" y="2414160"/>
            <a:ext cx="96840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37"/>
          <p:cNvSpPr/>
          <p:nvPr/>
        </p:nvSpPr>
        <p:spPr>
          <a:xfrm>
            <a:off x="9070920" y="2477880"/>
            <a:ext cx="822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PALCO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38"/>
          <p:cNvSpPr/>
          <p:nvPr/>
        </p:nvSpPr>
        <p:spPr>
          <a:xfrm>
            <a:off x="9162360" y="4005000"/>
            <a:ext cx="749160" cy="346680"/>
          </a:xfrm>
          <a:prstGeom prst="roundRect">
            <a:avLst>
              <a:gd name="adj" fmla="val 21053"/>
            </a:avLst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39"/>
          <p:cNvSpPr/>
          <p:nvPr/>
        </p:nvSpPr>
        <p:spPr>
          <a:xfrm>
            <a:off x="9235440" y="4069080"/>
            <a:ext cx="602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ATOR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1"/>
          <p:cNvSpPr>
            <a:spLocks noGrp="1"/>
          </p:cNvSpPr>
          <p:nvPr>
            <p:ph type="sldNum" idx="16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15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5580000" y="988560"/>
            <a:ext cx="4139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2400" spc="-1" strike="noStrike" u="sng">
                <a:solidFill>
                  <a:srgbClr val="0563c1"/>
                </a:solidFill>
                <a:uFillTx/>
                <a:latin typeface="Times New Roman"/>
                <a:hlinkClick r:id="rId1"/>
              </a:rPr>
              <a:t>https://scratch.mit.edu/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40"/>
          <p:cNvSpPr/>
          <p:nvPr/>
        </p:nvSpPr>
        <p:spPr>
          <a:xfrm>
            <a:off x="5580000" y="1425960"/>
            <a:ext cx="5939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Crie a sua conta e, em </a:t>
            </a:r>
            <a:r>
              <a:rPr b="1" i="1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Settings</a:t>
            </a: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 / </a:t>
            </a:r>
            <a:r>
              <a:rPr b="1" i="1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Language,</a:t>
            </a: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 selecione  </a:t>
            </a:r>
            <a:r>
              <a:rPr b="1" i="1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Português Brasileiro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" descr=""/>
          <p:cNvPicPr/>
          <p:nvPr/>
        </p:nvPicPr>
        <p:blipFill>
          <a:blip r:embed="rId1"/>
          <a:stretch/>
        </p:blipFill>
        <p:spPr>
          <a:xfrm>
            <a:off x="6300000" y="900000"/>
            <a:ext cx="1255680" cy="1259640"/>
          </a:xfrm>
          <a:prstGeom prst="rect">
            <a:avLst/>
          </a:prstGeom>
          <a:ln w="0">
            <a:noFill/>
          </a:ln>
        </p:spPr>
      </p:pic>
      <p:sp>
        <p:nvSpPr>
          <p:cNvPr id="431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Primeiro programa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1"/>
          <p:cNvSpPr/>
          <p:nvPr/>
        </p:nvSpPr>
        <p:spPr>
          <a:xfrm>
            <a:off x="731520" y="1444680"/>
            <a:ext cx="3948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Evento + sequência de ações.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2"/>
          <p:cNvSpPr/>
          <p:nvPr/>
        </p:nvSpPr>
        <p:spPr>
          <a:xfrm>
            <a:off x="987480" y="19386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NO SCRATCH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969120" y="2322720"/>
            <a:ext cx="3199680" cy="511200"/>
          </a:xfrm>
          <a:prstGeom prst="roundRect">
            <a:avLst>
              <a:gd name="adj" fmla="val 10714"/>
            </a:avLst>
          </a:prstGeom>
          <a:solidFill>
            <a:srgbClr val="f2c94c"/>
          </a:solidFill>
          <a:ln w="7620">
            <a:solidFill>
              <a:srgbClr val="f2c94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4"/>
          <p:cNvSpPr/>
          <p:nvPr/>
        </p:nvSpPr>
        <p:spPr>
          <a:xfrm>
            <a:off x="1115640" y="2386440"/>
            <a:ext cx="2907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quando ⚑ clicada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5"/>
          <p:cNvSpPr/>
          <p:nvPr/>
        </p:nvSpPr>
        <p:spPr>
          <a:xfrm>
            <a:off x="969120" y="2907720"/>
            <a:ext cx="3199680" cy="511200"/>
          </a:xfrm>
          <a:prstGeom prst="roundRect">
            <a:avLst>
              <a:gd name="adj" fmla="val 10714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1115640" y="2971800"/>
            <a:ext cx="2907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Lato"/>
                <a:ea typeface="Lato"/>
              </a:rPr>
              <a:t>diga “Olá!” por 2 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7"/>
          <p:cNvSpPr/>
          <p:nvPr/>
        </p:nvSpPr>
        <p:spPr>
          <a:xfrm>
            <a:off x="969120" y="3493080"/>
            <a:ext cx="2395080" cy="493200"/>
          </a:xfrm>
          <a:prstGeom prst="roundRect">
            <a:avLst>
              <a:gd name="adj" fmla="val 11111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1115640" y="3557160"/>
            <a:ext cx="2102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espere 1 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9"/>
          <p:cNvSpPr/>
          <p:nvPr/>
        </p:nvSpPr>
        <p:spPr>
          <a:xfrm>
            <a:off x="969120" y="4060080"/>
            <a:ext cx="3199680" cy="511200"/>
          </a:xfrm>
          <a:prstGeom prst="roundRect">
            <a:avLst>
              <a:gd name="adj" fmla="val 10714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 10"/>
          <p:cNvSpPr/>
          <p:nvPr/>
        </p:nvSpPr>
        <p:spPr>
          <a:xfrm>
            <a:off x="1115640" y="4123800"/>
            <a:ext cx="2907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80" spc="-1" strike="noStrike">
                <a:solidFill>
                  <a:srgbClr val="ffffff"/>
                </a:solidFill>
                <a:latin typeface="Lato"/>
                <a:ea typeface="Lato"/>
              </a:rPr>
              <a:t>diga “Vamos programar!”</a:t>
            </a:r>
            <a:endParaRPr b="0" lang="pt-BR" sz="13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1"/>
          <p:cNvSpPr/>
          <p:nvPr/>
        </p:nvSpPr>
        <p:spPr>
          <a:xfrm>
            <a:off x="5815440" y="2212920"/>
            <a:ext cx="4662720" cy="2559600"/>
          </a:xfrm>
          <a:prstGeom prst="roundRect">
            <a:avLst>
              <a:gd name="adj" fmla="val 2857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12"/>
          <p:cNvSpPr/>
          <p:nvPr/>
        </p:nvSpPr>
        <p:spPr>
          <a:xfrm>
            <a:off x="6181200" y="2541960"/>
            <a:ext cx="3062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Experimento rápido</a:t>
            </a:r>
            <a:endParaRPr b="0" lang="pt-BR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13"/>
          <p:cNvSpPr/>
          <p:nvPr/>
        </p:nvSpPr>
        <p:spPr>
          <a:xfrm>
            <a:off x="6181200" y="3072240"/>
            <a:ext cx="36385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530" spc="-1" strike="noStrike">
                <a:solidFill>
                  <a:srgbClr val="14213d"/>
                </a:solidFill>
                <a:latin typeface="Lato"/>
                <a:ea typeface="Lato"/>
              </a:rPr>
              <a:t>Troque a ordem de dois blocos e execute novamente.</a:t>
            </a:r>
            <a:endParaRPr b="0" lang="pt-BR" sz="15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14"/>
          <p:cNvSpPr/>
          <p:nvPr/>
        </p:nvSpPr>
        <p:spPr>
          <a:xfrm>
            <a:off x="6181200" y="3895200"/>
            <a:ext cx="3611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10b9f3"/>
                </a:solidFill>
                <a:latin typeface="Inter Display"/>
                <a:ea typeface="Inter Display"/>
              </a:rPr>
              <a:t>O que mudou?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5"/>
          <p:cNvSpPr/>
          <p:nvPr/>
        </p:nvSpPr>
        <p:spPr>
          <a:xfrm>
            <a:off x="6181200" y="4974480"/>
            <a:ext cx="2898000" cy="346680"/>
          </a:xfrm>
          <a:prstGeom prst="roundRect">
            <a:avLst>
              <a:gd name="adj" fmla="val 21053"/>
            </a:avLst>
          </a:prstGeom>
          <a:solidFill>
            <a:srgbClr val="071a4a"/>
          </a:solidFill>
          <a:ln w="12700">
            <a:solidFill>
              <a:srgbClr val="071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16"/>
          <p:cNvSpPr/>
          <p:nvPr/>
        </p:nvSpPr>
        <p:spPr>
          <a:xfrm>
            <a:off x="6254640" y="5038200"/>
            <a:ext cx="27514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30" spc="-1" strike="noStrike">
                <a:solidFill>
                  <a:srgbClr val="ffffff"/>
                </a:solidFill>
                <a:latin typeface="Lato"/>
                <a:ea typeface="Lato"/>
              </a:rPr>
              <a:t>ORDEM = COMPORTAMENTO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sldNum" idx="17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16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49" name="" descr=""/>
          <p:cNvPicPr/>
          <p:nvPr/>
        </p:nvPicPr>
        <p:blipFill>
          <a:blip r:embed="rId2"/>
          <a:stretch/>
        </p:blipFill>
        <p:spPr>
          <a:xfrm>
            <a:off x="1620000" y="4943160"/>
            <a:ext cx="646920" cy="456480"/>
          </a:xfrm>
          <a:prstGeom prst="rect">
            <a:avLst/>
          </a:prstGeom>
          <a:ln w="0">
            <a:noFill/>
          </a:ln>
        </p:spPr>
      </p:pic>
      <p:sp>
        <p:nvSpPr>
          <p:cNvPr id="450" name=""/>
          <p:cNvSpPr/>
          <p:nvPr/>
        </p:nvSpPr>
        <p:spPr>
          <a:xfrm>
            <a:off x="2340000" y="4991400"/>
            <a:ext cx="1439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Executar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3"/>
          <a:stretch/>
        </p:blipFill>
        <p:spPr>
          <a:xfrm>
            <a:off x="1620000" y="5483160"/>
            <a:ext cx="646920" cy="456480"/>
          </a:xfrm>
          <a:prstGeom prst="rect">
            <a:avLst/>
          </a:prstGeom>
          <a:ln w="0">
            <a:noFill/>
          </a:ln>
        </p:spPr>
      </p:pic>
      <p:sp>
        <p:nvSpPr>
          <p:cNvPr id="452" name=""/>
          <p:cNvSpPr/>
          <p:nvPr/>
        </p:nvSpPr>
        <p:spPr>
          <a:xfrm>
            <a:off x="2340000" y="5531400"/>
            <a:ext cx="1439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Parar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3" name="" descr=""/>
          <p:cNvPicPr/>
          <p:nvPr/>
        </p:nvPicPr>
        <p:blipFill>
          <a:blip r:embed="rId4"/>
          <a:stretch/>
        </p:blipFill>
        <p:spPr>
          <a:xfrm>
            <a:off x="8460000" y="900000"/>
            <a:ext cx="1652400" cy="1259640"/>
          </a:xfrm>
          <a:prstGeom prst="rect">
            <a:avLst/>
          </a:prstGeom>
          <a:ln w="0">
            <a:noFill/>
          </a:ln>
        </p:spPr>
      </p:pic>
      <p:sp>
        <p:nvSpPr>
          <p:cNvPr id="454" name=""/>
          <p:cNvSpPr/>
          <p:nvPr/>
        </p:nvSpPr>
        <p:spPr>
          <a:xfrm>
            <a:off x="7740000" y="1425960"/>
            <a:ext cx="539640" cy="373680"/>
          </a:xfrm>
          <a:custGeom>
            <a:avLst/>
            <a:gdLst>
              <a:gd name="textAreaLeft" fmla="*/ 99720 w 539640"/>
              <a:gd name="textAreaRight" fmla="*/ 454680 w 539640"/>
              <a:gd name="textAreaTop" fmla="*/ 110880 h 373680"/>
              <a:gd name="textAreaBottom" fmla="*/ 263160 h 373680"/>
            </a:gdLst>
            <a:ahLst/>
            <a:rect l="textAreaLeft" t="textAreaTop" r="textAreaRight" b="textAreaBottom"/>
            <a:pathLst>
              <a:path w="21600" h="21800">
                <a:moveTo>
                  <a:pt x="13200" y="0"/>
                </a:moveTo>
                <a:lnTo>
                  <a:pt x="21600" y="10800"/>
                </a:lnTo>
                <a:lnTo>
                  <a:pt x="13200" y="21800"/>
                </a:lnTo>
                <a:lnTo>
                  <a:pt x="13200" y="15200"/>
                </a:lnTo>
                <a:lnTo>
                  <a:pt x="4000" y="15200"/>
                </a:lnTo>
                <a:lnTo>
                  <a:pt x="4000" y="6400"/>
                </a:lnTo>
                <a:lnTo>
                  <a:pt x="13200" y="6400"/>
                </a:lnTo>
                <a:lnTo>
                  <a:pt x="13200" y="0"/>
                </a:lnTo>
                <a:moveTo>
                  <a:pt x="0" y="6400"/>
                </a:moveTo>
                <a:lnTo>
                  <a:pt x="0" y="15200"/>
                </a:lnTo>
                <a:lnTo>
                  <a:pt x="1000" y="15200"/>
                </a:lnTo>
                <a:lnTo>
                  <a:pt x="1000" y="6400"/>
                </a:lnTo>
                <a:lnTo>
                  <a:pt x="0" y="6400"/>
                </a:lnTo>
                <a:moveTo>
                  <a:pt x="2000" y="6400"/>
                </a:moveTo>
                <a:lnTo>
                  <a:pt x="2000" y="15200"/>
                </a:lnTo>
                <a:lnTo>
                  <a:pt x="3000" y="15200"/>
                </a:lnTo>
                <a:lnTo>
                  <a:pt x="3000" y="6400"/>
                </a:lnTo>
                <a:lnTo>
                  <a:pt x="2000" y="6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7740000" y="1080000"/>
            <a:ext cx="539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1 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6300000" y="913680"/>
            <a:ext cx="539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 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 que é uma variável?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Uma “caixa com nome” cujo conteúdo pode mudar durante a execução.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"/>
          <p:cNvSpPr/>
          <p:nvPr/>
        </p:nvSpPr>
        <p:spPr>
          <a:xfrm>
            <a:off x="1005840" y="2194560"/>
            <a:ext cx="4296960" cy="2605320"/>
          </a:xfrm>
          <a:prstGeom prst="roundRect">
            <a:avLst>
              <a:gd name="adj" fmla="val 2807"/>
            </a:avLst>
          </a:prstGeom>
          <a:solidFill>
            <a:srgbClr val="fff7ec"/>
          </a:solidFill>
          <a:ln w="12700">
            <a:solidFill>
              <a:srgbClr val="f8d8b3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3"/>
          <p:cNvSpPr/>
          <p:nvPr/>
        </p:nvSpPr>
        <p:spPr>
          <a:xfrm>
            <a:off x="1334880" y="2560320"/>
            <a:ext cx="2331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NOME DA VARIÁVEL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4"/>
          <p:cNvSpPr/>
          <p:nvPr/>
        </p:nvSpPr>
        <p:spPr>
          <a:xfrm>
            <a:off x="1334880" y="2944440"/>
            <a:ext cx="3336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71a4a"/>
                </a:solidFill>
                <a:latin typeface="DejaVu Sans Mono"/>
                <a:ea typeface="DejaVu Sans Mono"/>
              </a:rPr>
              <a:t>freqCardiaca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5"/>
          <p:cNvSpPr/>
          <p:nvPr/>
        </p:nvSpPr>
        <p:spPr>
          <a:xfrm>
            <a:off x="1828800" y="3767400"/>
            <a:ext cx="2422440" cy="68508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f36b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1828800" y="3895200"/>
            <a:ext cx="242244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500" spc="-1" strike="noStrike">
                <a:solidFill>
                  <a:srgbClr val="f36b21"/>
                </a:solidFill>
                <a:latin typeface="Inter Display"/>
                <a:ea typeface="Inter Display"/>
              </a:rPr>
              <a:t>55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7"/>
          <p:cNvSpPr/>
          <p:nvPr/>
        </p:nvSpPr>
        <p:spPr>
          <a:xfrm>
            <a:off x="5623560" y="3584160"/>
            <a:ext cx="822960" cy="360"/>
          </a:xfrm>
          <a:prstGeom prst="line">
            <a:avLst/>
          </a:prstGeom>
          <a:ln w="3302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8"/>
          <p:cNvSpPr/>
          <p:nvPr/>
        </p:nvSpPr>
        <p:spPr>
          <a:xfrm>
            <a:off x="6784920" y="2194560"/>
            <a:ext cx="4296960" cy="26053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9"/>
          <p:cNvSpPr/>
          <p:nvPr/>
        </p:nvSpPr>
        <p:spPr>
          <a:xfrm>
            <a:off x="7095600" y="2788920"/>
            <a:ext cx="36752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5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55  →  78  →  112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10"/>
          <p:cNvSpPr/>
          <p:nvPr/>
        </p:nvSpPr>
        <p:spPr>
          <a:xfrm>
            <a:off x="7095600" y="3557160"/>
            <a:ext cx="36842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700" spc="-1" strike="noStrike">
                <a:solidFill>
                  <a:srgbClr val="5b6b86"/>
                </a:solidFill>
                <a:latin typeface="Lato"/>
                <a:ea typeface="Lato"/>
              </a:rPr>
              <a:t>O nome continua igual.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700" spc="-1" strike="noStrike">
                <a:solidFill>
                  <a:srgbClr val="5b6b86"/>
                </a:solidFill>
                <a:latin typeface="Lato"/>
                <a:ea typeface="Lato"/>
              </a:rPr>
              <a:t>O valor muda.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11"/>
          <p:cNvSpPr/>
          <p:nvPr/>
        </p:nvSpPr>
        <p:spPr>
          <a:xfrm>
            <a:off x="1682640" y="5212080"/>
            <a:ext cx="882324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Definição técnica: nome associado a um valor que pode ser consultado ou alterado durante a execução.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18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17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Nossa variável: freqCardiaca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O mesmo nome vai receber diferentes leituras sintéticas.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2"/>
          <p:cNvSpPr/>
          <p:nvPr/>
        </p:nvSpPr>
        <p:spPr>
          <a:xfrm>
            <a:off x="951120" y="2103120"/>
            <a:ext cx="2468160" cy="2193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3"/>
          <p:cNvSpPr/>
          <p:nvPr/>
        </p:nvSpPr>
        <p:spPr>
          <a:xfrm>
            <a:off x="1170360" y="237744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EXECUÇÃO 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4"/>
          <p:cNvSpPr/>
          <p:nvPr/>
        </p:nvSpPr>
        <p:spPr>
          <a:xfrm>
            <a:off x="1170360" y="28803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freqCardiaca =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5"/>
          <p:cNvSpPr/>
          <p:nvPr/>
        </p:nvSpPr>
        <p:spPr>
          <a:xfrm>
            <a:off x="1170360" y="3273480"/>
            <a:ext cx="20109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10b9f3"/>
                </a:solidFill>
                <a:latin typeface="Inter Display"/>
                <a:ea typeface="Inter Display"/>
              </a:rPr>
              <a:t>55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6"/>
          <p:cNvSpPr/>
          <p:nvPr/>
        </p:nvSpPr>
        <p:spPr>
          <a:xfrm>
            <a:off x="3996000" y="2103120"/>
            <a:ext cx="2468160" cy="2193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7"/>
          <p:cNvSpPr/>
          <p:nvPr/>
        </p:nvSpPr>
        <p:spPr>
          <a:xfrm>
            <a:off x="4215240" y="237744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EXECUÇÃO 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8"/>
          <p:cNvSpPr/>
          <p:nvPr/>
        </p:nvSpPr>
        <p:spPr>
          <a:xfrm>
            <a:off x="4215240" y="28803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freqCardiaca =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9"/>
          <p:cNvSpPr/>
          <p:nvPr/>
        </p:nvSpPr>
        <p:spPr>
          <a:xfrm>
            <a:off x="4215240" y="3273480"/>
            <a:ext cx="20109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f36b21"/>
                </a:solidFill>
                <a:latin typeface="Inter Display"/>
                <a:ea typeface="Inter Display"/>
              </a:rPr>
              <a:t>78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0"/>
          <p:cNvSpPr/>
          <p:nvPr/>
        </p:nvSpPr>
        <p:spPr>
          <a:xfrm>
            <a:off x="7040880" y="2103120"/>
            <a:ext cx="2468160" cy="2193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 11"/>
          <p:cNvSpPr/>
          <p:nvPr/>
        </p:nvSpPr>
        <p:spPr>
          <a:xfrm>
            <a:off x="7260480" y="2377440"/>
            <a:ext cx="1553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72b76"/>
                </a:solidFill>
                <a:latin typeface="Lato"/>
                <a:ea typeface="Lato"/>
              </a:rPr>
              <a:t>EXECUÇÃO 3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12"/>
          <p:cNvSpPr/>
          <p:nvPr/>
        </p:nvSpPr>
        <p:spPr>
          <a:xfrm>
            <a:off x="7260480" y="2880360"/>
            <a:ext cx="2010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5b6b86"/>
                </a:solidFill>
                <a:latin typeface="DejaVu Sans Mono"/>
                <a:ea typeface="DejaVu Sans Mono"/>
              </a:rPr>
              <a:t>freqCardiaca =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13"/>
          <p:cNvSpPr/>
          <p:nvPr/>
        </p:nvSpPr>
        <p:spPr>
          <a:xfrm>
            <a:off x="7260480" y="3273480"/>
            <a:ext cx="20109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e72b76"/>
                </a:solidFill>
                <a:latin typeface="Inter Display"/>
                <a:ea typeface="Inter Display"/>
              </a:rPr>
              <a:t>112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4"/>
          <p:cNvSpPr/>
          <p:nvPr/>
        </p:nvSpPr>
        <p:spPr>
          <a:xfrm>
            <a:off x="10040040" y="2103120"/>
            <a:ext cx="1389240" cy="2193840"/>
          </a:xfrm>
          <a:prstGeom prst="roundRect">
            <a:avLst>
              <a:gd name="adj" fmla="val 5263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 15"/>
          <p:cNvSpPr/>
          <p:nvPr/>
        </p:nvSpPr>
        <p:spPr>
          <a:xfrm>
            <a:off x="10222920" y="246888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Por que?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6"/>
          <p:cNvSpPr/>
          <p:nvPr/>
        </p:nvSpPr>
        <p:spPr>
          <a:xfrm>
            <a:off x="10177200" y="2953440"/>
            <a:ext cx="1096560" cy="346680"/>
          </a:xfrm>
          <a:prstGeom prst="roundRect">
            <a:avLst>
              <a:gd name="adj" fmla="val 21053"/>
            </a:avLst>
          </a:prstGeom>
          <a:solidFill>
            <a:srgbClr val="dceaf8"/>
          </a:solidFill>
          <a:ln w="12700">
            <a:solidFill>
              <a:srgbClr val="dcea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17"/>
          <p:cNvSpPr/>
          <p:nvPr/>
        </p:nvSpPr>
        <p:spPr>
          <a:xfrm>
            <a:off x="10250280" y="3017520"/>
            <a:ext cx="950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  <a:ea typeface="Lato"/>
              </a:rPr>
              <a:t>clareza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8"/>
          <p:cNvSpPr/>
          <p:nvPr/>
        </p:nvSpPr>
        <p:spPr>
          <a:xfrm>
            <a:off x="10177200" y="3346560"/>
            <a:ext cx="1096560" cy="346680"/>
          </a:xfrm>
          <a:prstGeom prst="roundRect">
            <a:avLst>
              <a:gd name="adj" fmla="val 21053"/>
            </a:avLst>
          </a:prstGeom>
          <a:solidFill>
            <a:srgbClr val="dceaf8"/>
          </a:solidFill>
          <a:ln w="12700">
            <a:solidFill>
              <a:srgbClr val="dcea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 19"/>
          <p:cNvSpPr/>
          <p:nvPr/>
        </p:nvSpPr>
        <p:spPr>
          <a:xfrm>
            <a:off x="10250280" y="3410640"/>
            <a:ext cx="950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  <a:ea typeface="Lato"/>
              </a:rPr>
              <a:t>reuso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20"/>
          <p:cNvSpPr/>
          <p:nvPr/>
        </p:nvSpPr>
        <p:spPr>
          <a:xfrm>
            <a:off x="10177200" y="3740040"/>
            <a:ext cx="1096560" cy="346680"/>
          </a:xfrm>
          <a:prstGeom prst="roundRect">
            <a:avLst>
              <a:gd name="adj" fmla="val 21053"/>
            </a:avLst>
          </a:prstGeom>
          <a:solidFill>
            <a:srgbClr val="dceaf8"/>
          </a:solidFill>
          <a:ln w="12700">
            <a:solidFill>
              <a:srgbClr val="dcea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21"/>
          <p:cNvSpPr/>
          <p:nvPr/>
        </p:nvSpPr>
        <p:spPr>
          <a:xfrm>
            <a:off x="10250280" y="3803760"/>
            <a:ext cx="950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071a4a"/>
                </a:solidFill>
                <a:latin typeface="Lato"/>
                <a:ea typeface="Lato"/>
              </a:rPr>
              <a:t>decisão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 22"/>
          <p:cNvSpPr/>
          <p:nvPr/>
        </p:nvSpPr>
        <p:spPr>
          <a:xfrm>
            <a:off x="1865520" y="4965120"/>
            <a:ext cx="8457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40" spc="-1" strike="noStrike">
                <a:solidFill>
                  <a:srgbClr val="071a4a"/>
                </a:solidFill>
                <a:latin typeface="Lato"/>
                <a:ea typeface="Lato"/>
              </a:rPr>
              <a:t>Observe o valor no palco e confirme que ele é atualizado.</a:t>
            </a:r>
            <a:endParaRPr b="0" lang="pt-BR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1"/>
          <p:cNvSpPr>
            <a:spLocks noGrp="1"/>
          </p:cNvSpPr>
          <p:nvPr>
            <p:ph type="sldNum" idx="19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18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5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496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497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498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499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500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Dados têm papéis diferentes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Mesmo em Scratch, vale distinguir número, texto e valor lógico.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9"/>
          <p:cNvSpPr/>
          <p:nvPr/>
        </p:nvSpPr>
        <p:spPr>
          <a:xfrm>
            <a:off x="914400" y="2148840"/>
            <a:ext cx="324576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3" name="TextBox 10"/>
          <p:cNvSpPr/>
          <p:nvPr/>
        </p:nvSpPr>
        <p:spPr>
          <a:xfrm>
            <a:off x="1097280" y="2395800"/>
            <a:ext cx="2880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10b9f3"/>
                </a:solidFill>
                <a:latin typeface="Lato"/>
              </a:rPr>
              <a:t>NÚMERO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Box 11"/>
          <p:cNvSpPr/>
          <p:nvPr/>
        </p:nvSpPr>
        <p:spPr>
          <a:xfrm>
            <a:off x="1143000" y="3022200"/>
            <a:ext cx="2788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400" spc="-1" strike="noStrike">
                <a:solidFill>
                  <a:srgbClr val="071a4a"/>
                </a:solidFill>
                <a:latin typeface="Inter Display"/>
              </a:rPr>
              <a:t>78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12"/>
          <p:cNvSpPr/>
          <p:nvPr/>
        </p:nvSpPr>
        <p:spPr>
          <a:xfrm>
            <a:off x="1143000" y="3822120"/>
            <a:ext cx="27885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freqCardiaca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Rounded Rectangle 13"/>
          <p:cNvSpPr/>
          <p:nvPr/>
        </p:nvSpPr>
        <p:spPr>
          <a:xfrm>
            <a:off x="4617720" y="2148840"/>
            <a:ext cx="324576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07" name="TextBox 14"/>
          <p:cNvSpPr/>
          <p:nvPr/>
        </p:nvSpPr>
        <p:spPr>
          <a:xfrm>
            <a:off x="4800600" y="2395800"/>
            <a:ext cx="2880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TEXTO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15"/>
          <p:cNvSpPr/>
          <p:nvPr/>
        </p:nvSpPr>
        <p:spPr>
          <a:xfrm>
            <a:off x="4846320" y="3022200"/>
            <a:ext cx="2788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400" spc="-1" strike="noStrike">
                <a:solidFill>
                  <a:srgbClr val="071a4a"/>
                </a:solidFill>
                <a:latin typeface="Inter Display"/>
              </a:rPr>
              <a:t>“</a:t>
            </a:r>
            <a:r>
              <a:rPr b="1" lang="pt-BR" sz="2400" spc="-1" strike="noStrike">
                <a:solidFill>
                  <a:srgbClr val="071a4a"/>
                </a:solidFill>
                <a:latin typeface="Inter Display"/>
              </a:rPr>
              <a:t>alvo”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16"/>
          <p:cNvSpPr/>
          <p:nvPr/>
        </p:nvSpPr>
        <p:spPr>
          <a:xfrm>
            <a:off x="4846320" y="3822120"/>
            <a:ext cx="27885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mensagem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Rounded Rectangle 17"/>
          <p:cNvSpPr/>
          <p:nvPr/>
        </p:nvSpPr>
        <p:spPr>
          <a:xfrm>
            <a:off x="8321040" y="2148840"/>
            <a:ext cx="3245760" cy="2514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11" name="TextBox 18"/>
          <p:cNvSpPr/>
          <p:nvPr/>
        </p:nvSpPr>
        <p:spPr>
          <a:xfrm>
            <a:off x="8503920" y="2395800"/>
            <a:ext cx="28800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72585"/>
                </a:solidFill>
                <a:latin typeface="Lato"/>
              </a:rPr>
              <a:t>LÓGICO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9"/>
          <p:cNvSpPr/>
          <p:nvPr/>
        </p:nvSpPr>
        <p:spPr>
          <a:xfrm>
            <a:off x="8549640" y="3022200"/>
            <a:ext cx="2788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2400" spc="-1" strike="noStrike">
                <a:solidFill>
                  <a:srgbClr val="071a4a"/>
                </a:solidFill>
                <a:latin typeface="Inter Display"/>
              </a:rPr>
              <a:t>verdadeiro / falso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0"/>
          <p:cNvSpPr/>
          <p:nvPr/>
        </p:nvSpPr>
        <p:spPr>
          <a:xfrm>
            <a:off x="8549640" y="3822120"/>
            <a:ext cx="278856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freqCardiaca &gt; 100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21"/>
          <p:cNvSpPr/>
          <p:nvPr/>
        </p:nvSpPr>
        <p:spPr>
          <a:xfrm>
            <a:off x="2057400" y="5074920"/>
            <a:ext cx="8046360" cy="5115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14213d"/>
                </a:solidFill>
                <a:latin typeface="Lato"/>
              </a:rPr>
              <a:t>Uma condição é uma expressão cujo resultado é verdadeiro ou falso.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22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19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Recebendo dados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Perguntar → resposta → definir variável.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6"/>
          <p:cNvSpPr/>
          <p:nvPr/>
        </p:nvSpPr>
        <p:spPr>
          <a:xfrm>
            <a:off x="6711840" y="2194560"/>
            <a:ext cx="4205520" cy="230364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6986160" y="2468880"/>
            <a:ext cx="1370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FLUXO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8"/>
          <p:cNvSpPr/>
          <p:nvPr/>
        </p:nvSpPr>
        <p:spPr>
          <a:xfrm>
            <a:off x="6986160" y="2971800"/>
            <a:ext cx="95940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9"/>
          <p:cNvSpPr/>
          <p:nvPr/>
        </p:nvSpPr>
        <p:spPr>
          <a:xfrm>
            <a:off x="7059240" y="3035880"/>
            <a:ext cx="813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20" spc="-1" strike="noStrike">
                <a:solidFill>
                  <a:srgbClr val="ffffff"/>
                </a:solidFill>
                <a:latin typeface="Lato"/>
                <a:ea typeface="Lato"/>
              </a:rPr>
              <a:t>perguntar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10"/>
          <p:cNvSpPr/>
          <p:nvPr/>
        </p:nvSpPr>
        <p:spPr>
          <a:xfrm>
            <a:off x="7936920" y="3026520"/>
            <a:ext cx="2005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071a4a"/>
                </a:solidFill>
                <a:latin typeface="Lato"/>
                <a:ea typeface="Lato"/>
              </a:rPr>
              <a:t>→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11"/>
          <p:cNvSpPr/>
          <p:nvPr/>
        </p:nvSpPr>
        <p:spPr>
          <a:xfrm>
            <a:off x="8110800" y="2971800"/>
            <a:ext cx="95940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12"/>
          <p:cNvSpPr/>
          <p:nvPr/>
        </p:nvSpPr>
        <p:spPr>
          <a:xfrm>
            <a:off x="8183880" y="3035880"/>
            <a:ext cx="813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20" spc="-1" strike="noStrike">
                <a:solidFill>
                  <a:srgbClr val="ffffff"/>
                </a:solidFill>
                <a:latin typeface="Lato"/>
                <a:ea typeface="Lato"/>
              </a:rPr>
              <a:t>resposta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13"/>
          <p:cNvSpPr/>
          <p:nvPr/>
        </p:nvSpPr>
        <p:spPr>
          <a:xfrm>
            <a:off x="9061560" y="3026520"/>
            <a:ext cx="2005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071a4a"/>
                </a:solidFill>
                <a:latin typeface="Lato"/>
                <a:ea typeface="Lato"/>
              </a:rPr>
              <a:t>→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14"/>
          <p:cNvSpPr/>
          <p:nvPr/>
        </p:nvSpPr>
        <p:spPr>
          <a:xfrm>
            <a:off x="9235440" y="2971800"/>
            <a:ext cx="95940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15"/>
          <p:cNvSpPr/>
          <p:nvPr/>
        </p:nvSpPr>
        <p:spPr>
          <a:xfrm>
            <a:off x="9308520" y="3035880"/>
            <a:ext cx="813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20" spc="-1" strike="noStrike">
                <a:solidFill>
                  <a:srgbClr val="ffffff"/>
                </a:solidFill>
                <a:latin typeface="Lato"/>
                <a:ea typeface="Lato"/>
              </a:rPr>
              <a:t>freqCardiaca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 16"/>
          <p:cNvSpPr/>
          <p:nvPr/>
        </p:nvSpPr>
        <p:spPr>
          <a:xfrm>
            <a:off x="6986160" y="3785760"/>
            <a:ext cx="34740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20" spc="-1" strike="noStrike">
                <a:solidFill>
                  <a:srgbClr val="071a4a"/>
                </a:solidFill>
                <a:latin typeface="Lato"/>
                <a:ea typeface="Lato"/>
              </a:rPr>
              <a:t>Teste com 55, 78 e 112 bpm.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18"/>
          <p:cNvSpPr/>
          <p:nvPr/>
        </p:nvSpPr>
        <p:spPr>
          <a:xfrm>
            <a:off x="900000" y="4680000"/>
            <a:ext cx="969732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00" spc="-1" strike="noStrike">
                <a:solidFill>
                  <a:srgbClr val="071a4a"/>
                </a:solidFill>
                <a:latin typeface="Lato"/>
                <a:ea typeface="Lato"/>
              </a:rPr>
              <a:t>Rode e clique no bloco para aparecer o quadro para colocara resposta.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00" spc="-1" strike="noStrike">
                <a:solidFill>
                  <a:srgbClr val="071a4a"/>
                </a:solidFill>
                <a:latin typeface="Lato"/>
                <a:ea typeface="Lato"/>
              </a:rPr>
              <a:t>A “resposta” é a última entrada; a variável torna o dado explícito e reutilizável.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1"/>
          <p:cNvSpPr>
            <a:spLocks noGrp="1"/>
          </p:cNvSpPr>
          <p:nvPr>
            <p:ph type="sldNum" idx="20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20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31" name="" descr=""/>
          <p:cNvPicPr/>
          <p:nvPr/>
        </p:nvPicPr>
        <p:blipFill>
          <a:blip r:embed="rId1"/>
          <a:stretch/>
        </p:blipFill>
        <p:spPr>
          <a:xfrm>
            <a:off x="865440" y="2379240"/>
            <a:ext cx="4714200" cy="158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Operadores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Eles produzem valores que podem alimentar outros blocos.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"/>
          <p:cNvSpPr/>
          <p:nvPr/>
        </p:nvSpPr>
        <p:spPr>
          <a:xfrm>
            <a:off x="960120" y="2084760"/>
            <a:ext cx="4644360" cy="2907000"/>
          </a:xfrm>
          <a:prstGeom prst="roundRect">
            <a:avLst>
              <a:gd name="adj" fmla="val 2516"/>
            </a:avLst>
          </a:prstGeom>
          <a:solidFill>
            <a:srgbClr val="f0faf1"/>
          </a:solidFill>
          <a:ln w="12700">
            <a:solidFill>
              <a:srgbClr val="cdead2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3"/>
          <p:cNvSpPr/>
          <p:nvPr/>
        </p:nvSpPr>
        <p:spPr>
          <a:xfrm>
            <a:off x="1261800" y="23958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58c765"/>
                </a:solidFill>
                <a:latin typeface="Lato"/>
                <a:ea typeface="Lato"/>
              </a:rPr>
              <a:t>ARITMÉTICOS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 4"/>
          <p:cNvSpPr/>
          <p:nvPr/>
        </p:nvSpPr>
        <p:spPr>
          <a:xfrm>
            <a:off x="1261800" y="2907720"/>
            <a:ext cx="3931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9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+   −   ×   ÷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5"/>
          <p:cNvSpPr/>
          <p:nvPr/>
        </p:nvSpPr>
        <p:spPr>
          <a:xfrm>
            <a:off x="1334880" y="3703320"/>
            <a:ext cx="3912840" cy="840600"/>
          </a:xfrm>
          <a:prstGeom prst="roundRect">
            <a:avLst>
              <a:gd name="adj" fmla="val 8696"/>
            </a:avLst>
          </a:prstGeom>
          <a:solidFill>
            <a:srgbClr val="15345f"/>
          </a:solidFill>
          <a:ln w="12700">
            <a:solidFill>
              <a:srgbClr val="2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 6"/>
          <p:cNvSpPr/>
          <p:nvPr/>
        </p:nvSpPr>
        <p:spPr>
          <a:xfrm>
            <a:off x="1499760" y="3849480"/>
            <a:ext cx="35838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freqCardiaca + 10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78 + 10  →  88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7"/>
          <p:cNvSpPr/>
          <p:nvPr/>
        </p:nvSpPr>
        <p:spPr>
          <a:xfrm>
            <a:off x="6556320" y="2084760"/>
            <a:ext cx="4644360" cy="2907000"/>
          </a:xfrm>
          <a:prstGeom prst="roundRect">
            <a:avLst>
              <a:gd name="adj" fmla="val 2516"/>
            </a:avLst>
          </a:prstGeom>
          <a:solidFill>
            <a:srgbClr val="eff9fd"/>
          </a:solidFill>
          <a:ln w="12700">
            <a:solidFill>
              <a:srgbClr val="c8eaf8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 8"/>
          <p:cNvSpPr/>
          <p:nvPr/>
        </p:nvSpPr>
        <p:spPr>
          <a:xfrm>
            <a:off x="6858000" y="23958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RELACIONAIS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9"/>
          <p:cNvSpPr/>
          <p:nvPr/>
        </p:nvSpPr>
        <p:spPr>
          <a:xfrm>
            <a:off x="6858000" y="2907720"/>
            <a:ext cx="3931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9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&lt;   &gt;   =   ≤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0"/>
          <p:cNvSpPr/>
          <p:nvPr/>
        </p:nvSpPr>
        <p:spPr>
          <a:xfrm>
            <a:off x="6931080" y="3703320"/>
            <a:ext cx="3912840" cy="840600"/>
          </a:xfrm>
          <a:prstGeom prst="roundRect">
            <a:avLst>
              <a:gd name="adj" fmla="val 8696"/>
            </a:avLst>
          </a:prstGeom>
          <a:solidFill>
            <a:srgbClr val="15345f"/>
          </a:solidFill>
          <a:ln w="12700">
            <a:solidFill>
              <a:srgbClr val="2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 11"/>
          <p:cNvSpPr/>
          <p:nvPr/>
        </p:nvSpPr>
        <p:spPr>
          <a:xfrm>
            <a:off x="7095600" y="3849480"/>
            <a:ext cx="35838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freqCardiaca &gt; 100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7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78 &gt; 100  →  falso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21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21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46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547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548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549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550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551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Lógica booleana: combinar condições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E, OU e NÃO permitem construir regras mais próximas de problemas reais.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Rounded Rectangle 9"/>
          <p:cNvSpPr/>
          <p:nvPr/>
        </p:nvSpPr>
        <p:spPr>
          <a:xfrm>
            <a:off x="822960" y="2057400"/>
            <a:ext cx="329148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54" name="Oval 10"/>
          <p:cNvSpPr/>
          <p:nvPr/>
        </p:nvSpPr>
        <p:spPr>
          <a:xfrm>
            <a:off x="1051560" y="2267640"/>
            <a:ext cx="529920" cy="529920"/>
          </a:xfrm>
          <a:prstGeom prst="ellipse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E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Box 11"/>
          <p:cNvSpPr/>
          <p:nvPr/>
        </p:nvSpPr>
        <p:spPr>
          <a:xfrm>
            <a:off x="1755720" y="2167560"/>
            <a:ext cx="2057040" cy="76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as duas condições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precisam ser verdadeiras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Rounded Rectangle 12"/>
          <p:cNvSpPr/>
          <p:nvPr/>
        </p:nvSpPr>
        <p:spPr>
          <a:xfrm>
            <a:off x="1078920" y="342900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50" spc="-1" strike="noStrike">
                <a:solidFill>
                  <a:srgbClr val="14213d"/>
                </a:solidFill>
                <a:latin typeface="Lato"/>
              </a:rPr>
              <a:t>FC &gt; 100  E  passos = 0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ounded Rectangle 13"/>
          <p:cNvSpPr/>
          <p:nvPr/>
        </p:nvSpPr>
        <p:spPr>
          <a:xfrm>
            <a:off x="4526280" y="2057400"/>
            <a:ext cx="329148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58" name="Oval 14"/>
          <p:cNvSpPr/>
          <p:nvPr/>
        </p:nvSpPr>
        <p:spPr>
          <a:xfrm>
            <a:off x="4754880" y="2267640"/>
            <a:ext cx="529920" cy="529920"/>
          </a:xfrm>
          <a:prstGeom prst="ellipse">
            <a:avLst/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OU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15"/>
          <p:cNvSpPr/>
          <p:nvPr/>
        </p:nvSpPr>
        <p:spPr>
          <a:xfrm>
            <a:off x="5459040" y="2289240"/>
            <a:ext cx="2057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basta uma condição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ser verdadeira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6"/>
          <p:cNvSpPr/>
          <p:nvPr/>
        </p:nvSpPr>
        <p:spPr>
          <a:xfrm>
            <a:off x="4782240" y="342900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50" spc="-1" strike="noStrike">
                <a:solidFill>
                  <a:srgbClr val="14213d"/>
                </a:solidFill>
                <a:latin typeface="Lato"/>
              </a:rPr>
              <a:t>temp &lt; min  OU  temp &gt; max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ounded Rectangle 17"/>
          <p:cNvSpPr/>
          <p:nvPr/>
        </p:nvSpPr>
        <p:spPr>
          <a:xfrm>
            <a:off x="8229600" y="2057400"/>
            <a:ext cx="3291480" cy="283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562" name="Oval 18"/>
          <p:cNvSpPr/>
          <p:nvPr/>
        </p:nvSpPr>
        <p:spPr>
          <a:xfrm>
            <a:off x="8458200" y="2267640"/>
            <a:ext cx="529920" cy="529920"/>
          </a:xfrm>
          <a:prstGeom prst="ellipse">
            <a:avLst/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00" spc="-1" strike="noStrike">
                <a:solidFill>
                  <a:srgbClr val="ffffff"/>
                </a:solidFill>
                <a:latin typeface="Inter Display"/>
              </a:rPr>
              <a:t>NÃO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Box 19"/>
          <p:cNvSpPr/>
          <p:nvPr/>
        </p:nvSpPr>
        <p:spPr>
          <a:xfrm>
            <a:off x="9162360" y="2289240"/>
            <a:ext cx="2057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inverte o resultado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de uma condição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ounded Rectangle 20"/>
          <p:cNvSpPr/>
          <p:nvPr/>
        </p:nvSpPr>
        <p:spPr>
          <a:xfrm>
            <a:off x="8485560" y="342900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50" spc="-1" strike="noStrike">
                <a:solidFill>
                  <a:srgbClr val="14213d"/>
                </a:solidFill>
                <a:latin typeface="Lato"/>
              </a:rPr>
              <a:t>NÃO (sinalBom)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21"/>
          <p:cNvSpPr/>
          <p:nvPr/>
        </p:nvSpPr>
        <p:spPr>
          <a:xfrm>
            <a:off x="1234440" y="5166360"/>
            <a:ext cx="9692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</a:rPr>
              <a:t>No projeto final, uma regra combinada vai relacionar a frequência cardíaca com o movimento simulado.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22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22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6"/>
          <p:cNvSpPr/>
          <p:nvPr/>
        </p:nvSpPr>
        <p:spPr>
          <a:xfrm>
            <a:off x="749880" y="1115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114" strike="noStrike">
                <a:solidFill>
                  <a:srgbClr val="10b9f3"/>
                </a:solidFill>
                <a:latin typeface="Lato"/>
                <a:ea typeface="Lato"/>
              </a:rPr>
              <a:t>MICRODESAFIO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7"/>
          <p:cNvSpPr/>
          <p:nvPr/>
        </p:nvSpPr>
        <p:spPr>
          <a:xfrm>
            <a:off x="731520" y="1481400"/>
            <a:ext cx="89146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Se freqCardiaca = 84 bpm...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8"/>
          <p:cNvSpPr/>
          <p:nvPr/>
        </p:nvSpPr>
        <p:spPr>
          <a:xfrm>
            <a:off x="749880" y="265176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620" spc="-1" strike="noStrike">
                <a:solidFill>
                  <a:srgbClr val="ced8ea"/>
                </a:solidFill>
                <a:latin typeface="Lato"/>
                <a:ea typeface="Lato"/>
              </a:rPr>
              <a:t>Resolva uma das duas tarefas abaixo.</a:t>
            </a:r>
            <a:endParaRPr b="0" lang="pt-BR" sz="1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Shape 9"/>
          <p:cNvSpPr/>
          <p:nvPr/>
        </p:nvSpPr>
        <p:spPr>
          <a:xfrm>
            <a:off x="1005840" y="3813120"/>
            <a:ext cx="4735800" cy="1370880"/>
          </a:xfrm>
          <a:prstGeom prst="roundRect">
            <a:avLst>
              <a:gd name="adj" fmla="val 533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10"/>
          <p:cNvSpPr/>
          <p:nvPr/>
        </p:nvSpPr>
        <p:spPr>
          <a:xfrm>
            <a:off x="1280160" y="41695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100" spc="-1" strike="noStrike">
                <a:solidFill>
                  <a:srgbClr val="f36b21"/>
                </a:solidFill>
                <a:latin typeface="Inter Display"/>
                <a:ea typeface="Inter Display"/>
              </a:rPr>
              <a:t>A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11"/>
          <p:cNvSpPr/>
          <p:nvPr/>
        </p:nvSpPr>
        <p:spPr>
          <a:xfrm>
            <a:off x="1847160" y="4096440"/>
            <a:ext cx="3382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Some 10 ao valor.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12"/>
          <p:cNvSpPr/>
          <p:nvPr/>
        </p:nvSpPr>
        <p:spPr>
          <a:xfrm>
            <a:off x="1847160" y="4590360"/>
            <a:ext cx="32911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50" spc="-1" strike="noStrike">
                <a:solidFill>
                  <a:srgbClr val="afc0dd"/>
                </a:solidFill>
                <a:latin typeface="DejaVu Sans Mono"/>
                <a:ea typeface="DejaVu Sans Mono"/>
              </a:rPr>
              <a:t>resultado: ______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Shape 13"/>
          <p:cNvSpPr/>
          <p:nvPr/>
        </p:nvSpPr>
        <p:spPr>
          <a:xfrm>
            <a:off x="6446520" y="3813120"/>
            <a:ext cx="4735800" cy="1370880"/>
          </a:xfrm>
          <a:prstGeom prst="roundRect">
            <a:avLst>
              <a:gd name="adj" fmla="val 533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14"/>
          <p:cNvSpPr/>
          <p:nvPr/>
        </p:nvSpPr>
        <p:spPr>
          <a:xfrm>
            <a:off x="6720840" y="41695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100" spc="-1" strike="noStrike">
                <a:solidFill>
                  <a:srgbClr val="10b9f3"/>
                </a:solidFill>
                <a:latin typeface="Inter Display"/>
                <a:ea typeface="Inter Display"/>
              </a:rPr>
              <a:t>B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 15"/>
          <p:cNvSpPr/>
          <p:nvPr/>
        </p:nvSpPr>
        <p:spPr>
          <a:xfrm>
            <a:off x="7287840" y="4096440"/>
            <a:ext cx="3382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Teste se é maior que 100.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Text 16"/>
          <p:cNvSpPr/>
          <p:nvPr/>
        </p:nvSpPr>
        <p:spPr>
          <a:xfrm>
            <a:off x="7287840" y="4590360"/>
            <a:ext cx="32911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50" spc="-1" strike="noStrike">
                <a:solidFill>
                  <a:srgbClr val="afc0dd"/>
                </a:solidFill>
                <a:latin typeface="DejaVu Sans Mono"/>
                <a:ea typeface="DejaVu Sans Mono"/>
              </a:rPr>
              <a:t>resultado: ______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PlaceHolder 1"/>
          <p:cNvSpPr>
            <a:spLocks noGrp="1"/>
          </p:cNvSpPr>
          <p:nvPr>
            <p:ph type="sldNum" idx="22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23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Programas precisam decidir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O mesmo programa pode responder de forma diferente conforme uma regra.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"/>
          <p:cNvSpPr/>
          <p:nvPr/>
        </p:nvSpPr>
        <p:spPr>
          <a:xfrm>
            <a:off x="4883040" y="2304360"/>
            <a:ext cx="2431440" cy="2084040"/>
          </a:xfrm>
          <a:prstGeom prst="roundRect">
            <a:avLst>
              <a:gd name="adj" fmla="val 3509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3"/>
          <p:cNvSpPr/>
          <p:nvPr/>
        </p:nvSpPr>
        <p:spPr>
          <a:xfrm>
            <a:off x="5285160" y="2633400"/>
            <a:ext cx="1626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94" strike="noStrike">
                <a:solidFill>
                  <a:srgbClr val="e72b76"/>
                </a:solidFill>
                <a:latin typeface="Lato"/>
                <a:ea typeface="Lato"/>
              </a:rPr>
              <a:t>REGRA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4"/>
          <p:cNvSpPr/>
          <p:nvPr/>
        </p:nvSpPr>
        <p:spPr>
          <a:xfrm>
            <a:off x="5559480" y="3072240"/>
            <a:ext cx="1050840" cy="71244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e72b7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 5"/>
          <p:cNvSpPr/>
          <p:nvPr/>
        </p:nvSpPr>
        <p:spPr>
          <a:xfrm>
            <a:off x="5760720" y="3200400"/>
            <a:ext cx="648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e72b76"/>
                </a:solidFill>
                <a:latin typeface="Inter Display"/>
                <a:ea typeface="Inter Display"/>
              </a:rPr>
              <a:t>?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6"/>
          <p:cNvSpPr/>
          <p:nvPr/>
        </p:nvSpPr>
        <p:spPr>
          <a:xfrm>
            <a:off x="877680" y="2541960"/>
            <a:ext cx="157212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7"/>
          <p:cNvSpPr/>
          <p:nvPr/>
        </p:nvSpPr>
        <p:spPr>
          <a:xfrm>
            <a:off x="1042560" y="2907720"/>
            <a:ext cx="1242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800" spc="-1" strike="noStrike">
                <a:solidFill>
                  <a:srgbClr val="10b9f3"/>
                </a:solidFill>
                <a:latin typeface="Inter Display"/>
                <a:ea typeface="Inter Display"/>
              </a:rPr>
              <a:t>55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8"/>
          <p:cNvSpPr/>
          <p:nvPr/>
        </p:nvSpPr>
        <p:spPr>
          <a:xfrm>
            <a:off x="1042560" y="3575160"/>
            <a:ext cx="1242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entrada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9"/>
          <p:cNvSpPr/>
          <p:nvPr/>
        </p:nvSpPr>
        <p:spPr>
          <a:xfrm>
            <a:off x="2816280" y="2541960"/>
            <a:ext cx="157212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 10"/>
          <p:cNvSpPr/>
          <p:nvPr/>
        </p:nvSpPr>
        <p:spPr>
          <a:xfrm>
            <a:off x="2980800" y="2907720"/>
            <a:ext cx="1242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800" spc="-1" strike="noStrike">
                <a:solidFill>
                  <a:srgbClr val="f36b21"/>
                </a:solidFill>
                <a:latin typeface="Inter Display"/>
                <a:ea typeface="Inter Display"/>
              </a:rPr>
              <a:t>78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 11"/>
          <p:cNvSpPr/>
          <p:nvPr/>
        </p:nvSpPr>
        <p:spPr>
          <a:xfrm>
            <a:off x="2980800" y="3575160"/>
            <a:ext cx="1242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entrada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12"/>
          <p:cNvSpPr/>
          <p:nvPr/>
        </p:nvSpPr>
        <p:spPr>
          <a:xfrm>
            <a:off x="8503920" y="2541960"/>
            <a:ext cx="1572120" cy="1572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 13"/>
          <p:cNvSpPr/>
          <p:nvPr/>
        </p:nvSpPr>
        <p:spPr>
          <a:xfrm>
            <a:off x="8668440" y="2907720"/>
            <a:ext cx="1242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800" spc="-1" strike="noStrike">
                <a:solidFill>
                  <a:srgbClr val="e72b76"/>
                </a:solidFill>
                <a:latin typeface="Inter Display"/>
                <a:ea typeface="Inter Display"/>
              </a:rPr>
              <a:t>112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14"/>
          <p:cNvSpPr/>
          <p:nvPr/>
        </p:nvSpPr>
        <p:spPr>
          <a:xfrm>
            <a:off x="8668440" y="3575160"/>
            <a:ext cx="1242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50" spc="-1" strike="noStrike">
                <a:solidFill>
                  <a:srgbClr val="5b6b86"/>
                </a:solidFill>
                <a:latin typeface="Lato"/>
                <a:ea typeface="Lato"/>
              </a:rPr>
              <a:t>entrada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15"/>
          <p:cNvSpPr/>
          <p:nvPr/>
        </p:nvSpPr>
        <p:spPr>
          <a:xfrm>
            <a:off x="4480560" y="3328200"/>
            <a:ext cx="365760" cy="360"/>
          </a:xfrm>
          <a:prstGeom prst="line">
            <a:avLst/>
          </a:prstGeom>
          <a:ln w="2794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16"/>
          <p:cNvSpPr/>
          <p:nvPr/>
        </p:nvSpPr>
        <p:spPr>
          <a:xfrm>
            <a:off x="7351560" y="3328200"/>
            <a:ext cx="804600" cy="360"/>
          </a:xfrm>
          <a:prstGeom prst="line">
            <a:avLst/>
          </a:prstGeom>
          <a:ln w="2794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17"/>
          <p:cNvSpPr/>
          <p:nvPr/>
        </p:nvSpPr>
        <p:spPr>
          <a:xfrm>
            <a:off x="996840" y="4800600"/>
            <a:ext cx="166356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18"/>
          <p:cNvSpPr/>
          <p:nvPr/>
        </p:nvSpPr>
        <p:spPr>
          <a:xfrm>
            <a:off x="1069920" y="4864680"/>
            <a:ext cx="1517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Abaixo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9"/>
          <p:cNvSpPr/>
          <p:nvPr/>
        </p:nvSpPr>
        <p:spPr>
          <a:xfrm>
            <a:off x="5312520" y="4800600"/>
            <a:ext cx="166356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 20"/>
          <p:cNvSpPr/>
          <p:nvPr/>
        </p:nvSpPr>
        <p:spPr>
          <a:xfrm>
            <a:off x="5385960" y="4864680"/>
            <a:ext cx="1517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Alvo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1"/>
          <p:cNvSpPr/>
          <p:nvPr/>
        </p:nvSpPr>
        <p:spPr>
          <a:xfrm>
            <a:off x="9628560" y="4800600"/>
            <a:ext cx="166356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22"/>
          <p:cNvSpPr/>
          <p:nvPr/>
        </p:nvSpPr>
        <p:spPr>
          <a:xfrm>
            <a:off x="9701640" y="4864680"/>
            <a:ext cx="1517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Acima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 23"/>
          <p:cNvSpPr/>
          <p:nvPr/>
        </p:nvSpPr>
        <p:spPr>
          <a:xfrm>
            <a:off x="2212920" y="5541120"/>
            <a:ext cx="7753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A decisão transforma uma regra em comportamento.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 type="sldNum" idx="23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24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Se / senão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Uma condição cria caminhos diferentes.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2"/>
          <p:cNvSpPr/>
          <p:nvPr/>
        </p:nvSpPr>
        <p:spPr>
          <a:xfrm>
            <a:off x="5047560" y="1974960"/>
            <a:ext cx="2056680" cy="1261080"/>
          </a:xfrm>
          <a:prstGeom prst="diamond">
            <a:avLst/>
          </a:prstGeom>
          <a:solidFill>
            <a:srgbClr val="fff5e9"/>
          </a:solidFill>
          <a:ln w="27940">
            <a:solidFill>
              <a:srgbClr val="f36b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 3"/>
          <p:cNvSpPr/>
          <p:nvPr/>
        </p:nvSpPr>
        <p:spPr>
          <a:xfrm>
            <a:off x="5376600" y="2414160"/>
            <a:ext cx="1398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 lnSpcReduction="10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50" spc="-1" strike="noStrike">
                <a:solidFill>
                  <a:srgbClr val="071a4a"/>
                </a:solidFill>
                <a:latin typeface="DejaVu Sans Mono"/>
                <a:ea typeface="DejaVu Sans Mono"/>
              </a:rPr>
              <a:t>freqCardiaca &lt; 60?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4"/>
          <p:cNvSpPr/>
          <p:nvPr/>
        </p:nvSpPr>
        <p:spPr>
          <a:xfrm flipH="1">
            <a:off x="2926080" y="2843640"/>
            <a:ext cx="2148840" cy="1005840"/>
          </a:xfrm>
          <a:prstGeom prst="line">
            <a:avLst/>
          </a:prstGeom>
          <a:ln w="30480">
            <a:solidFill>
              <a:srgbClr val="10b9f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5"/>
          <p:cNvSpPr/>
          <p:nvPr/>
        </p:nvSpPr>
        <p:spPr>
          <a:xfrm>
            <a:off x="7068240" y="2843640"/>
            <a:ext cx="2148840" cy="1005840"/>
          </a:xfrm>
          <a:prstGeom prst="line">
            <a:avLst/>
          </a:prstGeom>
          <a:ln w="30480">
            <a:solidFill>
              <a:srgbClr val="e72b7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6"/>
          <p:cNvSpPr/>
          <p:nvPr/>
        </p:nvSpPr>
        <p:spPr>
          <a:xfrm>
            <a:off x="3127320" y="321876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 7"/>
          <p:cNvSpPr/>
          <p:nvPr/>
        </p:nvSpPr>
        <p:spPr>
          <a:xfrm>
            <a:off x="3200400" y="328284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SIM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8"/>
          <p:cNvSpPr/>
          <p:nvPr/>
        </p:nvSpPr>
        <p:spPr>
          <a:xfrm>
            <a:off x="8366760" y="321876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9"/>
          <p:cNvSpPr/>
          <p:nvPr/>
        </p:nvSpPr>
        <p:spPr>
          <a:xfrm>
            <a:off x="8439840" y="328284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-1" strike="noStrike">
                <a:solidFill>
                  <a:srgbClr val="ffffff"/>
                </a:solidFill>
                <a:latin typeface="Lato"/>
                <a:ea typeface="Lato"/>
              </a:rPr>
              <a:t>NÃO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0"/>
          <p:cNvSpPr/>
          <p:nvPr/>
        </p:nvSpPr>
        <p:spPr>
          <a:xfrm>
            <a:off x="1060560" y="3950280"/>
            <a:ext cx="3711600" cy="1297800"/>
          </a:xfrm>
          <a:prstGeom prst="roundRect">
            <a:avLst>
              <a:gd name="adj" fmla="val 5634"/>
            </a:avLst>
          </a:prstGeom>
          <a:solidFill>
            <a:srgbClr val="eaf8fe"/>
          </a:solidFill>
          <a:ln w="12700">
            <a:solidFill>
              <a:srgbClr val="c7eaf9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 11"/>
          <p:cNvSpPr/>
          <p:nvPr/>
        </p:nvSpPr>
        <p:spPr>
          <a:xfrm>
            <a:off x="1408320" y="4370760"/>
            <a:ext cx="3016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Lato"/>
                <a:ea typeface="Lato"/>
              </a:rPr>
              <a:t>dizer “abaixo da faixa”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2"/>
          <p:cNvSpPr/>
          <p:nvPr/>
        </p:nvSpPr>
        <p:spPr>
          <a:xfrm>
            <a:off x="7425000" y="3950280"/>
            <a:ext cx="3711600" cy="1297800"/>
          </a:xfrm>
          <a:prstGeom prst="roundRect">
            <a:avLst>
              <a:gd name="adj" fmla="val 5634"/>
            </a:avLst>
          </a:prstGeom>
          <a:solidFill>
            <a:srgbClr val="fff1f6"/>
          </a:solidFill>
          <a:ln w="12700">
            <a:solidFill>
              <a:srgbClr val="f5c6d9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 13"/>
          <p:cNvSpPr/>
          <p:nvPr/>
        </p:nvSpPr>
        <p:spPr>
          <a:xfrm>
            <a:off x="7772400" y="4370760"/>
            <a:ext cx="3016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20" spc="-1" strike="noStrike">
                <a:solidFill>
                  <a:srgbClr val="071a4a"/>
                </a:solidFill>
                <a:latin typeface="Lato"/>
                <a:ea typeface="Lato"/>
              </a:rPr>
              <a:t>seguir para outra decisão</a:t>
            </a:r>
            <a:endParaRPr b="0" lang="pt-BR" sz="1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PlaceHolder 1"/>
          <p:cNvSpPr>
            <a:spLocks noGrp="1"/>
          </p:cNvSpPr>
          <p:nvPr>
            <p:ph type="sldNum" idx="24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25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Primeira condição no Scratch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Teste a fronteira com 59 e 60.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"/>
          <p:cNvSpPr/>
          <p:nvPr/>
        </p:nvSpPr>
        <p:spPr>
          <a:xfrm>
            <a:off x="1005840" y="2157840"/>
            <a:ext cx="1050840" cy="547920"/>
          </a:xfrm>
          <a:prstGeom prst="roundRect">
            <a:avLst>
              <a:gd name="adj" fmla="val 10000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3"/>
          <p:cNvSpPr/>
          <p:nvPr/>
        </p:nvSpPr>
        <p:spPr>
          <a:xfrm>
            <a:off x="1152000" y="2221920"/>
            <a:ext cx="7581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4"/>
          <p:cNvSpPr/>
          <p:nvPr/>
        </p:nvSpPr>
        <p:spPr>
          <a:xfrm>
            <a:off x="1874520" y="2221920"/>
            <a:ext cx="2331000" cy="438120"/>
          </a:xfrm>
          <a:prstGeom prst="roundRect">
            <a:avLst>
              <a:gd name="adj" fmla="val 12500"/>
            </a:avLst>
          </a:prstGeom>
          <a:solidFill>
            <a:srgbClr val="59c059"/>
          </a:solidFill>
          <a:ln w="7620">
            <a:solidFill>
              <a:srgbClr val="59c0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 5"/>
          <p:cNvSpPr/>
          <p:nvPr/>
        </p:nvSpPr>
        <p:spPr>
          <a:xfrm>
            <a:off x="2020680" y="2286000"/>
            <a:ext cx="203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ffffff"/>
                </a:solidFill>
                <a:latin typeface="Lato"/>
                <a:ea typeface="Lato"/>
              </a:rPr>
              <a:t>freqCardiaca &lt; 60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6"/>
          <p:cNvSpPr/>
          <p:nvPr/>
        </p:nvSpPr>
        <p:spPr>
          <a:xfrm>
            <a:off x="1508760" y="2816280"/>
            <a:ext cx="2577960" cy="474840"/>
          </a:xfrm>
          <a:prstGeom prst="roundRect">
            <a:avLst>
              <a:gd name="adj" fmla="val 11538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 7"/>
          <p:cNvSpPr/>
          <p:nvPr/>
        </p:nvSpPr>
        <p:spPr>
          <a:xfrm>
            <a:off x="1654920" y="288036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50" spc="-1" strike="noStrike">
                <a:solidFill>
                  <a:srgbClr val="ffffff"/>
                </a:solidFill>
                <a:latin typeface="Lato"/>
                <a:ea typeface="Lato"/>
              </a:rPr>
              <a:t>diga “abaixo”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8"/>
          <p:cNvSpPr/>
          <p:nvPr/>
        </p:nvSpPr>
        <p:spPr>
          <a:xfrm>
            <a:off x="1005840" y="3383280"/>
            <a:ext cx="1242720" cy="474840"/>
          </a:xfrm>
          <a:prstGeom prst="roundRect">
            <a:avLst>
              <a:gd name="adj" fmla="val 11538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9"/>
          <p:cNvSpPr/>
          <p:nvPr/>
        </p:nvSpPr>
        <p:spPr>
          <a:xfrm>
            <a:off x="1152000" y="3447360"/>
            <a:ext cx="950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50" spc="-1" strike="noStrike">
                <a:solidFill>
                  <a:srgbClr val="071a4a"/>
                </a:solidFill>
                <a:latin typeface="Lato"/>
                <a:ea typeface="Lato"/>
              </a:rPr>
              <a:t>senão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0"/>
          <p:cNvSpPr/>
          <p:nvPr/>
        </p:nvSpPr>
        <p:spPr>
          <a:xfrm>
            <a:off x="1508760" y="3913560"/>
            <a:ext cx="2577960" cy="474840"/>
          </a:xfrm>
          <a:prstGeom prst="roundRect">
            <a:avLst>
              <a:gd name="adj" fmla="val 11538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11"/>
          <p:cNvSpPr/>
          <p:nvPr/>
        </p:nvSpPr>
        <p:spPr>
          <a:xfrm>
            <a:off x="1654920" y="397764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ffffff"/>
                </a:solidFill>
                <a:latin typeface="Lato"/>
                <a:ea typeface="Lato"/>
              </a:rPr>
              <a:t>diga “faixa-alvo ou acima”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12"/>
          <p:cNvSpPr/>
          <p:nvPr/>
        </p:nvSpPr>
        <p:spPr>
          <a:xfrm>
            <a:off x="5897880" y="2139840"/>
            <a:ext cx="1965240" cy="2376720"/>
          </a:xfrm>
          <a:prstGeom prst="roundRect">
            <a:avLst>
              <a:gd name="adj" fmla="val 3721"/>
            </a:avLst>
          </a:prstGeom>
          <a:solidFill>
            <a:srgbClr val="eaf8fe"/>
          </a:solidFill>
          <a:ln w="12700">
            <a:solidFill>
              <a:srgbClr val="c7eaf9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13"/>
          <p:cNvSpPr/>
          <p:nvPr/>
        </p:nvSpPr>
        <p:spPr>
          <a:xfrm>
            <a:off x="6163200" y="2441520"/>
            <a:ext cx="10965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TESTE 1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 14"/>
          <p:cNvSpPr/>
          <p:nvPr/>
        </p:nvSpPr>
        <p:spPr>
          <a:xfrm>
            <a:off x="6199560" y="2871360"/>
            <a:ext cx="1370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000" spc="-1" strike="noStrike">
                <a:solidFill>
                  <a:srgbClr val="10b9f3"/>
                </a:solidFill>
                <a:latin typeface="Inter Display"/>
                <a:ea typeface="Inter Display"/>
              </a:rPr>
              <a:t>59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15"/>
          <p:cNvSpPr/>
          <p:nvPr/>
        </p:nvSpPr>
        <p:spPr>
          <a:xfrm>
            <a:off x="6217920" y="3767400"/>
            <a:ext cx="131616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16"/>
          <p:cNvSpPr/>
          <p:nvPr/>
        </p:nvSpPr>
        <p:spPr>
          <a:xfrm>
            <a:off x="6291000" y="3831480"/>
            <a:ext cx="1169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</a:rPr>
              <a:t>Abaixo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17"/>
          <p:cNvSpPr/>
          <p:nvPr/>
        </p:nvSpPr>
        <p:spPr>
          <a:xfrm>
            <a:off x="8339400" y="2139840"/>
            <a:ext cx="1965240" cy="2376720"/>
          </a:xfrm>
          <a:prstGeom prst="roundRect">
            <a:avLst>
              <a:gd name="adj" fmla="val 3721"/>
            </a:avLst>
          </a:prstGeom>
          <a:solidFill>
            <a:srgbClr val="fff7ec"/>
          </a:solidFill>
          <a:ln w="12700">
            <a:solidFill>
              <a:srgbClr val="f8d8b3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18"/>
          <p:cNvSpPr/>
          <p:nvPr/>
        </p:nvSpPr>
        <p:spPr>
          <a:xfrm>
            <a:off x="8604360" y="2441520"/>
            <a:ext cx="10965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TESTE 2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 19"/>
          <p:cNvSpPr/>
          <p:nvPr/>
        </p:nvSpPr>
        <p:spPr>
          <a:xfrm>
            <a:off x="8641080" y="2871360"/>
            <a:ext cx="137088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000" spc="-1" strike="noStrike">
                <a:solidFill>
                  <a:srgbClr val="f36b21"/>
                </a:solidFill>
                <a:latin typeface="Inter Display"/>
                <a:ea typeface="Inter Display"/>
              </a:rPr>
              <a:t>60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20"/>
          <p:cNvSpPr/>
          <p:nvPr/>
        </p:nvSpPr>
        <p:spPr>
          <a:xfrm>
            <a:off x="8540640" y="3767400"/>
            <a:ext cx="155376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21"/>
          <p:cNvSpPr/>
          <p:nvPr/>
        </p:nvSpPr>
        <p:spPr>
          <a:xfrm>
            <a:off x="8613720" y="3831480"/>
            <a:ext cx="1407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9" spc="-1" strike="noStrike">
                <a:solidFill>
                  <a:srgbClr val="ffffff"/>
                </a:solidFill>
                <a:latin typeface="Lato"/>
              </a:rPr>
              <a:t>faixa-alvo ou acima</a:t>
            </a:r>
            <a:endParaRPr b="0" lang="pt-BR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22"/>
          <p:cNvSpPr/>
          <p:nvPr/>
        </p:nvSpPr>
        <p:spPr>
          <a:xfrm>
            <a:off x="5148000" y="5074920"/>
            <a:ext cx="5915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20" spc="-1" strike="noStrike">
                <a:solidFill>
                  <a:srgbClr val="071a4a"/>
                </a:solidFill>
                <a:latin typeface="Lato"/>
                <a:ea typeface="Lato"/>
              </a:rPr>
              <a:t>Por que 60 não entra na primeira faixa? Porque a condição usa “&lt; 60”.</a:t>
            </a:r>
            <a:endParaRPr b="0" lang="pt-BR" sz="1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1"/>
          <p:cNvSpPr>
            <a:spLocks noGrp="1"/>
          </p:cNvSpPr>
          <p:nvPr>
            <p:ph type="sldNum" idx="25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26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Três faixas didáticas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</a:rPr>
              <a:t>Agora o programa precisa distinguir abaixo, alvo e acima.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2"/>
          <p:cNvSpPr/>
          <p:nvPr/>
        </p:nvSpPr>
        <p:spPr>
          <a:xfrm>
            <a:off x="1051560" y="2487240"/>
            <a:ext cx="410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5b6b86"/>
                </a:solidFill>
                <a:latin typeface="Lato"/>
              </a:rPr>
              <a:t>50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 3"/>
          <p:cNvSpPr/>
          <p:nvPr/>
        </p:nvSpPr>
        <p:spPr>
          <a:xfrm>
            <a:off x="10725840" y="248724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5b6b86"/>
                </a:solidFill>
                <a:latin typeface="Lato"/>
                <a:ea typeface="Lato"/>
              </a:rPr>
              <a:t>100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4"/>
          <p:cNvSpPr/>
          <p:nvPr/>
        </p:nvSpPr>
        <p:spPr>
          <a:xfrm>
            <a:off x="1353240" y="2871360"/>
            <a:ext cx="2678400" cy="657720"/>
          </a:xfrm>
          <a:prstGeom prst="rect">
            <a:avLst/>
          </a:prstGeom>
          <a:solidFill>
            <a:srgbClr val="10b9f3"/>
          </a:solidFill>
          <a:ln w="1270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Shape 5"/>
          <p:cNvSpPr/>
          <p:nvPr/>
        </p:nvSpPr>
        <p:spPr>
          <a:xfrm>
            <a:off x="4032360" y="2871360"/>
            <a:ext cx="3803040" cy="657720"/>
          </a:xfrm>
          <a:prstGeom prst="rect">
            <a:avLst/>
          </a:prstGeom>
          <a:solidFill>
            <a:srgbClr val="f36b21"/>
          </a:solidFill>
          <a:ln w="12700">
            <a:solidFill>
              <a:srgbClr val="f36b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Shape 6"/>
          <p:cNvSpPr/>
          <p:nvPr/>
        </p:nvSpPr>
        <p:spPr>
          <a:xfrm>
            <a:off x="7836480" y="2871360"/>
            <a:ext cx="2998440" cy="657720"/>
          </a:xfrm>
          <a:prstGeom prst="rect">
            <a:avLst/>
          </a:prstGeom>
          <a:solidFill>
            <a:srgbClr val="e72b76"/>
          </a:solidFill>
          <a:ln w="12700">
            <a:solidFill>
              <a:srgbClr val="e72b7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 7"/>
          <p:cNvSpPr/>
          <p:nvPr/>
        </p:nvSpPr>
        <p:spPr>
          <a:xfrm>
            <a:off x="2258640" y="3017520"/>
            <a:ext cx="858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</a:rPr>
              <a:t>ABAIXO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8"/>
          <p:cNvSpPr/>
          <p:nvPr/>
        </p:nvSpPr>
        <p:spPr>
          <a:xfrm>
            <a:off x="5477400" y="3017520"/>
            <a:ext cx="858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</a:rPr>
              <a:t>ALVO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9"/>
          <p:cNvSpPr/>
          <p:nvPr/>
        </p:nvSpPr>
        <p:spPr>
          <a:xfrm>
            <a:off x="8915400" y="3017520"/>
            <a:ext cx="858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ffffff"/>
                </a:solidFill>
                <a:latin typeface="Inter Display"/>
              </a:rPr>
              <a:t>ACIMA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0"/>
          <p:cNvSpPr/>
          <p:nvPr/>
        </p:nvSpPr>
        <p:spPr>
          <a:xfrm>
            <a:off x="4032360" y="2496240"/>
            <a:ext cx="360" cy="1517760"/>
          </a:xfrm>
          <a:prstGeom prst="line">
            <a:avLst/>
          </a:prstGeom>
          <a:ln w="25400">
            <a:solidFill>
              <a:srgbClr val="071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1"/>
          <p:cNvSpPr/>
          <p:nvPr/>
        </p:nvSpPr>
        <p:spPr>
          <a:xfrm>
            <a:off x="7836120" y="2496240"/>
            <a:ext cx="360" cy="1517760"/>
          </a:xfrm>
          <a:prstGeom prst="line">
            <a:avLst/>
          </a:prstGeom>
          <a:ln w="25400">
            <a:solidFill>
              <a:srgbClr val="071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 12"/>
          <p:cNvSpPr/>
          <p:nvPr/>
        </p:nvSpPr>
        <p:spPr>
          <a:xfrm>
            <a:off x="3712320" y="2139840"/>
            <a:ext cx="6393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60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13"/>
          <p:cNvSpPr/>
          <p:nvPr/>
        </p:nvSpPr>
        <p:spPr>
          <a:xfrm>
            <a:off x="7516440" y="2139840"/>
            <a:ext cx="6393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130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 14"/>
          <p:cNvSpPr/>
          <p:nvPr/>
        </p:nvSpPr>
        <p:spPr>
          <a:xfrm>
            <a:off x="2148840" y="3849480"/>
            <a:ext cx="1078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10b9f3"/>
                </a:solidFill>
                <a:latin typeface="Lato"/>
                <a:ea typeface="Lato"/>
              </a:rPr>
              <a:t>&lt; 60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 15"/>
          <p:cNvSpPr/>
          <p:nvPr/>
        </p:nvSpPr>
        <p:spPr>
          <a:xfrm>
            <a:off x="5422320" y="3849480"/>
            <a:ext cx="1078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f36b21"/>
                </a:solidFill>
                <a:latin typeface="Lato"/>
                <a:ea typeface="Lato"/>
              </a:rPr>
              <a:t>60–100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 16"/>
          <p:cNvSpPr/>
          <p:nvPr/>
        </p:nvSpPr>
        <p:spPr>
          <a:xfrm>
            <a:off x="8732520" y="3849480"/>
            <a:ext cx="126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e72b76"/>
                </a:solidFill>
                <a:latin typeface="Lato"/>
                <a:ea typeface="Lato"/>
              </a:rPr>
              <a:t>&gt; 100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7"/>
          <p:cNvSpPr/>
          <p:nvPr/>
        </p:nvSpPr>
        <p:spPr>
          <a:xfrm>
            <a:off x="2057400" y="4736520"/>
            <a:ext cx="8064360" cy="712440"/>
          </a:xfrm>
          <a:prstGeom prst="roundRect">
            <a:avLst>
              <a:gd name="adj" fmla="val 10256"/>
            </a:avLst>
          </a:prstGeom>
          <a:solidFill>
            <a:srgbClr val="fff6ea"/>
          </a:solidFill>
          <a:ln w="12700">
            <a:solidFill>
              <a:srgbClr val="f8d6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18"/>
          <p:cNvSpPr/>
          <p:nvPr/>
        </p:nvSpPr>
        <p:spPr>
          <a:xfrm>
            <a:off x="2322720" y="4946760"/>
            <a:ext cx="7534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50" spc="-1" strike="noStrike">
                <a:solidFill>
                  <a:srgbClr val="82450c"/>
                </a:solidFill>
                <a:latin typeface="Lato"/>
                <a:ea typeface="Lato"/>
              </a:rPr>
              <a:t>60 e 100 são limites didáticos para ensinar programação. Não representam critérios clínicos.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1"/>
          <p:cNvSpPr>
            <a:spLocks noGrp="1"/>
          </p:cNvSpPr>
          <p:nvPr>
            <p:ph type="sldNum" idx="26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27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Condições aninhadas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Se a primeira condição for falsa, fazemos uma segunda pergunta.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"/>
          <p:cNvSpPr/>
          <p:nvPr/>
        </p:nvSpPr>
        <p:spPr>
          <a:xfrm>
            <a:off x="1847160" y="2066400"/>
            <a:ext cx="2084040" cy="1169640"/>
          </a:xfrm>
          <a:prstGeom prst="diamond">
            <a:avLst/>
          </a:prstGeom>
          <a:solidFill>
            <a:srgbClr val="eaf8fe"/>
          </a:solidFill>
          <a:ln w="2540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 3"/>
          <p:cNvSpPr/>
          <p:nvPr/>
        </p:nvSpPr>
        <p:spPr>
          <a:xfrm>
            <a:off x="2459880" y="2477880"/>
            <a:ext cx="858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071a4a"/>
                </a:solidFill>
                <a:latin typeface="DejaVu Sans Mono"/>
                <a:ea typeface="DejaVu Sans Mono"/>
              </a:rPr>
              <a:t>&lt; 60?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4"/>
          <p:cNvSpPr/>
          <p:nvPr/>
        </p:nvSpPr>
        <p:spPr>
          <a:xfrm>
            <a:off x="2862000" y="3236760"/>
            <a:ext cx="360" cy="987480"/>
          </a:xfrm>
          <a:prstGeom prst="line">
            <a:avLst/>
          </a:prstGeom>
          <a:ln w="27940">
            <a:solidFill>
              <a:srgbClr val="10b9f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5"/>
          <p:cNvSpPr/>
          <p:nvPr/>
        </p:nvSpPr>
        <p:spPr>
          <a:xfrm>
            <a:off x="1947600" y="340164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 6"/>
          <p:cNvSpPr/>
          <p:nvPr/>
        </p:nvSpPr>
        <p:spPr>
          <a:xfrm>
            <a:off x="2020680" y="346572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SIM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7"/>
          <p:cNvSpPr/>
          <p:nvPr/>
        </p:nvSpPr>
        <p:spPr>
          <a:xfrm>
            <a:off x="2258640" y="4425840"/>
            <a:ext cx="120636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8"/>
          <p:cNvSpPr/>
          <p:nvPr/>
        </p:nvSpPr>
        <p:spPr>
          <a:xfrm>
            <a:off x="2331720" y="4489560"/>
            <a:ext cx="1059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ffffff"/>
                </a:solidFill>
                <a:latin typeface="Lato"/>
              </a:rPr>
              <a:t>ABAIXO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9"/>
          <p:cNvSpPr/>
          <p:nvPr/>
        </p:nvSpPr>
        <p:spPr>
          <a:xfrm>
            <a:off x="3931920" y="2651760"/>
            <a:ext cx="1856160" cy="360"/>
          </a:xfrm>
          <a:prstGeom prst="line">
            <a:avLst/>
          </a:prstGeom>
          <a:ln w="27940">
            <a:solidFill>
              <a:srgbClr val="f36b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10"/>
          <p:cNvSpPr/>
          <p:nvPr/>
        </p:nvSpPr>
        <p:spPr>
          <a:xfrm>
            <a:off x="4443840" y="226764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11"/>
          <p:cNvSpPr/>
          <p:nvPr/>
        </p:nvSpPr>
        <p:spPr>
          <a:xfrm>
            <a:off x="4517280" y="233172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NÃO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12"/>
          <p:cNvSpPr/>
          <p:nvPr/>
        </p:nvSpPr>
        <p:spPr>
          <a:xfrm>
            <a:off x="5897880" y="2066400"/>
            <a:ext cx="2212200" cy="1169640"/>
          </a:xfrm>
          <a:prstGeom prst="diamond">
            <a:avLst/>
          </a:prstGeom>
          <a:solidFill>
            <a:srgbClr val="fff7ec"/>
          </a:solidFill>
          <a:ln w="25400">
            <a:solidFill>
              <a:srgbClr val="f36b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 13"/>
          <p:cNvSpPr/>
          <p:nvPr/>
        </p:nvSpPr>
        <p:spPr>
          <a:xfrm>
            <a:off x="6510600" y="2477880"/>
            <a:ext cx="986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071a4a"/>
                </a:solidFill>
                <a:latin typeface="DejaVu Sans Mono"/>
              </a:rPr>
              <a:t>≤ </a:t>
            </a:r>
            <a:r>
              <a:rPr b="1" lang="pt-BR" sz="1300" spc="-1" strike="noStrike">
                <a:solidFill>
                  <a:srgbClr val="071a4a"/>
                </a:solidFill>
                <a:latin typeface="DejaVu Sans Mono"/>
              </a:rPr>
              <a:t>100?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14"/>
          <p:cNvSpPr/>
          <p:nvPr/>
        </p:nvSpPr>
        <p:spPr>
          <a:xfrm>
            <a:off x="7004160" y="3236760"/>
            <a:ext cx="360" cy="987480"/>
          </a:xfrm>
          <a:prstGeom prst="line">
            <a:avLst/>
          </a:prstGeom>
          <a:ln w="27940">
            <a:solidFill>
              <a:srgbClr val="f36b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15"/>
          <p:cNvSpPr/>
          <p:nvPr/>
        </p:nvSpPr>
        <p:spPr>
          <a:xfrm>
            <a:off x="6108120" y="340164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16"/>
          <p:cNvSpPr/>
          <p:nvPr/>
        </p:nvSpPr>
        <p:spPr>
          <a:xfrm>
            <a:off x="6181200" y="346572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SIM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17"/>
          <p:cNvSpPr/>
          <p:nvPr/>
        </p:nvSpPr>
        <p:spPr>
          <a:xfrm>
            <a:off x="6409800" y="4425840"/>
            <a:ext cx="120636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18"/>
          <p:cNvSpPr/>
          <p:nvPr/>
        </p:nvSpPr>
        <p:spPr>
          <a:xfrm>
            <a:off x="6483240" y="4489560"/>
            <a:ext cx="1059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ffffff"/>
                </a:solidFill>
                <a:latin typeface="Lato"/>
                <a:ea typeface="Lato"/>
              </a:rPr>
              <a:t>ALVO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19"/>
          <p:cNvSpPr/>
          <p:nvPr/>
        </p:nvSpPr>
        <p:spPr>
          <a:xfrm>
            <a:off x="8110440" y="2651760"/>
            <a:ext cx="1828800" cy="360"/>
          </a:xfrm>
          <a:prstGeom prst="line">
            <a:avLst/>
          </a:prstGeom>
          <a:ln w="27940">
            <a:solidFill>
              <a:srgbClr val="e72b7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20"/>
          <p:cNvSpPr/>
          <p:nvPr/>
        </p:nvSpPr>
        <p:spPr>
          <a:xfrm>
            <a:off x="8613720" y="2267640"/>
            <a:ext cx="68508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21"/>
          <p:cNvSpPr/>
          <p:nvPr/>
        </p:nvSpPr>
        <p:spPr>
          <a:xfrm>
            <a:off x="8686800" y="2331720"/>
            <a:ext cx="538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NÃO</a:t>
            </a:r>
            <a:endParaRPr b="0" lang="pt-BR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22"/>
          <p:cNvSpPr/>
          <p:nvPr/>
        </p:nvSpPr>
        <p:spPr>
          <a:xfrm>
            <a:off x="9720000" y="2340720"/>
            <a:ext cx="120636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 23"/>
          <p:cNvSpPr/>
          <p:nvPr/>
        </p:nvSpPr>
        <p:spPr>
          <a:xfrm>
            <a:off x="9793080" y="2404800"/>
            <a:ext cx="10598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ffffff"/>
                </a:solidFill>
                <a:latin typeface="Lato"/>
                <a:ea typeface="Lato"/>
              </a:rPr>
              <a:t>ACIMA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24"/>
          <p:cNvSpPr/>
          <p:nvPr/>
        </p:nvSpPr>
        <p:spPr>
          <a:xfrm>
            <a:off x="1847160" y="5321880"/>
            <a:ext cx="8987760" cy="474840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 25"/>
          <p:cNvSpPr/>
          <p:nvPr/>
        </p:nvSpPr>
        <p:spPr>
          <a:xfrm>
            <a:off x="2121480" y="5459040"/>
            <a:ext cx="8439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70" spc="-1" strike="noStrike">
                <a:solidFill>
                  <a:srgbClr val="071a4a"/>
                </a:solidFill>
                <a:latin typeface="Lato"/>
              </a:rPr>
              <a:t>A ordem das condições é parte da lógica: primeiro testamos “abaixo”; depois distinguimos “alvo” de “acima”.</a:t>
            </a:r>
            <a:endParaRPr b="0" lang="pt-BR" sz="1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1"/>
          <p:cNvSpPr>
            <a:spLocks noGrp="1"/>
          </p:cNvSpPr>
          <p:nvPr>
            <p:ph type="sldNum" idx="27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28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Testar as fronteiras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Casos próximos aos limites revelam erros rapidamente.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698" name="Table 0"/>
          <p:cNvGraphicFramePr/>
          <p:nvPr/>
        </p:nvGraphicFramePr>
        <p:xfrm>
          <a:off x="1298520" y="2103120"/>
          <a:ext cx="9581760" cy="2449440"/>
        </p:xfrm>
        <a:graphic>
          <a:graphicData uri="http://schemas.openxmlformats.org/drawingml/2006/table">
            <a:tbl>
              <a:tblPr/>
              <a:tblGrid>
                <a:gridCol w="1389600"/>
                <a:gridCol w="2578320"/>
                <a:gridCol w="5614200"/>
              </a:tblGrid>
              <a:tr h="475200"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300" spc="-1" strike="noStrike">
                          <a:solidFill>
                            <a:srgbClr val="ffffff"/>
                          </a:solidFill>
                          <a:latin typeface="Lato"/>
                        </a:rPr>
                        <a:t>Entrada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300" spc="-1" strike="noStrike">
                          <a:solidFill>
                            <a:srgbClr val="ffffff"/>
                          </a:solidFill>
                          <a:latin typeface="Lato"/>
                        </a:rPr>
                        <a:t>Resultado esperado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300" spc="-1" strike="noStrike">
                          <a:solidFill>
                            <a:srgbClr val="ffffff"/>
                          </a:solidFill>
                          <a:latin typeface="Lato"/>
                        </a:rPr>
                        <a:t>Por quê?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59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Abaixo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abaixo do primeiro limite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60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Alvo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no primeiro limite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100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Alvo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no segundo limite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101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Acima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9440" rIns="10944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1300" spc="-1" strike="noStrike">
                          <a:solidFill>
                            <a:srgbClr val="14213d"/>
                          </a:solidFill>
                          <a:latin typeface="Lato"/>
                        </a:rPr>
                        <a:t>acima do segundo limite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9440" marR="109440">
                    <a:lnL w="12240">
                      <a:solidFill>
                        <a:srgbClr val="ced8e6"/>
                      </a:solidFill>
                      <a:prstDash val="solid"/>
                    </a:lnL>
                    <a:lnR w="12240">
                      <a:solidFill>
                        <a:srgbClr val="ced8e6"/>
                      </a:solidFill>
                      <a:prstDash val="solid"/>
                    </a:lnR>
                    <a:lnT w="12240">
                      <a:solidFill>
                        <a:srgbClr val="ced8e6"/>
                      </a:solidFill>
                      <a:prstDash val="solid"/>
                    </a:lnT>
                    <a:lnB w="12240">
                      <a:solidFill>
                        <a:srgbClr val="ced8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9" name="Shape 2"/>
          <p:cNvSpPr/>
          <p:nvPr/>
        </p:nvSpPr>
        <p:spPr>
          <a:xfrm>
            <a:off x="1298520" y="2103120"/>
            <a:ext cx="9582120" cy="474840"/>
          </a:xfrm>
          <a:prstGeom prst="rect">
            <a:avLst/>
          </a:prstGeom>
          <a:solidFill>
            <a:srgbClr val="071a4a"/>
          </a:solidFill>
          <a:ln w="12700">
            <a:solidFill>
              <a:srgbClr val="071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3"/>
          <p:cNvSpPr/>
          <p:nvPr/>
        </p:nvSpPr>
        <p:spPr>
          <a:xfrm>
            <a:off x="1426320" y="2231280"/>
            <a:ext cx="1133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Entrada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 4"/>
          <p:cNvSpPr/>
          <p:nvPr/>
        </p:nvSpPr>
        <p:spPr>
          <a:xfrm>
            <a:off x="2862000" y="2231280"/>
            <a:ext cx="2322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Resultado esperado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 5"/>
          <p:cNvSpPr/>
          <p:nvPr/>
        </p:nvSpPr>
        <p:spPr>
          <a:xfrm>
            <a:off x="5623560" y="2231280"/>
            <a:ext cx="49370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Por quê?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6"/>
          <p:cNvSpPr/>
          <p:nvPr/>
        </p:nvSpPr>
        <p:spPr>
          <a:xfrm>
            <a:off x="4425840" y="5139000"/>
            <a:ext cx="146232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7"/>
          <p:cNvSpPr/>
          <p:nvPr/>
        </p:nvSpPr>
        <p:spPr>
          <a:xfrm>
            <a:off x="4498920" y="5203080"/>
            <a:ext cx="1316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00" spc="-1" strike="noStrike">
                <a:solidFill>
                  <a:srgbClr val="ffffff"/>
                </a:solidFill>
                <a:latin typeface="Lato"/>
                <a:ea typeface="Lato"/>
              </a:rPr>
              <a:t>FRONTEIRAS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 8"/>
          <p:cNvSpPr/>
          <p:nvPr/>
        </p:nvSpPr>
        <p:spPr>
          <a:xfrm>
            <a:off x="1874520" y="5559480"/>
            <a:ext cx="8439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40" spc="-1" strike="noStrike">
                <a:solidFill>
                  <a:srgbClr val="071a4a"/>
                </a:solidFill>
                <a:latin typeface="Lato"/>
                <a:ea typeface="Lato"/>
              </a:rPr>
              <a:t>Testar 59, 60, 100 e 101 é mais informativo do que escolher apenas valores “no meio” das faixas.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1"/>
          <p:cNvSpPr>
            <a:spLocks noGrp="1"/>
          </p:cNvSpPr>
          <p:nvPr>
            <p:ph type="sldNum" idx="28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29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Por que repetir?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Repetição evita copiar o mesmo conjunto de blocos muitas vezes.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2"/>
          <p:cNvSpPr/>
          <p:nvPr/>
        </p:nvSpPr>
        <p:spPr>
          <a:xfrm>
            <a:off x="877680" y="2011680"/>
            <a:ext cx="5046840" cy="3126600"/>
          </a:xfrm>
          <a:prstGeom prst="roundRect">
            <a:avLst>
              <a:gd name="adj" fmla="val 2339"/>
            </a:avLst>
          </a:prstGeom>
          <a:solidFill>
            <a:srgbClr val="fff5f5"/>
          </a:solidFill>
          <a:ln w="12700">
            <a:solidFill>
              <a:srgbClr val="f0d1d1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 3"/>
          <p:cNvSpPr/>
          <p:nvPr/>
        </p:nvSpPr>
        <p:spPr>
          <a:xfrm>
            <a:off x="1170360" y="22950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85b5b"/>
                </a:solidFill>
                <a:latin typeface="Lato"/>
                <a:ea typeface="Lato"/>
              </a:rPr>
              <a:t>COPIAR BLOCOS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4"/>
          <p:cNvSpPr/>
          <p:nvPr/>
        </p:nvSpPr>
        <p:spPr>
          <a:xfrm>
            <a:off x="1207080" y="2797920"/>
            <a:ext cx="3611160" cy="456480"/>
          </a:xfrm>
          <a:prstGeom prst="roundRect">
            <a:avLst>
              <a:gd name="adj" fmla="val 12000"/>
            </a:avLst>
          </a:prstGeom>
          <a:solidFill>
            <a:srgbClr val="4cbfe6"/>
          </a:solidFill>
          <a:ln w="7620">
            <a:solidFill>
              <a:srgbClr val="4cbf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 5"/>
          <p:cNvSpPr/>
          <p:nvPr/>
        </p:nvSpPr>
        <p:spPr>
          <a:xfrm>
            <a:off x="1353240" y="2862000"/>
            <a:ext cx="3318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nova leitura → classificar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6"/>
          <p:cNvSpPr/>
          <p:nvPr/>
        </p:nvSpPr>
        <p:spPr>
          <a:xfrm>
            <a:off x="1207080" y="3410640"/>
            <a:ext cx="3611160" cy="456480"/>
          </a:xfrm>
          <a:prstGeom prst="roundRect">
            <a:avLst>
              <a:gd name="adj" fmla="val 12000"/>
            </a:avLst>
          </a:prstGeom>
          <a:solidFill>
            <a:srgbClr val="9966ff"/>
          </a:solidFill>
          <a:ln w="7620">
            <a:solidFill>
              <a:srgbClr val="99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1353240" y="3474720"/>
            <a:ext cx="3318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nova leitura → classificar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8"/>
          <p:cNvSpPr/>
          <p:nvPr/>
        </p:nvSpPr>
        <p:spPr>
          <a:xfrm>
            <a:off x="1207080" y="4023360"/>
            <a:ext cx="3611160" cy="456480"/>
          </a:xfrm>
          <a:prstGeom prst="roundRect">
            <a:avLst>
              <a:gd name="adj" fmla="val 12000"/>
            </a:avLst>
          </a:prstGeom>
          <a:solidFill>
            <a:srgbClr val="4cbfe6"/>
          </a:solidFill>
          <a:ln w="7620">
            <a:solidFill>
              <a:srgbClr val="4cbf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 9"/>
          <p:cNvSpPr/>
          <p:nvPr/>
        </p:nvSpPr>
        <p:spPr>
          <a:xfrm>
            <a:off x="1353240" y="4087440"/>
            <a:ext cx="3318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nova leitura → classificar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10"/>
          <p:cNvSpPr/>
          <p:nvPr/>
        </p:nvSpPr>
        <p:spPr>
          <a:xfrm>
            <a:off x="1298520" y="4599360"/>
            <a:ext cx="1718280" cy="346680"/>
          </a:xfrm>
          <a:prstGeom prst="roundRect">
            <a:avLst>
              <a:gd name="adj" fmla="val 21053"/>
            </a:avLst>
          </a:prstGeom>
          <a:solidFill>
            <a:srgbClr val="e85b5b"/>
          </a:solidFill>
          <a:ln w="12700">
            <a:solidFill>
              <a:srgbClr val="e85b5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11"/>
          <p:cNvSpPr/>
          <p:nvPr/>
        </p:nvSpPr>
        <p:spPr>
          <a:xfrm>
            <a:off x="1371600" y="4663440"/>
            <a:ext cx="15721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80" spc="-1" strike="noStrike">
                <a:solidFill>
                  <a:srgbClr val="ffffff"/>
                </a:solidFill>
                <a:latin typeface="Lato"/>
                <a:ea typeface="Lato"/>
              </a:rPr>
              <a:t>5× MAIS CÓDIGO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12"/>
          <p:cNvSpPr/>
          <p:nvPr/>
        </p:nvSpPr>
        <p:spPr>
          <a:xfrm>
            <a:off x="6272640" y="2011680"/>
            <a:ext cx="5046840" cy="3126600"/>
          </a:xfrm>
          <a:prstGeom prst="roundRect">
            <a:avLst>
              <a:gd name="adj" fmla="val 2339"/>
            </a:avLst>
          </a:prstGeom>
          <a:solidFill>
            <a:srgbClr val="f1faf2"/>
          </a:solidFill>
          <a:ln w="12700">
            <a:solidFill>
              <a:srgbClr val="cce9d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 13"/>
          <p:cNvSpPr/>
          <p:nvPr/>
        </p:nvSpPr>
        <p:spPr>
          <a:xfrm>
            <a:off x="6565320" y="22950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58c765"/>
                </a:solidFill>
                <a:latin typeface="Lato"/>
                <a:ea typeface="Lato"/>
              </a:rPr>
              <a:t>REPETIR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14"/>
          <p:cNvSpPr/>
          <p:nvPr/>
        </p:nvSpPr>
        <p:spPr>
          <a:xfrm>
            <a:off x="6565320" y="2788920"/>
            <a:ext cx="3565440" cy="493200"/>
          </a:xfrm>
          <a:prstGeom prst="roundRect">
            <a:avLst>
              <a:gd name="adj" fmla="val 11111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 15"/>
          <p:cNvSpPr/>
          <p:nvPr/>
        </p:nvSpPr>
        <p:spPr>
          <a:xfrm>
            <a:off x="6711840" y="2853000"/>
            <a:ext cx="3272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20" spc="-1" strike="noStrike">
                <a:solidFill>
                  <a:srgbClr val="071a4a"/>
                </a:solidFill>
                <a:latin typeface="Lato"/>
                <a:ea typeface="Lato"/>
              </a:rPr>
              <a:t>repita 5 vezes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6"/>
          <p:cNvSpPr/>
          <p:nvPr/>
        </p:nvSpPr>
        <p:spPr>
          <a:xfrm>
            <a:off x="6995160" y="3420000"/>
            <a:ext cx="3199680" cy="474840"/>
          </a:xfrm>
          <a:prstGeom prst="roundRect">
            <a:avLst>
              <a:gd name="adj" fmla="val 11538"/>
            </a:avLst>
          </a:prstGeom>
          <a:solidFill>
            <a:srgbClr val="4cbfe6"/>
          </a:solidFill>
          <a:ln w="7620">
            <a:solidFill>
              <a:srgbClr val="4cbf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 17"/>
          <p:cNvSpPr/>
          <p:nvPr/>
        </p:nvSpPr>
        <p:spPr>
          <a:xfrm>
            <a:off x="7141320" y="3483720"/>
            <a:ext cx="2907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-1" strike="noStrike">
                <a:solidFill>
                  <a:srgbClr val="ffffff"/>
                </a:solidFill>
                <a:latin typeface="Lato"/>
                <a:ea typeface="Lato"/>
              </a:rPr>
              <a:t>nova leitura → classificar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18"/>
          <p:cNvSpPr/>
          <p:nvPr/>
        </p:nvSpPr>
        <p:spPr>
          <a:xfrm>
            <a:off x="6647760" y="4599360"/>
            <a:ext cx="1572120" cy="346680"/>
          </a:xfrm>
          <a:prstGeom prst="roundRect">
            <a:avLst>
              <a:gd name="adj" fmla="val 21053"/>
            </a:avLst>
          </a:prstGeom>
          <a:solidFill>
            <a:srgbClr val="58c765"/>
          </a:solidFill>
          <a:ln w="12700">
            <a:solidFill>
              <a:srgbClr val="58c76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Text 19"/>
          <p:cNvSpPr/>
          <p:nvPr/>
        </p:nvSpPr>
        <p:spPr>
          <a:xfrm>
            <a:off x="6720840" y="4663440"/>
            <a:ext cx="1425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80" spc="-1" strike="noStrike">
                <a:solidFill>
                  <a:srgbClr val="ffffff"/>
                </a:solidFill>
                <a:latin typeface="Lato"/>
                <a:ea typeface="Lato"/>
              </a:rPr>
              <a:t>1× ESTRUTURA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1"/>
          <p:cNvSpPr>
            <a:spLocks noGrp="1"/>
          </p:cNvSpPr>
          <p:nvPr>
            <p:ph type="sldNum" idx="29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30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Repita × Sempre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Dois tipos de repetição; neste exercício usaremos uma repetição contada.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2"/>
          <p:cNvSpPr/>
          <p:nvPr/>
        </p:nvSpPr>
        <p:spPr>
          <a:xfrm>
            <a:off x="1060560" y="2030040"/>
            <a:ext cx="4443120" cy="28522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"/>
          <p:cNvSpPr/>
          <p:nvPr/>
        </p:nvSpPr>
        <p:spPr>
          <a:xfrm>
            <a:off x="1481400" y="2468880"/>
            <a:ext cx="2971080" cy="566280"/>
          </a:xfrm>
          <a:prstGeom prst="roundRect">
            <a:avLst>
              <a:gd name="adj" fmla="val 9677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4"/>
          <p:cNvSpPr/>
          <p:nvPr/>
        </p:nvSpPr>
        <p:spPr>
          <a:xfrm>
            <a:off x="1627560" y="2532960"/>
            <a:ext cx="2678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repita 5 vezes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 5"/>
          <p:cNvSpPr/>
          <p:nvPr/>
        </p:nvSpPr>
        <p:spPr>
          <a:xfrm>
            <a:off x="1490400" y="3374280"/>
            <a:ext cx="356544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  <a:ea typeface="Lato"/>
              </a:rPr>
              <a:t>Executa um número definido de vezes e termina.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6"/>
          <p:cNvSpPr/>
          <p:nvPr/>
        </p:nvSpPr>
        <p:spPr>
          <a:xfrm>
            <a:off x="2103120" y="4325040"/>
            <a:ext cx="2010960" cy="346680"/>
          </a:xfrm>
          <a:prstGeom prst="roundRect">
            <a:avLst>
              <a:gd name="adj" fmla="val 21053"/>
            </a:avLst>
          </a:prstGeom>
          <a:solidFill>
            <a:srgbClr val="58c765"/>
          </a:solidFill>
          <a:ln w="12700">
            <a:solidFill>
              <a:srgbClr val="58c76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 7"/>
          <p:cNvSpPr/>
          <p:nvPr/>
        </p:nvSpPr>
        <p:spPr>
          <a:xfrm>
            <a:off x="2176200" y="4389120"/>
            <a:ext cx="186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20" spc="-1" strike="noStrike">
                <a:solidFill>
                  <a:srgbClr val="ffffff"/>
                </a:solidFill>
                <a:latin typeface="Lato"/>
                <a:ea typeface="Lato"/>
              </a:rPr>
              <a:t>USAREMOS HOJE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8"/>
          <p:cNvSpPr/>
          <p:nvPr/>
        </p:nvSpPr>
        <p:spPr>
          <a:xfrm>
            <a:off x="6656760" y="2030040"/>
            <a:ext cx="4443120" cy="28522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9"/>
          <p:cNvSpPr/>
          <p:nvPr/>
        </p:nvSpPr>
        <p:spPr>
          <a:xfrm>
            <a:off x="7077600" y="2468880"/>
            <a:ext cx="2971080" cy="566280"/>
          </a:xfrm>
          <a:prstGeom prst="roundRect">
            <a:avLst>
              <a:gd name="adj" fmla="val 9677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 10"/>
          <p:cNvSpPr/>
          <p:nvPr/>
        </p:nvSpPr>
        <p:spPr>
          <a:xfrm>
            <a:off x="7223760" y="2532960"/>
            <a:ext cx="2678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Lato"/>
                <a:ea typeface="Lato"/>
              </a:rPr>
              <a:t>sempre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 11"/>
          <p:cNvSpPr/>
          <p:nvPr/>
        </p:nvSpPr>
        <p:spPr>
          <a:xfrm>
            <a:off x="7086600" y="3374280"/>
            <a:ext cx="356544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  <a:ea typeface="Lato"/>
              </a:rPr>
              <a:t>Continua enquanto o programa estiver em execução.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2"/>
          <p:cNvSpPr/>
          <p:nvPr/>
        </p:nvSpPr>
        <p:spPr>
          <a:xfrm>
            <a:off x="7845480" y="4325040"/>
            <a:ext cx="1480680" cy="346680"/>
          </a:xfrm>
          <a:prstGeom prst="roundRect">
            <a:avLst>
              <a:gd name="adj" fmla="val 21053"/>
            </a:avLst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 13"/>
          <p:cNvSpPr/>
          <p:nvPr/>
        </p:nvSpPr>
        <p:spPr>
          <a:xfrm>
            <a:off x="7918560" y="4389120"/>
            <a:ext cx="1334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20" spc="-1" strike="noStrike">
                <a:solidFill>
                  <a:srgbClr val="ffffff"/>
                </a:solidFill>
                <a:latin typeface="Lato"/>
                <a:ea typeface="Lato"/>
              </a:rPr>
              <a:t>CONCEITO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1"/>
          <p:cNvSpPr>
            <a:spLocks noGrp="1"/>
          </p:cNvSpPr>
          <p:nvPr>
            <p:ph type="sldNum" idx="30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31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Simulando novas leituras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Frequência cardíaca sintética entre 50 e 130 bpm dentro de “repita 5 vezes”.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2"/>
          <p:cNvSpPr/>
          <p:nvPr/>
        </p:nvSpPr>
        <p:spPr>
          <a:xfrm>
            <a:off x="877680" y="2103120"/>
            <a:ext cx="3153960" cy="529560"/>
          </a:xfrm>
          <a:prstGeom prst="roundRect">
            <a:avLst>
              <a:gd name="adj" fmla="val 10345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3"/>
          <p:cNvSpPr/>
          <p:nvPr/>
        </p:nvSpPr>
        <p:spPr>
          <a:xfrm>
            <a:off x="1024200" y="2167200"/>
            <a:ext cx="28612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repita 5 vezes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4"/>
          <p:cNvSpPr/>
          <p:nvPr/>
        </p:nvSpPr>
        <p:spPr>
          <a:xfrm>
            <a:off x="1280160" y="2724840"/>
            <a:ext cx="3976920" cy="547920"/>
          </a:xfrm>
          <a:prstGeom prst="roundRect">
            <a:avLst>
              <a:gd name="adj" fmla="val 10000"/>
            </a:avLst>
          </a:prstGeom>
          <a:solidFill>
            <a:srgbClr val="ff8c1a"/>
          </a:solidFill>
          <a:ln w="7620">
            <a:solidFill>
              <a:srgbClr val="ff8c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 5"/>
          <p:cNvSpPr/>
          <p:nvPr/>
        </p:nvSpPr>
        <p:spPr>
          <a:xfrm>
            <a:off x="1426320" y="2788920"/>
            <a:ext cx="36842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60" spc="-1" strike="noStrike">
                <a:solidFill>
                  <a:srgbClr val="ffffff"/>
                </a:solidFill>
                <a:latin typeface="Lato"/>
              </a:rPr>
              <a:t>defina freqCardiaca para número aleatório 50–130</a:t>
            </a:r>
            <a:endParaRPr b="0" lang="pt-BR" sz="12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 6"/>
          <p:cNvSpPr/>
          <p:nvPr/>
        </p:nvSpPr>
        <p:spPr>
          <a:xfrm>
            <a:off x="5888880" y="2103120"/>
            <a:ext cx="4296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Exemplo de uma execução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7"/>
          <p:cNvSpPr/>
          <p:nvPr/>
        </p:nvSpPr>
        <p:spPr>
          <a:xfrm>
            <a:off x="5559480" y="2688480"/>
            <a:ext cx="876960" cy="1416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 8"/>
          <p:cNvSpPr/>
          <p:nvPr/>
        </p:nvSpPr>
        <p:spPr>
          <a:xfrm>
            <a:off x="5623560" y="2926080"/>
            <a:ext cx="7491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55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9"/>
          <p:cNvSpPr/>
          <p:nvPr/>
        </p:nvSpPr>
        <p:spPr>
          <a:xfrm>
            <a:off x="5650920" y="3529440"/>
            <a:ext cx="69408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 10"/>
          <p:cNvSpPr/>
          <p:nvPr/>
        </p:nvSpPr>
        <p:spPr>
          <a:xfrm>
            <a:off x="5724000" y="3593520"/>
            <a:ext cx="547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ABAIXO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1"/>
          <p:cNvSpPr/>
          <p:nvPr/>
        </p:nvSpPr>
        <p:spPr>
          <a:xfrm>
            <a:off x="6656760" y="2688480"/>
            <a:ext cx="876960" cy="1416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 12"/>
          <p:cNvSpPr/>
          <p:nvPr/>
        </p:nvSpPr>
        <p:spPr>
          <a:xfrm>
            <a:off x="6720840" y="2926080"/>
            <a:ext cx="7491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</a:rPr>
              <a:t>78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13"/>
          <p:cNvSpPr/>
          <p:nvPr/>
        </p:nvSpPr>
        <p:spPr>
          <a:xfrm>
            <a:off x="6748200" y="3529440"/>
            <a:ext cx="69408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 14"/>
          <p:cNvSpPr/>
          <p:nvPr/>
        </p:nvSpPr>
        <p:spPr>
          <a:xfrm>
            <a:off x="6821280" y="3593520"/>
            <a:ext cx="547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ALVO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5"/>
          <p:cNvSpPr/>
          <p:nvPr/>
        </p:nvSpPr>
        <p:spPr>
          <a:xfrm>
            <a:off x="7754040" y="2688480"/>
            <a:ext cx="876960" cy="1416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 16"/>
          <p:cNvSpPr/>
          <p:nvPr/>
        </p:nvSpPr>
        <p:spPr>
          <a:xfrm>
            <a:off x="7818120" y="2926080"/>
            <a:ext cx="7491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112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17"/>
          <p:cNvSpPr/>
          <p:nvPr/>
        </p:nvSpPr>
        <p:spPr>
          <a:xfrm>
            <a:off x="7845480" y="3529440"/>
            <a:ext cx="69408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 18"/>
          <p:cNvSpPr/>
          <p:nvPr/>
        </p:nvSpPr>
        <p:spPr>
          <a:xfrm>
            <a:off x="7918560" y="3593520"/>
            <a:ext cx="547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ACIMA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19"/>
          <p:cNvSpPr/>
          <p:nvPr/>
        </p:nvSpPr>
        <p:spPr>
          <a:xfrm>
            <a:off x="8851320" y="2688480"/>
            <a:ext cx="876960" cy="1416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20"/>
          <p:cNvSpPr/>
          <p:nvPr/>
        </p:nvSpPr>
        <p:spPr>
          <a:xfrm>
            <a:off x="8915400" y="2926080"/>
            <a:ext cx="7491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92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1"/>
          <p:cNvSpPr/>
          <p:nvPr/>
        </p:nvSpPr>
        <p:spPr>
          <a:xfrm>
            <a:off x="8942760" y="3529440"/>
            <a:ext cx="69408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 22"/>
          <p:cNvSpPr/>
          <p:nvPr/>
        </p:nvSpPr>
        <p:spPr>
          <a:xfrm>
            <a:off x="9015840" y="3593520"/>
            <a:ext cx="547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ALVO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23"/>
          <p:cNvSpPr/>
          <p:nvPr/>
        </p:nvSpPr>
        <p:spPr>
          <a:xfrm>
            <a:off x="9948600" y="2688480"/>
            <a:ext cx="876960" cy="1416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 24"/>
          <p:cNvSpPr/>
          <p:nvPr/>
        </p:nvSpPr>
        <p:spPr>
          <a:xfrm>
            <a:off x="10012680" y="2926080"/>
            <a:ext cx="7491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71a4a"/>
                </a:solidFill>
                <a:latin typeface="Inter Display"/>
                <a:ea typeface="Inter Display"/>
              </a:rPr>
              <a:t>64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5"/>
          <p:cNvSpPr/>
          <p:nvPr/>
        </p:nvSpPr>
        <p:spPr>
          <a:xfrm>
            <a:off x="10040040" y="3529440"/>
            <a:ext cx="69408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 26"/>
          <p:cNvSpPr/>
          <p:nvPr/>
        </p:nvSpPr>
        <p:spPr>
          <a:xfrm>
            <a:off x="10113120" y="3593520"/>
            <a:ext cx="547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</a:rPr>
              <a:t>ALVO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27"/>
          <p:cNvSpPr/>
          <p:nvPr/>
        </p:nvSpPr>
        <p:spPr>
          <a:xfrm>
            <a:off x="5157000" y="3447000"/>
            <a:ext cx="311040" cy="360"/>
          </a:xfrm>
          <a:prstGeom prst="line">
            <a:avLst/>
          </a:prstGeom>
          <a:ln w="2794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8"/>
          <p:cNvSpPr/>
          <p:nvPr/>
        </p:nvSpPr>
        <p:spPr>
          <a:xfrm>
            <a:off x="1170360" y="4242960"/>
            <a:ext cx="9874800" cy="749160"/>
          </a:xfrm>
          <a:prstGeom prst="roundRect">
            <a:avLst>
              <a:gd name="adj" fmla="val 9756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 29"/>
          <p:cNvSpPr/>
          <p:nvPr/>
        </p:nvSpPr>
        <p:spPr>
          <a:xfrm>
            <a:off x="1472040" y="4471560"/>
            <a:ext cx="927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Lato"/>
              </a:rPr>
              <a:t>Cada repetição precisa gerar/receber o valor, classificar e mostrar o resultado — o fluxo inteiro se repete.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1"/>
          <p:cNvSpPr>
            <a:spLocks noGrp="1"/>
          </p:cNvSpPr>
          <p:nvPr>
            <p:ph type="sldNum" idx="31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32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Nosso algoritmo completo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Agora já conseguimos enxergar o projeto inteiro.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2"/>
          <p:cNvSpPr/>
          <p:nvPr/>
        </p:nvSpPr>
        <p:spPr>
          <a:xfrm>
            <a:off x="68580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3"/>
          <p:cNvSpPr/>
          <p:nvPr/>
        </p:nvSpPr>
        <p:spPr>
          <a:xfrm>
            <a:off x="1179720" y="2670120"/>
            <a:ext cx="584640" cy="584640"/>
          </a:xfrm>
          <a:prstGeom prst="ellipse">
            <a:avLst/>
          </a:prstGeom>
          <a:solidFill>
            <a:srgbClr val="071a4a"/>
          </a:solidFill>
          <a:ln w="12700">
            <a:solidFill>
              <a:srgbClr val="071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4"/>
          <p:cNvSpPr/>
          <p:nvPr/>
        </p:nvSpPr>
        <p:spPr>
          <a:xfrm>
            <a:off x="117972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1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 5"/>
          <p:cNvSpPr/>
          <p:nvPr/>
        </p:nvSpPr>
        <p:spPr>
          <a:xfrm>
            <a:off x="83196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Evento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 6"/>
          <p:cNvSpPr/>
          <p:nvPr/>
        </p:nvSpPr>
        <p:spPr>
          <a:xfrm>
            <a:off x="83196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bandeira verde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7"/>
          <p:cNvSpPr/>
          <p:nvPr/>
        </p:nvSpPr>
        <p:spPr>
          <a:xfrm>
            <a:off x="2313360" y="3355560"/>
            <a:ext cx="191880" cy="360"/>
          </a:xfrm>
          <a:prstGeom prst="line">
            <a:avLst/>
          </a:prstGeom>
          <a:ln w="2159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8"/>
          <p:cNvSpPr/>
          <p:nvPr/>
        </p:nvSpPr>
        <p:spPr>
          <a:xfrm>
            <a:off x="253296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9"/>
          <p:cNvSpPr/>
          <p:nvPr/>
        </p:nvSpPr>
        <p:spPr>
          <a:xfrm>
            <a:off x="3026520" y="2670120"/>
            <a:ext cx="584640" cy="584640"/>
          </a:xfrm>
          <a:prstGeom prst="ellipse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10"/>
          <p:cNvSpPr/>
          <p:nvPr/>
        </p:nvSpPr>
        <p:spPr>
          <a:xfrm>
            <a:off x="302652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2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 11"/>
          <p:cNvSpPr/>
          <p:nvPr/>
        </p:nvSpPr>
        <p:spPr>
          <a:xfrm>
            <a:off x="267912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Repetição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 12"/>
          <p:cNvSpPr/>
          <p:nvPr/>
        </p:nvSpPr>
        <p:spPr>
          <a:xfrm>
            <a:off x="267912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5 leituras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3"/>
          <p:cNvSpPr/>
          <p:nvPr/>
        </p:nvSpPr>
        <p:spPr>
          <a:xfrm>
            <a:off x="4160520" y="3355560"/>
            <a:ext cx="191880" cy="360"/>
          </a:xfrm>
          <a:prstGeom prst="line">
            <a:avLst/>
          </a:prstGeom>
          <a:ln w="2159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4"/>
          <p:cNvSpPr/>
          <p:nvPr/>
        </p:nvSpPr>
        <p:spPr>
          <a:xfrm>
            <a:off x="438012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5"/>
          <p:cNvSpPr/>
          <p:nvPr/>
        </p:nvSpPr>
        <p:spPr>
          <a:xfrm>
            <a:off x="4873680" y="2670120"/>
            <a:ext cx="584640" cy="584640"/>
          </a:xfrm>
          <a:prstGeom prst="ellipse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 16"/>
          <p:cNvSpPr/>
          <p:nvPr/>
        </p:nvSpPr>
        <p:spPr>
          <a:xfrm>
            <a:off x="487368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3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 17"/>
          <p:cNvSpPr/>
          <p:nvPr/>
        </p:nvSpPr>
        <p:spPr>
          <a:xfrm>
            <a:off x="452628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Entrada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 18"/>
          <p:cNvSpPr/>
          <p:nvPr/>
        </p:nvSpPr>
        <p:spPr>
          <a:xfrm>
            <a:off x="452628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gerar / receber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9"/>
          <p:cNvSpPr/>
          <p:nvPr/>
        </p:nvSpPr>
        <p:spPr>
          <a:xfrm>
            <a:off x="6007320" y="3355560"/>
            <a:ext cx="192240" cy="360"/>
          </a:xfrm>
          <a:prstGeom prst="line">
            <a:avLst/>
          </a:prstGeom>
          <a:ln w="2159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0"/>
          <p:cNvSpPr/>
          <p:nvPr/>
        </p:nvSpPr>
        <p:spPr>
          <a:xfrm>
            <a:off x="622692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1"/>
          <p:cNvSpPr/>
          <p:nvPr/>
        </p:nvSpPr>
        <p:spPr>
          <a:xfrm>
            <a:off x="6720840" y="2670120"/>
            <a:ext cx="584640" cy="584640"/>
          </a:xfrm>
          <a:prstGeom prst="ellipse">
            <a:avLst/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 22"/>
          <p:cNvSpPr/>
          <p:nvPr/>
        </p:nvSpPr>
        <p:spPr>
          <a:xfrm>
            <a:off x="672084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4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 23"/>
          <p:cNvSpPr/>
          <p:nvPr/>
        </p:nvSpPr>
        <p:spPr>
          <a:xfrm>
            <a:off x="637344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Variável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 24"/>
          <p:cNvSpPr/>
          <p:nvPr/>
        </p:nvSpPr>
        <p:spPr>
          <a:xfrm>
            <a:off x="637344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freqCardiaca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5"/>
          <p:cNvSpPr/>
          <p:nvPr/>
        </p:nvSpPr>
        <p:spPr>
          <a:xfrm>
            <a:off x="7854480" y="3355560"/>
            <a:ext cx="192240" cy="360"/>
          </a:xfrm>
          <a:prstGeom prst="line">
            <a:avLst/>
          </a:prstGeom>
          <a:ln w="2159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6"/>
          <p:cNvSpPr/>
          <p:nvPr/>
        </p:nvSpPr>
        <p:spPr>
          <a:xfrm>
            <a:off x="807408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7"/>
          <p:cNvSpPr/>
          <p:nvPr/>
        </p:nvSpPr>
        <p:spPr>
          <a:xfrm>
            <a:off x="8568000" y="2670120"/>
            <a:ext cx="584640" cy="584640"/>
          </a:xfrm>
          <a:prstGeom prst="ellipse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 28"/>
          <p:cNvSpPr/>
          <p:nvPr/>
        </p:nvSpPr>
        <p:spPr>
          <a:xfrm>
            <a:off x="856800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5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 29"/>
          <p:cNvSpPr/>
          <p:nvPr/>
        </p:nvSpPr>
        <p:spPr>
          <a:xfrm>
            <a:off x="822060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Decisão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 30"/>
          <p:cNvSpPr/>
          <p:nvPr/>
        </p:nvSpPr>
        <p:spPr>
          <a:xfrm>
            <a:off x="822060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A / B / C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1"/>
          <p:cNvSpPr/>
          <p:nvPr/>
        </p:nvSpPr>
        <p:spPr>
          <a:xfrm>
            <a:off x="9701640" y="3355560"/>
            <a:ext cx="191880" cy="360"/>
          </a:xfrm>
          <a:prstGeom prst="line">
            <a:avLst/>
          </a:prstGeom>
          <a:ln w="2159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32"/>
          <p:cNvSpPr/>
          <p:nvPr/>
        </p:nvSpPr>
        <p:spPr>
          <a:xfrm>
            <a:off x="9921240" y="2395800"/>
            <a:ext cx="1572120" cy="1992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33"/>
          <p:cNvSpPr/>
          <p:nvPr/>
        </p:nvSpPr>
        <p:spPr>
          <a:xfrm>
            <a:off x="10415160" y="2670120"/>
            <a:ext cx="584640" cy="584640"/>
          </a:xfrm>
          <a:prstGeom prst="ellipse">
            <a:avLst/>
          </a:prstGeom>
          <a:solidFill>
            <a:srgbClr val="2c7cc0"/>
          </a:solidFill>
          <a:ln w="12700">
            <a:solidFill>
              <a:srgbClr val="2c7cc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 34"/>
          <p:cNvSpPr/>
          <p:nvPr/>
        </p:nvSpPr>
        <p:spPr>
          <a:xfrm>
            <a:off x="10415160" y="2706480"/>
            <a:ext cx="5846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6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 35"/>
          <p:cNvSpPr/>
          <p:nvPr/>
        </p:nvSpPr>
        <p:spPr>
          <a:xfrm>
            <a:off x="10067400" y="3493080"/>
            <a:ext cx="1279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3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Saída</a:t>
            </a:r>
            <a:endParaRPr b="0" lang="pt-BR" sz="1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 36"/>
          <p:cNvSpPr/>
          <p:nvPr/>
        </p:nvSpPr>
        <p:spPr>
          <a:xfrm>
            <a:off x="10067400" y="3849480"/>
            <a:ext cx="1279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970" spc="-1" strike="noStrike">
                <a:solidFill>
                  <a:srgbClr val="5b6b86"/>
                </a:solidFill>
                <a:latin typeface="Lato"/>
                <a:ea typeface="Lato"/>
              </a:rPr>
              <a:t>mensagem visual</a:t>
            </a:r>
            <a:endParaRPr b="0" lang="pt-BR" sz="9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7"/>
          <p:cNvSpPr/>
          <p:nvPr/>
        </p:nvSpPr>
        <p:spPr>
          <a:xfrm flipH="1">
            <a:off x="3291840" y="4709160"/>
            <a:ext cx="7424640" cy="621720"/>
          </a:xfrm>
          <a:prstGeom prst="line">
            <a:avLst/>
          </a:prstGeom>
          <a:ln w="22860">
            <a:solidFill>
              <a:srgbClr val="f36b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 38"/>
          <p:cNvSpPr/>
          <p:nvPr/>
        </p:nvSpPr>
        <p:spPr>
          <a:xfrm>
            <a:off x="4800600" y="5129640"/>
            <a:ext cx="3199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  <a:ea typeface="Lato"/>
              </a:rPr>
              <a:t>volta para a próxima leitura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1"/>
          <p:cNvSpPr>
            <a:spLocks noGrp="1"/>
          </p:cNvSpPr>
          <p:nvPr>
            <p:ph type="sldNum" idx="32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33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4" name="Connector 1"/>
          <p:cNvCxnSpPr/>
          <p:nvPr/>
        </p:nvCxnSpPr>
        <p:spPr>
          <a:xfrm>
            <a:off x="0" y="502920"/>
            <a:ext cx="12189240" cy="360"/>
          </a:xfrm>
          <a:prstGeom prst="straightConnector1">
            <a:avLst/>
          </a:prstGeom>
          <a:ln w="19050">
            <a:solidFill>
              <a:srgbClr val="f72585"/>
            </a:solidFill>
          </a:ln>
        </p:spPr>
      </p:cxnSp>
      <p:cxnSp>
        <p:nvCxnSpPr>
          <p:cNvPr id="815" name="Connector 2"/>
          <p:cNvCxnSpPr/>
          <p:nvPr/>
        </p:nvCxnSpPr>
        <p:spPr>
          <a:xfrm>
            <a:off x="0" y="502920"/>
            <a:ext cx="3749040" cy="360"/>
          </a:xfrm>
          <a:prstGeom prst="straightConnector1">
            <a:avLst/>
          </a:prstGeom>
          <a:ln w="19050">
            <a:solidFill>
              <a:srgbClr val="10b9f3"/>
            </a:solidFill>
          </a:ln>
        </p:spPr>
      </p:cxnSp>
      <p:pic>
        <p:nvPicPr>
          <p:cNvPr id="816" name="Picture 3" descr="ocean_logo_color_clean.png"/>
          <p:cNvPicPr/>
          <p:nvPr/>
        </p:nvPicPr>
        <p:blipFill>
          <a:blip r:embed="rId1"/>
          <a:stretch/>
        </p:blipFill>
        <p:spPr>
          <a:xfrm>
            <a:off x="731520" y="255960"/>
            <a:ext cx="1005480" cy="266400"/>
          </a:xfrm>
          <a:prstGeom prst="rect">
            <a:avLst/>
          </a:prstGeom>
          <a:ln w="0">
            <a:noFill/>
          </a:ln>
        </p:spPr>
      </p:pic>
      <p:sp>
        <p:nvSpPr>
          <p:cNvPr id="817" name="TextBox 4"/>
          <p:cNvSpPr/>
          <p:nvPr/>
        </p:nvSpPr>
        <p:spPr>
          <a:xfrm>
            <a:off x="7543800" y="265320"/>
            <a:ext cx="384012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r">
              <a:lnSpc>
                <a:spcPct val="100000"/>
              </a:lnSpc>
            </a:pPr>
            <a:r>
              <a:rPr b="0" lang="pt-BR" sz="820" spc="-1" strike="noStrike">
                <a:solidFill>
                  <a:srgbClr val="b8c8e3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Hexagon 5"/>
          <p:cNvSpPr/>
          <p:nvPr/>
        </p:nvSpPr>
        <p:spPr>
          <a:xfrm>
            <a:off x="182880" y="91440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19" name="Hexagon 6"/>
          <p:cNvSpPr/>
          <p:nvPr/>
        </p:nvSpPr>
        <p:spPr>
          <a:xfrm>
            <a:off x="10789920" y="123444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0" name="Hexagon 7"/>
          <p:cNvSpPr/>
          <p:nvPr/>
        </p:nvSpPr>
        <p:spPr>
          <a:xfrm>
            <a:off x="457200" y="580644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1" name="Hexagon 8"/>
          <p:cNvSpPr/>
          <p:nvPr/>
        </p:nvSpPr>
        <p:spPr>
          <a:xfrm>
            <a:off x="10607040" y="548640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2" name="TextBox 9"/>
          <p:cNvSpPr/>
          <p:nvPr/>
        </p:nvSpPr>
        <p:spPr>
          <a:xfrm>
            <a:off x="822960" y="1234440"/>
            <a:ext cx="365724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10b9f3"/>
                </a:solidFill>
                <a:latin typeface="Lato"/>
              </a:rPr>
              <a:t>MINI-EXEMPLO 1 · 15 MIN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Box 10"/>
          <p:cNvSpPr/>
          <p:nvPr/>
        </p:nvSpPr>
        <p:spPr>
          <a:xfrm>
            <a:off x="804600" y="1664280"/>
            <a:ext cx="7863480" cy="5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3300" spc="-1" strike="noStrike">
                <a:solidFill>
                  <a:srgbClr val="ffffff"/>
                </a:solidFill>
                <a:latin typeface="Inter Display"/>
              </a:rPr>
              <a:t>Lembrete de pausa ativa</a:t>
            </a:r>
            <a:endParaRPr b="0" lang="pt-BR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11"/>
          <p:cNvSpPr/>
          <p:nvPr/>
        </p:nvSpPr>
        <p:spPr>
          <a:xfrm>
            <a:off x="822960" y="2377440"/>
            <a:ext cx="886932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ced8ea"/>
                </a:solidFill>
                <a:latin typeface="Lato"/>
              </a:rPr>
              <a:t>Explorar eventos, espera, mensagens, cenário, figurino e som — sem abandonar a lógica.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Rounded Rectangle 12"/>
          <p:cNvSpPr/>
          <p:nvPr/>
        </p:nvSpPr>
        <p:spPr>
          <a:xfrm>
            <a:off x="86868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6" name="TextBox 13"/>
          <p:cNvSpPr/>
          <p:nvPr/>
        </p:nvSpPr>
        <p:spPr>
          <a:xfrm>
            <a:off x="99684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10b9f3"/>
                </a:solidFill>
                <a:latin typeface="Lato"/>
              </a:rPr>
              <a:t>EVENTO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14"/>
          <p:cNvSpPr/>
          <p:nvPr/>
        </p:nvSpPr>
        <p:spPr>
          <a:xfrm>
            <a:off x="97848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bandeira verde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15"/>
          <p:cNvSpPr/>
          <p:nvPr/>
        </p:nvSpPr>
        <p:spPr>
          <a:xfrm>
            <a:off x="301752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29" name="TextBox 16"/>
          <p:cNvSpPr/>
          <p:nvPr/>
        </p:nvSpPr>
        <p:spPr>
          <a:xfrm>
            <a:off x="314568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10b9f3"/>
                </a:solidFill>
                <a:latin typeface="Lato"/>
              </a:rPr>
              <a:t>TEMPO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Box 17"/>
          <p:cNvSpPr/>
          <p:nvPr/>
        </p:nvSpPr>
        <p:spPr>
          <a:xfrm>
            <a:off x="312732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espere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18"/>
          <p:cNvSpPr/>
          <p:nvPr/>
        </p:nvSpPr>
        <p:spPr>
          <a:xfrm>
            <a:off x="516636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2" name="TextBox 19"/>
          <p:cNvSpPr/>
          <p:nvPr/>
        </p:nvSpPr>
        <p:spPr>
          <a:xfrm>
            <a:off x="529452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10b9f3"/>
                </a:solidFill>
                <a:latin typeface="Lato"/>
              </a:rPr>
              <a:t>MENSAGEM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0"/>
          <p:cNvSpPr/>
          <p:nvPr/>
        </p:nvSpPr>
        <p:spPr>
          <a:xfrm>
            <a:off x="527616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transmita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Rounded Rectangle 21"/>
          <p:cNvSpPr/>
          <p:nvPr/>
        </p:nvSpPr>
        <p:spPr>
          <a:xfrm>
            <a:off x="731520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5" name="TextBox 22"/>
          <p:cNvSpPr/>
          <p:nvPr/>
        </p:nvSpPr>
        <p:spPr>
          <a:xfrm>
            <a:off x="744336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10b9f3"/>
                </a:solidFill>
                <a:latin typeface="Lato"/>
              </a:rPr>
              <a:t>APARÊNCIA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Box 23"/>
          <p:cNvSpPr/>
          <p:nvPr/>
        </p:nvSpPr>
        <p:spPr>
          <a:xfrm>
            <a:off x="742500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mude cenário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Rounded Rectangle 24"/>
          <p:cNvSpPr/>
          <p:nvPr/>
        </p:nvSpPr>
        <p:spPr>
          <a:xfrm>
            <a:off x="946404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38" name="TextBox 25"/>
          <p:cNvSpPr/>
          <p:nvPr/>
        </p:nvSpPr>
        <p:spPr>
          <a:xfrm>
            <a:off x="959220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10b9f3"/>
                </a:solidFill>
                <a:latin typeface="Lato"/>
              </a:rPr>
              <a:t>SOM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26"/>
          <p:cNvSpPr/>
          <p:nvPr/>
        </p:nvSpPr>
        <p:spPr>
          <a:xfrm>
            <a:off x="957384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toque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Rounded Rectangle 27"/>
          <p:cNvSpPr/>
          <p:nvPr/>
        </p:nvSpPr>
        <p:spPr>
          <a:xfrm>
            <a:off x="1143000" y="5230440"/>
            <a:ext cx="9875160" cy="54828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dde6f6"/>
                </a:solidFill>
                <a:latin typeface="Lato"/>
              </a:rPr>
              <a:t>Objetivo: perceber que vários scripts podem cooperar por eventos e mensagens.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TextBox 28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34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3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844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845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846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847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848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Montando o lembrete de pausa ativa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Dois scripts cooperam: um controla o tempo; outro reage à mensagem.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9"/>
          <p:cNvSpPr/>
          <p:nvPr/>
        </p:nvSpPr>
        <p:spPr>
          <a:xfrm>
            <a:off x="777240" y="1847160"/>
            <a:ext cx="28342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SCRIPT 1 · TEMPORIZADOR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ounded Rectangle 10"/>
          <p:cNvSpPr/>
          <p:nvPr/>
        </p:nvSpPr>
        <p:spPr>
          <a:xfrm>
            <a:off x="841320" y="2240280"/>
            <a:ext cx="2925720" cy="420120"/>
          </a:xfrm>
          <a:prstGeom prst="roundRect">
            <a:avLst>
              <a:gd name="adj" fmla="val 16667"/>
            </a:avLst>
          </a:prstGeom>
          <a:solidFill>
            <a:srgbClr val="f6b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80" spc="-1" strike="noStrike">
                <a:solidFill>
                  <a:srgbClr val="ffffff"/>
                </a:solidFill>
                <a:latin typeface="Lato"/>
              </a:rPr>
              <a:t>quando ⚑ clicada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11"/>
          <p:cNvSpPr/>
          <p:nvPr/>
        </p:nvSpPr>
        <p:spPr>
          <a:xfrm>
            <a:off x="841320" y="2770560"/>
            <a:ext cx="2514240" cy="42012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80" spc="-1" strike="noStrike">
                <a:solidFill>
                  <a:srgbClr val="ffffff"/>
                </a:solidFill>
                <a:latin typeface="Lato"/>
              </a:rPr>
              <a:t>espere 10 s</a:t>
            </a:r>
            <a:endParaRPr b="0" lang="pt-BR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Rounded Rectangle 12"/>
          <p:cNvSpPr/>
          <p:nvPr/>
        </p:nvSpPr>
        <p:spPr>
          <a:xfrm>
            <a:off x="841320" y="3300840"/>
            <a:ext cx="3017160" cy="42012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80" spc="-1" strike="noStrike">
                <a:solidFill>
                  <a:srgbClr val="ffffff"/>
                </a:solidFill>
                <a:latin typeface="Lato"/>
              </a:rPr>
              <a:t>transmita “PAUSA”</a:t>
            </a:r>
            <a:endParaRPr b="0" lang="pt-BR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Box 13"/>
          <p:cNvSpPr/>
          <p:nvPr/>
        </p:nvSpPr>
        <p:spPr>
          <a:xfrm>
            <a:off x="4343400" y="1847160"/>
            <a:ext cx="3108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SCRIPT 2 · ATOR / INTERFACE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ounded Rectangle 14"/>
          <p:cNvSpPr/>
          <p:nvPr/>
        </p:nvSpPr>
        <p:spPr>
          <a:xfrm>
            <a:off x="4407480" y="2240280"/>
            <a:ext cx="3245760" cy="420120"/>
          </a:xfrm>
          <a:prstGeom prst="roundRect">
            <a:avLst>
              <a:gd name="adj" fmla="val 16667"/>
            </a:avLst>
          </a:prstGeom>
          <a:solidFill>
            <a:srgbClr val="f6b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ffffff"/>
                </a:solidFill>
                <a:latin typeface="Lato"/>
              </a:rPr>
              <a:t>quando receber “PAUSA”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5"/>
          <p:cNvSpPr/>
          <p:nvPr/>
        </p:nvSpPr>
        <p:spPr>
          <a:xfrm>
            <a:off x="4407480" y="2752200"/>
            <a:ext cx="3245760" cy="42012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ffffff"/>
                </a:solidFill>
                <a:latin typeface="Lato"/>
              </a:rPr>
              <a:t>mude cenário para “pausa”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Rounded Rectangle 16"/>
          <p:cNvSpPr/>
          <p:nvPr/>
        </p:nvSpPr>
        <p:spPr>
          <a:xfrm>
            <a:off x="4407480" y="3264480"/>
            <a:ext cx="3154320" cy="42012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ffffff"/>
                </a:solidFill>
                <a:latin typeface="Lato"/>
              </a:rPr>
              <a:t>diga “Hora de se mover!”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Rounded Rectangle 17"/>
          <p:cNvSpPr/>
          <p:nvPr/>
        </p:nvSpPr>
        <p:spPr>
          <a:xfrm>
            <a:off x="4407480" y="3776400"/>
            <a:ext cx="2742840" cy="42012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50" spc="-1" strike="noStrike">
                <a:solidFill>
                  <a:srgbClr val="ffffff"/>
                </a:solidFill>
                <a:latin typeface="Lato"/>
              </a:rPr>
              <a:t>toque som “alerta”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Rounded Rectangle 18"/>
          <p:cNvSpPr/>
          <p:nvPr/>
        </p:nvSpPr>
        <p:spPr>
          <a:xfrm>
            <a:off x="8229600" y="2048400"/>
            <a:ext cx="3062880" cy="3062880"/>
          </a:xfrm>
          <a:prstGeom prst="roundRect">
            <a:avLst>
              <a:gd name="adj" fmla="val 16667"/>
            </a:avLst>
          </a:prstGeom>
          <a:solidFill>
            <a:srgbClr val="eef7fc"/>
          </a:solidFill>
          <a:ln w="12700">
            <a:solidFill>
              <a:srgbClr val="cf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60" name="TextBox 19"/>
          <p:cNvSpPr/>
          <p:nvPr/>
        </p:nvSpPr>
        <p:spPr>
          <a:xfrm>
            <a:off x="8485560" y="2304360"/>
            <a:ext cx="255996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O que explorar no Scratch?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Oval 20"/>
          <p:cNvSpPr/>
          <p:nvPr/>
        </p:nvSpPr>
        <p:spPr>
          <a:xfrm>
            <a:off x="8522280" y="2971800"/>
            <a:ext cx="237240" cy="237240"/>
          </a:xfrm>
          <a:prstGeom prst="ellipse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Box 21"/>
          <p:cNvSpPr/>
          <p:nvPr/>
        </p:nvSpPr>
        <p:spPr>
          <a:xfrm>
            <a:off x="8888040" y="2907720"/>
            <a:ext cx="2057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Mais de um script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Oval 22"/>
          <p:cNvSpPr/>
          <p:nvPr/>
        </p:nvSpPr>
        <p:spPr>
          <a:xfrm>
            <a:off x="8522280" y="3456360"/>
            <a:ext cx="237240" cy="237240"/>
          </a:xfrm>
          <a:prstGeom prst="ellipse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TextBox 23"/>
          <p:cNvSpPr/>
          <p:nvPr/>
        </p:nvSpPr>
        <p:spPr>
          <a:xfrm>
            <a:off x="8888040" y="3392280"/>
            <a:ext cx="2057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Eventos assíncronos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Oval 24"/>
          <p:cNvSpPr/>
          <p:nvPr/>
        </p:nvSpPr>
        <p:spPr>
          <a:xfrm>
            <a:off x="8522280" y="3940920"/>
            <a:ext cx="237240" cy="237240"/>
          </a:xfrm>
          <a:prstGeom prst="ellipse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TextBox 25"/>
          <p:cNvSpPr/>
          <p:nvPr/>
        </p:nvSpPr>
        <p:spPr>
          <a:xfrm>
            <a:off x="8888040" y="3877200"/>
            <a:ext cx="2057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Mensagem entre atores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Oval 26"/>
          <p:cNvSpPr/>
          <p:nvPr/>
        </p:nvSpPr>
        <p:spPr>
          <a:xfrm>
            <a:off x="8522280" y="4425840"/>
            <a:ext cx="237240" cy="237240"/>
          </a:xfrm>
          <a:prstGeom prst="ellipse">
            <a:avLst/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27"/>
          <p:cNvSpPr/>
          <p:nvPr/>
        </p:nvSpPr>
        <p:spPr>
          <a:xfrm>
            <a:off x="8888040" y="4361760"/>
            <a:ext cx="2057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Cenário + som + fala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28"/>
          <p:cNvSpPr/>
          <p:nvPr/>
        </p:nvSpPr>
        <p:spPr>
          <a:xfrm>
            <a:off x="1097280" y="5623560"/>
            <a:ext cx="9920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Variação: troque 10 s por um tempo curto na aula e depois altere para outro valor.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29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35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07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1" name="Connector 1"/>
          <p:cNvCxnSpPr/>
          <p:nvPr/>
        </p:nvCxnSpPr>
        <p:spPr>
          <a:xfrm>
            <a:off x="0" y="502920"/>
            <a:ext cx="12189240" cy="360"/>
          </a:xfrm>
          <a:prstGeom prst="straightConnector1">
            <a:avLst/>
          </a:prstGeom>
          <a:ln w="19050">
            <a:solidFill>
              <a:srgbClr val="f72585"/>
            </a:solidFill>
          </a:ln>
        </p:spPr>
      </p:cxnSp>
      <p:cxnSp>
        <p:nvCxnSpPr>
          <p:cNvPr id="872" name="Connector 2"/>
          <p:cNvCxnSpPr/>
          <p:nvPr/>
        </p:nvCxnSpPr>
        <p:spPr>
          <a:xfrm>
            <a:off x="0" y="502920"/>
            <a:ext cx="3749040" cy="360"/>
          </a:xfrm>
          <a:prstGeom prst="straightConnector1">
            <a:avLst/>
          </a:prstGeom>
          <a:ln w="19050">
            <a:solidFill>
              <a:srgbClr val="10b9f3"/>
            </a:solidFill>
          </a:ln>
        </p:spPr>
      </p:cxnSp>
      <p:pic>
        <p:nvPicPr>
          <p:cNvPr id="873" name="Picture 3" descr="ocean_logo_color_clean.png"/>
          <p:cNvPicPr/>
          <p:nvPr/>
        </p:nvPicPr>
        <p:blipFill>
          <a:blip r:embed="rId1"/>
          <a:stretch/>
        </p:blipFill>
        <p:spPr>
          <a:xfrm>
            <a:off x="731520" y="255960"/>
            <a:ext cx="1005480" cy="266400"/>
          </a:xfrm>
          <a:prstGeom prst="rect">
            <a:avLst/>
          </a:prstGeom>
          <a:ln w="0">
            <a:noFill/>
          </a:ln>
        </p:spPr>
      </p:pic>
      <p:sp>
        <p:nvSpPr>
          <p:cNvPr id="874" name="TextBox 4"/>
          <p:cNvSpPr/>
          <p:nvPr/>
        </p:nvSpPr>
        <p:spPr>
          <a:xfrm>
            <a:off x="7543800" y="265320"/>
            <a:ext cx="384012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r">
              <a:lnSpc>
                <a:spcPct val="100000"/>
              </a:lnSpc>
            </a:pPr>
            <a:r>
              <a:rPr b="0" lang="pt-BR" sz="820" spc="-1" strike="noStrike">
                <a:solidFill>
                  <a:srgbClr val="b8c8e3"/>
                </a:solidFill>
                <a:latin typeface="Lato"/>
              </a:rPr>
              <a:t>RESIDÊNCIA EM TIC 53 · TRILHA PROGRAMAÇÃO</a:t>
            </a:r>
            <a:endParaRPr b="0" lang="pt-BR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Hexagon 5"/>
          <p:cNvSpPr/>
          <p:nvPr/>
        </p:nvSpPr>
        <p:spPr>
          <a:xfrm>
            <a:off x="182880" y="91440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f72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6" name="Hexagon 6"/>
          <p:cNvSpPr/>
          <p:nvPr/>
        </p:nvSpPr>
        <p:spPr>
          <a:xfrm>
            <a:off x="10789920" y="123444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f36b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7" name="Hexagon 7"/>
          <p:cNvSpPr/>
          <p:nvPr/>
        </p:nvSpPr>
        <p:spPr>
          <a:xfrm>
            <a:off x="457200" y="580644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725a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8" name="Hexagon 8"/>
          <p:cNvSpPr/>
          <p:nvPr/>
        </p:nvSpPr>
        <p:spPr>
          <a:xfrm>
            <a:off x="10607040" y="5486400"/>
            <a:ext cx="502560" cy="438480"/>
          </a:xfrm>
          <a:prstGeom prst="hexagon">
            <a:avLst>
              <a:gd name="adj" fmla="val 25000"/>
              <a:gd name="vf" fmla="val 115470"/>
            </a:avLst>
          </a:prstGeom>
          <a:noFill/>
          <a:ln w="12700">
            <a:solidFill>
              <a:srgbClr val="10b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79" name="TextBox 9"/>
          <p:cNvSpPr/>
          <p:nvPr/>
        </p:nvSpPr>
        <p:spPr>
          <a:xfrm>
            <a:off x="822960" y="1234440"/>
            <a:ext cx="365724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100" spc="-1" strike="noStrike">
                <a:solidFill>
                  <a:srgbClr val="f36b21"/>
                </a:solidFill>
                <a:latin typeface="Lato"/>
              </a:rPr>
              <a:t>MINI-EXEMPLO 2 · 15 MIN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10"/>
          <p:cNvSpPr/>
          <p:nvPr/>
        </p:nvSpPr>
        <p:spPr>
          <a:xfrm>
            <a:off x="804600" y="1664280"/>
            <a:ext cx="8046360" cy="5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3300" spc="-1" strike="noStrike">
                <a:solidFill>
                  <a:srgbClr val="ffffff"/>
                </a:solidFill>
                <a:latin typeface="Inter Display"/>
              </a:rPr>
              <a:t>Contador de passos simulado</a:t>
            </a:r>
            <a:endParaRPr b="0" lang="pt-BR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11"/>
          <p:cNvSpPr/>
          <p:nvPr/>
        </p:nvSpPr>
        <p:spPr>
          <a:xfrm>
            <a:off x="822960" y="2377440"/>
            <a:ext cx="932652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ced8ea"/>
                </a:solidFill>
                <a:latin typeface="Lato"/>
              </a:rPr>
              <a:t>Usar teclas, movimento do ator, variável, condição e mensagem para criar uma experiência interativa.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Rounded Rectangle 12"/>
          <p:cNvSpPr/>
          <p:nvPr/>
        </p:nvSpPr>
        <p:spPr>
          <a:xfrm>
            <a:off x="86868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3" name="TextBox 13"/>
          <p:cNvSpPr/>
          <p:nvPr/>
        </p:nvSpPr>
        <p:spPr>
          <a:xfrm>
            <a:off x="99684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f36b21"/>
                </a:solidFill>
                <a:latin typeface="Lato"/>
              </a:rPr>
              <a:t>TECLA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Box 14"/>
          <p:cNvSpPr/>
          <p:nvPr/>
        </p:nvSpPr>
        <p:spPr>
          <a:xfrm>
            <a:off x="97848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evento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Rounded Rectangle 15"/>
          <p:cNvSpPr/>
          <p:nvPr/>
        </p:nvSpPr>
        <p:spPr>
          <a:xfrm>
            <a:off x="301752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6" name="TextBox 16"/>
          <p:cNvSpPr/>
          <p:nvPr/>
        </p:nvSpPr>
        <p:spPr>
          <a:xfrm>
            <a:off x="314568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f36b21"/>
                </a:solidFill>
                <a:latin typeface="Lato"/>
              </a:rPr>
              <a:t>MOVIMENTO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TextBox 17"/>
          <p:cNvSpPr/>
          <p:nvPr/>
        </p:nvSpPr>
        <p:spPr>
          <a:xfrm>
            <a:off x="312732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mova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Rounded Rectangle 18"/>
          <p:cNvSpPr/>
          <p:nvPr/>
        </p:nvSpPr>
        <p:spPr>
          <a:xfrm>
            <a:off x="516636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89" name="TextBox 19"/>
          <p:cNvSpPr/>
          <p:nvPr/>
        </p:nvSpPr>
        <p:spPr>
          <a:xfrm>
            <a:off x="529452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f36b21"/>
                </a:solidFill>
                <a:latin typeface="Lato"/>
              </a:rPr>
              <a:t>VARIÁVEL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Box 20"/>
          <p:cNvSpPr/>
          <p:nvPr/>
        </p:nvSpPr>
        <p:spPr>
          <a:xfrm>
            <a:off x="527616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passos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Rounded Rectangle 21"/>
          <p:cNvSpPr/>
          <p:nvPr/>
        </p:nvSpPr>
        <p:spPr>
          <a:xfrm>
            <a:off x="731520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2" name="TextBox 22"/>
          <p:cNvSpPr/>
          <p:nvPr/>
        </p:nvSpPr>
        <p:spPr>
          <a:xfrm>
            <a:off x="744336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f36b21"/>
                </a:solidFill>
                <a:latin typeface="Lato"/>
              </a:rPr>
              <a:t>DECISÃO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TextBox 23"/>
          <p:cNvSpPr/>
          <p:nvPr/>
        </p:nvSpPr>
        <p:spPr>
          <a:xfrm>
            <a:off x="742500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se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Rounded Rectangle 24"/>
          <p:cNvSpPr/>
          <p:nvPr/>
        </p:nvSpPr>
        <p:spPr>
          <a:xfrm>
            <a:off x="9464040" y="382212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895" name="TextBox 25"/>
          <p:cNvSpPr/>
          <p:nvPr/>
        </p:nvSpPr>
        <p:spPr>
          <a:xfrm>
            <a:off x="9592200" y="3977640"/>
            <a:ext cx="166392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850" spc="-1" strike="noStrike">
                <a:solidFill>
                  <a:srgbClr val="f36b21"/>
                </a:solidFill>
                <a:latin typeface="Lato"/>
              </a:rPr>
              <a:t>MENSAGEM</a:t>
            </a:r>
            <a:endParaRPr b="0" lang="pt-BR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TextBox 26"/>
          <p:cNvSpPr/>
          <p:nvPr/>
        </p:nvSpPr>
        <p:spPr>
          <a:xfrm>
            <a:off x="9573840" y="4270320"/>
            <a:ext cx="1700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meta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Rounded Rectangle 27"/>
          <p:cNvSpPr/>
          <p:nvPr/>
        </p:nvSpPr>
        <p:spPr>
          <a:xfrm>
            <a:off x="1143000" y="5230440"/>
            <a:ext cx="9875160" cy="548280"/>
          </a:xfrm>
          <a:prstGeom prst="roundRect">
            <a:avLst>
              <a:gd name="adj" fmla="val 16667"/>
            </a:avLst>
          </a:prstGeom>
          <a:solidFill>
            <a:srgbClr val="10285e"/>
          </a:solidFill>
          <a:ln w="12700">
            <a:solidFill>
              <a:srgbClr val="264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400" spc="-1" strike="noStrike">
                <a:solidFill>
                  <a:srgbClr val="dde6f6"/>
                </a:solidFill>
                <a:latin typeface="Lato"/>
              </a:rPr>
              <a:t>Objetivo: transformar interação do usuário em estado do programa.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Box 28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36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0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901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902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903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904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905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Montando o contador de passos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Cada tecla altera o movimento e o valor da variável “passos”.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9"/>
          <p:cNvSpPr/>
          <p:nvPr/>
        </p:nvSpPr>
        <p:spPr>
          <a:xfrm>
            <a:off x="777240" y="1847160"/>
            <a:ext cx="2011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ATOR PRINCIPAL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10"/>
          <p:cNvSpPr/>
          <p:nvPr/>
        </p:nvSpPr>
        <p:spPr>
          <a:xfrm>
            <a:off x="841320" y="2240280"/>
            <a:ext cx="3062880" cy="392760"/>
          </a:xfrm>
          <a:prstGeom prst="roundRect">
            <a:avLst>
              <a:gd name="adj" fmla="val 16667"/>
            </a:avLst>
          </a:prstGeom>
          <a:solidFill>
            <a:srgbClr val="f6b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quando tecla → pressionada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Rounded Rectangle 11"/>
          <p:cNvSpPr/>
          <p:nvPr/>
        </p:nvSpPr>
        <p:spPr>
          <a:xfrm>
            <a:off x="841320" y="2715840"/>
            <a:ext cx="2559960" cy="392760"/>
          </a:xfrm>
          <a:prstGeom prst="roundRect">
            <a:avLst>
              <a:gd name="adj" fmla="val 16667"/>
            </a:avLst>
          </a:prstGeom>
          <a:solidFill>
            <a:srgbClr val="10b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mova 10 passos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Rounded Rectangle 12"/>
          <p:cNvSpPr/>
          <p:nvPr/>
        </p:nvSpPr>
        <p:spPr>
          <a:xfrm>
            <a:off x="841320" y="3191400"/>
            <a:ext cx="2971440" cy="39276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adicione 1 a “passos”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Rounded Rectangle 13"/>
          <p:cNvSpPr/>
          <p:nvPr/>
        </p:nvSpPr>
        <p:spPr>
          <a:xfrm>
            <a:off x="841320" y="3666600"/>
            <a:ext cx="2377080" cy="392760"/>
          </a:xfrm>
          <a:prstGeom prst="roundRect">
            <a:avLst>
              <a:gd name="adj" fmla="val 16667"/>
            </a:avLst>
          </a:prstGeom>
          <a:solidFill>
            <a:srgbClr val="f36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se passos = 20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Rounded Rectangle 14"/>
          <p:cNvSpPr/>
          <p:nvPr/>
        </p:nvSpPr>
        <p:spPr>
          <a:xfrm>
            <a:off x="841320" y="4142160"/>
            <a:ext cx="2834280" cy="39276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40" spc="-1" strike="noStrike">
                <a:solidFill>
                  <a:srgbClr val="ffffff"/>
                </a:solidFill>
                <a:latin typeface="Lato"/>
              </a:rPr>
              <a:t>transmita “META”</a:t>
            </a:r>
            <a:endParaRPr b="0" lang="pt-BR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TextBox 15"/>
          <p:cNvSpPr/>
          <p:nvPr/>
        </p:nvSpPr>
        <p:spPr>
          <a:xfrm>
            <a:off x="4343400" y="1847160"/>
            <a:ext cx="2011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ATOR “META”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16"/>
          <p:cNvSpPr/>
          <p:nvPr/>
        </p:nvSpPr>
        <p:spPr>
          <a:xfrm>
            <a:off x="4407480" y="2240280"/>
            <a:ext cx="3017160" cy="392760"/>
          </a:xfrm>
          <a:prstGeom prst="roundRect">
            <a:avLst>
              <a:gd name="adj" fmla="val 16667"/>
            </a:avLst>
          </a:prstGeom>
          <a:solidFill>
            <a:srgbClr val="f6b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20" spc="-1" strike="noStrike">
                <a:solidFill>
                  <a:srgbClr val="ffffff"/>
                </a:solidFill>
                <a:latin typeface="Lato"/>
              </a:rPr>
              <a:t>quando receber “META”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Rounded Rectangle 17"/>
          <p:cNvSpPr/>
          <p:nvPr/>
        </p:nvSpPr>
        <p:spPr>
          <a:xfrm>
            <a:off x="4407480" y="2734200"/>
            <a:ext cx="3382920" cy="39276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20" spc="-1" strike="noStrike">
                <a:solidFill>
                  <a:srgbClr val="ffffff"/>
                </a:solidFill>
                <a:latin typeface="Lato"/>
              </a:rPr>
              <a:t>mude para figurino “parabéns”</a:t>
            </a:r>
            <a:endParaRPr b="0" lang="pt-BR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Rounded Rectangle 18"/>
          <p:cNvSpPr/>
          <p:nvPr/>
        </p:nvSpPr>
        <p:spPr>
          <a:xfrm>
            <a:off x="4407480" y="3227760"/>
            <a:ext cx="2377080" cy="392760"/>
          </a:xfrm>
          <a:prstGeom prst="roundRect">
            <a:avLst>
              <a:gd name="adj" fmla="val 16667"/>
            </a:avLst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20" spc="-1" strike="noStrike">
                <a:solidFill>
                  <a:srgbClr val="ffffff"/>
                </a:solidFill>
                <a:latin typeface="Lato"/>
              </a:rPr>
              <a:t>toque som</a:t>
            </a:r>
            <a:endParaRPr b="0" lang="pt-BR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Rounded Rectangle 19"/>
          <p:cNvSpPr/>
          <p:nvPr/>
        </p:nvSpPr>
        <p:spPr>
          <a:xfrm>
            <a:off x="4407480" y="3721680"/>
            <a:ext cx="2925720" cy="392760"/>
          </a:xfrm>
          <a:prstGeom prst="roundRect">
            <a:avLst>
              <a:gd name="adj" fmla="val 16667"/>
            </a:avLst>
          </a:prstGeom>
          <a:solidFill>
            <a:srgbClr val="725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120" spc="-1" strike="noStrike">
                <a:solidFill>
                  <a:srgbClr val="ffffff"/>
                </a:solidFill>
                <a:latin typeface="Lato"/>
              </a:rPr>
              <a:t>diga “Meta do jogo!”</a:t>
            </a:r>
            <a:endParaRPr b="0" lang="pt-BR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Rounded Rectangle 20"/>
          <p:cNvSpPr/>
          <p:nvPr/>
        </p:nvSpPr>
        <p:spPr>
          <a:xfrm>
            <a:off x="8229600" y="1993320"/>
            <a:ext cx="3062880" cy="3200040"/>
          </a:xfrm>
          <a:prstGeom prst="roundRect">
            <a:avLst>
              <a:gd name="adj" fmla="val 16667"/>
            </a:avLst>
          </a:prstGeom>
          <a:solidFill>
            <a:srgbClr val="ecfaf4"/>
          </a:solidFill>
          <a:ln w="12700">
            <a:solidFill>
              <a:srgbClr val="cdee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19" name="TextBox 21"/>
          <p:cNvSpPr/>
          <p:nvPr/>
        </p:nvSpPr>
        <p:spPr>
          <a:xfrm>
            <a:off x="8549640" y="2286000"/>
            <a:ext cx="242280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600" spc="-1" strike="noStrike">
                <a:solidFill>
                  <a:srgbClr val="071a4a"/>
                </a:solidFill>
                <a:latin typeface="Inter Display"/>
              </a:rPr>
              <a:t>Conceitos reforçados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Oval 22"/>
          <p:cNvSpPr/>
          <p:nvPr/>
        </p:nvSpPr>
        <p:spPr>
          <a:xfrm>
            <a:off x="8549640" y="2971800"/>
            <a:ext cx="255600" cy="255600"/>
          </a:xfrm>
          <a:prstGeom prst="ellipse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Box 23"/>
          <p:cNvSpPr/>
          <p:nvPr/>
        </p:nvSpPr>
        <p:spPr>
          <a:xfrm>
            <a:off x="8933760" y="2907720"/>
            <a:ext cx="1965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Estado muda com eventos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Oval 24"/>
          <p:cNvSpPr/>
          <p:nvPr/>
        </p:nvSpPr>
        <p:spPr>
          <a:xfrm>
            <a:off x="8549640" y="3483720"/>
            <a:ext cx="255600" cy="255600"/>
          </a:xfrm>
          <a:prstGeom prst="ellipse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Box 25"/>
          <p:cNvSpPr/>
          <p:nvPr/>
        </p:nvSpPr>
        <p:spPr>
          <a:xfrm>
            <a:off x="8933760" y="3420000"/>
            <a:ext cx="1965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Variável como memória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Oval 26"/>
          <p:cNvSpPr/>
          <p:nvPr/>
        </p:nvSpPr>
        <p:spPr>
          <a:xfrm>
            <a:off x="8549640" y="3996000"/>
            <a:ext cx="255600" cy="255600"/>
          </a:xfrm>
          <a:prstGeom prst="ellipse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Box 27"/>
          <p:cNvSpPr/>
          <p:nvPr/>
        </p:nvSpPr>
        <p:spPr>
          <a:xfrm>
            <a:off x="8933760" y="3931920"/>
            <a:ext cx="1965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Condição dispara ação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Oval 28"/>
          <p:cNvSpPr/>
          <p:nvPr/>
        </p:nvSpPr>
        <p:spPr>
          <a:xfrm>
            <a:off x="8549640" y="4507920"/>
            <a:ext cx="255600" cy="255600"/>
          </a:xfrm>
          <a:prstGeom prst="ellipse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TextBox 29"/>
          <p:cNvSpPr/>
          <p:nvPr/>
        </p:nvSpPr>
        <p:spPr>
          <a:xfrm>
            <a:off x="8933760" y="4443840"/>
            <a:ext cx="1965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60" spc="-1" strike="noStrike">
                <a:solidFill>
                  <a:srgbClr val="14213d"/>
                </a:solidFill>
                <a:latin typeface="Lato"/>
              </a:rPr>
              <a:t>Um ator reage a outro</a:t>
            </a:r>
            <a:endParaRPr b="0" lang="pt-BR" sz="11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30"/>
          <p:cNvSpPr/>
          <p:nvPr/>
        </p:nvSpPr>
        <p:spPr>
          <a:xfrm>
            <a:off x="1097280" y="5623560"/>
            <a:ext cx="9920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50" spc="-1" strike="noStrike">
                <a:solidFill>
                  <a:srgbClr val="5b6b86"/>
                </a:solidFill>
                <a:latin typeface="Lato"/>
              </a:rPr>
              <a:t>Na aula, use uma meta pequena (por exemplo, 5) para testar rapidamente.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31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37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Text 6"/>
          <p:cNvSpPr/>
          <p:nvPr/>
        </p:nvSpPr>
        <p:spPr>
          <a:xfrm>
            <a:off x="749880" y="1115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114" strike="noStrike">
                <a:solidFill>
                  <a:srgbClr val="10b9f3"/>
                </a:solidFill>
                <a:latin typeface="Lato"/>
                <a:ea typeface="Lato"/>
              </a:rPr>
              <a:t>PROJETO INTEGRADO · 25 MIN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7"/>
          <p:cNvSpPr/>
          <p:nvPr/>
        </p:nvSpPr>
        <p:spPr>
          <a:xfrm>
            <a:off x="731520" y="1481400"/>
            <a:ext cx="89146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Construa um painel de um wearable multiparamétrico simulado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 8"/>
          <p:cNvSpPr/>
          <p:nvPr/>
        </p:nvSpPr>
        <p:spPr>
          <a:xfrm>
            <a:off x="749880" y="265176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620" spc="-1" strike="noStrike">
                <a:solidFill>
                  <a:srgbClr val="ced8ea"/>
                </a:solidFill>
                <a:latin typeface="Lato"/>
                <a:ea typeface="Lato"/>
              </a:rPr>
              <a:t>Use FC, temperatura e passos simulados. O exercício não tem finalidade clínica.</a:t>
            </a:r>
            <a:endParaRPr b="0" lang="pt-BR" sz="1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Shape 9"/>
          <p:cNvSpPr/>
          <p:nvPr/>
        </p:nvSpPr>
        <p:spPr>
          <a:xfrm>
            <a:off x="804600" y="38952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Text 10"/>
          <p:cNvSpPr/>
          <p:nvPr/>
        </p:nvSpPr>
        <p:spPr>
          <a:xfrm>
            <a:off x="951120" y="40050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VARIÁVEIS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Text 11"/>
          <p:cNvSpPr/>
          <p:nvPr/>
        </p:nvSpPr>
        <p:spPr>
          <a:xfrm>
            <a:off x="1965960" y="39866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valorSensor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Shape 12"/>
          <p:cNvSpPr/>
          <p:nvPr/>
        </p:nvSpPr>
        <p:spPr>
          <a:xfrm>
            <a:off x="4535280" y="38952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 13"/>
          <p:cNvSpPr/>
          <p:nvPr/>
        </p:nvSpPr>
        <p:spPr>
          <a:xfrm>
            <a:off x="4681800" y="40050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ENTRADA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Text 14"/>
          <p:cNvSpPr/>
          <p:nvPr/>
        </p:nvSpPr>
        <p:spPr>
          <a:xfrm>
            <a:off x="5696640" y="39866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manual ou sintética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Shape 15"/>
          <p:cNvSpPr/>
          <p:nvPr/>
        </p:nvSpPr>
        <p:spPr>
          <a:xfrm>
            <a:off x="8266320" y="38952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 16"/>
          <p:cNvSpPr/>
          <p:nvPr/>
        </p:nvSpPr>
        <p:spPr>
          <a:xfrm>
            <a:off x="8412480" y="40050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DECISÃO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 17"/>
          <p:cNvSpPr/>
          <p:nvPr/>
        </p:nvSpPr>
        <p:spPr>
          <a:xfrm>
            <a:off x="9427320" y="39866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regras combinadas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Shape 18"/>
          <p:cNvSpPr/>
          <p:nvPr/>
        </p:nvSpPr>
        <p:spPr>
          <a:xfrm>
            <a:off x="804600" y="46818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Text 19"/>
          <p:cNvSpPr/>
          <p:nvPr/>
        </p:nvSpPr>
        <p:spPr>
          <a:xfrm>
            <a:off x="951120" y="47916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REPETIÇÃO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 20"/>
          <p:cNvSpPr/>
          <p:nvPr/>
        </p:nvSpPr>
        <p:spPr>
          <a:xfrm>
            <a:off x="1965960" y="47732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novas leituras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Shape 21"/>
          <p:cNvSpPr/>
          <p:nvPr/>
        </p:nvSpPr>
        <p:spPr>
          <a:xfrm>
            <a:off x="4535280" y="46818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 22"/>
          <p:cNvSpPr/>
          <p:nvPr/>
        </p:nvSpPr>
        <p:spPr>
          <a:xfrm>
            <a:off x="4681800" y="47916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SAÍDA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Text 23"/>
          <p:cNvSpPr/>
          <p:nvPr/>
        </p:nvSpPr>
        <p:spPr>
          <a:xfrm>
            <a:off x="5696640" y="47732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painel + ator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Shape 24"/>
          <p:cNvSpPr/>
          <p:nvPr/>
        </p:nvSpPr>
        <p:spPr>
          <a:xfrm>
            <a:off x="8266320" y="4681800"/>
            <a:ext cx="3336840" cy="602640"/>
          </a:xfrm>
          <a:prstGeom prst="roundRect">
            <a:avLst>
              <a:gd name="adj" fmla="val 12121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Text 25"/>
          <p:cNvSpPr/>
          <p:nvPr/>
        </p:nvSpPr>
        <p:spPr>
          <a:xfrm>
            <a:off x="8412480" y="4791600"/>
            <a:ext cx="9777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889" spc="55" strike="noStrike">
                <a:solidFill>
                  <a:srgbClr val="10b9f3"/>
                </a:solidFill>
                <a:latin typeface="Lato"/>
                <a:ea typeface="Lato"/>
              </a:rPr>
              <a:t>TESTES</a:t>
            </a:r>
            <a:endParaRPr b="0" lang="pt-BR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Text 26"/>
          <p:cNvSpPr/>
          <p:nvPr/>
        </p:nvSpPr>
        <p:spPr>
          <a:xfrm>
            <a:off x="9427320" y="4773240"/>
            <a:ext cx="1974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20" spc="-1" strike="noStrike">
                <a:solidFill>
                  <a:srgbClr val="ffffff"/>
                </a:solidFill>
                <a:latin typeface="Lato"/>
                <a:ea typeface="Lato"/>
              </a:rPr>
              <a:t>casos + fronteiras</a:t>
            </a:r>
            <a:endParaRPr b="0" lang="pt-BR" sz="12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Text 27"/>
          <p:cNvSpPr/>
          <p:nvPr/>
        </p:nvSpPr>
        <p:spPr>
          <a:xfrm>
            <a:off x="2039040" y="5724000"/>
            <a:ext cx="81100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60" spc="-1" strike="noStrike">
                <a:solidFill>
                  <a:srgbClr val="ffc58a"/>
                </a:solidFill>
                <a:latin typeface="Lato"/>
                <a:ea typeface="Lato"/>
              </a:rPr>
              <a:t>As faixas usadas no exercício são pedagógicas e devem ser ajustáveis; não são critérios de diagnóstico.</a:t>
            </a:r>
            <a:endParaRPr b="0" lang="pt-BR" sz="1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PlaceHolder 1"/>
          <p:cNvSpPr>
            <a:spLocks noGrp="1"/>
          </p:cNvSpPr>
          <p:nvPr>
            <p:ph type="sldNum" idx="33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38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60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961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962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963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964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965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Parâmetros do wearable simulado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Três medidas relacionadas à saúde, todas fictícias e geradas apenas para o exercício.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Rounded Rectangle 9"/>
          <p:cNvSpPr/>
          <p:nvPr/>
        </p:nvSpPr>
        <p:spPr>
          <a:xfrm>
            <a:off x="822960" y="2048400"/>
            <a:ext cx="324576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68" name="TextBox 10"/>
          <p:cNvSpPr/>
          <p:nvPr/>
        </p:nvSpPr>
        <p:spPr>
          <a:xfrm>
            <a:off x="1005840" y="2331720"/>
            <a:ext cx="2852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freqCardiaca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11"/>
          <p:cNvSpPr/>
          <p:nvPr/>
        </p:nvSpPr>
        <p:spPr>
          <a:xfrm>
            <a:off x="1005840" y="2816280"/>
            <a:ext cx="28526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10b9f3"/>
                </a:solidFill>
                <a:latin typeface="Lato"/>
              </a:rPr>
              <a:t>bpm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ounded Rectangle 12"/>
          <p:cNvSpPr/>
          <p:nvPr/>
        </p:nvSpPr>
        <p:spPr>
          <a:xfrm>
            <a:off x="1024200" y="3291840"/>
            <a:ext cx="2815920" cy="5025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2500" spc="-1" strike="noStrike">
                <a:solidFill>
                  <a:srgbClr val="10b9f3"/>
                </a:solidFill>
                <a:latin typeface="Inter Display"/>
              </a:rPr>
              <a:t>50–130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3"/>
          <p:cNvSpPr/>
          <p:nvPr/>
        </p:nvSpPr>
        <p:spPr>
          <a:xfrm>
            <a:off x="1051560" y="4133160"/>
            <a:ext cx="27428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</a:rPr>
              <a:t>variável numérica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Rounded Rectangle 14"/>
          <p:cNvSpPr/>
          <p:nvPr/>
        </p:nvSpPr>
        <p:spPr>
          <a:xfrm>
            <a:off x="4553640" y="2048400"/>
            <a:ext cx="324576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73" name="TextBox 15"/>
          <p:cNvSpPr/>
          <p:nvPr/>
        </p:nvSpPr>
        <p:spPr>
          <a:xfrm>
            <a:off x="4736520" y="2331720"/>
            <a:ext cx="2852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temperatura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16"/>
          <p:cNvSpPr/>
          <p:nvPr/>
        </p:nvSpPr>
        <p:spPr>
          <a:xfrm>
            <a:off x="4736520" y="2816280"/>
            <a:ext cx="28526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f36b21"/>
                </a:solidFill>
                <a:latin typeface="Lato"/>
              </a:rPr>
              <a:t>°C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Rounded Rectangle 17"/>
          <p:cNvSpPr/>
          <p:nvPr/>
        </p:nvSpPr>
        <p:spPr>
          <a:xfrm>
            <a:off x="4754880" y="3291840"/>
            <a:ext cx="2815920" cy="5025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2500" spc="-1" strike="noStrike">
                <a:solidFill>
                  <a:srgbClr val="f36b21"/>
                </a:solidFill>
                <a:latin typeface="Inter Display"/>
              </a:rPr>
              <a:t>35,0–39,0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18"/>
          <p:cNvSpPr/>
          <p:nvPr/>
        </p:nvSpPr>
        <p:spPr>
          <a:xfrm>
            <a:off x="4782240" y="4133160"/>
            <a:ext cx="27428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</a:rPr>
              <a:t>variável numérica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Rounded Rectangle 19"/>
          <p:cNvSpPr/>
          <p:nvPr/>
        </p:nvSpPr>
        <p:spPr>
          <a:xfrm>
            <a:off x="8284320" y="2048400"/>
            <a:ext cx="324576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78" name="TextBox 20"/>
          <p:cNvSpPr/>
          <p:nvPr/>
        </p:nvSpPr>
        <p:spPr>
          <a:xfrm>
            <a:off x="8467200" y="2331720"/>
            <a:ext cx="2852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071a4a"/>
                </a:solidFill>
                <a:latin typeface="Inter Display"/>
              </a:rPr>
              <a:t>passos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21"/>
          <p:cNvSpPr/>
          <p:nvPr/>
        </p:nvSpPr>
        <p:spPr>
          <a:xfrm>
            <a:off x="8467200" y="2816280"/>
            <a:ext cx="28526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000" spc="-1" strike="noStrike">
                <a:solidFill>
                  <a:srgbClr val="2cb67d"/>
                </a:solidFill>
                <a:latin typeface="Lato"/>
              </a:rPr>
              <a:t>passos/min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ounded Rectangle 22"/>
          <p:cNvSpPr/>
          <p:nvPr/>
        </p:nvSpPr>
        <p:spPr>
          <a:xfrm>
            <a:off x="8485560" y="3291840"/>
            <a:ext cx="2815920" cy="50256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2500" spc="-1" strike="noStrike">
                <a:solidFill>
                  <a:srgbClr val="2cb67d"/>
                </a:solidFill>
                <a:latin typeface="Inter Display"/>
              </a:rPr>
              <a:t>0–120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TextBox 23"/>
          <p:cNvSpPr/>
          <p:nvPr/>
        </p:nvSpPr>
        <p:spPr>
          <a:xfrm>
            <a:off x="8512920" y="4133160"/>
            <a:ext cx="27428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</a:rPr>
              <a:t>atividade simulada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Rounded Rectangle 24"/>
          <p:cNvSpPr/>
          <p:nvPr/>
        </p:nvSpPr>
        <p:spPr>
          <a:xfrm>
            <a:off x="1097280" y="5349240"/>
            <a:ext cx="9966600" cy="511560"/>
          </a:xfrm>
          <a:prstGeom prst="roundRect">
            <a:avLst>
              <a:gd name="adj" fmla="val 16667"/>
            </a:avLst>
          </a:prstGeom>
          <a:solidFill>
            <a:srgbClr val="fff7e9"/>
          </a:solidFill>
          <a:ln w="12700">
            <a:solidFill>
              <a:srgbClr val="f4d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250" spc="-1" strike="noStrike">
                <a:solidFill>
                  <a:srgbClr val="a05a00"/>
                </a:solidFill>
                <a:latin typeface="Lato"/>
              </a:rPr>
              <a:t>Os intervalos acima servem apenas para gerar dados sintéticos plausíveis para a prática. Não devem ser usados para avaliação clínica.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25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39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85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986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987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988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989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990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Uma regra mais interessante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Combinar parâmetros força o algoritmo a lidar com mais de uma condição.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Rounded Rectangle 9"/>
          <p:cNvSpPr/>
          <p:nvPr/>
        </p:nvSpPr>
        <p:spPr>
          <a:xfrm>
            <a:off x="822960" y="1993320"/>
            <a:ext cx="6491880" cy="3337200"/>
          </a:xfrm>
          <a:prstGeom prst="roundRect">
            <a:avLst>
              <a:gd name="adj" fmla="val 16667"/>
            </a:avLst>
          </a:prstGeom>
          <a:solidFill>
            <a:srgbClr val="f8fafd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993" name="TextBox 10"/>
          <p:cNvSpPr/>
          <p:nvPr/>
        </p:nvSpPr>
        <p:spPr>
          <a:xfrm>
            <a:off x="1078920" y="2258640"/>
            <a:ext cx="3108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PSEUDOCÓDIGO DO EXERCÍCIO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11"/>
          <p:cNvSpPr/>
          <p:nvPr/>
        </p:nvSpPr>
        <p:spPr>
          <a:xfrm>
            <a:off x="1115640" y="267012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320" spc="-1" strike="noStrike">
                <a:solidFill>
                  <a:srgbClr val="f36b21"/>
                </a:solidFill>
                <a:latin typeface="Lato"/>
              </a:rPr>
              <a:t>se temperatura &lt; tempMin OU temperatura &gt; tempMax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12"/>
          <p:cNvSpPr/>
          <p:nvPr/>
        </p:nvSpPr>
        <p:spPr>
          <a:xfrm>
            <a:off x="1115640" y="309060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    </a:t>
            </a: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mostrar “verificar temperatura”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Box 13"/>
          <p:cNvSpPr/>
          <p:nvPr/>
        </p:nvSpPr>
        <p:spPr>
          <a:xfrm>
            <a:off x="1115640" y="351144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320" spc="-1" strike="noStrike">
                <a:solidFill>
                  <a:srgbClr val="f72585"/>
                </a:solidFill>
                <a:latin typeface="Lato"/>
              </a:rPr>
              <a:t>senão, se freqCardiaca &gt; fcAlta E passos &lt; passosMin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TextBox 14"/>
          <p:cNvSpPr/>
          <p:nvPr/>
        </p:nvSpPr>
        <p:spPr>
          <a:xfrm>
            <a:off x="1115640" y="393192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    </a:t>
            </a: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mostrar “combinação para revisar”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15"/>
          <p:cNvSpPr/>
          <p:nvPr/>
        </p:nvSpPr>
        <p:spPr>
          <a:xfrm>
            <a:off x="1115640" y="435240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320" spc="-1" strike="noStrike">
                <a:solidFill>
                  <a:srgbClr val="10b9f3"/>
                </a:solidFill>
                <a:latin typeface="Lato"/>
              </a:rPr>
              <a:t>senão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16"/>
          <p:cNvSpPr/>
          <p:nvPr/>
        </p:nvSpPr>
        <p:spPr>
          <a:xfrm>
            <a:off x="1115640" y="4773240"/>
            <a:ext cx="5760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    </a:t>
            </a:r>
            <a:r>
              <a:rPr b="0" lang="pt-BR" sz="1320" spc="-1" strike="noStrike">
                <a:solidFill>
                  <a:srgbClr val="725ac1"/>
                </a:solidFill>
                <a:latin typeface="Lato"/>
              </a:rPr>
              <a:t>mostrar “leitura recebida”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Rounded Rectangle 17"/>
          <p:cNvSpPr/>
          <p:nvPr/>
        </p:nvSpPr>
        <p:spPr>
          <a:xfrm>
            <a:off x="7726680" y="1993320"/>
            <a:ext cx="3520080" cy="3337200"/>
          </a:xfrm>
          <a:prstGeom prst="roundRect">
            <a:avLst>
              <a:gd name="adj" fmla="val 16667"/>
            </a:avLst>
          </a:prstGeom>
          <a:solidFill>
            <a:srgbClr val="fff0f6"/>
          </a:solidFill>
          <a:ln w="12700">
            <a:solidFill>
              <a:srgbClr val="f5c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01" name="TextBox 18"/>
          <p:cNvSpPr/>
          <p:nvPr/>
        </p:nvSpPr>
        <p:spPr>
          <a:xfrm>
            <a:off x="8028360" y="2286000"/>
            <a:ext cx="29257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1700" spc="-1" strike="noStrike">
                <a:solidFill>
                  <a:srgbClr val="071a4a"/>
                </a:solidFill>
                <a:latin typeface="Inter Display"/>
              </a:rPr>
              <a:t>Por que isso é melhor?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Oval 19"/>
          <p:cNvSpPr/>
          <p:nvPr/>
        </p:nvSpPr>
        <p:spPr>
          <a:xfrm>
            <a:off x="8065080" y="2971800"/>
            <a:ext cx="255600" cy="25560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900" spc="-1" strike="noStrike">
                <a:solidFill>
                  <a:srgbClr val="ffffff"/>
                </a:solidFill>
                <a:latin typeface="Inter Display"/>
              </a:rPr>
              <a:t>1</a:t>
            </a:r>
            <a:endParaRPr b="0" lang="pt-B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Box 20"/>
          <p:cNvSpPr/>
          <p:nvPr/>
        </p:nvSpPr>
        <p:spPr>
          <a:xfrm>
            <a:off x="8458200" y="2898720"/>
            <a:ext cx="21942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80" spc="-1" strike="noStrike">
                <a:solidFill>
                  <a:srgbClr val="14213d"/>
                </a:solidFill>
                <a:latin typeface="Lato"/>
              </a:rPr>
              <a:t>usa E / OU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Oval 21"/>
          <p:cNvSpPr/>
          <p:nvPr/>
        </p:nvSpPr>
        <p:spPr>
          <a:xfrm>
            <a:off x="8065080" y="3474720"/>
            <a:ext cx="255600" cy="25560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900" spc="-1" strike="noStrike">
                <a:solidFill>
                  <a:srgbClr val="ffffff"/>
                </a:solidFill>
                <a:latin typeface="Inter Display"/>
              </a:rPr>
              <a:t>2</a:t>
            </a:r>
            <a:endParaRPr b="0" lang="pt-B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TextBox 22"/>
          <p:cNvSpPr/>
          <p:nvPr/>
        </p:nvSpPr>
        <p:spPr>
          <a:xfrm>
            <a:off x="8458200" y="3401640"/>
            <a:ext cx="21942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80" spc="-1" strike="noStrike">
                <a:solidFill>
                  <a:srgbClr val="14213d"/>
                </a:solidFill>
                <a:latin typeface="Lato"/>
              </a:rPr>
              <a:t>trabalha com 3 variáveis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Oval 23"/>
          <p:cNvSpPr/>
          <p:nvPr/>
        </p:nvSpPr>
        <p:spPr>
          <a:xfrm>
            <a:off x="8065080" y="3977640"/>
            <a:ext cx="255600" cy="25560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900" spc="-1" strike="noStrike">
                <a:solidFill>
                  <a:srgbClr val="ffffff"/>
                </a:solidFill>
                <a:latin typeface="Inter Display"/>
              </a:rPr>
              <a:t>3</a:t>
            </a:r>
            <a:endParaRPr b="0" lang="pt-B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TextBox 24"/>
          <p:cNvSpPr/>
          <p:nvPr/>
        </p:nvSpPr>
        <p:spPr>
          <a:xfrm>
            <a:off x="8458200" y="3904560"/>
            <a:ext cx="21942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80" spc="-1" strike="noStrike">
                <a:solidFill>
                  <a:srgbClr val="14213d"/>
                </a:solidFill>
                <a:latin typeface="Lato"/>
              </a:rPr>
              <a:t>exige ordem de decisão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Oval 25"/>
          <p:cNvSpPr/>
          <p:nvPr/>
        </p:nvSpPr>
        <p:spPr>
          <a:xfrm>
            <a:off x="8065080" y="4480560"/>
            <a:ext cx="255600" cy="255600"/>
          </a:xfrm>
          <a:prstGeom prst="ellipse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900" spc="-1" strike="noStrike">
                <a:solidFill>
                  <a:srgbClr val="ffffff"/>
                </a:solidFill>
                <a:latin typeface="Inter Display"/>
              </a:rPr>
              <a:t>4</a:t>
            </a:r>
            <a:endParaRPr b="0" lang="pt-B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Box 26"/>
          <p:cNvSpPr/>
          <p:nvPr/>
        </p:nvSpPr>
        <p:spPr>
          <a:xfrm>
            <a:off x="8458200" y="4407480"/>
            <a:ext cx="21942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180" spc="-1" strike="noStrike">
                <a:solidFill>
                  <a:srgbClr val="14213d"/>
                </a:solidFill>
                <a:latin typeface="Lato"/>
              </a:rPr>
              <a:t>permite testar combinações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27"/>
          <p:cNvSpPr/>
          <p:nvPr/>
        </p:nvSpPr>
        <p:spPr>
          <a:xfrm>
            <a:off x="914400" y="5614560"/>
            <a:ext cx="10423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00" spc="-1" strike="noStrike">
                <a:solidFill>
                  <a:srgbClr val="5b6b86"/>
                </a:solidFill>
                <a:latin typeface="Lato"/>
              </a:rPr>
              <a:t>fcAlta, tempMin, tempMax e passosMin são parâmetros do exercício — podem ser alterados sem reescrever a estrutura do algoritmo.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28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40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TextBox 1"/>
          <p:cNvSpPr/>
          <p:nvPr/>
        </p:nvSpPr>
        <p:spPr>
          <a:xfrm>
            <a:off x="731520" y="219600"/>
            <a:ext cx="59432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740" spc="-1" strike="noStrike">
                <a:solidFill>
                  <a:srgbClr val="95a2b8"/>
                </a:solidFill>
                <a:latin typeface="Lato"/>
              </a:rPr>
              <a:t>RESIDÊNCIA EM TIC 53 · TRILHA PROGRAMAÇÃO</a:t>
            </a:r>
            <a:endParaRPr b="0" lang="pt-BR" sz="7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13" name="Connector 2"/>
          <p:cNvCxnSpPr/>
          <p:nvPr/>
        </p:nvCxnSpPr>
        <p:spPr>
          <a:xfrm>
            <a:off x="731520" y="438840"/>
            <a:ext cx="10744560" cy="360"/>
          </a:xfrm>
          <a:prstGeom prst="straightConnector1">
            <a:avLst/>
          </a:prstGeom>
          <a:ln>
            <a:solidFill>
              <a:srgbClr val="dce5f0"/>
            </a:solidFill>
          </a:ln>
        </p:spPr>
      </p:cxnSp>
      <p:cxnSp>
        <p:nvCxnSpPr>
          <p:cNvPr id="1014" name="Connector 3"/>
          <p:cNvCxnSpPr/>
          <p:nvPr/>
        </p:nvCxnSpPr>
        <p:spPr>
          <a:xfrm>
            <a:off x="731520" y="438840"/>
            <a:ext cx="2286360" cy="360"/>
          </a:xfrm>
          <a:prstGeom prst="straightConnector1">
            <a:avLst/>
          </a:prstGeom>
          <a:ln w="22860">
            <a:solidFill>
              <a:srgbClr val="f72585"/>
            </a:solidFill>
          </a:ln>
        </p:spPr>
      </p:cxnSp>
      <p:cxnSp>
        <p:nvCxnSpPr>
          <p:cNvPr id="1015" name="Connector 4"/>
          <p:cNvCxnSpPr/>
          <p:nvPr/>
        </p:nvCxnSpPr>
        <p:spPr>
          <a:xfrm>
            <a:off x="3017520" y="438840"/>
            <a:ext cx="1737720" cy="360"/>
          </a:xfrm>
          <a:prstGeom prst="straightConnector1">
            <a:avLst/>
          </a:prstGeom>
          <a:ln w="22860">
            <a:solidFill>
              <a:srgbClr val="f36b21"/>
            </a:solidFill>
          </a:ln>
        </p:spPr>
      </p:cxnSp>
      <p:cxnSp>
        <p:nvCxnSpPr>
          <p:cNvPr id="1016" name="Connector 5"/>
          <p:cNvCxnSpPr/>
          <p:nvPr/>
        </p:nvCxnSpPr>
        <p:spPr>
          <a:xfrm>
            <a:off x="4754880" y="438840"/>
            <a:ext cx="2194920" cy="360"/>
          </a:xfrm>
          <a:prstGeom prst="straightConnector1">
            <a:avLst/>
          </a:prstGeom>
          <a:ln w="22860">
            <a:solidFill>
              <a:srgbClr val="10b9f3"/>
            </a:solidFill>
          </a:ln>
        </p:spPr>
      </p:cxnSp>
      <p:pic>
        <p:nvPicPr>
          <p:cNvPr id="1017" name="Picture 6" descr="ocean_logo_color_clean.png"/>
          <p:cNvPicPr/>
          <p:nvPr/>
        </p:nvPicPr>
        <p:blipFill>
          <a:blip r:embed="rId1"/>
          <a:stretch/>
        </p:blipFill>
        <p:spPr>
          <a:xfrm>
            <a:off x="10744200" y="128160"/>
            <a:ext cx="776880" cy="205920"/>
          </a:xfrm>
          <a:prstGeom prst="rect">
            <a:avLst/>
          </a:prstGeom>
          <a:ln w="0">
            <a:noFill/>
          </a:ln>
        </p:spPr>
      </p:pic>
      <p:sp>
        <p:nvSpPr>
          <p:cNvPr id="1018" name="TextBox 7"/>
          <p:cNvSpPr/>
          <p:nvPr/>
        </p:nvSpPr>
        <p:spPr>
          <a:xfrm>
            <a:off x="713160" y="804600"/>
            <a:ext cx="10515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</a:rPr>
              <a:t>Do algoritmo à experiência no Scratch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8"/>
          <p:cNvSpPr/>
          <p:nvPr/>
        </p:nvSpPr>
        <p:spPr>
          <a:xfrm>
            <a:off x="731520" y="1344240"/>
            <a:ext cx="106066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320" spc="-1" strike="noStrike">
                <a:solidFill>
                  <a:srgbClr val="5b6b86"/>
                </a:solidFill>
                <a:latin typeface="Lato"/>
              </a:rPr>
              <a:t>A lógica funciona; agora o Scratch pode tornar o resultado visível e interativo.</a:t>
            </a:r>
            <a:endParaRPr b="0" lang="pt-BR" sz="1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Rounded Rectangle 9"/>
          <p:cNvSpPr/>
          <p:nvPr/>
        </p:nvSpPr>
        <p:spPr>
          <a:xfrm>
            <a:off x="777240" y="2148840"/>
            <a:ext cx="24868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21" name="TextBox 10"/>
          <p:cNvSpPr/>
          <p:nvPr/>
        </p:nvSpPr>
        <p:spPr>
          <a:xfrm>
            <a:off x="941760" y="2404800"/>
            <a:ext cx="2139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725ac1"/>
                </a:solidFill>
                <a:latin typeface="Lato"/>
              </a:rPr>
              <a:t>FIGURINO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TextBox 11"/>
          <p:cNvSpPr/>
          <p:nvPr/>
        </p:nvSpPr>
        <p:spPr>
          <a:xfrm>
            <a:off x="978480" y="2930760"/>
            <a:ext cx="2066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ator muda de aparência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12"/>
          <p:cNvSpPr/>
          <p:nvPr/>
        </p:nvSpPr>
        <p:spPr>
          <a:xfrm>
            <a:off x="1005840" y="3785760"/>
            <a:ext cx="20113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🙂 → 😐 → ⚠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ounded Rectangle 13"/>
          <p:cNvSpPr/>
          <p:nvPr/>
        </p:nvSpPr>
        <p:spPr>
          <a:xfrm>
            <a:off x="3584520" y="2148840"/>
            <a:ext cx="24868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25" name="TextBox 14"/>
          <p:cNvSpPr/>
          <p:nvPr/>
        </p:nvSpPr>
        <p:spPr>
          <a:xfrm>
            <a:off x="3749040" y="2404800"/>
            <a:ext cx="2139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10b9f3"/>
                </a:solidFill>
                <a:latin typeface="Lato"/>
              </a:rPr>
              <a:t>CENÁRIO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15"/>
          <p:cNvSpPr/>
          <p:nvPr/>
        </p:nvSpPr>
        <p:spPr>
          <a:xfrm>
            <a:off x="3785760" y="3044880"/>
            <a:ext cx="2066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painel muda de fundo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TextBox 16"/>
          <p:cNvSpPr/>
          <p:nvPr/>
        </p:nvSpPr>
        <p:spPr>
          <a:xfrm>
            <a:off x="3813120" y="3785760"/>
            <a:ext cx="20113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monitor / atenção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ounded Rectangle 17"/>
          <p:cNvSpPr/>
          <p:nvPr/>
        </p:nvSpPr>
        <p:spPr>
          <a:xfrm>
            <a:off x="6391800" y="2148840"/>
            <a:ext cx="24868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29" name="TextBox 18"/>
          <p:cNvSpPr/>
          <p:nvPr/>
        </p:nvSpPr>
        <p:spPr>
          <a:xfrm>
            <a:off x="6556320" y="2404800"/>
            <a:ext cx="2139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f72585"/>
                </a:solidFill>
                <a:latin typeface="Lato"/>
              </a:rPr>
              <a:t>MENSAGEM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19"/>
          <p:cNvSpPr/>
          <p:nvPr/>
        </p:nvSpPr>
        <p:spPr>
          <a:xfrm>
            <a:off x="6592680" y="3044880"/>
            <a:ext cx="2066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transmita ESTADO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Box 20"/>
          <p:cNvSpPr/>
          <p:nvPr/>
        </p:nvSpPr>
        <p:spPr>
          <a:xfrm>
            <a:off x="6620400" y="3785760"/>
            <a:ext cx="20113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outros atores reagem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Rounded Rectangle 21"/>
          <p:cNvSpPr/>
          <p:nvPr/>
        </p:nvSpPr>
        <p:spPr>
          <a:xfrm>
            <a:off x="9198720" y="2148840"/>
            <a:ext cx="24868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Lato"/>
            </a:endParaRPr>
          </a:p>
        </p:txBody>
      </p:sp>
      <p:sp>
        <p:nvSpPr>
          <p:cNvPr id="1033" name="TextBox 22"/>
          <p:cNvSpPr/>
          <p:nvPr/>
        </p:nvSpPr>
        <p:spPr>
          <a:xfrm>
            <a:off x="9363600" y="2404800"/>
            <a:ext cx="2139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1" lang="pt-BR" sz="950" spc="-1" strike="noStrike">
                <a:solidFill>
                  <a:srgbClr val="f36b21"/>
                </a:solidFill>
                <a:latin typeface="Lato"/>
              </a:rPr>
              <a:t>SOM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23"/>
          <p:cNvSpPr/>
          <p:nvPr/>
        </p:nvSpPr>
        <p:spPr>
          <a:xfrm>
            <a:off x="9399960" y="3044880"/>
            <a:ext cx="20660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1500" spc="-1" strike="noStrike">
                <a:solidFill>
                  <a:srgbClr val="071a4a"/>
                </a:solidFill>
                <a:latin typeface="Inter Display"/>
              </a:rPr>
              <a:t>alerta curto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24"/>
          <p:cNvSpPr/>
          <p:nvPr/>
        </p:nvSpPr>
        <p:spPr>
          <a:xfrm>
            <a:off x="9427320" y="3785760"/>
            <a:ext cx="201132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220" spc="-1" strike="noStrike">
                <a:solidFill>
                  <a:srgbClr val="5b6b86"/>
                </a:solidFill>
                <a:latin typeface="Lato"/>
              </a:rPr>
              <a:t>feedback adicional</a:t>
            </a:r>
            <a:endParaRPr b="0" lang="pt-BR" sz="12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ounded Rectangle 25"/>
          <p:cNvSpPr/>
          <p:nvPr/>
        </p:nvSpPr>
        <p:spPr>
          <a:xfrm>
            <a:off x="1143000" y="5166360"/>
            <a:ext cx="9875160" cy="529920"/>
          </a:xfrm>
          <a:prstGeom prst="roundRect">
            <a:avLst>
              <a:gd name="adj" fmla="val 16667"/>
            </a:avLst>
          </a:prstGeom>
          <a:solidFill>
            <a:srgbClr val="f5f8fc"/>
          </a:solidFill>
          <a:ln w="1270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1350" spc="-1" strike="noStrike">
                <a:solidFill>
                  <a:srgbClr val="14213d"/>
                </a:solidFill>
                <a:latin typeface="Lato"/>
              </a:rPr>
              <a:t>Sugestão de implementação: primeiro faça a lógica funcionar; depois acrescente aparência, mensagens e som.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TextBox 26"/>
          <p:cNvSpPr/>
          <p:nvPr/>
        </p:nvSpPr>
        <p:spPr>
          <a:xfrm>
            <a:off x="11274480" y="6419160"/>
            <a:ext cx="34704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</a:rPr>
              <a:t>41</a:t>
            </a:r>
            <a:endParaRPr b="0" lang="pt-BR" sz="7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Checklist do projeto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Mantenha este slide na tela durante a construção.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2"/>
          <p:cNvSpPr/>
          <p:nvPr/>
        </p:nvSpPr>
        <p:spPr>
          <a:xfrm>
            <a:off x="987480" y="1993320"/>
            <a:ext cx="10149120" cy="511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3"/>
          <p:cNvSpPr/>
          <p:nvPr/>
        </p:nvSpPr>
        <p:spPr>
          <a:xfrm>
            <a:off x="1188720" y="2103120"/>
            <a:ext cx="273600" cy="273600"/>
          </a:xfrm>
          <a:prstGeom prst="ellipse">
            <a:avLst/>
          </a:prstGeom>
          <a:noFill/>
          <a:ln w="2286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 4"/>
          <p:cNvSpPr/>
          <p:nvPr/>
        </p:nvSpPr>
        <p:spPr>
          <a:xfrm>
            <a:off x="1645920" y="2103120"/>
            <a:ext cx="246816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80" spc="-1" strike="noStrike">
                <a:solidFill>
                  <a:srgbClr val="071a4a"/>
                </a:solidFill>
                <a:latin typeface="Lato"/>
                <a:ea typeface="Lato"/>
              </a:rPr>
              <a:t>Eventos e sequência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 5"/>
          <p:cNvSpPr/>
          <p:nvPr/>
        </p:nvSpPr>
        <p:spPr>
          <a:xfrm>
            <a:off x="4224600" y="2103120"/>
            <a:ext cx="649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Bandeira/mensagem inicia cada parte e o fluxo acontece na ordem prevista.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6"/>
          <p:cNvSpPr/>
          <p:nvPr/>
        </p:nvSpPr>
        <p:spPr>
          <a:xfrm>
            <a:off x="987480" y="2660760"/>
            <a:ext cx="10149120" cy="511200"/>
          </a:xfrm>
          <a:prstGeom prst="roundRect">
            <a:avLst>
              <a:gd name="adj" fmla="val 14286"/>
            </a:avLst>
          </a:prstGeom>
          <a:solidFill>
            <a:srgbClr val="f0f4fa"/>
          </a:solidFill>
          <a:ln w="12700">
            <a:solidFill>
              <a:srgbClr val="dd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7"/>
          <p:cNvSpPr/>
          <p:nvPr/>
        </p:nvSpPr>
        <p:spPr>
          <a:xfrm>
            <a:off x="1188720" y="2770560"/>
            <a:ext cx="273600" cy="273600"/>
          </a:xfrm>
          <a:prstGeom prst="ellipse">
            <a:avLst/>
          </a:prstGeom>
          <a:noFill/>
          <a:ln w="2286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1645920" y="2770560"/>
            <a:ext cx="246816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80" spc="-1" strike="noStrike">
                <a:solidFill>
                  <a:srgbClr val="071a4a"/>
                </a:solidFill>
                <a:latin typeface="Lato"/>
                <a:ea typeface="Lato"/>
              </a:rPr>
              <a:t>Dados e variáveis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 9"/>
          <p:cNvSpPr/>
          <p:nvPr/>
        </p:nvSpPr>
        <p:spPr>
          <a:xfrm>
            <a:off x="4224600" y="2770560"/>
            <a:ext cx="649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FC, temperatura e passos são armazenados e reutilizados corretamente.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987480" y="3328560"/>
            <a:ext cx="10149120" cy="511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11"/>
          <p:cNvSpPr/>
          <p:nvPr/>
        </p:nvSpPr>
        <p:spPr>
          <a:xfrm>
            <a:off x="1188720" y="3438000"/>
            <a:ext cx="273600" cy="273600"/>
          </a:xfrm>
          <a:prstGeom prst="ellipse">
            <a:avLst/>
          </a:prstGeom>
          <a:noFill/>
          <a:ln w="2286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1645920" y="3438000"/>
            <a:ext cx="246816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80" spc="-1" strike="noStrike">
                <a:solidFill>
                  <a:srgbClr val="071a4a"/>
                </a:solidFill>
                <a:latin typeface="Lato"/>
                <a:ea typeface="Lato"/>
              </a:rPr>
              <a:t>Decisão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Text 13"/>
          <p:cNvSpPr/>
          <p:nvPr/>
        </p:nvSpPr>
        <p:spPr>
          <a:xfrm>
            <a:off x="4224600" y="3438000"/>
            <a:ext cx="649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As regras combinadas respondem aos casos de teste.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987480" y="3996000"/>
            <a:ext cx="10149120" cy="511200"/>
          </a:xfrm>
          <a:prstGeom prst="roundRect">
            <a:avLst>
              <a:gd name="adj" fmla="val 14286"/>
            </a:avLst>
          </a:prstGeom>
          <a:solidFill>
            <a:srgbClr val="f0f4fa"/>
          </a:solidFill>
          <a:ln w="12700">
            <a:solidFill>
              <a:srgbClr val="dd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15"/>
          <p:cNvSpPr/>
          <p:nvPr/>
        </p:nvSpPr>
        <p:spPr>
          <a:xfrm>
            <a:off x="1188720" y="4105800"/>
            <a:ext cx="273600" cy="273600"/>
          </a:xfrm>
          <a:prstGeom prst="ellipse">
            <a:avLst/>
          </a:prstGeom>
          <a:noFill/>
          <a:ln w="2286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1645920" y="4105800"/>
            <a:ext cx="246816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80" spc="-1" strike="noStrike">
                <a:solidFill>
                  <a:srgbClr val="071a4a"/>
                </a:solidFill>
                <a:latin typeface="Lato"/>
                <a:ea typeface="Lato"/>
              </a:rPr>
              <a:t>Repetição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 17"/>
          <p:cNvSpPr/>
          <p:nvPr/>
        </p:nvSpPr>
        <p:spPr>
          <a:xfrm>
            <a:off x="4224600" y="4105800"/>
            <a:ext cx="649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Novas leituras são processadas por repetição sem duplicar o algoritmo.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987480" y="4663440"/>
            <a:ext cx="10149120" cy="511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19"/>
          <p:cNvSpPr/>
          <p:nvPr/>
        </p:nvSpPr>
        <p:spPr>
          <a:xfrm>
            <a:off x="1188720" y="4773240"/>
            <a:ext cx="273600" cy="273600"/>
          </a:xfrm>
          <a:prstGeom prst="ellipse">
            <a:avLst/>
          </a:prstGeom>
          <a:noFill/>
          <a:ln w="22860">
            <a:solidFill>
              <a:srgbClr val="10b9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1645920" y="4773240"/>
            <a:ext cx="246816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80" spc="-1" strike="noStrike">
                <a:solidFill>
                  <a:srgbClr val="071a4a"/>
                </a:solidFill>
                <a:latin typeface="Lato"/>
                <a:ea typeface="Lato"/>
              </a:rPr>
              <a:t>Teste e explicação</a:t>
            </a:r>
            <a:endParaRPr b="0" lang="pt-BR" sz="11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Text 21"/>
          <p:cNvSpPr/>
          <p:nvPr/>
        </p:nvSpPr>
        <p:spPr>
          <a:xfrm>
            <a:off x="4224600" y="4773240"/>
            <a:ext cx="6491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50" spc="-1" strike="noStrike">
                <a:solidFill>
                  <a:srgbClr val="5b6b86"/>
                </a:solidFill>
                <a:latin typeface="Lato"/>
                <a:ea typeface="Lato"/>
              </a:rPr>
              <a:t>Você testa limites e consegue explicar o fluxo.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3657600" y="5559480"/>
            <a:ext cx="4882320" cy="346680"/>
          </a:xfrm>
          <a:prstGeom prst="roundRect">
            <a:avLst>
              <a:gd name="adj" fmla="val 21053"/>
            </a:avLst>
          </a:prstGeom>
          <a:solidFill>
            <a:srgbClr val="071a4a"/>
          </a:solidFill>
          <a:ln w="12700">
            <a:solidFill>
              <a:srgbClr val="071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3730680" y="5623560"/>
            <a:ext cx="4735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70" spc="-1" strike="noStrike">
                <a:solidFill>
                  <a:srgbClr val="ffffff"/>
                </a:solidFill>
                <a:latin typeface="Lato"/>
                <a:ea typeface="Lato"/>
              </a:rPr>
              <a:t>Primeiro funcionalidade e testes; estética depois.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PlaceHolder 1"/>
          <p:cNvSpPr>
            <a:spLocks noGrp="1"/>
          </p:cNvSpPr>
          <p:nvPr>
            <p:ph type="sldNum" idx="34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42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Extensões opcionais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Para quem terminar antes: aumente o desafio sem alterar a lógica central.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2"/>
          <p:cNvSpPr/>
          <p:nvPr/>
        </p:nvSpPr>
        <p:spPr>
          <a:xfrm>
            <a:off x="868680" y="2103120"/>
            <a:ext cx="2157120" cy="2395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3"/>
          <p:cNvSpPr/>
          <p:nvPr/>
        </p:nvSpPr>
        <p:spPr>
          <a:xfrm>
            <a:off x="1636920" y="2404800"/>
            <a:ext cx="621000" cy="621000"/>
          </a:xfrm>
          <a:prstGeom prst="ellipse">
            <a:avLst/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Text 4"/>
          <p:cNvSpPr/>
          <p:nvPr/>
        </p:nvSpPr>
        <p:spPr>
          <a:xfrm>
            <a:off x="1636920" y="244152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1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 5"/>
          <p:cNvSpPr/>
          <p:nvPr/>
        </p:nvSpPr>
        <p:spPr>
          <a:xfrm>
            <a:off x="1051560" y="321876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Painel visual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 6"/>
          <p:cNvSpPr/>
          <p:nvPr/>
        </p:nvSpPr>
        <p:spPr>
          <a:xfrm>
            <a:off x="1051560" y="3785760"/>
            <a:ext cx="17913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20" spc="-1" strike="noStrike">
                <a:solidFill>
                  <a:srgbClr val="5b6b86"/>
                </a:solidFill>
                <a:latin typeface="Lato"/>
                <a:ea typeface="Lato"/>
              </a:rPr>
              <a:t>mude figurino/cor do ator e o fundo conforme o estado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7"/>
          <p:cNvSpPr/>
          <p:nvPr/>
        </p:nvSpPr>
        <p:spPr>
          <a:xfrm>
            <a:off x="3639240" y="2103120"/>
            <a:ext cx="2157120" cy="2395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8"/>
          <p:cNvSpPr/>
          <p:nvPr/>
        </p:nvSpPr>
        <p:spPr>
          <a:xfrm>
            <a:off x="4407480" y="2404800"/>
            <a:ext cx="621000" cy="621000"/>
          </a:xfrm>
          <a:prstGeom prst="ellipse">
            <a:avLst/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Text 9"/>
          <p:cNvSpPr/>
          <p:nvPr/>
        </p:nvSpPr>
        <p:spPr>
          <a:xfrm>
            <a:off x="4407480" y="244152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2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 10"/>
          <p:cNvSpPr/>
          <p:nvPr/>
        </p:nvSpPr>
        <p:spPr>
          <a:xfrm>
            <a:off x="3822120" y="321876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Histórico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Text 11"/>
          <p:cNvSpPr/>
          <p:nvPr/>
        </p:nvSpPr>
        <p:spPr>
          <a:xfrm>
            <a:off x="3822120" y="3785760"/>
            <a:ext cx="17913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20" spc="-1" strike="noStrike">
                <a:solidFill>
                  <a:srgbClr val="5b6b86"/>
                </a:solidFill>
                <a:latin typeface="Lato"/>
                <a:ea typeface="Lato"/>
              </a:rPr>
              <a:t>guarde as últimas leituras em uma lista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12"/>
          <p:cNvSpPr/>
          <p:nvPr/>
        </p:nvSpPr>
        <p:spPr>
          <a:xfrm>
            <a:off x="6409800" y="2103120"/>
            <a:ext cx="2157120" cy="2395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13"/>
          <p:cNvSpPr/>
          <p:nvPr/>
        </p:nvSpPr>
        <p:spPr>
          <a:xfrm>
            <a:off x="7178040" y="2404800"/>
            <a:ext cx="621000" cy="621000"/>
          </a:xfrm>
          <a:prstGeom prst="ellipse">
            <a:avLst/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Text 14"/>
          <p:cNvSpPr/>
          <p:nvPr/>
        </p:nvSpPr>
        <p:spPr>
          <a:xfrm>
            <a:off x="7178040" y="244152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3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Text 15"/>
          <p:cNvSpPr/>
          <p:nvPr/>
        </p:nvSpPr>
        <p:spPr>
          <a:xfrm>
            <a:off x="6592680" y="321876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Modo manual / sintético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Text 16"/>
          <p:cNvSpPr/>
          <p:nvPr/>
        </p:nvSpPr>
        <p:spPr>
          <a:xfrm>
            <a:off x="6592680" y="3785760"/>
            <a:ext cx="17913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20" spc="-1" strike="noStrike">
                <a:solidFill>
                  <a:srgbClr val="5b6b86"/>
                </a:solidFill>
                <a:latin typeface="Lato"/>
                <a:ea typeface="Lato"/>
              </a:rPr>
              <a:t>permita escolher como cada parâmetro é obtido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17"/>
          <p:cNvSpPr/>
          <p:nvPr/>
        </p:nvSpPr>
        <p:spPr>
          <a:xfrm>
            <a:off x="9180720" y="2103120"/>
            <a:ext cx="2157120" cy="2395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7f0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18"/>
          <p:cNvSpPr/>
          <p:nvPr/>
        </p:nvSpPr>
        <p:spPr>
          <a:xfrm>
            <a:off x="9948600" y="2404800"/>
            <a:ext cx="621000" cy="621000"/>
          </a:xfrm>
          <a:prstGeom prst="ellipse">
            <a:avLst/>
          </a:prstGeom>
          <a:solidFill>
            <a:srgbClr val="8157b1"/>
          </a:solidFill>
          <a:ln w="12700">
            <a:solidFill>
              <a:srgbClr val="8157b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Text 19"/>
          <p:cNvSpPr/>
          <p:nvPr/>
        </p:nvSpPr>
        <p:spPr>
          <a:xfrm>
            <a:off x="9948600" y="2441520"/>
            <a:ext cx="621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5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4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 20"/>
          <p:cNvSpPr/>
          <p:nvPr/>
        </p:nvSpPr>
        <p:spPr>
          <a:xfrm>
            <a:off x="9363600" y="3218760"/>
            <a:ext cx="179136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Mensagens / som</a:t>
            </a:r>
            <a:endParaRPr b="0" lang="pt-BR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Text 21"/>
          <p:cNvSpPr/>
          <p:nvPr/>
        </p:nvSpPr>
        <p:spPr>
          <a:xfrm>
            <a:off x="9363600" y="3785760"/>
            <a:ext cx="17913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020" spc="-1" strike="noStrike">
                <a:solidFill>
                  <a:srgbClr val="5b6b86"/>
                </a:solidFill>
                <a:latin typeface="Lato"/>
                <a:ea typeface="Lato"/>
              </a:rPr>
              <a:t>use “transmita”, som e outros atores para reagir ao estado</a:t>
            </a:r>
            <a:endParaRPr b="0" lang="pt-BR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22"/>
          <p:cNvSpPr/>
          <p:nvPr/>
        </p:nvSpPr>
        <p:spPr>
          <a:xfrm>
            <a:off x="2450520" y="4974480"/>
            <a:ext cx="7323480" cy="657720"/>
          </a:xfrm>
          <a:prstGeom prst="roundRect">
            <a:avLst>
              <a:gd name="adj" fmla="val 11111"/>
            </a:avLst>
          </a:prstGeom>
          <a:solidFill>
            <a:srgbClr val="fff6ea"/>
          </a:solidFill>
          <a:ln w="12700">
            <a:solidFill>
              <a:srgbClr val="f8d6b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Text 23"/>
          <p:cNvSpPr/>
          <p:nvPr/>
        </p:nvSpPr>
        <p:spPr>
          <a:xfrm>
            <a:off x="2724840" y="5166360"/>
            <a:ext cx="6765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50" spc="-1" strike="noStrike">
                <a:solidFill>
                  <a:srgbClr val="82450c"/>
                </a:solidFill>
                <a:latin typeface="Lato"/>
                <a:ea typeface="Lato"/>
              </a:rPr>
              <a:t>Regra: só avance para a extensão depois de validar a lógica e os testes do projeto principal.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PlaceHolder 1"/>
          <p:cNvSpPr>
            <a:spLocks noGrp="1"/>
          </p:cNvSpPr>
          <p:nvPr>
            <p:ph type="sldNum" idx="35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43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1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 6"/>
          <p:cNvSpPr/>
          <p:nvPr/>
        </p:nvSpPr>
        <p:spPr>
          <a:xfrm>
            <a:off x="749880" y="1115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114" strike="noStrike">
                <a:solidFill>
                  <a:srgbClr val="10b9f3"/>
                </a:solidFill>
                <a:latin typeface="Lato"/>
                <a:ea typeface="Lato"/>
              </a:rPr>
              <a:t>SHOWCASE · 5 MIN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Text 7"/>
          <p:cNvSpPr/>
          <p:nvPr/>
        </p:nvSpPr>
        <p:spPr>
          <a:xfrm>
            <a:off x="731520" y="1481400"/>
            <a:ext cx="89146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2–3 projetos · 1 minuto cada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8"/>
          <p:cNvSpPr/>
          <p:nvPr/>
        </p:nvSpPr>
        <p:spPr>
          <a:xfrm>
            <a:off x="749880" y="265176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620" spc="-1" strike="noStrike">
                <a:solidFill>
                  <a:srgbClr val="ced8ea"/>
                </a:solidFill>
                <a:latin typeface="Lato"/>
                <a:ea typeface="Lato"/>
              </a:rPr>
              <a:t>Compare soluções diferentes que chegam ao mesmo objetivo.</a:t>
            </a:r>
            <a:endParaRPr b="0" lang="pt-BR" sz="1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Shape 9"/>
          <p:cNvSpPr/>
          <p:nvPr/>
        </p:nvSpPr>
        <p:spPr>
          <a:xfrm>
            <a:off x="1033200" y="3794760"/>
            <a:ext cx="2696760" cy="1407600"/>
          </a:xfrm>
          <a:prstGeom prst="roundRect">
            <a:avLst>
              <a:gd name="adj" fmla="val 5195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Shape 10"/>
          <p:cNvSpPr/>
          <p:nvPr/>
        </p:nvSpPr>
        <p:spPr>
          <a:xfrm>
            <a:off x="1600200" y="4041720"/>
            <a:ext cx="155376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Text 11"/>
          <p:cNvSpPr/>
          <p:nvPr/>
        </p:nvSpPr>
        <p:spPr>
          <a:xfrm>
            <a:off x="1673280" y="4105800"/>
            <a:ext cx="1407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PROJETO 1</a:t>
            </a:r>
            <a:endParaRPr b="0" lang="pt-BR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Text 12"/>
          <p:cNvSpPr/>
          <p:nvPr/>
        </p:nvSpPr>
        <p:spPr>
          <a:xfrm>
            <a:off x="1353240" y="4608720"/>
            <a:ext cx="2056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70" spc="-1" strike="noStrike">
                <a:solidFill>
                  <a:srgbClr val="ffffff"/>
                </a:solidFill>
                <a:latin typeface="Lato"/>
                <a:ea typeface="Lato"/>
              </a:rPr>
              <a:t>painel simples</a:t>
            </a:r>
            <a:endParaRPr b="0" lang="pt-BR" sz="11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Shape 13"/>
          <p:cNvSpPr/>
          <p:nvPr/>
        </p:nvSpPr>
        <p:spPr>
          <a:xfrm>
            <a:off x="4389120" y="3794760"/>
            <a:ext cx="2696760" cy="1407600"/>
          </a:xfrm>
          <a:prstGeom prst="roundRect">
            <a:avLst>
              <a:gd name="adj" fmla="val 5195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Shape 14"/>
          <p:cNvSpPr/>
          <p:nvPr/>
        </p:nvSpPr>
        <p:spPr>
          <a:xfrm>
            <a:off x="4956120" y="4041720"/>
            <a:ext cx="1553760" cy="346680"/>
          </a:xfrm>
          <a:prstGeom prst="roundRect">
            <a:avLst>
              <a:gd name="adj" fmla="val 21053"/>
            </a:avLst>
          </a:prstGeom>
          <a:solidFill>
            <a:srgbClr val="f36b21"/>
          </a:solidFill>
          <a:ln w="12700">
            <a:solidFill>
              <a:srgbClr val="f36b2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Text 15"/>
          <p:cNvSpPr/>
          <p:nvPr/>
        </p:nvSpPr>
        <p:spPr>
          <a:xfrm>
            <a:off x="5029200" y="4105800"/>
            <a:ext cx="1407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PROJETO 2</a:t>
            </a:r>
            <a:endParaRPr b="0" lang="pt-BR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16"/>
          <p:cNvSpPr/>
          <p:nvPr/>
        </p:nvSpPr>
        <p:spPr>
          <a:xfrm>
            <a:off x="4709160" y="4608720"/>
            <a:ext cx="2056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70" spc="-1" strike="noStrike">
                <a:solidFill>
                  <a:srgbClr val="ffffff"/>
                </a:solidFill>
                <a:latin typeface="Lato"/>
                <a:ea typeface="Lato"/>
              </a:rPr>
              <a:t>3 parâmetros</a:t>
            </a:r>
            <a:endParaRPr b="0" lang="pt-BR" sz="11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Shape 17"/>
          <p:cNvSpPr/>
          <p:nvPr/>
        </p:nvSpPr>
        <p:spPr>
          <a:xfrm>
            <a:off x="7745040" y="3794760"/>
            <a:ext cx="2696760" cy="1407600"/>
          </a:xfrm>
          <a:prstGeom prst="roundRect">
            <a:avLst>
              <a:gd name="adj" fmla="val 5195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Shape 18"/>
          <p:cNvSpPr/>
          <p:nvPr/>
        </p:nvSpPr>
        <p:spPr>
          <a:xfrm>
            <a:off x="8312040" y="4041720"/>
            <a:ext cx="1553760" cy="346680"/>
          </a:xfrm>
          <a:prstGeom prst="roundRect">
            <a:avLst>
              <a:gd name="adj" fmla="val 21053"/>
            </a:avLst>
          </a:prstGeom>
          <a:solidFill>
            <a:srgbClr val="e72b76"/>
          </a:solidFill>
          <a:ln w="12700">
            <a:solidFill>
              <a:srgbClr val="e72b7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Text 19"/>
          <p:cNvSpPr/>
          <p:nvPr/>
        </p:nvSpPr>
        <p:spPr>
          <a:xfrm>
            <a:off x="8385120" y="4105800"/>
            <a:ext cx="1407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30" spc="-1" strike="noStrike">
                <a:solidFill>
                  <a:srgbClr val="ffffff"/>
                </a:solidFill>
                <a:latin typeface="Lato"/>
                <a:ea typeface="Lato"/>
              </a:rPr>
              <a:t>PROJETO 3</a:t>
            </a:r>
            <a:endParaRPr b="0" lang="pt-BR" sz="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8" name="Text 20"/>
          <p:cNvSpPr/>
          <p:nvPr/>
        </p:nvSpPr>
        <p:spPr>
          <a:xfrm>
            <a:off x="8065080" y="4608720"/>
            <a:ext cx="2056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70" spc="-1" strike="noStrike">
                <a:solidFill>
                  <a:srgbClr val="ffffff"/>
                </a:solidFill>
                <a:latin typeface="Lato"/>
                <a:ea typeface="Lato"/>
              </a:rPr>
              <a:t>mensagens + figurinos</a:t>
            </a:r>
            <a:endParaRPr b="0" lang="pt-BR" sz="11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 21"/>
          <p:cNvSpPr/>
          <p:nvPr/>
        </p:nvSpPr>
        <p:spPr>
          <a:xfrm>
            <a:off x="2816280" y="5614560"/>
            <a:ext cx="6564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750" spc="-1" strike="noStrike">
                <a:solidFill>
                  <a:srgbClr val="10b9f3"/>
                </a:solidFill>
                <a:latin typeface="Inter Display"/>
                <a:ea typeface="Inter Display"/>
              </a:rPr>
              <a:t>O que mudou? O que permaneceu?</a:t>
            </a:r>
            <a:endParaRPr b="0" lang="pt-BR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PlaceHolder 1"/>
          <p:cNvSpPr>
            <a:spLocks noGrp="1"/>
          </p:cNvSpPr>
          <p:nvPr>
            <p:ph type="sldNum" idx="36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44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Encontrar bugs faz parte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Depurar é localizar a causa do comportamento inesperado e corrigi-la.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Text 2"/>
          <p:cNvSpPr/>
          <p:nvPr/>
        </p:nvSpPr>
        <p:spPr>
          <a:xfrm>
            <a:off x="969120" y="193860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85b5b"/>
                </a:solidFill>
                <a:latin typeface="Lato"/>
                <a:ea typeface="Lato"/>
              </a:rPr>
              <a:t>ENCONTRE O ERRO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3"/>
          <p:cNvSpPr/>
          <p:nvPr/>
        </p:nvSpPr>
        <p:spPr>
          <a:xfrm>
            <a:off x="969120" y="2331720"/>
            <a:ext cx="3382560" cy="529560"/>
          </a:xfrm>
          <a:prstGeom prst="roundRect">
            <a:avLst>
              <a:gd name="adj" fmla="val 10345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Text 4"/>
          <p:cNvSpPr/>
          <p:nvPr/>
        </p:nvSpPr>
        <p:spPr>
          <a:xfrm>
            <a:off x="1115640" y="2395800"/>
            <a:ext cx="30898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repita 5 vezes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5"/>
          <p:cNvSpPr/>
          <p:nvPr/>
        </p:nvSpPr>
        <p:spPr>
          <a:xfrm>
            <a:off x="1389960" y="2953440"/>
            <a:ext cx="3976920" cy="538920"/>
          </a:xfrm>
          <a:prstGeom prst="roundRect">
            <a:avLst>
              <a:gd name="adj" fmla="val 10169"/>
            </a:avLst>
          </a:prstGeom>
          <a:solidFill>
            <a:srgbClr val="ff8c1a"/>
          </a:solidFill>
          <a:ln w="7620">
            <a:solidFill>
              <a:srgbClr val="ff8c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Text 6"/>
          <p:cNvSpPr/>
          <p:nvPr/>
        </p:nvSpPr>
        <p:spPr>
          <a:xfrm>
            <a:off x="1536120" y="3017520"/>
            <a:ext cx="368424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50" spc="-1" strike="noStrike">
                <a:solidFill>
                  <a:srgbClr val="ffffff"/>
                </a:solidFill>
                <a:latin typeface="Lato"/>
                <a:ea typeface="Lato"/>
              </a:rPr>
              <a:t>defina freqCardiaca para número aleatório 50–130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7"/>
          <p:cNvSpPr/>
          <p:nvPr/>
        </p:nvSpPr>
        <p:spPr>
          <a:xfrm>
            <a:off x="1051560" y="3812760"/>
            <a:ext cx="4526280" cy="360"/>
          </a:xfrm>
          <a:prstGeom prst="line">
            <a:avLst/>
          </a:prstGeom>
          <a:ln w="22860">
            <a:solidFill>
              <a:srgbClr val="e85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8"/>
          <p:cNvSpPr/>
          <p:nvPr/>
        </p:nvSpPr>
        <p:spPr>
          <a:xfrm>
            <a:off x="969120" y="4114800"/>
            <a:ext cx="3656880" cy="547920"/>
          </a:xfrm>
          <a:prstGeom prst="roundRect">
            <a:avLst>
              <a:gd name="adj" fmla="val 10000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Text 9"/>
          <p:cNvSpPr/>
          <p:nvPr/>
        </p:nvSpPr>
        <p:spPr>
          <a:xfrm>
            <a:off x="1115640" y="4178880"/>
            <a:ext cx="3364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40" spc="-1" strike="noStrike">
                <a:solidFill>
                  <a:srgbClr val="071a4a"/>
                </a:solidFill>
                <a:latin typeface="Lato"/>
                <a:ea typeface="Lato"/>
              </a:rPr>
              <a:t>se freqCardiaca &lt; 30 ...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10"/>
          <p:cNvSpPr/>
          <p:nvPr/>
        </p:nvSpPr>
        <p:spPr>
          <a:xfrm>
            <a:off x="4316040" y="4169520"/>
            <a:ext cx="959400" cy="346680"/>
          </a:xfrm>
          <a:prstGeom prst="roundRect">
            <a:avLst>
              <a:gd name="adj" fmla="val 21053"/>
            </a:avLst>
          </a:prstGeom>
          <a:solidFill>
            <a:srgbClr val="e85b5b"/>
          </a:solidFill>
          <a:ln w="12700">
            <a:solidFill>
              <a:srgbClr val="e85b5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Text 11"/>
          <p:cNvSpPr/>
          <p:nvPr/>
        </p:nvSpPr>
        <p:spPr>
          <a:xfrm>
            <a:off x="4389120" y="4233600"/>
            <a:ext cx="813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ffffff"/>
                </a:solidFill>
                <a:latin typeface="Lato"/>
                <a:ea typeface="Lato"/>
              </a:rPr>
              <a:t>BUG?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12"/>
          <p:cNvSpPr/>
          <p:nvPr/>
        </p:nvSpPr>
        <p:spPr>
          <a:xfrm>
            <a:off x="6492240" y="2331720"/>
            <a:ext cx="4498200" cy="2678400"/>
          </a:xfrm>
          <a:prstGeom prst="roundRect">
            <a:avLst>
              <a:gd name="adj" fmla="val 2730"/>
            </a:avLst>
          </a:prstGeom>
          <a:solidFill>
            <a:srgbClr val="fff5f5"/>
          </a:solidFill>
          <a:ln w="12700">
            <a:solidFill>
              <a:srgbClr val="f0d1d1"/>
            </a:solidFill>
            <a:round/>
          </a:ln>
          <a:effectLst>
            <a:outerShdw algn="bl" blurRad="15120" dir="2700000" dist="49893" kx="0" ky="0" rotWithShape="0" sx="100000" sy="100000">
              <a:srgbClr val="9eb0c8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 13"/>
          <p:cNvSpPr/>
          <p:nvPr/>
        </p:nvSpPr>
        <p:spPr>
          <a:xfrm>
            <a:off x="6821280" y="2670120"/>
            <a:ext cx="102348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e85b5b"/>
                </a:solidFill>
                <a:latin typeface="Lato"/>
                <a:ea typeface="Lato"/>
              </a:rPr>
              <a:t>Sintoma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 14"/>
          <p:cNvSpPr/>
          <p:nvPr/>
        </p:nvSpPr>
        <p:spPr>
          <a:xfrm>
            <a:off x="6821280" y="3054240"/>
            <a:ext cx="37483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500" spc="-1" strike="noStrike">
                <a:solidFill>
                  <a:srgbClr val="14213d"/>
                </a:solidFill>
                <a:latin typeface="Lato"/>
                <a:ea typeface="Lato"/>
              </a:rPr>
              <a:t>o valor muda 5 vezes, mas a classificação acontece apenas uma vez.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 15"/>
          <p:cNvSpPr/>
          <p:nvPr/>
        </p:nvSpPr>
        <p:spPr>
          <a:xfrm>
            <a:off x="6821280" y="3968640"/>
            <a:ext cx="102348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050" spc="-1" strike="noStrike">
                <a:solidFill>
                  <a:srgbClr val="10b9f3"/>
                </a:solidFill>
                <a:latin typeface="Lato"/>
                <a:ea typeface="Lato"/>
              </a:rPr>
              <a:t>Pergunta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 16"/>
          <p:cNvSpPr/>
          <p:nvPr/>
        </p:nvSpPr>
        <p:spPr>
          <a:xfrm>
            <a:off x="6821280" y="4325040"/>
            <a:ext cx="37483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071a4a"/>
                </a:solidFill>
                <a:latin typeface="Lato"/>
                <a:ea typeface="Lato"/>
              </a:rPr>
              <a:t>qual conjunto completo de ações precisa acontecer a cada nova leitura?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PlaceHolder 1"/>
          <p:cNvSpPr>
            <a:spLocks noGrp="1"/>
          </p:cNvSpPr>
          <p:nvPr>
            <p:ph type="sldNum" idx="37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45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Scratch → Python: variável e entrada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A lógica é a mesma; muda a forma de escrever.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Text 2"/>
          <p:cNvSpPr/>
          <p:nvPr/>
        </p:nvSpPr>
        <p:spPr>
          <a:xfrm>
            <a:off x="941760" y="194760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10b9f3"/>
                </a:solidFill>
                <a:latin typeface="Lato"/>
                <a:ea typeface="Lato"/>
              </a:rPr>
              <a:t>SCRATCH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 3"/>
          <p:cNvSpPr/>
          <p:nvPr/>
        </p:nvSpPr>
        <p:spPr>
          <a:xfrm>
            <a:off x="6455520" y="194760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PYTHON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4"/>
          <p:cNvSpPr/>
          <p:nvPr/>
        </p:nvSpPr>
        <p:spPr>
          <a:xfrm>
            <a:off x="932760" y="2395800"/>
            <a:ext cx="4406760" cy="584640"/>
          </a:xfrm>
          <a:prstGeom prst="roundRect">
            <a:avLst>
              <a:gd name="adj" fmla="val 9375"/>
            </a:avLst>
          </a:prstGeom>
          <a:solidFill>
            <a:srgbClr val="4cbfe6"/>
          </a:solidFill>
          <a:ln w="7620">
            <a:solidFill>
              <a:srgbClr val="4cbf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 5"/>
          <p:cNvSpPr/>
          <p:nvPr/>
        </p:nvSpPr>
        <p:spPr>
          <a:xfrm>
            <a:off x="1078920" y="2459880"/>
            <a:ext cx="41140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00" spc="-1" strike="noStrike">
                <a:solidFill>
                  <a:srgbClr val="ffffff"/>
                </a:solidFill>
                <a:latin typeface="Lato"/>
                <a:ea typeface="Lato"/>
              </a:rPr>
              <a:t>pergunte “Digite a FC (bpm)” e espere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6"/>
          <p:cNvSpPr/>
          <p:nvPr/>
        </p:nvSpPr>
        <p:spPr>
          <a:xfrm>
            <a:off x="932760" y="3072240"/>
            <a:ext cx="3931200" cy="547920"/>
          </a:xfrm>
          <a:prstGeom prst="roundRect">
            <a:avLst>
              <a:gd name="adj" fmla="val 10000"/>
            </a:avLst>
          </a:prstGeom>
          <a:solidFill>
            <a:srgbClr val="ff8c1a"/>
          </a:solidFill>
          <a:ln w="7620">
            <a:solidFill>
              <a:srgbClr val="ff8c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Text 7"/>
          <p:cNvSpPr/>
          <p:nvPr/>
        </p:nvSpPr>
        <p:spPr>
          <a:xfrm>
            <a:off x="1078920" y="3136320"/>
            <a:ext cx="3638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40" spc="-1" strike="noStrike">
                <a:solidFill>
                  <a:srgbClr val="ffffff"/>
                </a:solidFill>
                <a:latin typeface="Lato"/>
                <a:ea typeface="Lato"/>
              </a:rPr>
              <a:t>defina freqCardiaca para resposta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8"/>
          <p:cNvSpPr/>
          <p:nvPr/>
        </p:nvSpPr>
        <p:spPr>
          <a:xfrm>
            <a:off x="5449680" y="3053880"/>
            <a:ext cx="694800" cy="360"/>
          </a:xfrm>
          <a:prstGeom prst="line">
            <a:avLst/>
          </a:prstGeom>
          <a:ln w="3048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9"/>
          <p:cNvSpPr/>
          <p:nvPr/>
        </p:nvSpPr>
        <p:spPr>
          <a:xfrm>
            <a:off x="6437520" y="2395800"/>
            <a:ext cx="4498200" cy="1553760"/>
          </a:xfrm>
          <a:prstGeom prst="roundRect">
            <a:avLst>
              <a:gd name="adj" fmla="val 4706"/>
            </a:avLst>
          </a:prstGeom>
          <a:solidFill>
            <a:srgbClr val="0b1739"/>
          </a:solidFill>
          <a:ln w="12700">
            <a:solidFill>
              <a:srgbClr val="2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Text 10"/>
          <p:cNvSpPr/>
          <p:nvPr/>
        </p:nvSpPr>
        <p:spPr>
          <a:xfrm>
            <a:off x="6602040" y="2541960"/>
            <a:ext cx="41688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freqCardiaca = int(input(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    </a:t>
            </a:r>
            <a:r>
              <a:rPr b="0" lang="pt-BR" sz="140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"Digite a FC (bpm): 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40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))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11"/>
          <p:cNvSpPr/>
          <p:nvPr/>
        </p:nvSpPr>
        <p:spPr>
          <a:xfrm>
            <a:off x="1892880" y="4681800"/>
            <a:ext cx="8411760" cy="749160"/>
          </a:xfrm>
          <a:prstGeom prst="roundRect">
            <a:avLst>
              <a:gd name="adj" fmla="val 9756"/>
            </a:avLst>
          </a:prstGeom>
          <a:solidFill>
            <a:srgbClr val="eef3fa"/>
          </a:solidFill>
          <a:ln w="12700">
            <a:solidFill>
              <a:srgbClr val="d6e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 12"/>
          <p:cNvSpPr/>
          <p:nvPr/>
        </p:nvSpPr>
        <p:spPr>
          <a:xfrm>
            <a:off x="2212920" y="49104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340" spc="-1" strike="noStrike">
                <a:solidFill>
                  <a:srgbClr val="071a4a"/>
                </a:solidFill>
                <a:latin typeface="Lato"/>
                <a:ea typeface="Lato"/>
              </a:rPr>
              <a:t>Perguntar → obter uma resposta → guardar em freqCardiaca. O conceito é idêntico.</a:t>
            </a:r>
            <a:endParaRPr b="0" lang="pt-BR" sz="13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PlaceHolder 1"/>
          <p:cNvSpPr>
            <a:spLocks noGrp="1"/>
          </p:cNvSpPr>
          <p:nvPr>
            <p:ph type="sldNum" idx="38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46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Text 0"/>
          <p:cNvSpPr/>
          <p:nvPr/>
        </p:nvSpPr>
        <p:spPr>
          <a:xfrm>
            <a:off x="713160" y="896040"/>
            <a:ext cx="9966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2750" spc="-1" strike="noStrike">
                <a:solidFill>
                  <a:srgbClr val="071a4a"/>
                </a:solidFill>
                <a:latin typeface="Inter Display"/>
                <a:ea typeface="Inter Display"/>
              </a:rPr>
              <a:t>Scratch → Python: decisão e repetição</a:t>
            </a:r>
            <a:endParaRPr b="0" lang="pt-BR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 1"/>
          <p:cNvSpPr/>
          <p:nvPr/>
        </p:nvSpPr>
        <p:spPr>
          <a:xfrm>
            <a:off x="731520" y="1444680"/>
            <a:ext cx="9691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350" spc="-1" strike="noStrike">
                <a:solidFill>
                  <a:srgbClr val="5b6b86"/>
                </a:solidFill>
                <a:latin typeface="Lato"/>
                <a:ea typeface="Lato"/>
              </a:rPr>
              <a:t>Dois exemplos para enxergar a ponte para o próximo curso.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 2"/>
          <p:cNvSpPr/>
          <p:nvPr/>
        </p:nvSpPr>
        <p:spPr>
          <a:xfrm>
            <a:off x="841320" y="1901880"/>
            <a:ext cx="10965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e72b76"/>
                </a:solidFill>
                <a:latin typeface="Lato"/>
                <a:ea typeface="Lato"/>
              </a:rPr>
              <a:t>DECISÃO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3"/>
          <p:cNvSpPr/>
          <p:nvPr/>
        </p:nvSpPr>
        <p:spPr>
          <a:xfrm>
            <a:off x="841320" y="2258640"/>
            <a:ext cx="4022640" cy="566280"/>
          </a:xfrm>
          <a:prstGeom prst="roundRect">
            <a:avLst>
              <a:gd name="adj" fmla="val 9677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 4"/>
          <p:cNvSpPr/>
          <p:nvPr/>
        </p:nvSpPr>
        <p:spPr>
          <a:xfrm>
            <a:off x="987480" y="2322720"/>
            <a:ext cx="3729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90" spc="-1" strike="noStrike">
                <a:solidFill>
                  <a:srgbClr val="071a4a"/>
                </a:solidFill>
                <a:latin typeface="Lato"/>
                <a:ea typeface="Lato"/>
              </a:rPr>
              <a:t>se freqCardiaca &lt; 30 ... senão ...</a:t>
            </a:r>
            <a:endParaRPr b="0" lang="pt-BR" sz="12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5"/>
          <p:cNvSpPr/>
          <p:nvPr/>
        </p:nvSpPr>
        <p:spPr>
          <a:xfrm>
            <a:off x="5724000" y="2066400"/>
            <a:ext cx="5302800" cy="1946880"/>
          </a:xfrm>
          <a:prstGeom prst="roundRect">
            <a:avLst>
              <a:gd name="adj" fmla="val 3756"/>
            </a:avLst>
          </a:prstGeom>
          <a:solidFill>
            <a:srgbClr val="0b1739"/>
          </a:solidFill>
          <a:ln w="12700">
            <a:solidFill>
              <a:srgbClr val="2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Text 6"/>
          <p:cNvSpPr/>
          <p:nvPr/>
        </p:nvSpPr>
        <p:spPr>
          <a:xfrm>
            <a:off x="5888880" y="2212920"/>
            <a:ext cx="4973760" cy="16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if freqCardiaca &lt; 30: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    </a:t>
            </a: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print("Faixa A")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elif freqCardiaca &lt;= 70: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    </a:t>
            </a: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print("Faixa B")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else: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    </a:t>
            </a:r>
            <a:r>
              <a:rPr b="0" lang="pt-BR" sz="119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print("Faixa C")</a:t>
            </a:r>
            <a:endParaRPr b="0" lang="pt-BR" sz="11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Text 7"/>
          <p:cNvSpPr/>
          <p:nvPr/>
        </p:nvSpPr>
        <p:spPr>
          <a:xfrm>
            <a:off x="841320" y="4352400"/>
            <a:ext cx="1279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950" spc="75" strike="noStrike">
                <a:solidFill>
                  <a:srgbClr val="f36b21"/>
                </a:solidFill>
                <a:latin typeface="Lato"/>
                <a:ea typeface="Lato"/>
              </a:rPr>
              <a:t>REPETIÇÃO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8"/>
          <p:cNvSpPr/>
          <p:nvPr/>
        </p:nvSpPr>
        <p:spPr>
          <a:xfrm>
            <a:off x="841320" y="4718160"/>
            <a:ext cx="3218040" cy="547920"/>
          </a:xfrm>
          <a:prstGeom prst="roundRect">
            <a:avLst>
              <a:gd name="adj" fmla="val 10000"/>
            </a:avLst>
          </a:prstGeom>
          <a:solidFill>
            <a:srgbClr val="ffab19"/>
          </a:solidFill>
          <a:ln w="7620">
            <a:solidFill>
              <a:srgbClr val="ffab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 9"/>
          <p:cNvSpPr/>
          <p:nvPr/>
        </p:nvSpPr>
        <p:spPr>
          <a:xfrm>
            <a:off x="987480" y="4782240"/>
            <a:ext cx="292536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400" spc="-1" strike="noStrike">
                <a:solidFill>
                  <a:srgbClr val="071a4a"/>
                </a:solidFill>
                <a:latin typeface="Lato"/>
                <a:ea typeface="Lato"/>
              </a:rPr>
              <a:t>repita 5 vezes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10"/>
          <p:cNvSpPr/>
          <p:nvPr/>
        </p:nvSpPr>
        <p:spPr>
          <a:xfrm>
            <a:off x="5724000" y="4498920"/>
            <a:ext cx="5302800" cy="1096560"/>
          </a:xfrm>
          <a:prstGeom prst="roundRect">
            <a:avLst>
              <a:gd name="adj" fmla="val 6667"/>
            </a:avLst>
          </a:prstGeom>
          <a:solidFill>
            <a:srgbClr val="0b1739"/>
          </a:solidFill>
          <a:ln w="12700">
            <a:solidFill>
              <a:srgbClr val="2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Text 11"/>
          <p:cNvSpPr/>
          <p:nvPr/>
        </p:nvSpPr>
        <p:spPr>
          <a:xfrm>
            <a:off x="5888880" y="4645080"/>
            <a:ext cx="49737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8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for i in range(5):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28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    </a:t>
            </a:r>
            <a:r>
              <a:rPr b="0" lang="pt-BR" sz="1280" spc="-1" strike="noStrike">
                <a:solidFill>
                  <a:srgbClr val="e9f1ff"/>
                </a:solidFill>
                <a:latin typeface="DejaVu Sans Mono"/>
                <a:ea typeface="DejaVu Sans Mono"/>
              </a:rPr>
              <a:t># nova leitura sintética</a:t>
            </a:r>
            <a:endParaRPr b="0" lang="pt-BR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12"/>
          <p:cNvSpPr/>
          <p:nvPr/>
        </p:nvSpPr>
        <p:spPr>
          <a:xfrm>
            <a:off x="4955760" y="2541960"/>
            <a:ext cx="521280" cy="360"/>
          </a:xfrm>
          <a:prstGeom prst="line">
            <a:avLst/>
          </a:prstGeom>
          <a:ln w="2794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13"/>
          <p:cNvSpPr/>
          <p:nvPr/>
        </p:nvSpPr>
        <p:spPr>
          <a:xfrm>
            <a:off x="4169520" y="4992480"/>
            <a:ext cx="1298520" cy="360"/>
          </a:xfrm>
          <a:prstGeom prst="line">
            <a:avLst/>
          </a:prstGeom>
          <a:ln w="27940">
            <a:solidFill>
              <a:srgbClr val="071a4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PlaceHolder 1"/>
          <p:cNvSpPr>
            <a:spLocks noGrp="1"/>
          </p:cNvSpPr>
          <p:nvPr>
            <p:ph type="sldNum" idx="39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47</a:t>
            </a:r>
            <a:endParaRPr b="0" lang="pt-BR" sz="72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Shape 0"/>
          <p:cNvSpPr/>
          <p:nvPr/>
        </p:nvSpPr>
        <p:spPr>
          <a:xfrm>
            <a:off x="-411480" y="987480"/>
            <a:ext cx="1279440" cy="100512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e72b76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Shape 1"/>
          <p:cNvSpPr/>
          <p:nvPr/>
        </p:nvSpPr>
        <p:spPr>
          <a:xfrm>
            <a:off x="11384280" y="1600200"/>
            <a:ext cx="1233720" cy="986760"/>
          </a:xfrm>
          <a:prstGeom prst="hexagon">
            <a:avLst>
              <a:gd name="adj" fmla="val 25000"/>
              <a:gd name="vf" fmla="val 115470"/>
            </a:avLst>
          </a:prstGeom>
          <a:noFill/>
          <a:ln w="30480">
            <a:solidFill>
              <a:srgbClr val="f36b21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Shape 2"/>
          <p:cNvSpPr/>
          <p:nvPr/>
        </p:nvSpPr>
        <p:spPr>
          <a:xfrm>
            <a:off x="10442520" y="5148000"/>
            <a:ext cx="959400" cy="75816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10b9f3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Shape 3"/>
          <p:cNvSpPr/>
          <p:nvPr/>
        </p:nvSpPr>
        <p:spPr>
          <a:xfrm>
            <a:off x="164520" y="513900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7940">
            <a:solidFill>
              <a:srgbClr val="8157b1">
                <a:alpha val="8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Shape 4"/>
          <p:cNvSpPr/>
          <p:nvPr/>
        </p:nvSpPr>
        <p:spPr>
          <a:xfrm>
            <a:off x="8192880" y="-283320"/>
            <a:ext cx="986760" cy="785520"/>
          </a:xfrm>
          <a:prstGeom prst="hexagon">
            <a:avLst>
              <a:gd name="adj" fmla="val 25000"/>
              <a:gd name="vf" fmla="val 115470"/>
            </a:avLst>
          </a:prstGeom>
          <a:noFill/>
          <a:ln w="26670">
            <a:solidFill>
              <a:srgbClr val="f36b2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Shape 5"/>
          <p:cNvSpPr/>
          <p:nvPr/>
        </p:nvSpPr>
        <p:spPr>
          <a:xfrm>
            <a:off x="2990160" y="-246960"/>
            <a:ext cx="840600" cy="666720"/>
          </a:xfrm>
          <a:prstGeom prst="hexagon">
            <a:avLst>
              <a:gd name="adj" fmla="val 25000"/>
              <a:gd name="vf" fmla="val 115470"/>
            </a:avLst>
          </a:prstGeom>
          <a:noFill/>
          <a:ln w="25400">
            <a:solidFill>
              <a:srgbClr val="10b9f3">
                <a:alpha val="8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Text 6"/>
          <p:cNvSpPr/>
          <p:nvPr/>
        </p:nvSpPr>
        <p:spPr>
          <a:xfrm>
            <a:off x="749880" y="1115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00" spc="114" strike="noStrike">
                <a:solidFill>
                  <a:srgbClr val="10b9f3"/>
                </a:solidFill>
                <a:latin typeface="Lato"/>
                <a:ea typeface="Lato"/>
              </a:rPr>
              <a:t>FECHAMENTO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Text 7"/>
          <p:cNvSpPr/>
          <p:nvPr/>
        </p:nvSpPr>
        <p:spPr>
          <a:xfrm>
            <a:off x="731520" y="1481400"/>
            <a:ext cx="89146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3400" spc="-1" strike="noStrike">
                <a:solidFill>
                  <a:srgbClr val="ffffff"/>
                </a:solidFill>
                <a:latin typeface="Inter Display"/>
                <a:ea typeface="Inter Display"/>
              </a:rPr>
              <a:t>O que você leva para o próximo curso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 8"/>
          <p:cNvSpPr/>
          <p:nvPr/>
        </p:nvSpPr>
        <p:spPr>
          <a:xfrm>
            <a:off x="749880" y="2651760"/>
            <a:ext cx="7863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BR" sz="1620" spc="-1" strike="noStrike">
                <a:solidFill>
                  <a:srgbClr val="ced8ea"/>
                </a:solidFill>
                <a:latin typeface="Lato"/>
                <a:ea typeface="Lato"/>
              </a:rPr>
              <a:t>Sequência · dados · decisão · repetição · eventos</a:t>
            </a:r>
            <a:endParaRPr b="0" lang="pt-BR" sz="1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Shape 9"/>
          <p:cNvSpPr/>
          <p:nvPr/>
        </p:nvSpPr>
        <p:spPr>
          <a:xfrm>
            <a:off x="896040" y="3840480"/>
            <a:ext cx="2157120" cy="1005120"/>
          </a:xfrm>
          <a:prstGeom prst="roundRect">
            <a:avLst>
              <a:gd name="adj" fmla="val 727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Text 10"/>
          <p:cNvSpPr/>
          <p:nvPr/>
        </p:nvSpPr>
        <p:spPr>
          <a:xfrm>
            <a:off x="1060560" y="4151520"/>
            <a:ext cx="1828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10b9f3"/>
                </a:solidFill>
                <a:latin typeface="Inter Display"/>
                <a:ea typeface="Inter Display"/>
              </a:rPr>
              <a:t>Sequência</a:t>
            </a:r>
            <a:endParaRPr b="0" lang="pt-BR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" name="Shape 11"/>
          <p:cNvSpPr/>
          <p:nvPr/>
        </p:nvSpPr>
        <p:spPr>
          <a:xfrm>
            <a:off x="3639240" y="3840480"/>
            <a:ext cx="2157120" cy="1005120"/>
          </a:xfrm>
          <a:prstGeom prst="roundRect">
            <a:avLst>
              <a:gd name="adj" fmla="val 727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Text 12"/>
          <p:cNvSpPr/>
          <p:nvPr/>
        </p:nvSpPr>
        <p:spPr>
          <a:xfrm>
            <a:off x="3803760" y="4151520"/>
            <a:ext cx="1828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f36b21"/>
                </a:solidFill>
                <a:latin typeface="Inter Display"/>
                <a:ea typeface="Inter Display"/>
              </a:rPr>
              <a:t>Variável</a:t>
            </a:r>
            <a:endParaRPr b="0" lang="pt-BR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1" name="Shape 13"/>
          <p:cNvSpPr/>
          <p:nvPr/>
        </p:nvSpPr>
        <p:spPr>
          <a:xfrm>
            <a:off x="6382440" y="3840480"/>
            <a:ext cx="2157120" cy="1005120"/>
          </a:xfrm>
          <a:prstGeom prst="roundRect">
            <a:avLst>
              <a:gd name="adj" fmla="val 727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Text 14"/>
          <p:cNvSpPr/>
          <p:nvPr/>
        </p:nvSpPr>
        <p:spPr>
          <a:xfrm>
            <a:off x="6546960" y="4151520"/>
            <a:ext cx="1828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e72b76"/>
                </a:solidFill>
                <a:latin typeface="Inter Display"/>
                <a:ea typeface="Inter Display"/>
              </a:rPr>
              <a:t>Decisão</a:t>
            </a:r>
            <a:endParaRPr b="0" lang="pt-BR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Shape 15"/>
          <p:cNvSpPr/>
          <p:nvPr/>
        </p:nvSpPr>
        <p:spPr>
          <a:xfrm>
            <a:off x="9125640" y="3840480"/>
            <a:ext cx="2157120" cy="1005120"/>
          </a:xfrm>
          <a:prstGeom prst="roundRect">
            <a:avLst>
              <a:gd name="adj" fmla="val 7273"/>
            </a:avLst>
          </a:prstGeom>
          <a:solidFill>
            <a:srgbClr val="10285d"/>
          </a:solidFill>
          <a:ln w="12700">
            <a:solidFill>
              <a:srgbClr val="244b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 16"/>
          <p:cNvSpPr/>
          <p:nvPr/>
        </p:nvSpPr>
        <p:spPr>
          <a:xfrm>
            <a:off x="9290160" y="4151520"/>
            <a:ext cx="1828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650" spc="-1" strike="noStrike">
                <a:solidFill>
                  <a:srgbClr val="8157b1"/>
                </a:solidFill>
                <a:latin typeface="Inter Display"/>
                <a:ea typeface="Inter Display"/>
              </a:rPr>
              <a:t>Repetição</a:t>
            </a:r>
            <a:endParaRPr b="0" lang="pt-BR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Shape 17"/>
          <p:cNvSpPr/>
          <p:nvPr/>
        </p:nvSpPr>
        <p:spPr>
          <a:xfrm>
            <a:off x="4087440" y="5340240"/>
            <a:ext cx="4004280" cy="346680"/>
          </a:xfrm>
          <a:prstGeom prst="roundRect">
            <a:avLst>
              <a:gd name="adj" fmla="val 21053"/>
            </a:avLst>
          </a:prstGeom>
          <a:solidFill>
            <a:srgbClr val="10b9f3"/>
          </a:solidFill>
          <a:ln w="12700">
            <a:solidFill>
              <a:srgbClr val="10b9f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Text 18"/>
          <p:cNvSpPr/>
          <p:nvPr/>
        </p:nvSpPr>
        <p:spPr>
          <a:xfrm>
            <a:off x="4160520" y="5403960"/>
            <a:ext cx="38581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120" spc="-1" strike="noStrike">
                <a:solidFill>
                  <a:srgbClr val="071a4a"/>
                </a:solidFill>
                <a:latin typeface="Lato"/>
                <a:ea typeface="Lato"/>
              </a:rPr>
              <a:t>PRÓXIMO PASSO: PYTHON</a:t>
            </a:r>
            <a:endParaRPr b="0" lang="pt-BR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 19"/>
          <p:cNvSpPr/>
          <p:nvPr/>
        </p:nvSpPr>
        <p:spPr>
          <a:xfrm>
            <a:off x="2432160" y="5888880"/>
            <a:ext cx="73144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BR" sz="1230" spc="-1" strike="noStrike">
                <a:solidFill>
                  <a:srgbClr val="c5d2e8"/>
                </a:solidFill>
                <a:latin typeface="Lato"/>
                <a:ea typeface="Lato"/>
              </a:rPr>
              <a:t>Quiz de saída: explique uma regra usando variável + condição + ação.</a:t>
            </a:r>
            <a:endParaRPr b="0" lang="pt-BR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PlaceHolder 1"/>
          <p:cNvSpPr>
            <a:spLocks noGrp="1"/>
          </p:cNvSpPr>
          <p:nvPr>
            <p:ph type="sldNum" idx="40"/>
          </p:nvPr>
        </p:nvSpPr>
        <p:spPr>
          <a:xfrm>
            <a:off x="11283840" y="6446520"/>
            <a:ext cx="319320" cy="16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pt-BR" sz="720" spc="-1" strike="noStrike">
                <a:solidFill>
                  <a:srgbClr val="91a0b6"/>
                </a:solidFill>
                <a:latin typeface="Lato"/>
                <a:ea typeface="Lato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720" spc="-1" strike="noStrike">
                <a:solidFill>
                  <a:srgbClr val="91a0b6"/>
                </a:solidFill>
                <a:latin typeface="Lato"/>
                <a:ea typeface="Lato"/>
              </a:rPr>
              <a:t>48</a:t>
            </a:r>
            <a:endParaRPr b="0" lang="pt-BR" sz="72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 pitchFamily="0" charset="1"/>
        <a:ea typeface=""/>
        <a:cs typeface=""/>
      </a:majorFont>
      <a:minorFont>
        <a:latin typeface="La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Application>LibreOffice/24.2.7.2$Linux_X86_64 LibreOffice_project/420$Build-2</Application>
  <AppVersion>15.0000</AppVersion>
  <Words>0</Words>
  <Paragraphs>0</Paragraphs>
  <Company>Projeto Ocean - Residência em TIC 53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2026-09-10T18:13:50Z</dcterms:created>
  <dc:creator>Prof. Dr. Guillermo Alvarez Bestard</dc:creator>
  <dc:description/>
  <dc:language>pt-BR</dc:language>
  <cp:lastModifiedBy/>
  <dcterms:modified xsi:type="dcterms:W3CDTF">2026-09-15T12:18:52Z</dcterms:modified>
  <cp:revision>5</cp:revision>
  <dc:subject>PR-01 - Lógica de Programação Aplicada à Saúde com Scratch</dc:subject>
  <dc:title>PR-01 - Lógica de Programação Aplicada à Saúde com Scratch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35</vt:i4>
  </property>
  <property fmtid="{D5CDD505-2E9C-101B-9397-08002B2CF9AE}" pid="3" name="PresentationFormat">
    <vt:lpwstr>On-screen Show (16:9)</vt:lpwstr>
  </property>
  <property fmtid="{D5CDD505-2E9C-101B-9397-08002B2CF9AE}" pid="4" name="Slides">
    <vt:i4>35</vt:i4>
  </property>
</Properties>
</file>