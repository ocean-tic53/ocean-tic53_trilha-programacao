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5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pt-BR" sz="1800" spc="-1" strike="noStrike">
                <a:solidFill>
                  <a:schemeClr val="dk1"/>
                </a:solidFill>
                <a:latin typeface="Aptos"/>
              </a:rPr>
              <a:t>Clique para mover o slide</a:t>
            </a:r>
            <a:endParaRPr b="0" lang="pt-BR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Clique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para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editar o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formato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de notas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&lt;cabeçalho&gt;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63228F8D-02AA-477E-8C4E-B232AAF1FEB7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6EC082-6FE3-4283-9307-1A93BF3BA2B2}" type="slidenum">
              <a:rPr b="0" lang="pt-BR" sz="1200" spc="-1" strike="noStrike">
                <a:solidFill>
                  <a:schemeClr val="dk1"/>
                </a:solidFill>
                <a:latin typeface="+mn-lt"/>
                <a:ea typeface="+mn-ea"/>
              </a:rPr>
              <a:t>11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8522F9F-5C11-4A61-818C-00B10BCE5D0C}" type="slidenum">
              <a:rPr b="0" lang="pt-BR" sz="1200" spc="-1" strike="noStrike">
                <a:solidFill>
                  <a:schemeClr val="dk1"/>
                </a:solidFill>
                <a:latin typeface="+mn-lt"/>
                <a:ea typeface="+mn-ea"/>
              </a:rPr>
              <a:t>11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9217337-FF85-436A-8A38-31B4DE1AA390}" type="slidenum">
              <a:rPr b="0" lang="pt-BR" sz="1200" spc="-1" strike="noStrike">
                <a:solidFill>
                  <a:schemeClr val="dk1"/>
                </a:solidFill>
                <a:latin typeface="+mn-lt"/>
                <a:ea typeface="+mn-ea"/>
              </a:rPr>
              <a:t>11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9F67B3D-A3ED-4E10-817E-10C5DE4F3B0D}" type="slidenum">
              <a:rPr b="0" lang="pt-BR" sz="1200" spc="-1" strike="noStrike">
                <a:solidFill>
                  <a:schemeClr val="dk1"/>
                </a:solidFill>
                <a:latin typeface="+mn-lt"/>
                <a:ea typeface="+mn-ea"/>
              </a:rPr>
              <a:t>11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CC0DEF1-0B8B-4BB0-AFF3-78F0E5AD519F}" type="slidenum">
              <a:rPr b="0" lang="pt-BR" sz="1200" spc="-1" strike="noStrike">
                <a:solidFill>
                  <a:schemeClr val="dk1"/>
                </a:solidFill>
                <a:latin typeface="+mn-lt"/>
                <a:ea typeface="+mn-ea"/>
              </a:rPr>
              <a:t>11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430C00B-25C5-42B0-A49F-1D91B78E044E}" type="slidenum">
              <a:rPr b="0" lang="pt-BR" sz="1200" spc="-1" strike="noStrike">
                <a:solidFill>
                  <a:schemeClr val="dk1"/>
                </a:solidFill>
                <a:latin typeface="+mn-lt"/>
                <a:ea typeface="+mn-ea"/>
              </a:rPr>
              <a:t>11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53E8E9B-DB13-4B0C-9678-6725117FAD80}" type="slidenum">
              <a:rPr b="0" lang="pt-BR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A81C902D-FD4E-4E04-99CD-45AFAD9973BE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hape 0"/>
          <p:cNvSpPr/>
          <p:nvPr/>
        </p:nvSpPr>
        <p:spPr>
          <a:xfrm>
            <a:off x="0" y="0"/>
            <a:ext cx="12191400" cy="164160"/>
          </a:xfrm>
          <a:prstGeom prst="rect">
            <a:avLst/>
          </a:prstGeom>
          <a:solidFill>
            <a:srgbClr val="0b1b5e"/>
          </a:solidFill>
          <a:ln w="12700">
            <a:solidFill>
              <a:srgbClr val="0b1b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Text 1"/>
          <p:cNvSpPr/>
          <p:nvPr/>
        </p:nvSpPr>
        <p:spPr>
          <a:xfrm>
            <a:off x="502920" y="6546960"/>
            <a:ext cx="6217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6b7280"/>
                </a:solidFill>
                <a:latin typeface="Aptos"/>
                <a:ea typeface="Aptos"/>
              </a:rPr>
              <a:t>RESIDÊNCIA EM TIC 53  |  TRILHA DE PROGRAMAÇÃO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Text 2"/>
          <p:cNvSpPr/>
          <p:nvPr/>
        </p:nvSpPr>
        <p:spPr>
          <a:xfrm>
            <a:off x="7498080" y="6546960"/>
            <a:ext cx="4160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b7280"/>
                </a:solidFill>
                <a:latin typeface="Aptos"/>
                <a:ea typeface="Aptos"/>
              </a:rPr>
              <a:t>Prof. Dr. Guillermo Alvarez Bestard · UnB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sldNum" idx="1"/>
          </p:nvPr>
        </p:nvSpPr>
        <p:spPr>
          <a:xfrm>
            <a:off x="11722680" y="274320"/>
            <a:ext cx="25560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94a3b8"/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A24631F-15E5-4173-A880-4020D277E7A9}" type="slidenum">
              <a:rPr b="0" lang="en-US" sz="900" spc="-1" strike="noStrike">
                <a:solidFill>
                  <a:srgbClr val="94a3b8"/>
                </a:solidFill>
                <a:latin typeface="Aptos"/>
              </a:rPr>
              <a:t>&lt;número&gt;</a:t>
            </a:fld>
            <a:endParaRPr b="0" lang="pt-BR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chemeClr val="dk1"/>
                </a:solidFill>
                <a:latin typeface="Aptos"/>
              </a:rPr>
              <a:t>Clique para editar o formato do texto do título</a:t>
            </a:r>
            <a:endParaRPr b="0" lang="pt-BR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chemeClr val="dk1"/>
                </a:solidFill>
                <a:latin typeface="Aptos"/>
              </a:rPr>
              <a:t>Clique para editar o formato de texto dos tópicos</a:t>
            </a:r>
            <a:endParaRPr b="0" lang="pt-BR" sz="32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400" spc="-1" strike="noStrike">
                <a:solidFill>
                  <a:schemeClr val="dk1"/>
                </a:solidFill>
                <a:latin typeface="Aptos"/>
              </a:rPr>
              <a:t>2.º nível de tópicos</a:t>
            </a:r>
            <a:endParaRPr b="0" lang="pt-BR" sz="24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chemeClr val="dk1"/>
                </a:solidFill>
                <a:latin typeface="Aptos"/>
              </a:rPr>
              <a:t>3.º nível de tópicos</a:t>
            </a:r>
            <a:endParaRPr b="0" lang="pt-BR" sz="200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chemeClr val="dk1"/>
                </a:solidFill>
                <a:latin typeface="Aptos"/>
              </a:rPr>
              <a:t>4.º nível de tópicos</a:t>
            </a:r>
            <a:endParaRPr b="0" lang="pt-BR" sz="2000" spc="-1" strike="noStrike">
              <a:solidFill>
                <a:schemeClr val="dk1"/>
              </a:solidFill>
              <a:latin typeface="Apto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chemeClr val="dk1"/>
                </a:solidFill>
                <a:latin typeface="Aptos"/>
              </a:rPr>
              <a:t>5.º nível de tópicos</a:t>
            </a:r>
            <a:endParaRPr b="0" lang="pt-BR" sz="2000" spc="-1" strike="noStrike">
              <a:solidFill>
                <a:schemeClr val="dk1"/>
              </a:solidFill>
              <a:latin typeface="Apto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chemeClr val="dk1"/>
                </a:solidFill>
                <a:latin typeface="Aptos"/>
              </a:rPr>
              <a:t>6.º nível de tópicos</a:t>
            </a:r>
            <a:endParaRPr b="0" lang="pt-BR" sz="2000" spc="-1" strike="noStrike">
              <a:solidFill>
                <a:schemeClr val="dk1"/>
              </a:solidFill>
              <a:latin typeface="Apto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chemeClr val="dk1"/>
                </a:solidFill>
                <a:latin typeface="Aptos"/>
              </a:rPr>
              <a:t>7.º nível de tópicos</a:t>
            </a:r>
            <a:endParaRPr b="0" lang="pt-BR" sz="20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0"/>
          <p:cNvSpPr/>
          <p:nvPr/>
        </p:nvSpPr>
        <p:spPr>
          <a:xfrm>
            <a:off x="0" y="6400800"/>
            <a:ext cx="12191400" cy="456840"/>
          </a:xfrm>
          <a:prstGeom prst="rect">
            <a:avLst/>
          </a:prstGeom>
          <a:solidFill>
            <a:srgbClr val="0b1b5e"/>
          </a:solidFill>
          <a:ln w="12700">
            <a:solidFill>
              <a:srgbClr val="0b1b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1"/>
          <p:cNvSpPr/>
          <p:nvPr/>
        </p:nvSpPr>
        <p:spPr>
          <a:xfrm>
            <a:off x="320040" y="438840"/>
            <a:ext cx="959760" cy="825480"/>
          </a:xfrm>
          <a:prstGeom prst="hexagon">
            <a:avLst>
              <a:gd name="adj" fmla="val 25000"/>
              <a:gd name="vf" fmla="val 115470"/>
            </a:avLst>
          </a:prstGeom>
          <a:noFill/>
          <a:ln w="27940">
            <a:solidFill>
              <a:srgbClr val="16b8d4">
                <a:alpha val="8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Shape 2"/>
          <p:cNvSpPr/>
          <p:nvPr/>
        </p:nvSpPr>
        <p:spPr>
          <a:xfrm>
            <a:off x="1011240" y="650160"/>
            <a:ext cx="959760" cy="825480"/>
          </a:xfrm>
          <a:prstGeom prst="hexagon">
            <a:avLst>
              <a:gd name="adj" fmla="val 25000"/>
              <a:gd name="vf" fmla="val 115470"/>
            </a:avLst>
          </a:prstGeom>
          <a:noFill/>
          <a:ln w="27940">
            <a:solidFill>
              <a:srgbClr val="d81b73">
                <a:alpha val="8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Shape 3"/>
          <p:cNvSpPr/>
          <p:nvPr/>
        </p:nvSpPr>
        <p:spPr>
          <a:xfrm>
            <a:off x="1702440" y="438840"/>
            <a:ext cx="959760" cy="825480"/>
          </a:xfrm>
          <a:prstGeom prst="hexagon">
            <a:avLst>
              <a:gd name="adj" fmla="val 25000"/>
              <a:gd name="vf" fmla="val 115470"/>
            </a:avLst>
          </a:prstGeom>
          <a:noFill/>
          <a:ln w="27940">
            <a:solidFill>
              <a:srgbClr val="f59e0b">
                <a:alpha val="8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Shape 4"/>
          <p:cNvSpPr/>
          <p:nvPr/>
        </p:nvSpPr>
        <p:spPr>
          <a:xfrm>
            <a:off x="9464040" y="5102280"/>
            <a:ext cx="868320" cy="746640"/>
          </a:xfrm>
          <a:prstGeom prst="hexagon">
            <a:avLst>
              <a:gd name="adj" fmla="val 25000"/>
              <a:gd name="vf" fmla="val 115470"/>
            </a:avLst>
          </a:prstGeom>
          <a:noFill/>
          <a:ln w="27940">
            <a:solidFill>
              <a:srgbClr val="8b36ff">
                <a:alpha val="8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Shape 5"/>
          <p:cNvSpPr/>
          <p:nvPr/>
        </p:nvSpPr>
        <p:spPr>
          <a:xfrm>
            <a:off x="10089360" y="5293440"/>
            <a:ext cx="868320" cy="746640"/>
          </a:xfrm>
          <a:prstGeom prst="hexagon">
            <a:avLst>
              <a:gd name="adj" fmla="val 25000"/>
              <a:gd name="vf" fmla="val 115470"/>
            </a:avLst>
          </a:prstGeom>
          <a:noFill/>
          <a:ln w="27940">
            <a:solidFill>
              <a:srgbClr val="1f5eff">
                <a:alpha val="8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Shape 6"/>
          <p:cNvSpPr/>
          <p:nvPr/>
        </p:nvSpPr>
        <p:spPr>
          <a:xfrm>
            <a:off x="10715040" y="5102280"/>
            <a:ext cx="868320" cy="746640"/>
          </a:xfrm>
          <a:prstGeom prst="hexagon">
            <a:avLst>
              <a:gd name="adj" fmla="val 25000"/>
              <a:gd name="vf" fmla="val 115470"/>
            </a:avLst>
          </a:prstGeom>
          <a:noFill/>
          <a:ln w="27940">
            <a:solidFill>
              <a:srgbClr val="16b8d4">
                <a:alpha val="8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7"/>
          <p:cNvSpPr/>
          <p:nvPr/>
        </p:nvSpPr>
        <p:spPr>
          <a:xfrm>
            <a:off x="777240" y="1353240"/>
            <a:ext cx="7177680" cy="138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3100" spc="-1" strike="noStrike">
                <a:solidFill>
                  <a:srgbClr val="ffffff"/>
                </a:solidFill>
                <a:latin typeface="Aptos Display"/>
                <a:ea typeface="Aptos Display"/>
              </a:rPr>
              <a:t>Trilha de Programação</a:t>
            </a:r>
            <a:endParaRPr b="0" lang="pt-BR" sz="3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3100" spc="-1" strike="noStrike">
                <a:solidFill>
                  <a:srgbClr val="ffffff"/>
                </a:solidFill>
                <a:latin typeface="Aptos Display"/>
                <a:ea typeface="Aptos Display"/>
              </a:rPr>
              <a:t>aplicada à Saúde Digital</a:t>
            </a:r>
            <a:endParaRPr b="0" lang="pt-BR" sz="3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8"/>
          <p:cNvSpPr/>
          <p:nvPr/>
        </p:nvSpPr>
        <p:spPr>
          <a:xfrm>
            <a:off x="804600" y="2907720"/>
            <a:ext cx="6857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500" spc="-1" strike="noStrike">
                <a:solidFill>
                  <a:srgbClr val="cfd8ff"/>
                </a:solidFill>
                <a:latin typeface="Aptos"/>
              </a:rPr>
              <a:t>Proposta de organização curricular · Residência em TIC 53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9"/>
          <p:cNvSpPr/>
          <p:nvPr/>
        </p:nvSpPr>
        <p:spPr>
          <a:xfrm>
            <a:off x="804600" y="3493080"/>
            <a:ext cx="68119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800" spc="-1" strike="noStrike">
                <a:solidFill>
                  <a:srgbClr val="ffffff"/>
                </a:solidFill>
                <a:latin typeface="Aptos"/>
              </a:rPr>
              <a:t>Uma espinha dorsal de programação com aplicações práticas em saúde, articulada com IA, IoT, Backend, Frontend, Wearables e Metaverso.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Shape 10"/>
          <p:cNvSpPr/>
          <p:nvPr/>
        </p:nvSpPr>
        <p:spPr>
          <a:xfrm>
            <a:off x="8394120" y="1334880"/>
            <a:ext cx="2852640" cy="3691800"/>
          </a:xfrm>
          <a:prstGeom prst="roundRect">
            <a:avLst>
              <a:gd name="adj" fmla="val 16667"/>
            </a:avLst>
          </a:prstGeom>
          <a:solidFill>
            <a:srgbClr val="20336f">
              <a:alpha val="92000"/>
            </a:srgbClr>
          </a:solidFill>
          <a:ln w="13970">
            <a:solidFill>
              <a:srgbClr val="ffffff">
                <a:alpha val="38000"/>
              </a:srgbClr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Text 11"/>
          <p:cNvSpPr/>
          <p:nvPr/>
        </p:nvSpPr>
        <p:spPr>
          <a:xfrm>
            <a:off x="8668440" y="1645920"/>
            <a:ext cx="2304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-1" strike="noStrike">
                <a:solidFill>
                  <a:srgbClr val="dce5ff"/>
                </a:solidFill>
                <a:latin typeface="Aptos"/>
              </a:rPr>
              <a:t>PROPOSTA EM NÚMEROS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 12"/>
          <p:cNvSpPr/>
          <p:nvPr/>
        </p:nvSpPr>
        <p:spPr>
          <a:xfrm>
            <a:off x="8805600" y="2103120"/>
            <a:ext cx="201132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3800" spc="-1" strike="noStrike">
                <a:solidFill>
                  <a:srgbClr val="ffffff"/>
                </a:solidFill>
                <a:latin typeface="Aptos"/>
              </a:rPr>
              <a:t>11</a:t>
            </a:r>
            <a:endParaRPr b="0" lang="pt-BR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Text 13"/>
          <p:cNvSpPr/>
          <p:nvPr/>
        </p:nvSpPr>
        <p:spPr>
          <a:xfrm>
            <a:off x="8823960" y="268848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dce5ff"/>
                </a:solidFill>
                <a:latin typeface="Aptos"/>
              </a:rPr>
              <a:t>cursos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Shape 14"/>
          <p:cNvSpPr/>
          <p:nvPr/>
        </p:nvSpPr>
        <p:spPr>
          <a:xfrm>
            <a:off x="8778240" y="3063240"/>
            <a:ext cx="2029680" cy="360"/>
          </a:xfrm>
          <a:prstGeom prst="line">
            <a:avLst/>
          </a:prstGeom>
          <a:ln w="12700">
            <a:solidFill>
              <a:srgbClr val="ffff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Text 15"/>
          <p:cNvSpPr/>
          <p:nvPr/>
        </p:nvSpPr>
        <p:spPr>
          <a:xfrm>
            <a:off x="8823960" y="331020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600" spc="-1" strike="noStrike">
                <a:solidFill>
                  <a:srgbClr val="ffffff"/>
                </a:solidFill>
                <a:latin typeface="Aptos"/>
              </a:rPr>
              <a:t>32 h</a:t>
            </a:r>
            <a:endParaRPr b="0" lang="pt-BR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16"/>
          <p:cNvSpPr/>
          <p:nvPr/>
        </p:nvSpPr>
        <p:spPr>
          <a:xfrm>
            <a:off x="8823960" y="376740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20" spc="-1" strike="noStrike">
                <a:solidFill>
                  <a:srgbClr val="dce5ff"/>
                </a:solidFill>
                <a:latin typeface="Aptos"/>
              </a:rPr>
              <a:t>percurso completo</a:t>
            </a:r>
            <a:endParaRPr b="0" lang="pt-BR" sz="11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17"/>
          <p:cNvSpPr/>
          <p:nvPr/>
        </p:nvSpPr>
        <p:spPr>
          <a:xfrm>
            <a:off x="8778240" y="4123800"/>
            <a:ext cx="2029680" cy="360"/>
          </a:xfrm>
          <a:prstGeom prst="line">
            <a:avLst/>
          </a:prstGeom>
          <a:ln w="12700">
            <a:solidFill>
              <a:srgbClr val="ffff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 18"/>
          <p:cNvSpPr/>
          <p:nvPr/>
        </p:nvSpPr>
        <p:spPr>
          <a:xfrm>
            <a:off x="8823960" y="4325040"/>
            <a:ext cx="2011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200" spc="-1" strike="noStrike">
                <a:solidFill>
                  <a:srgbClr val="ffffff"/>
                </a:solidFill>
                <a:latin typeface="Aptos"/>
              </a:rPr>
              <a:t>6</a:t>
            </a:r>
            <a:endParaRPr b="0" lang="pt-B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Text 19"/>
          <p:cNvSpPr/>
          <p:nvPr/>
        </p:nvSpPr>
        <p:spPr>
          <a:xfrm>
            <a:off x="8549640" y="4663440"/>
            <a:ext cx="25599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60" spc="-1" strike="noStrike">
                <a:solidFill>
                  <a:srgbClr val="dce5ff"/>
                </a:solidFill>
                <a:latin typeface="Aptos"/>
              </a:rPr>
              <a:t>cursos compartilhados</a:t>
            </a:r>
            <a:endParaRPr b="0" lang="pt-BR" sz="10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 20"/>
          <p:cNvSpPr/>
          <p:nvPr/>
        </p:nvSpPr>
        <p:spPr>
          <a:xfrm>
            <a:off x="804600" y="6007680"/>
            <a:ext cx="6857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50" spc="-1" strike="noStrike">
                <a:solidFill>
                  <a:srgbClr val="cad4ff"/>
                </a:solidFill>
                <a:latin typeface="Aptos"/>
              </a:rPr>
              <a:t>Prof. Dr. Guillermo Alvarez Bestard · Universidade de Brasília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PlaceHolder 1"/>
          <p:cNvSpPr>
            <a:spLocks noGrp="1"/>
          </p:cNvSpPr>
          <p:nvPr>
            <p:ph type="sldNum" idx="5"/>
          </p:nvPr>
        </p:nvSpPr>
        <p:spPr>
          <a:xfrm>
            <a:off x="11722680" y="274320"/>
            <a:ext cx="25560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900" spc="-1" strike="noStrike">
                <a:solidFill>
                  <a:srgbClr val="94a3b8"/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DA30FBA-773F-43D3-A222-A347238AFA11}" type="slidenum">
              <a:rPr b="0" lang="pt-BR" sz="900" spc="-1" strike="noStrike">
                <a:solidFill>
                  <a:srgbClr val="94a3b8"/>
                </a:solidFill>
                <a:latin typeface="Aptos"/>
              </a:rPr>
              <a:t>1</a:t>
            </a:fld>
            <a:endParaRPr b="0" lang="pt-BR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0"/>
          <p:cNvSpPr/>
          <p:nvPr/>
        </p:nvSpPr>
        <p:spPr>
          <a:xfrm>
            <a:off x="594360" y="438840"/>
            <a:ext cx="109267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600" spc="-1" strike="noStrike">
                <a:solidFill>
                  <a:srgbClr val="111827"/>
                </a:solidFill>
                <a:latin typeface="Aptos Display"/>
                <a:ea typeface="Aptos Display"/>
              </a:rPr>
              <a:t>O que a proposta busca resolver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1"/>
          <p:cNvSpPr/>
          <p:nvPr/>
        </p:nvSpPr>
        <p:spPr>
          <a:xfrm>
            <a:off x="612720" y="914400"/>
            <a:ext cx="10606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6b7280"/>
                </a:solidFill>
                <a:latin typeface="Aptos"/>
                <a:ea typeface="Aptos"/>
              </a:rPr>
              <a:t>Programação como base comum e ponte entre as trilhas do projeto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Shape 2"/>
          <p:cNvSpPr/>
          <p:nvPr/>
        </p:nvSpPr>
        <p:spPr>
          <a:xfrm>
            <a:off x="603360" y="1261800"/>
            <a:ext cx="1463040" cy="360"/>
          </a:xfrm>
          <a:prstGeom prst="line">
            <a:avLst/>
          </a:prstGeom>
          <a:ln w="38100">
            <a:solidFill>
              <a:srgbClr val="1f5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Shape 3"/>
          <p:cNvSpPr/>
          <p:nvPr/>
        </p:nvSpPr>
        <p:spPr>
          <a:xfrm>
            <a:off x="621720" y="1664280"/>
            <a:ext cx="1691280" cy="1188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e1ec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4"/>
          <p:cNvSpPr/>
          <p:nvPr/>
        </p:nvSpPr>
        <p:spPr>
          <a:xfrm>
            <a:off x="713160" y="1810440"/>
            <a:ext cx="15084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800" spc="-1" strike="noStrike">
                <a:solidFill>
                  <a:srgbClr val="1f5eff"/>
                </a:solidFill>
                <a:latin typeface="Aptos"/>
              </a:rPr>
              <a:t>11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5"/>
          <p:cNvSpPr/>
          <p:nvPr/>
        </p:nvSpPr>
        <p:spPr>
          <a:xfrm>
            <a:off x="731520" y="2331720"/>
            <a:ext cx="147168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70" spc="-1" strike="noStrike">
                <a:solidFill>
                  <a:srgbClr val="6b7280"/>
                </a:solidFill>
                <a:latin typeface="Aptos"/>
              </a:rPr>
              <a:t>cursos curtos</a:t>
            </a:r>
            <a:endParaRPr b="0" lang="pt-BR" sz="10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Shape 6"/>
          <p:cNvSpPr/>
          <p:nvPr/>
        </p:nvSpPr>
        <p:spPr>
          <a:xfrm>
            <a:off x="2487240" y="1664280"/>
            <a:ext cx="1691280" cy="1188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e1ec"/>
            </a:solidFill>
            <a:round/>
          </a:ln>
          <a:effectLst>
            <a:outerShdw algn="bl" blurRad="322580160" dir="0" dist="161290080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7"/>
          <p:cNvSpPr/>
          <p:nvPr/>
        </p:nvSpPr>
        <p:spPr>
          <a:xfrm>
            <a:off x="2578680" y="1810440"/>
            <a:ext cx="15084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800" spc="-1" strike="noStrike">
                <a:solidFill>
                  <a:srgbClr val="16b8d4"/>
                </a:solidFill>
                <a:latin typeface="Aptos"/>
              </a:rPr>
              <a:t>32 h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8"/>
          <p:cNvSpPr/>
          <p:nvPr/>
        </p:nvSpPr>
        <p:spPr>
          <a:xfrm>
            <a:off x="2597040" y="2331720"/>
            <a:ext cx="147168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70" spc="-1" strike="noStrike">
                <a:solidFill>
                  <a:srgbClr val="6b7280"/>
                </a:solidFill>
                <a:latin typeface="Aptos"/>
              </a:rPr>
              <a:t>carga total</a:t>
            </a:r>
            <a:endParaRPr b="0" lang="pt-BR" sz="10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Shape 9"/>
          <p:cNvSpPr/>
          <p:nvPr/>
        </p:nvSpPr>
        <p:spPr>
          <a:xfrm>
            <a:off x="4352400" y="1664280"/>
            <a:ext cx="1691280" cy="1188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e1ec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10"/>
          <p:cNvSpPr/>
          <p:nvPr/>
        </p:nvSpPr>
        <p:spPr>
          <a:xfrm>
            <a:off x="4443840" y="1810440"/>
            <a:ext cx="15084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800" spc="-1" strike="noStrike">
                <a:solidFill>
                  <a:srgbClr val="d81b73"/>
                </a:solidFill>
                <a:latin typeface="Aptos"/>
              </a:rPr>
              <a:t>6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11"/>
          <p:cNvSpPr/>
          <p:nvPr/>
        </p:nvSpPr>
        <p:spPr>
          <a:xfrm>
            <a:off x="4462200" y="2331720"/>
            <a:ext cx="147168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70" spc="-1" strike="noStrike">
                <a:solidFill>
                  <a:srgbClr val="6b7280"/>
                </a:solidFill>
                <a:latin typeface="Aptos"/>
              </a:rPr>
              <a:t>compartilhados</a:t>
            </a:r>
            <a:endParaRPr b="0" lang="pt-BR" sz="10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Shape 12"/>
          <p:cNvSpPr/>
          <p:nvPr/>
        </p:nvSpPr>
        <p:spPr>
          <a:xfrm>
            <a:off x="6217920" y="1664280"/>
            <a:ext cx="1691280" cy="1188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e1ec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13"/>
          <p:cNvSpPr/>
          <p:nvPr/>
        </p:nvSpPr>
        <p:spPr>
          <a:xfrm>
            <a:off x="6309360" y="1810440"/>
            <a:ext cx="15084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800" spc="-1" strike="noStrike">
                <a:solidFill>
                  <a:srgbClr val="8b36ff"/>
                </a:solidFill>
                <a:latin typeface="Aptos"/>
              </a:rPr>
              <a:t>2–3 h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14"/>
          <p:cNvSpPr/>
          <p:nvPr/>
        </p:nvSpPr>
        <p:spPr>
          <a:xfrm>
            <a:off x="6327720" y="2331720"/>
            <a:ext cx="147168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70" spc="-1" strike="noStrike">
                <a:solidFill>
                  <a:srgbClr val="6b7280"/>
                </a:solidFill>
                <a:latin typeface="Aptos"/>
              </a:rPr>
              <a:t>por atividade</a:t>
            </a:r>
            <a:endParaRPr b="0" lang="pt-BR" sz="10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15"/>
          <p:cNvSpPr/>
          <p:nvPr/>
        </p:nvSpPr>
        <p:spPr>
          <a:xfrm>
            <a:off x="8211240" y="1719000"/>
            <a:ext cx="3309840" cy="102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600" spc="-1" strike="noStrike">
                <a:solidFill>
                  <a:srgbClr val="0b1b5e"/>
                </a:solidFill>
                <a:latin typeface="Aptos"/>
              </a:rPr>
              <a:t>A proposta organiza uma sequência recomendada, mas não cria uma cadeia rígida de pré-requisitos.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Shape 16"/>
          <p:cNvSpPr/>
          <p:nvPr/>
        </p:nvSpPr>
        <p:spPr>
          <a:xfrm>
            <a:off x="658440" y="3218760"/>
            <a:ext cx="3401280" cy="2057040"/>
          </a:xfrm>
          <a:prstGeom prst="roundRect">
            <a:avLst>
              <a:gd name="adj" fmla="val 5333"/>
            </a:avLst>
          </a:prstGeom>
          <a:solidFill>
            <a:srgbClr val="eaf0ff"/>
          </a:solidFill>
          <a:ln w="15240">
            <a:solidFill>
              <a:srgbClr val="a9bbff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17"/>
          <p:cNvSpPr/>
          <p:nvPr/>
        </p:nvSpPr>
        <p:spPr>
          <a:xfrm>
            <a:off x="859680" y="3392280"/>
            <a:ext cx="2998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500" spc="-1" strike="noStrike">
                <a:solidFill>
                  <a:srgbClr val="111827"/>
                </a:solidFill>
                <a:latin typeface="Aptos"/>
              </a:rPr>
              <a:t>1. Base técnica comum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18"/>
          <p:cNvSpPr/>
          <p:nvPr/>
        </p:nvSpPr>
        <p:spPr>
          <a:xfrm>
            <a:off x="859680" y="3721680"/>
            <a:ext cx="2998800" cy="139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500" spc="-1" strike="noStrike">
                <a:solidFill>
                  <a:srgbClr val="6b7280"/>
                </a:solidFill>
                <a:latin typeface="Aptos"/>
              </a:rPr>
              <a:t>Do raciocínio computacional ao Python, dados, bancos, web e sistemas embarcados.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Shape 19"/>
          <p:cNvSpPr/>
          <p:nvPr/>
        </p:nvSpPr>
        <p:spPr>
          <a:xfrm>
            <a:off x="4389120" y="3218760"/>
            <a:ext cx="3401280" cy="2057040"/>
          </a:xfrm>
          <a:prstGeom prst="roundRect">
            <a:avLst>
              <a:gd name="adj" fmla="val 5333"/>
            </a:avLst>
          </a:prstGeom>
          <a:solidFill>
            <a:srgbClr val="eafbf5"/>
          </a:solidFill>
          <a:ln w="15240">
            <a:solidFill>
              <a:srgbClr val="8addbf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20"/>
          <p:cNvSpPr/>
          <p:nvPr/>
        </p:nvSpPr>
        <p:spPr>
          <a:xfrm>
            <a:off x="4590360" y="3392280"/>
            <a:ext cx="2998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500" spc="-1" strike="noStrike">
                <a:solidFill>
                  <a:srgbClr val="111827"/>
                </a:solidFill>
                <a:latin typeface="Aptos"/>
              </a:rPr>
              <a:t>2. Saúde Digital como contexto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21"/>
          <p:cNvSpPr/>
          <p:nvPr/>
        </p:nvSpPr>
        <p:spPr>
          <a:xfrm>
            <a:off x="4590360" y="3721680"/>
            <a:ext cx="2998800" cy="139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500" spc="-1" strike="noStrike">
                <a:solidFill>
                  <a:srgbClr val="6b7280"/>
                </a:solidFill>
                <a:latin typeface="Aptos"/>
              </a:rPr>
              <a:t>Os exercícios usam problemas, dados e protótipos de saúde como contexto integrador — sem exigir formação prévia em saúde.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hape 22"/>
          <p:cNvSpPr/>
          <p:nvPr/>
        </p:nvSpPr>
        <p:spPr>
          <a:xfrm>
            <a:off x="8119800" y="3218760"/>
            <a:ext cx="3401280" cy="2057040"/>
          </a:xfrm>
          <a:prstGeom prst="roundRect">
            <a:avLst>
              <a:gd name="adj" fmla="val 5333"/>
            </a:avLst>
          </a:prstGeom>
          <a:solidFill>
            <a:srgbClr val="f3edff"/>
          </a:solidFill>
          <a:ln w="15240">
            <a:solidFill>
              <a:srgbClr val="c8b0ff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23"/>
          <p:cNvSpPr/>
          <p:nvPr/>
        </p:nvSpPr>
        <p:spPr>
          <a:xfrm>
            <a:off x="8321040" y="3392280"/>
            <a:ext cx="2998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500" spc="-1" strike="noStrike">
                <a:solidFill>
                  <a:srgbClr val="111827"/>
                </a:solidFill>
                <a:latin typeface="Aptos"/>
              </a:rPr>
              <a:t>3. Integração entre trilhas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24"/>
          <p:cNvSpPr/>
          <p:nvPr/>
        </p:nvSpPr>
        <p:spPr>
          <a:xfrm>
            <a:off x="8321040" y="3721680"/>
            <a:ext cx="2998800" cy="139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500" spc="-1" strike="noStrike">
                <a:solidFill>
                  <a:srgbClr val="6b7280"/>
                </a:solidFill>
                <a:latin typeface="Aptos"/>
              </a:rPr>
              <a:t>Cursos podem ser compartilhados e aproveitados em mais de um percurso, evitando duplicação de conteúdo e oferta.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25"/>
          <p:cNvSpPr/>
          <p:nvPr/>
        </p:nvSpPr>
        <p:spPr>
          <a:xfrm>
            <a:off x="914400" y="5715000"/>
            <a:ext cx="10286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700" spc="-1" strike="noStrike">
                <a:solidFill>
                  <a:srgbClr val="111827"/>
                </a:solidFill>
                <a:latin typeface="Aptos"/>
              </a:rPr>
              <a:t>Princípio central: continuidade para quem percorre a sequência, independência para quem participa de um curso isolado.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1"/>
          <p:cNvSpPr>
            <a:spLocks noGrp="1"/>
          </p:cNvSpPr>
          <p:nvPr>
            <p:ph type="sldNum" idx="6"/>
          </p:nvPr>
        </p:nvSpPr>
        <p:spPr>
          <a:xfrm>
            <a:off x="11722680" y="274320"/>
            <a:ext cx="25560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900" spc="-1" strike="noStrike">
                <a:solidFill>
                  <a:srgbClr val="94a3b8"/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C6EB0DA-41C4-4C7D-AD01-32DEC658639E}" type="slidenum">
              <a:rPr b="0" lang="pt-BR" sz="900" spc="-1" strike="noStrike">
                <a:solidFill>
                  <a:srgbClr val="94a3b8"/>
                </a:solidFill>
                <a:latin typeface="Aptos"/>
              </a:rPr>
              <a:t>2</a:t>
            </a:fld>
            <a:endParaRPr b="0" lang="pt-BR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 0"/>
          <p:cNvSpPr/>
          <p:nvPr/>
        </p:nvSpPr>
        <p:spPr>
          <a:xfrm>
            <a:off x="594360" y="438840"/>
            <a:ext cx="109267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600" spc="-1" strike="noStrike">
                <a:solidFill>
                  <a:srgbClr val="111827"/>
                </a:solidFill>
                <a:latin typeface="Aptos Display"/>
                <a:ea typeface="Aptos Display"/>
              </a:rPr>
              <a:t>Como a trilha progride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1"/>
          <p:cNvSpPr/>
          <p:nvPr/>
        </p:nvSpPr>
        <p:spPr>
          <a:xfrm>
            <a:off x="612720" y="914400"/>
            <a:ext cx="10606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6b7280"/>
                </a:solidFill>
                <a:latin typeface="Aptos"/>
                <a:ea typeface="Aptos"/>
              </a:rPr>
              <a:t>Quatro blocos de competências, do pensamento computacional à convergência com outras áreas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2"/>
          <p:cNvSpPr/>
          <p:nvPr/>
        </p:nvSpPr>
        <p:spPr>
          <a:xfrm>
            <a:off x="603360" y="1261800"/>
            <a:ext cx="1463040" cy="360"/>
          </a:xfrm>
          <a:prstGeom prst="line">
            <a:avLst/>
          </a:prstGeom>
          <a:ln w="38100">
            <a:solidFill>
              <a:srgbClr val="1f5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3"/>
          <p:cNvSpPr/>
          <p:nvPr/>
        </p:nvSpPr>
        <p:spPr>
          <a:xfrm>
            <a:off x="713160" y="1901880"/>
            <a:ext cx="2633040" cy="3678120"/>
          </a:xfrm>
          <a:prstGeom prst="roundRect">
            <a:avLst>
              <a:gd name="adj" fmla="val 16667"/>
            </a:avLst>
          </a:prstGeom>
          <a:solidFill>
            <a:srgbClr val="eaf0ff"/>
          </a:solidFill>
          <a:ln w="22860">
            <a:solidFill>
              <a:srgbClr val="1f5eff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4"/>
          <p:cNvSpPr/>
          <p:nvPr/>
        </p:nvSpPr>
        <p:spPr>
          <a:xfrm>
            <a:off x="896040" y="2103120"/>
            <a:ext cx="502560" cy="502560"/>
          </a:xfrm>
          <a:prstGeom prst="ellipse">
            <a:avLst/>
          </a:prstGeom>
          <a:solidFill>
            <a:srgbClr val="1f5eff"/>
          </a:solidFill>
          <a:ln w="12700">
            <a:solidFill>
              <a:srgbClr val="1f5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Text 5"/>
          <p:cNvSpPr/>
          <p:nvPr/>
        </p:nvSpPr>
        <p:spPr>
          <a:xfrm>
            <a:off x="896040" y="2212920"/>
            <a:ext cx="502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-1" strike="noStrike">
                <a:solidFill>
                  <a:srgbClr val="ffffff"/>
                </a:solidFill>
                <a:latin typeface="Aptos"/>
              </a:rPr>
              <a:t>01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6"/>
          <p:cNvSpPr/>
          <p:nvPr/>
        </p:nvSpPr>
        <p:spPr>
          <a:xfrm>
            <a:off x="1527120" y="2148840"/>
            <a:ext cx="16455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650" spc="-1" strike="noStrike">
                <a:solidFill>
                  <a:srgbClr val="111827"/>
                </a:solidFill>
                <a:latin typeface="Aptos"/>
              </a:rPr>
              <a:t>Fundamentos</a:t>
            </a:r>
            <a:endParaRPr b="0" lang="pt-BR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7"/>
          <p:cNvSpPr/>
          <p:nvPr/>
        </p:nvSpPr>
        <p:spPr>
          <a:xfrm>
            <a:off x="914400" y="2834640"/>
            <a:ext cx="2230920" cy="429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8"/>
          <p:cNvSpPr/>
          <p:nvPr/>
        </p:nvSpPr>
        <p:spPr>
          <a:xfrm>
            <a:off x="1033200" y="2944440"/>
            <a:ext cx="1992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60" spc="-1" strike="noStrike">
                <a:solidFill>
                  <a:srgbClr val="1f5eff"/>
                </a:solidFill>
                <a:latin typeface="Aptos"/>
              </a:rPr>
              <a:t>PR-01 · Lógica com Scratch</a:t>
            </a:r>
            <a:endParaRPr b="0" lang="pt-BR" sz="10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9"/>
          <p:cNvSpPr/>
          <p:nvPr/>
        </p:nvSpPr>
        <p:spPr>
          <a:xfrm>
            <a:off x="914400" y="3346560"/>
            <a:ext cx="2230920" cy="429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10"/>
          <p:cNvSpPr/>
          <p:nvPr/>
        </p:nvSpPr>
        <p:spPr>
          <a:xfrm>
            <a:off x="1033200" y="3456360"/>
            <a:ext cx="1992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60" spc="-1" strike="noStrike">
                <a:solidFill>
                  <a:srgbClr val="1f5eff"/>
                </a:solidFill>
                <a:latin typeface="Aptos"/>
              </a:rPr>
              <a:t>PR-02 · Python</a:t>
            </a:r>
            <a:endParaRPr b="0" lang="pt-BR" sz="10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11"/>
          <p:cNvSpPr/>
          <p:nvPr/>
        </p:nvSpPr>
        <p:spPr>
          <a:xfrm>
            <a:off x="941760" y="4870080"/>
            <a:ext cx="21758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80" spc="-1" strike="noStrike">
                <a:solidFill>
                  <a:srgbClr val="6b7280"/>
                </a:solidFill>
                <a:latin typeface="Aptos"/>
              </a:rPr>
              <a:t>Raciocínio algorítmico, estruturas de programação e transição para código textual.</a:t>
            </a:r>
            <a:endParaRPr b="0" lang="pt-BR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12"/>
          <p:cNvSpPr/>
          <p:nvPr/>
        </p:nvSpPr>
        <p:spPr>
          <a:xfrm>
            <a:off x="3364920" y="3547800"/>
            <a:ext cx="182880" cy="360"/>
          </a:xfrm>
          <a:prstGeom prst="line">
            <a:avLst/>
          </a:prstGeom>
          <a:ln w="20320">
            <a:solidFill>
              <a:srgbClr val="aab6c7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13"/>
          <p:cNvSpPr/>
          <p:nvPr/>
        </p:nvSpPr>
        <p:spPr>
          <a:xfrm>
            <a:off x="3584520" y="1901880"/>
            <a:ext cx="2633040" cy="3678120"/>
          </a:xfrm>
          <a:prstGeom prst="roundRect">
            <a:avLst>
              <a:gd name="adj" fmla="val 16667"/>
            </a:avLst>
          </a:prstGeom>
          <a:solidFill>
            <a:srgbClr val="e8fafd"/>
          </a:solidFill>
          <a:ln w="22860">
            <a:solidFill>
              <a:srgbClr val="16b8d4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14"/>
          <p:cNvSpPr/>
          <p:nvPr/>
        </p:nvSpPr>
        <p:spPr>
          <a:xfrm>
            <a:off x="3767400" y="2103120"/>
            <a:ext cx="502560" cy="502560"/>
          </a:xfrm>
          <a:prstGeom prst="ellipse">
            <a:avLst/>
          </a:prstGeom>
          <a:solidFill>
            <a:srgbClr val="16b8d4"/>
          </a:solidFill>
          <a:ln w="12700">
            <a:solidFill>
              <a:srgbClr val="16b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Text 15"/>
          <p:cNvSpPr/>
          <p:nvPr/>
        </p:nvSpPr>
        <p:spPr>
          <a:xfrm>
            <a:off x="3767400" y="2212920"/>
            <a:ext cx="502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-1" strike="noStrike">
                <a:solidFill>
                  <a:srgbClr val="ffffff"/>
                </a:solidFill>
                <a:latin typeface="Aptos"/>
              </a:rPr>
              <a:t>02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16"/>
          <p:cNvSpPr/>
          <p:nvPr/>
        </p:nvSpPr>
        <p:spPr>
          <a:xfrm>
            <a:off x="4398120" y="2148840"/>
            <a:ext cx="16455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650" spc="-1" strike="noStrike">
                <a:solidFill>
                  <a:srgbClr val="111827"/>
                </a:solidFill>
                <a:latin typeface="Aptos"/>
              </a:rPr>
              <a:t>Dados em saúde</a:t>
            </a:r>
            <a:endParaRPr b="0" lang="pt-BR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17"/>
          <p:cNvSpPr/>
          <p:nvPr/>
        </p:nvSpPr>
        <p:spPr>
          <a:xfrm>
            <a:off x="3785760" y="2834640"/>
            <a:ext cx="2230920" cy="429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18"/>
          <p:cNvSpPr/>
          <p:nvPr/>
        </p:nvSpPr>
        <p:spPr>
          <a:xfrm>
            <a:off x="3904560" y="2944440"/>
            <a:ext cx="1992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60" spc="-1" strike="noStrike">
                <a:solidFill>
                  <a:srgbClr val="16b8d4"/>
                </a:solidFill>
                <a:latin typeface="Aptos"/>
              </a:rPr>
              <a:t>PR-03 · Pandas</a:t>
            </a:r>
            <a:endParaRPr b="0" lang="pt-BR" sz="10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19"/>
          <p:cNvSpPr/>
          <p:nvPr/>
        </p:nvSpPr>
        <p:spPr>
          <a:xfrm>
            <a:off x="3785760" y="3346560"/>
            <a:ext cx="2230920" cy="429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20"/>
          <p:cNvSpPr/>
          <p:nvPr/>
        </p:nvSpPr>
        <p:spPr>
          <a:xfrm>
            <a:off x="3904560" y="3456360"/>
            <a:ext cx="1992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60" spc="-1" strike="noStrike">
                <a:solidFill>
                  <a:srgbClr val="16b8d4"/>
                </a:solidFill>
                <a:latin typeface="Aptos"/>
              </a:rPr>
              <a:t>PR-04 · Monitoramento</a:t>
            </a:r>
            <a:endParaRPr b="0" lang="pt-BR" sz="10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21"/>
          <p:cNvSpPr/>
          <p:nvPr/>
        </p:nvSpPr>
        <p:spPr>
          <a:xfrm>
            <a:off x="3813120" y="4870080"/>
            <a:ext cx="2175840" cy="54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80" spc="-1" strike="noStrike">
                <a:solidFill>
                  <a:srgbClr val="6b7280"/>
                </a:solidFill>
                <a:latin typeface="Aptos"/>
              </a:rPr>
              <a:t>Organização, análise e visualização de dados tabulares, gráficos e fluxos contínuos.</a:t>
            </a:r>
            <a:endParaRPr b="0" lang="pt-BR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22"/>
          <p:cNvSpPr/>
          <p:nvPr/>
        </p:nvSpPr>
        <p:spPr>
          <a:xfrm>
            <a:off x="6235920" y="3547800"/>
            <a:ext cx="182880" cy="360"/>
          </a:xfrm>
          <a:prstGeom prst="line">
            <a:avLst/>
          </a:prstGeom>
          <a:ln w="20320">
            <a:solidFill>
              <a:srgbClr val="aab6c7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23"/>
          <p:cNvSpPr/>
          <p:nvPr/>
        </p:nvSpPr>
        <p:spPr>
          <a:xfrm>
            <a:off x="6455520" y="1901880"/>
            <a:ext cx="2633040" cy="3678120"/>
          </a:xfrm>
          <a:prstGeom prst="roundRect">
            <a:avLst>
              <a:gd name="adj" fmla="val 16667"/>
            </a:avLst>
          </a:prstGeom>
          <a:solidFill>
            <a:srgbClr val="eafbf5"/>
          </a:solidFill>
          <a:ln w="22860">
            <a:solidFill>
              <a:srgbClr val="27c89a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24"/>
          <p:cNvSpPr/>
          <p:nvPr/>
        </p:nvSpPr>
        <p:spPr>
          <a:xfrm>
            <a:off x="6638400" y="2103120"/>
            <a:ext cx="502560" cy="502560"/>
          </a:xfrm>
          <a:prstGeom prst="ellipse">
            <a:avLst/>
          </a:prstGeom>
          <a:solidFill>
            <a:srgbClr val="27c89a"/>
          </a:solidFill>
          <a:ln w="12700">
            <a:solidFill>
              <a:srgbClr val="27c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Text 25"/>
          <p:cNvSpPr/>
          <p:nvPr/>
        </p:nvSpPr>
        <p:spPr>
          <a:xfrm>
            <a:off x="6638400" y="2212920"/>
            <a:ext cx="502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-1" strike="noStrike">
                <a:solidFill>
                  <a:srgbClr val="ffffff"/>
                </a:solidFill>
                <a:latin typeface="Aptos"/>
              </a:rPr>
              <a:t>03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26"/>
          <p:cNvSpPr/>
          <p:nvPr/>
        </p:nvSpPr>
        <p:spPr>
          <a:xfrm>
            <a:off x="7269480" y="2148840"/>
            <a:ext cx="16455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650" spc="-1" strike="noStrike">
                <a:solidFill>
                  <a:srgbClr val="111827"/>
                </a:solidFill>
                <a:latin typeface="Aptos"/>
              </a:rPr>
              <a:t>Aplicações digitais</a:t>
            </a:r>
            <a:endParaRPr b="0" lang="pt-BR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27"/>
          <p:cNvSpPr/>
          <p:nvPr/>
        </p:nvSpPr>
        <p:spPr>
          <a:xfrm>
            <a:off x="6656760" y="2834640"/>
            <a:ext cx="2230920" cy="429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28"/>
          <p:cNvSpPr/>
          <p:nvPr/>
        </p:nvSpPr>
        <p:spPr>
          <a:xfrm>
            <a:off x="6775560" y="2944440"/>
            <a:ext cx="1992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60" spc="-1" strike="noStrike">
                <a:solidFill>
                  <a:srgbClr val="27c89a"/>
                </a:solidFill>
                <a:latin typeface="Aptos"/>
              </a:rPr>
              <a:t>PR-05 · SQL</a:t>
            </a:r>
            <a:endParaRPr b="0" lang="pt-BR" sz="10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hape 29"/>
          <p:cNvSpPr/>
          <p:nvPr/>
        </p:nvSpPr>
        <p:spPr>
          <a:xfrm>
            <a:off x="6656760" y="3346560"/>
            <a:ext cx="2230920" cy="429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30"/>
          <p:cNvSpPr/>
          <p:nvPr/>
        </p:nvSpPr>
        <p:spPr>
          <a:xfrm>
            <a:off x="6775560" y="3456360"/>
            <a:ext cx="1992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60" spc="-1" strike="noStrike">
                <a:solidFill>
                  <a:srgbClr val="27c89a"/>
                </a:solidFill>
                <a:latin typeface="Aptos"/>
              </a:rPr>
              <a:t>PR-06 · SQL + Python</a:t>
            </a:r>
            <a:endParaRPr b="0" lang="pt-BR" sz="10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hape 31"/>
          <p:cNvSpPr/>
          <p:nvPr/>
        </p:nvSpPr>
        <p:spPr>
          <a:xfrm>
            <a:off x="6656760" y="3858840"/>
            <a:ext cx="2230920" cy="429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32"/>
          <p:cNvSpPr/>
          <p:nvPr/>
        </p:nvSpPr>
        <p:spPr>
          <a:xfrm>
            <a:off x="6775560" y="3968640"/>
            <a:ext cx="1992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60" spc="-1" strike="noStrike">
                <a:solidFill>
                  <a:srgbClr val="27c89a"/>
                </a:solidFill>
                <a:latin typeface="Aptos"/>
              </a:rPr>
              <a:t>PR-07 · HTML/CSS</a:t>
            </a:r>
            <a:endParaRPr b="0" lang="pt-BR" sz="10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33"/>
          <p:cNvSpPr/>
          <p:nvPr/>
        </p:nvSpPr>
        <p:spPr>
          <a:xfrm>
            <a:off x="6656760" y="4370760"/>
            <a:ext cx="2230920" cy="429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34"/>
          <p:cNvSpPr/>
          <p:nvPr/>
        </p:nvSpPr>
        <p:spPr>
          <a:xfrm>
            <a:off x="6775560" y="4480560"/>
            <a:ext cx="1992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60" spc="-1" strike="noStrike">
                <a:solidFill>
                  <a:srgbClr val="27c89a"/>
                </a:solidFill>
                <a:latin typeface="Aptos"/>
              </a:rPr>
              <a:t>PR-08 · Dashboards</a:t>
            </a:r>
            <a:endParaRPr b="0" lang="pt-BR" sz="10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35"/>
          <p:cNvSpPr/>
          <p:nvPr/>
        </p:nvSpPr>
        <p:spPr>
          <a:xfrm>
            <a:off x="6711840" y="4870080"/>
            <a:ext cx="21758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80" spc="-1" strike="noStrike">
                <a:solidFill>
                  <a:srgbClr val="6b7280"/>
                </a:solidFill>
                <a:latin typeface="Aptos"/>
              </a:rPr>
              <a:t>Persistência, integração Python–banco e apresentação web de informações.</a:t>
            </a:r>
            <a:endParaRPr b="0" lang="pt-BR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Shape 36"/>
          <p:cNvSpPr/>
          <p:nvPr/>
        </p:nvSpPr>
        <p:spPr>
          <a:xfrm>
            <a:off x="9107280" y="3547800"/>
            <a:ext cx="182880" cy="360"/>
          </a:xfrm>
          <a:prstGeom prst="line">
            <a:avLst/>
          </a:prstGeom>
          <a:ln w="20320">
            <a:solidFill>
              <a:srgbClr val="aab6c7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Shape 37"/>
          <p:cNvSpPr/>
          <p:nvPr/>
        </p:nvSpPr>
        <p:spPr>
          <a:xfrm>
            <a:off x="9326880" y="1901880"/>
            <a:ext cx="2633040" cy="3678120"/>
          </a:xfrm>
          <a:prstGeom prst="roundRect">
            <a:avLst>
              <a:gd name="adj" fmla="val 16667"/>
            </a:avLst>
          </a:prstGeom>
          <a:solidFill>
            <a:srgbClr val="f3edff"/>
          </a:solidFill>
          <a:ln w="22860">
            <a:solidFill>
              <a:srgbClr val="8b36ff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38"/>
          <p:cNvSpPr/>
          <p:nvPr/>
        </p:nvSpPr>
        <p:spPr>
          <a:xfrm>
            <a:off x="9509760" y="2103120"/>
            <a:ext cx="502560" cy="502560"/>
          </a:xfrm>
          <a:prstGeom prst="ellipse">
            <a:avLst/>
          </a:prstGeom>
          <a:solidFill>
            <a:srgbClr val="8b36ff"/>
          </a:solidFill>
          <a:ln w="12700">
            <a:solidFill>
              <a:srgbClr val="8b3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 39"/>
          <p:cNvSpPr/>
          <p:nvPr/>
        </p:nvSpPr>
        <p:spPr>
          <a:xfrm>
            <a:off x="9509760" y="2212920"/>
            <a:ext cx="502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-1" strike="noStrike">
                <a:solidFill>
                  <a:srgbClr val="ffffff"/>
                </a:solidFill>
                <a:latin typeface="Aptos"/>
              </a:rPr>
              <a:t>04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40"/>
          <p:cNvSpPr/>
          <p:nvPr/>
        </p:nvSpPr>
        <p:spPr>
          <a:xfrm>
            <a:off x="10140840" y="2148840"/>
            <a:ext cx="16455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650" spc="-1" strike="noStrike">
                <a:solidFill>
                  <a:srgbClr val="111827"/>
                </a:solidFill>
                <a:latin typeface="Aptos"/>
              </a:rPr>
              <a:t>Convergência</a:t>
            </a:r>
            <a:endParaRPr b="0" lang="pt-BR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Shape 41"/>
          <p:cNvSpPr/>
          <p:nvPr/>
        </p:nvSpPr>
        <p:spPr>
          <a:xfrm>
            <a:off x="9528120" y="2834640"/>
            <a:ext cx="2230920" cy="429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42"/>
          <p:cNvSpPr/>
          <p:nvPr/>
        </p:nvSpPr>
        <p:spPr>
          <a:xfrm>
            <a:off x="9646920" y="2944440"/>
            <a:ext cx="1992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60" spc="-1" strike="noStrike">
                <a:solidFill>
                  <a:srgbClr val="8b36ff"/>
                </a:solidFill>
                <a:latin typeface="Aptos"/>
              </a:rPr>
              <a:t>PR-09 · IoT / ESP32-C3</a:t>
            </a:r>
            <a:endParaRPr b="0" lang="pt-BR" sz="10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43"/>
          <p:cNvSpPr/>
          <p:nvPr/>
        </p:nvSpPr>
        <p:spPr>
          <a:xfrm>
            <a:off x="9528120" y="3346560"/>
            <a:ext cx="2230920" cy="429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44"/>
          <p:cNvSpPr/>
          <p:nvPr/>
        </p:nvSpPr>
        <p:spPr>
          <a:xfrm>
            <a:off x="9646920" y="3456360"/>
            <a:ext cx="1992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60" spc="-1" strike="noStrike">
                <a:solidFill>
                  <a:srgbClr val="8b36ff"/>
                </a:solidFill>
                <a:latin typeface="Aptos"/>
              </a:rPr>
              <a:t>PR-10 · IA na borda</a:t>
            </a:r>
            <a:endParaRPr b="0" lang="pt-BR" sz="10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Shape 45"/>
          <p:cNvSpPr/>
          <p:nvPr/>
        </p:nvSpPr>
        <p:spPr>
          <a:xfrm>
            <a:off x="9528120" y="3858840"/>
            <a:ext cx="2230920" cy="429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46"/>
          <p:cNvSpPr/>
          <p:nvPr/>
        </p:nvSpPr>
        <p:spPr>
          <a:xfrm>
            <a:off x="9646920" y="3968640"/>
            <a:ext cx="1992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60" spc="-1" strike="noStrike">
                <a:solidFill>
                  <a:srgbClr val="8b36ff"/>
                </a:solidFill>
                <a:latin typeface="Aptos"/>
              </a:rPr>
              <a:t>PR-11 · Metaverso</a:t>
            </a:r>
            <a:endParaRPr b="0" lang="pt-BR" sz="10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47"/>
          <p:cNvSpPr/>
          <p:nvPr/>
        </p:nvSpPr>
        <p:spPr>
          <a:xfrm>
            <a:off x="9555480" y="4870080"/>
            <a:ext cx="21758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80" spc="-1" strike="noStrike">
                <a:solidFill>
                  <a:srgbClr val="6b7280"/>
                </a:solidFill>
                <a:latin typeface="Aptos"/>
              </a:rPr>
              <a:t>Programação embarcada, inferência local e ponte para ambientes digitais interativos.</a:t>
            </a:r>
            <a:endParaRPr b="0" lang="pt-BR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48"/>
          <p:cNvSpPr/>
          <p:nvPr/>
        </p:nvSpPr>
        <p:spPr>
          <a:xfrm>
            <a:off x="960120" y="5724000"/>
            <a:ext cx="102409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550" spc="-1" strike="noStrike">
                <a:solidFill>
                  <a:srgbClr val="0b1b5e"/>
                </a:solidFill>
                <a:latin typeface="Aptos"/>
              </a:rPr>
              <a:t>A mesma lógica, os mesmos dados e os mesmos artefatos didáticos podem reaparecer em contextos progressivamente mais completos.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1"/>
          <p:cNvSpPr>
            <a:spLocks noGrp="1"/>
          </p:cNvSpPr>
          <p:nvPr>
            <p:ph type="sldNum" idx="7"/>
          </p:nvPr>
        </p:nvSpPr>
        <p:spPr>
          <a:xfrm>
            <a:off x="11722680" y="274320"/>
            <a:ext cx="25560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900" spc="-1" strike="noStrike">
                <a:solidFill>
                  <a:srgbClr val="94a3b8"/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701082-4888-4EEA-89D4-7B58F80E320B}" type="slidenum">
              <a:rPr b="0" lang="pt-BR" sz="900" spc="-1" strike="noStrike">
                <a:solidFill>
                  <a:srgbClr val="94a3b8"/>
                </a:solidFill>
                <a:latin typeface="Aptos"/>
              </a:rPr>
              <a:t>3</a:t>
            </a:fld>
            <a:endParaRPr b="0" lang="pt-BR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" descr=""/>
          <p:cNvPicPr/>
          <p:nvPr/>
        </p:nvPicPr>
        <p:blipFill>
          <a:blip r:embed="rId1"/>
          <a:srcRect l="0" t="0" r="23353" b="51889"/>
          <a:stretch/>
        </p:blipFill>
        <p:spPr>
          <a:xfrm>
            <a:off x="385920" y="1497240"/>
            <a:ext cx="5648760" cy="4600080"/>
          </a:xfrm>
          <a:prstGeom prst="rect">
            <a:avLst/>
          </a:prstGeom>
          <a:ln w="0">
            <a:noFill/>
          </a:ln>
        </p:spPr>
      </p:pic>
      <p:sp>
        <p:nvSpPr>
          <p:cNvPr id="112" name="Text 2"/>
          <p:cNvSpPr/>
          <p:nvPr/>
        </p:nvSpPr>
        <p:spPr>
          <a:xfrm>
            <a:off x="594360" y="438840"/>
            <a:ext cx="109267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600" spc="-1" strike="noStrike">
                <a:solidFill>
                  <a:srgbClr val="111827"/>
                </a:solidFill>
                <a:latin typeface="Aptos Display"/>
                <a:ea typeface="Aptos Display"/>
              </a:rPr>
              <a:t>Síntese </a:t>
            </a:r>
            <a:r>
              <a:rPr b="1" lang="pt-BR" sz="2600" spc="-1" strike="noStrike">
                <a:solidFill>
                  <a:srgbClr val="111827"/>
                </a:solidFill>
                <a:latin typeface="Aptos Display"/>
                <a:ea typeface="Aptos Display"/>
              </a:rPr>
              <a:t>dos </a:t>
            </a:r>
            <a:r>
              <a:rPr b="1" lang="pt-BR" sz="2600" spc="-1" strike="noStrike">
                <a:solidFill>
                  <a:srgbClr val="111827"/>
                </a:solidFill>
                <a:latin typeface="Aptos Display"/>
                <a:ea typeface="Aptos Display"/>
              </a:rPr>
              <a:t>cursos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29"/>
          <p:cNvSpPr/>
          <p:nvPr/>
        </p:nvSpPr>
        <p:spPr>
          <a:xfrm>
            <a:off x="612720" y="914400"/>
            <a:ext cx="10606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6b7280"/>
                </a:solidFill>
                <a:latin typeface="Aptos"/>
                <a:ea typeface="Aptos"/>
              </a:rPr>
              <a:t>Sequência de 11 </a:t>
            </a:r>
            <a:r>
              <a:rPr b="0" lang="pt-BR" sz="1250" spc="-1" strike="noStrike">
                <a:solidFill>
                  <a:srgbClr val="6b7280"/>
                </a:solidFill>
                <a:latin typeface="Aptos"/>
                <a:ea typeface="Aptos"/>
              </a:rPr>
              <a:t>cursos curtos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Shape 26"/>
          <p:cNvSpPr/>
          <p:nvPr/>
        </p:nvSpPr>
        <p:spPr>
          <a:xfrm>
            <a:off x="603360" y="1262160"/>
            <a:ext cx="1463040" cy="360"/>
          </a:xfrm>
          <a:prstGeom prst="line">
            <a:avLst/>
          </a:prstGeom>
          <a:ln w="38100">
            <a:solidFill>
              <a:srgbClr val="1f5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5" name="" descr=""/>
          <p:cNvPicPr/>
          <p:nvPr/>
        </p:nvPicPr>
        <p:blipFill>
          <a:blip r:embed="rId2"/>
          <a:srcRect l="0" t="47692" r="23353" b="3174"/>
          <a:stretch/>
        </p:blipFill>
        <p:spPr>
          <a:xfrm>
            <a:off x="6126840" y="1418400"/>
            <a:ext cx="5626080" cy="4678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 0"/>
          <p:cNvSpPr/>
          <p:nvPr/>
        </p:nvSpPr>
        <p:spPr>
          <a:xfrm>
            <a:off x="594360" y="438840"/>
            <a:ext cx="109267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600" spc="-1" strike="noStrike">
                <a:solidFill>
                  <a:srgbClr val="111827"/>
                </a:solidFill>
                <a:latin typeface="Aptos Display"/>
                <a:ea typeface="Aptos Display"/>
              </a:rPr>
              <a:t>Visão completa da trilha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1"/>
          <p:cNvSpPr/>
          <p:nvPr/>
        </p:nvSpPr>
        <p:spPr>
          <a:xfrm>
            <a:off x="612720" y="914400"/>
            <a:ext cx="10606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6b7280"/>
                </a:solidFill>
                <a:latin typeface="Aptos"/>
                <a:ea typeface="Aptos"/>
              </a:rPr>
              <a:t>A sequência recomendada explicita também as conexões com outras trilhas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Shape 2"/>
          <p:cNvSpPr/>
          <p:nvPr/>
        </p:nvSpPr>
        <p:spPr>
          <a:xfrm>
            <a:off x="603360" y="1261800"/>
            <a:ext cx="1463040" cy="360"/>
          </a:xfrm>
          <a:prstGeom prst="line">
            <a:avLst/>
          </a:prstGeom>
          <a:ln w="38100">
            <a:solidFill>
              <a:srgbClr val="1f5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Shape 3"/>
          <p:cNvSpPr/>
          <p:nvPr/>
        </p:nvSpPr>
        <p:spPr>
          <a:xfrm>
            <a:off x="603360" y="1572840"/>
            <a:ext cx="4937400" cy="4553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0" name="Image 0" descr="/mnt/data/Diagrama trilha programacao.png"/>
          <p:cNvPicPr/>
          <p:nvPr/>
        </p:nvPicPr>
        <p:blipFill>
          <a:blip r:embed="rId1"/>
          <a:stretch/>
        </p:blipFill>
        <p:spPr>
          <a:xfrm>
            <a:off x="1409760" y="1682640"/>
            <a:ext cx="3324960" cy="4315680"/>
          </a:xfrm>
          <a:prstGeom prst="rect">
            <a:avLst/>
          </a:prstGeom>
          <a:ln w="0">
            <a:noFill/>
          </a:ln>
        </p:spPr>
      </p:pic>
      <p:sp>
        <p:nvSpPr>
          <p:cNvPr id="121" name="Text 4"/>
          <p:cNvSpPr/>
          <p:nvPr/>
        </p:nvSpPr>
        <p:spPr>
          <a:xfrm>
            <a:off x="5925240" y="164592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800" spc="-1" strike="noStrike">
                <a:solidFill>
                  <a:srgbClr val="111827"/>
                </a:solidFill>
                <a:latin typeface="Aptos"/>
              </a:rPr>
              <a:t>Como ler o diagrama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Shape 5"/>
          <p:cNvSpPr/>
          <p:nvPr/>
        </p:nvSpPr>
        <p:spPr>
          <a:xfrm>
            <a:off x="5943600" y="2157840"/>
            <a:ext cx="182520" cy="182520"/>
          </a:xfrm>
          <a:prstGeom prst="roundRect">
            <a:avLst>
              <a:gd name="adj" fmla="val 16667"/>
            </a:avLst>
          </a:prstGeom>
          <a:solidFill>
            <a:srgbClr val="1f5eff"/>
          </a:solidFill>
          <a:ln w="12700">
            <a:solidFill>
              <a:srgbClr val="1f5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Text 6"/>
          <p:cNvSpPr/>
          <p:nvPr/>
        </p:nvSpPr>
        <p:spPr>
          <a:xfrm>
            <a:off x="6236280" y="2084760"/>
            <a:ext cx="776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50" spc="-1" strike="noStrike">
                <a:solidFill>
                  <a:srgbClr val="111827"/>
                </a:solidFill>
                <a:latin typeface="Aptos"/>
              </a:rPr>
              <a:t>Azul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7"/>
          <p:cNvSpPr/>
          <p:nvPr/>
        </p:nvSpPr>
        <p:spPr>
          <a:xfrm>
            <a:off x="6995160" y="2084760"/>
            <a:ext cx="4224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50" spc="-1" strike="noStrike">
                <a:solidFill>
                  <a:srgbClr val="6b7280"/>
                </a:solidFill>
                <a:latin typeface="Aptos"/>
              </a:rPr>
              <a:t>núcleo da trilha de Programação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8"/>
          <p:cNvSpPr/>
          <p:nvPr/>
        </p:nvSpPr>
        <p:spPr>
          <a:xfrm>
            <a:off x="5943600" y="2706480"/>
            <a:ext cx="182520" cy="182520"/>
          </a:xfrm>
          <a:prstGeom prst="roundRect">
            <a:avLst>
              <a:gd name="adj" fmla="val 16667"/>
            </a:avLst>
          </a:prstGeom>
          <a:solidFill>
            <a:srgbClr val="a8a8a8"/>
          </a:solidFill>
          <a:ln w="12700">
            <a:solidFill>
              <a:srgbClr val="a8a8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9"/>
          <p:cNvSpPr/>
          <p:nvPr/>
        </p:nvSpPr>
        <p:spPr>
          <a:xfrm>
            <a:off x="6236280" y="2633400"/>
            <a:ext cx="776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50" spc="-1" strike="noStrike">
                <a:solidFill>
                  <a:srgbClr val="111827"/>
                </a:solidFill>
                <a:latin typeface="Aptos"/>
              </a:rPr>
              <a:t>Cinza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10"/>
          <p:cNvSpPr/>
          <p:nvPr/>
        </p:nvSpPr>
        <p:spPr>
          <a:xfrm>
            <a:off x="6995160" y="2633400"/>
            <a:ext cx="4224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50" spc="-1" strike="noStrike">
                <a:solidFill>
                  <a:srgbClr val="6b7280"/>
                </a:solidFill>
                <a:latin typeface="Aptos"/>
              </a:rPr>
              <a:t>cursos compartilhados com IA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11"/>
          <p:cNvSpPr/>
          <p:nvPr/>
        </p:nvSpPr>
        <p:spPr>
          <a:xfrm>
            <a:off x="5943600" y="3255120"/>
            <a:ext cx="182520" cy="182520"/>
          </a:xfrm>
          <a:prstGeom prst="roundRect">
            <a:avLst>
              <a:gd name="adj" fmla="val 16667"/>
            </a:avLst>
          </a:prstGeom>
          <a:solidFill>
            <a:srgbClr val="27c89a"/>
          </a:solidFill>
          <a:ln w="12700">
            <a:solidFill>
              <a:srgbClr val="27c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Text 12"/>
          <p:cNvSpPr/>
          <p:nvPr/>
        </p:nvSpPr>
        <p:spPr>
          <a:xfrm>
            <a:off x="6236280" y="3182040"/>
            <a:ext cx="776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50" spc="-1" strike="noStrike">
                <a:solidFill>
                  <a:srgbClr val="111827"/>
                </a:solidFill>
                <a:latin typeface="Aptos"/>
              </a:rPr>
              <a:t>Verde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13"/>
          <p:cNvSpPr/>
          <p:nvPr/>
        </p:nvSpPr>
        <p:spPr>
          <a:xfrm>
            <a:off x="6995160" y="3182040"/>
            <a:ext cx="4224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50" spc="-1" strike="noStrike">
                <a:solidFill>
                  <a:srgbClr val="6b7280"/>
                </a:solidFill>
                <a:latin typeface="Aptos"/>
              </a:rPr>
              <a:t>articulação com Frontend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Shape 14"/>
          <p:cNvSpPr/>
          <p:nvPr/>
        </p:nvSpPr>
        <p:spPr>
          <a:xfrm>
            <a:off x="5943600" y="3803760"/>
            <a:ext cx="182520" cy="182520"/>
          </a:xfrm>
          <a:prstGeom prst="roundRect">
            <a:avLst>
              <a:gd name="adj" fmla="val 16667"/>
            </a:avLst>
          </a:prstGeom>
          <a:solidFill>
            <a:srgbClr val="8b36ff"/>
          </a:solidFill>
          <a:ln w="12700">
            <a:solidFill>
              <a:srgbClr val="8b3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Text 15"/>
          <p:cNvSpPr/>
          <p:nvPr/>
        </p:nvSpPr>
        <p:spPr>
          <a:xfrm>
            <a:off x="6236280" y="3730680"/>
            <a:ext cx="776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50" spc="-1" strike="noStrike">
                <a:solidFill>
                  <a:srgbClr val="111827"/>
                </a:solidFill>
                <a:latin typeface="Aptos"/>
              </a:rPr>
              <a:t>Roxo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16"/>
          <p:cNvSpPr/>
          <p:nvPr/>
        </p:nvSpPr>
        <p:spPr>
          <a:xfrm>
            <a:off x="6995160" y="3730680"/>
            <a:ext cx="4224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50" spc="-1" strike="noStrike">
                <a:solidFill>
                  <a:srgbClr val="6b7280"/>
                </a:solidFill>
                <a:latin typeface="Aptos"/>
              </a:rPr>
              <a:t>ponte final com Metaverso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Shape 17"/>
          <p:cNvSpPr/>
          <p:nvPr/>
        </p:nvSpPr>
        <p:spPr>
          <a:xfrm>
            <a:off x="5943600" y="4443840"/>
            <a:ext cx="5166360" cy="360"/>
          </a:xfrm>
          <a:prstGeom prst="line">
            <a:avLst/>
          </a:prstGeom>
          <a:ln w="12700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18"/>
          <p:cNvSpPr/>
          <p:nvPr/>
        </p:nvSpPr>
        <p:spPr>
          <a:xfrm>
            <a:off x="5943600" y="461772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450" spc="-1" strike="noStrike">
                <a:solidFill>
                  <a:srgbClr val="0b1b5e"/>
                </a:solidFill>
                <a:latin typeface="Aptos"/>
              </a:rPr>
              <a:t>Conexões curriculares destacadas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Shape 19"/>
          <p:cNvSpPr/>
          <p:nvPr/>
        </p:nvSpPr>
        <p:spPr>
          <a:xfrm>
            <a:off x="5961960" y="5020200"/>
            <a:ext cx="1170000" cy="310680"/>
          </a:xfrm>
          <a:prstGeom prst="roundRect">
            <a:avLst>
              <a:gd name="adj" fmla="val 16667"/>
            </a:avLst>
          </a:prstGeom>
          <a:solidFill>
            <a:srgbClr val="1f5eff"/>
          </a:solidFill>
          <a:ln w="12700">
            <a:solidFill>
              <a:srgbClr val="1f5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 20"/>
          <p:cNvSpPr/>
          <p:nvPr/>
        </p:nvSpPr>
        <p:spPr>
          <a:xfrm>
            <a:off x="6035040" y="5083920"/>
            <a:ext cx="1023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950" spc="-1" strike="noStrike">
                <a:solidFill>
                  <a:srgbClr val="ffffff"/>
                </a:solidFill>
                <a:latin typeface="Aptos"/>
              </a:rPr>
              <a:t>IA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21"/>
          <p:cNvSpPr/>
          <p:nvPr/>
        </p:nvSpPr>
        <p:spPr>
          <a:xfrm>
            <a:off x="7242120" y="5020200"/>
            <a:ext cx="1170000" cy="310680"/>
          </a:xfrm>
          <a:prstGeom prst="roundRect">
            <a:avLst>
              <a:gd name="adj" fmla="val 16667"/>
            </a:avLst>
          </a:prstGeom>
          <a:solidFill>
            <a:srgbClr val="16b8d4"/>
          </a:solidFill>
          <a:ln w="12700">
            <a:solidFill>
              <a:srgbClr val="16b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 22"/>
          <p:cNvSpPr/>
          <p:nvPr/>
        </p:nvSpPr>
        <p:spPr>
          <a:xfrm>
            <a:off x="7315200" y="5083920"/>
            <a:ext cx="1023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950" spc="-1" strike="noStrike">
                <a:solidFill>
                  <a:srgbClr val="ffffff"/>
                </a:solidFill>
                <a:latin typeface="Aptos"/>
              </a:rPr>
              <a:t>IoT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23"/>
          <p:cNvSpPr/>
          <p:nvPr/>
        </p:nvSpPr>
        <p:spPr>
          <a:xfrm>
            <a:off x="8522280" y="5020200"/>
            <a:ext cx="1425960" cy="310680"/>
          </a:xfrm>
          <a:prstGeom prst="roundRect">
            <a:avLst>
              <a:gd name="adj" fmla="val 16667"/>
            </a:avLst>
          </a:prstGeom>
          <a:solidFill>
            <a:srgbClr val="d81b73"/>
          </a:solidFill>
          <a:ln w="12700">
            <a:solidFill>
              <a:srgbClr val="d81b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Text 24"/>
          <p:cNvSpPr/>
          <p:nvPr/>
        </p:nvSpPr>
        <p:spPr>
          <a:xfrm>
            <a:off x="8595360" y="5083920"/>
            <a:ext cx="12798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950" spc="-1" strike="noStrike">
                <a:solidFill>
                  <a:srgbClr val="ffffff"/>
                </a:solidFill>
                <a:latin typeface="Aptos"/>
              </a:rPr>
              <a:t>Wearables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Shape 25"/>
          <p:cNvSpPr/>
          <p:nvPr/>
        </p:nvSpPr>
        <p:spPr>
          <a:xfrm>
            <a:off x="10076760" y="5020200"/>
            <a:ext cx="1170000" cy="31068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26"/>
          <p:cNvSpPr/>
          <p:nvPr/>
        </p:nvSpPr>
        <p:spPr>
          <a:xfrm>
            <a:off x="10149840" y="5083920"/>
            <a:ext cx="1023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950" spc="-1" strike="noStrike">
                <a:solidFill>
                  <a:srgbClr val="ffffff"/>
                </a:solidFill>
                <a:latin typeface="Aptos"/>
              </a:rPr>
              <a:t>Backend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27"/>
          <p:cNvSpPr/>
          <p:nvPr/>
        </p:nvSpPr>
        <p:spPr>
          <a:xfrm>
            <a:off x="5961960" y="5422320"/>
            <a:ext cx="1334520" cy="310680"/>
          </a:xfrm>
          <a:prstGeom prst="roundRect">
            <a:avLst>
              <a:gd name="adj" fmla="val 16667"/>
            </a:avLst>
          </a:prstGeom>
          <a:solidFill>
            <a:srgbClr val="27c89a"/>
          </a:solidFill>
          <a:ln w="12700">
            <a:solidFill>
              <a:srgbClr val="27c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Text 28"/>
          <p:cNvSpPr/>
          <p:nvPr/>
        </p:nvSpPr>
        <p:spPr>
          <a:xfrm>
            <a:off x="6035040" y="5486400"/>
            <a:ext cx="11883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950" spc="-1" strike="noStrike">
                <a:solidFill>
                  <a:srgbClr val="ffffff"/>
                </a:solidFill>
                <a:latin typeface="Aptos"/>
              </a:rPr>
              <a:t>Frontend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29"/>
          <p:cNvSpPr/>
          <p:nvPr/>
        </p:nvSpPr>
        <p:spPr>
          <a:xfrm>
            <a:off x="7425000" y="5422320"/>
            <a:ext cx="1874160" cy="310680"/>
          </a:xfrm>
          <a:prstGeom prst="roundRect">
            <a:avLst>
              <a:gd name="adj" fmla="val 16667"/>
            </a:avLst>
          </a:prstGeom>
          <a:solidFill>
            <a:srgbClr val="5f6b7a"/>
          </a:solidFill>
          <a:ln w="12700">
            <a:solidFill>
              <a:srgbClr val="5f6b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 30"/>
          <p:cNvSpPr/>
          <p:nvPr/>
        </p:nvSpPr>
        <p:spPr>
          <a:xfrm>
            <a:off x="7498080" y="5486400"/>
            <a:ext cx="17280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950" spc="-1" strike="noStrike">
                <a:solidFill>
                  <a:srgbClr val="ffffff"/>
                </a:solidFill>
                <a:latin typeface="Aptos"/>
              </a:rPr>
              <a:t>Sinais biológicos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31"/>
          <p:cNvSpPr/>
          <p:nvPr/>
        </p:nvSpPr>
        <p:spPr>
          <a:xfrm>
            <a:off x="9418320" y="5422320"/>
            <a:ext cx="1554120" cy="310680"/>
          </a:xfrm>
          <a:prstGeom prst="roundRect">
            <a:avLst>
              <a:gd name="adj" fmla="val 16667"/>
            </a:avLst>
          </a:prstGeom>
          <a:solidFill>
            <a:srgbClr val="8b36ff"/>
          </a:solidFill>
          <a:ln w="12700">
            <a:solidFill>
              <a:srgbClr val="8b3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Text 32"/>
          <p:cNvSpPr/>
          <p:nvPr/>
        </p:nvSpPr>
        <p:spPr>
          <a:xfrm>
            <a:off x="9491400" y="5486400"/>
            <a:ext cx="1407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950" spc="-1" strike="noStrike">
                <a:solidFill>
                  <a:srgbClr val="ffffff"/>
                </a:solidFill>
                <a:latin typeface="Aptos"/>
              </a:rPr>
              <a:t>Fabricação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33"/>
          <p:cNvSpPr/>
          <p:nvPr/>
        </p:nvSpPr>
        <p:spPr>
          <a:xfrm>
            <a:off x="11082600" y="5422320"/>
            <a:ext cx="36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34"/>
          <p:cNvSpPr/>
          <p:nvPr/>
        </p:nvSpPr>
        <p:spPr>
          <a:xfrm>
            <a:off x="11009520" y="5486400"/>
            <a:ext cx="1458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pt-BR" sz="95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52" name="Text 35"/>
          <p:cNvSpPr/>
          <p:nvPr/>
        </p:nvSpPr>
        <p:spPr>
          <a:xfrm>
            <a:off x="5943600" y="5852160"/>
            <a:ext cx="51660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080" spc="-1" strike="noStrike">
                <a:solidFill>
                  <a:srgbClr val="6b7280"/>
                </a:solidFill>
                <a:latin typeface="Aptos"/>
              </a:rPr>
              <a:t>Os vínculos não significam que todos os cursos precisem ser formalmente compartilhados; alguns funcionam apenas como pontes curriculares.</a:t>
            </a:r>
            <a:endParaRPr b="0" lang="pt-BR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1"/>
          <p:cNvSpPr>
            <a:spLocks noGrp="1"/>
          </p:cNvSpPr>
          <p:nvPr>
            <p:ph type="sldNum" idx="8"/>
          </p:nvPr>
        </p:nvSpPr>
        <p:spPr>
          <a:xfrm>
            <a:off x="11722680" y="274320"/>
            <a:ext cx="25560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900" spc="-1" strike="noStrike">
                <a:solidFill>
                  <a:srgbClr val="94a3b8"/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525D9A0-38AF-4559-8605-995BC06C51F1}" type="slidenum">
              <a:rPr b="0" lang="pt-BR" sz="900" spc="-1" strike="noStrike">
                <a:solidFill>
                  <a:srgbClr val="94a3b8"/>
                </a:solidFill>
                <a:latin typeface="Aptos"/>
              </a:rPr>
              <a:t>5</a:t>
            </a:fld>
            <a:endParaRPr b="0" lang="pt-BR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" descr=""/>
          <p:cNvPicPr/>
          <p:nvPr/>
        </p:nvPicPr>
        <p:blipFill>
          <a:blip r:embed="rId1"/>
          <a:srcRect l="0" t="0" r="-18804" b="51889"/>
          <a:stretch/>
        </p:blipFill>
        <p:spPr>
          <a:xfrm>
            <a:off x="385920" y="1497240"/>
            <a:ext cx="8756280" cy="4600080"/>
          </a:xfrm>
          <a:prstGeom prst="rect">
            <a:avLst/>
          </a:prstGeom>
          <a:ln w="0">
            <a:noFill/>
          </a:ln>
        </p:spPr>
      </p:pic>
      <p:sp>
        <p:nvSpPr>
          <p:cNvPr id="155" name="Text 50"/>
          <p:cNvSpPr/>
          <p:nvPr/>
        </p:nvSpPr>
        <p:spPr>
          <a:xfrm>
            <a:off x="594360" y="438840"/>
            <a:ext cx="109267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600" spc="-1" strike="noStrike">
                <a:solidFill>
                  <a:srgbClr val="111827"/>
                </a:solidFill>
                <a:latin typeface="Aptos Display"/>
                <a:ea typeface="Aptos Display"/>
              </a:rPr>
              <a:t>Síntese </a:t>
            </a:r>
            <a:r>
              <a:rPr b="1" lang="pt-BR" sz="2600" spc="-1" strike="noStrike">
                <a:solidFill>
                  <a:srgbClr val="111827"/>
                </a:solidFill>
                <a:latin typeface="Aptos Display"/>
                <a:ea typeface="Aptos Display"/>
              </a:rPr>
              <a:t>dos </a:t>
            </a:r>
            <a:r>
              <a:rPr b="1" lang="pt-BR" sz="2600" spc="-1" strike="noStrike">
                <a:solidFill>
                  <a:srgbClr val="111827"/>
                </a:solidFill>
                <a:latin typeface="Aptos Display"/>
                <a:ea typeface="Aptos Display"/>
              </a:rPr>
              <a:t>cursos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51"/>
          <p:cNvSpPr/>
          <p:nvPr/>
        </p:nvSpPr>
        <p:spPr>
          <a:xfrm>
            <a:off x="612720" y="914400"/>
            <a:ext cx="10606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6b7280"/>
                </a:solidFill>
                <a:latin typeface="Aptos"/>
                <a:ea typeface="Aptos"/>
              </a:rPr>
              <a:t>Conexões com outras </a:t>
            </a:r>
            <a:r>
              <a:rPr b="0" lang="pt-BR" sz="1250" spc="-1" strike="noStrike">
                <a:solidFill>
                  <a:srgbClr val="6b7280"/>
                </a:solidFill>
                <a:latin typeface="Aptos"/>
                <a:ea typeface="Aptos"/>
              </a:rPr>
              <a:t>trilhas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Shape 32"/>
          <p:cNvSpPr/>
          <p:nvPr/>
        </p:nvSpPr>
        <p:spPr>
          <a:xfrm>
            <a:off x="603360" y="1262160"/>
            <a:ext cx="1463040" cy="360"/>
          </a:xfrm>
          <a:prstGeom prst="line">
            <a:avLst/>
          </a:prstGeom>
          <a:ln w="38100">
            <a:solidFill>
              <a:srgbClr val="1f5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ext 52"/>
          <p:cNvSpPr/>
          <p:nvPr/>
        </p:nvSpPr>
        <p:spPr>
          <a:xfrm>
            <a:off x="594360" y="438840"/>
            <a:ext cx="109267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600" spc="-1" strike="noStrike">
                <a:solidFill>
                  <a:srgbClr val="111827"/>
                </a:solidFill>
                <a:latin typeface="Aptos Display"/>
                <a:ea typeface="Aptos Display"/>
              </a:rPr>
              <a:t>Síntese dos </a:t>
            </a:r>
            <a:r>
              <a:rPr b="1" lang="pt-BR" sz="2600" spc="-1" strike="noStrike">
                <a:solidFill>
                  <a:srgbClr val="111827"/>
                </a:solidFill>
                <a:latin typeface="Aptos Display"/>
                <a:ea typeface="Aptos Display"/>
              </a:rPr>
              <a:t>cursos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53"/>
          <p:cNvSpPr/>
          <p:nvPr/>
        </p:nvSpPr>
        <p:spPr>
          <a:xfrm>
            <a:off x="612720" y="914400"/>
            <a:ext cx="10606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6b7280"/>
                </a:solidFill>
                <a:latin typeface="Aptos"/>
                <a:ea typeface="Aptos"/>
              </a:rPr>
              <a:t>C</a:t>
            </a:r>
            <a:r>
              <a:rPr b="0" lang="pt-BR" sz="1250" spc="-1" strike="noStrike">
                <a:solidFill>
                  <a:srgbClr val="6b7280"/>
                </a:solidFill>
                <a:latin typeface="Aptos"/>
                <a:ea typeface="Aptos"/>
              </a:rPr>
              <a:t>o</a:t>
            </a:r>
            <a:r>
              <a:rPr b="0" lang="pt-BR" sz="1250" spc="-1" strike="noStrike">
                <a:solidFill>
                  <a:srgbClr val="6b7280"/>
                </a:solidFill>
                <a:latin typeface="Aptos"/>
                <a:ea typeface="Aptos"/>
              </a:rPr>
              <a:t>n</a:t>
            </a:r>
            <a:r>
              <a:rPr b="0" lang="pt-BR" sz="1250" spc="-1" strike="noStrike">
                <a:solidFill>
                  <a:srgbClr val="6b7280"/>
                </a:solidFill>
                <a:latin typeface="Aptos"/>
                <a:ea typeface="Aptos"/>
              </a:rPr>
              <a:t>e</a:t>
            </a:r>
            <a:r>
              <a:rPr b="0" lang="pt-BR" sz="1250" spc="-1" strike="noStrike">
                <a:solidFill>
                  <a:srgbClr val="6b7280"/>
                </a:solidFill>
                <a:latin typeface="Aptos"/>
                <a:ea typeface="Aptos"/>
              </a:rPr>
              <a:t>x</a:t>
            </a:r>
            <a:r>
              <a:rPr b="0" lang="pt-BR" sz="1250" spc="-1" strike="noStrike">
                <a:solidFill>
                  <a:srgbClr val="6b7280"/>
                </a:solidFill>
                <a:latin typeface="Aptos"/>
                <a:ea typeface="Aptos"/>
              </a:rPr>
              <a:t>õ</a:t>
            </a:r>
            <a:r>
              <a:rPr b="0" lang="pt-BR" sz="1250" spc="-1" strike="noStrike">
                <a:solidFill>
                  <a:srgbClr val="6b7280"/>
                </a:solidFill>
                <a:latin typeface="Aptos"/>
                <a:ea typeface="Aptos"/>
              </a:rPr>
              <a:t>e</a:t>
            </a:r>
            <a:r>
              <a:rPr b="0" lang="pt-BR" sz="1250" spc="-1" strike="noStrike">
                <a:solidFill>
                  <a:srgbClr val="6b7280"/>
                </a:solidFill>
                <a:latin typeface="Aptos"/>
                <a:ea typeface="Aptos"/>
              </a:rPr>
              <a:t>s</a:t>
            </a:r>
            <a:r>
              <a:rPr b="0" lang="pt-BR" sz="1250" spc="-1" strike="noStrike">
                <a:solidFill>
                  <a:srgbClr val="6b7280"/>
                </a:solidFill>
                <a:latin typeface="Aptos"/>
                <a:ea typeface="Aptos"/>
              </a:rPr>
              <a:t> </a:t>
            </a:r>
            <a:r>
              <a:rPr b="0" lang="pt-BR" sz="1250" spc="-1" strike="noStrike">
                <a:solidFill>
                  <a:srgbClr val="6b7280"/>
                </a:solidFill>
                <a:latin typeface="Aptos"/>
                <a:ea typeface="Aptos"/>
              </a:rPr>
              <a:t>c</a:t>
            </a:r>
            <a:r>
              <a:rPr b="0" lang="pt-BR" sz="1250" spc="-1" strike="noStrike">
                <a:solidFill>
                  <a:srgbClr val="6b7280"/>
                </a:solidFill>
                <a:latin typeface="Aptos"/>
                <a:ea typeface="Aptos"/>
              </a:rPr>
              <a:t>o</a:t>
            </a:r>
            <a:r>
              <a:rPr b="0" lang="pt-BR" sz="1250" spc="-1" strike="noStrike">
                <a:solidFill>
                  <a:srgbClr val="6b7280"/>
                </a:solidFill>
                <a:latin typeface="Aptos"/>
                <a:ea typeface="Aptos"/>
              </a:rPr>
              <a:t>m</a:t>
            </a:r>
            <a:r>
              <a:rPr b="0" lang="pt-BR" sz="1250" spc="-1" strike="noStrike">
                <a:solidFill>
                  <a:srgbClr val="6b7280"/>
                </a:solidFill>
                <a:latin typeface="Aptos"/>
                <a:ea typeface="Aptos"/>
              </a:rPr>
              <a:t> </a:t>
            </a:r>
            <a:r>
              <a:rPr b="0" lang="pt-BR" sz="1250" spc="-1" strike="noStrike">
                <a:solidFill>
                  <a:srgbClr val="6b7280"/>
                </a:solidFill>
                <a:latin typeface="Aptos"/>
                <a:ea typeface="Aptos"/>
              </a:rPr>
              <a:t>o</a:t>
            </a:r>
            <a:r>
              <a:rPr b="0" lang="pt-BR" sz="1250" spc="-1" strike="noStrike">
                <a:solidFill>
                  <a:srgbClr val="6b7280"/>
                </a:solidFill>
                <a:latin typeface="Aptos"/>
                <a:ea typeface="Aptos"/>
              </a:rPr>
              <a:t>u</a:t>
            </a:r>
            <a:r>
              <a:rPr b="0" lang="pt-BR" sz="1250" spc="-1" strike="noStrike">
                <a:solidFill>
                  <a:srgbClr val="6b7280"/>
                </a:solidFill>
                <a:latin typeface="Aptos"/>
                <a:ea typeface="Aptos"/>
              </a:rPr>
              <a:t>t</a:t>
            </a:r>
            <a:r>
              <a:rPr b="0" lang="pt-BR" sz="1250" spc="-1" strike="noStrike">
                <a:solidFill>
                  <a:srgbClr val="6b7280"/>
                </a:solidFill>
                <a:latin typeface="Aptos"/>
                <a:ea typeface="Aptos"/>
              </a:rPr>
              <a:t>r</a:t>
            </a:r>
            <a:r>
              <a:rPr b="0" lang="pt-BR" sz="1250" spc="-1" strike="noStrike">
                <a:solidFill>
                  <a:srgbClr val="6b7280"/>
                </a:solidFill>
                <a:latin typeface="Aptos"/>
                <a:ea typeface="Aptos"/>
              </a:rPr>
              <a:t>a</a:t>
            </a:r>
            <a:r>
              <a:rPr b="0" lang="pt-BR" sz="1250" spc="-1" strike="noStrike">
                <a:solidFill>
                  <a:srgbClr val="6b7280"/>
                </a:solidFill>
                <a:latin typeface="Aptos"/>
                <a:ea typeface="Aptos"/>
              </a:rPr>
              <a:t>s</a:t>
            </a:r>
            <a:r>
              <a:rPr b="0" lang="pt-BR" sz="1250" spc="-1" strike="noStrike">
                <a:solidFill>
                  <a:srgbClr val="6b7280"/>
                </a:solidFill>
                <a:latin typeface="Aptos"/>
                <a:ea typeface="Aptos"/>
              </a:rPr>
              <a:t> </a:t>
            </a:r>
            <a:r>
              <a:rPr b="0" lang="pt-BR" sz="1250" spc="-1" strike="noStrike">
                <a:solidFill>
                  <a:srgbClr val="6b7280"/>
                </a:solidFill>
                <a:latin typeface="Aptos"/>
                <a:ea typeface="Aptos"/>
              </a:rPr>
              <a:t>t</a:t>
            </a:r>
            <a:r>
              <a:rPr b="0" lang="pt-BR" sz="1250" spc="-1" strike="noStrike">
                <a:solidFill>
                  <a:srgbClr val="6b7280"/>
                </a:solidFill>
                <a:latin typeface="Aptos"/>
                <a:ea typeface="Aptos"/>
              </a:rPr>
              <a:t>r</a:t>
            </a:r>
            <a:r>
              <a:rPr b="0" lang="pt-BR" sz="1250" spc="-1" strike="noStrike">
                <a:solidFill>
                  <a:srgbClr val="6b7280"/>
                </a:solidFill>
                <a:latin typeface="Aptos"/>
                <a:ea typeface="Aptos"/>
              </a:rPr>
              <a:t>i</a:t>
            </a:r>
            <a:r>
              <a:rPr b="0" lang="pt-BR" sz="1250" spc="-1" strike="noStrike">
                <a:solidFill>
                  <a:srgbClr val="6b7280"/>
                </a:solidFill>
                <a:latin typeface="Aptos"/>
                <a:ea typeface="Aptos"/>
              </a:rPr>
              <a:t>l</a:t>
            </a:r>
            <a:r>
              <a:rPr b="0" lang="pt-BR" sz="1250" spc="-1" strike="noStrike">
                <a:solidFill>
                  <a:srgbClr val="6b7280"/>
                </a:solidFill>
                <a:latin typeface="Aptos"/>
                <a:ea typeface="Aptos"/>
              </a:rPr>
              <a:t>h</a:t>
            </a:r>
            <a:r>
              <a:rPr b="0" lang="pt-BR" sz="1250" spc="-1" strike="noStrike">
                <a:solidFill>
                  <a:srgbClr val="6b7280"/>
                </a:solidFill>
                <a:latin typeface="Aptos"/>
                <a:ea typeface="Aptos"/>
              </a:rPr>
              <a:t>a</a:t>
            </a:r>
            <a:r>
              <a:rPr b="0" lang="pt-BR" sz="1250" spc="-1" strike="noStrike">
                <a:solidFill>
                  <a:srgbClr val="6b7280"/>
                </a:solidFill>
                <a:latin typeface="Aptos"/>
                <a:ea typeface="Aptos"/>
              </a:rPr>
              <a:t>s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Shape 34"/>
          <p:cNvSpPr/>
          <p:nvPr/>
        </p:nvSpPr>
        <p:spPr>
          <a:xfrm>
            <a:off x="603360" y="1262160"/>
            <a:ext cx="1463040" cy="360"/>
          </a:xfrm>
          <a:prstGeom prst="line">
            <a:avLst/>
          </a:prstGeom>
          <a:ln w="38100">
            <a:solidFill>
              <a:srgbClr val="1f5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1" name="" descr=""/>
          <p:cNvPicPr/>
          <p:nvPr/>
        </p:nvPicPr>
        <p:blipFill>
          <a:blip r:embed="rId1"/>
          <a:srcRect l="0" t="47692" r="-10361" b="3174"/>
          <a:stretch/>
        </p:blipFill>
        <p:spPr>
          <a:xfrm>
            <a:off x="408600" y="1418760"/>
            <a:ext cx="8101080" cy="4678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 0"/>
          <p:cNvSpPr/>
          <p:nvPr/>
        </p:nvSpPr>
        <p:spPr>
          <a:xfrm>
            <a:off x="594360" y="438840"/>
            <a:ext cx="109267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600" spc="-1" strike="noStrike">
                <a:solidFill>
                  <a:srgbClr val="111827"/>
                </a:solidFill>
                <a:latin typeface="Aptos Display"/>
                <a:ea typeface="Aptos Display"/>
              </a:rPr>
              <a:t>Cursos compartilhados: onde a trilha se encontra com as demais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1"/>
          <p:cNvSpPr/>
          <p:nvPr/>
        </p:nvSpPr>
        <p:spPr>
          <a:xfrm>
            <a:off x="612720" y="914400"/>
            <a:ext cx="10606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6b7280"/>
                </a:solidFill>
                <a:latin typeface="Aptos"/>
                <a:ea typeface="Aptos"/>
              </a:rPr>
              <a:t>Uma única atividade pode compor dois percursos, sem duplicação da oferta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Shape 2"/>
          <p:cNvSpPr/>
          <p:nvPr/>
        </p:nvSpPr>
        <p:spPr>
          <a:xfrm>
            <a:off x="603360" y="1261800"/>
            <a:ext cx="1463040" cy="360"/>
          </a:xfrm>
          <a:prstGeom prst="line">
            <a:avLst/>
          </a:prstGeom>
          <a:ln w="38100">
            <a:solidFill>
              <a:srgbClr val="1f5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3"/>
          <p:cNvSpPr/>
          <p:nvPr/>
        </p:nvSpPr>
        <p:spPr>
          <a:xfrm>
            <a:off x="694800" y="1572840"/>
            <a:ext cx="6766200" cy="548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4"/>
          <p:cNvSpPr/>
          <p:nvPr/>
        </p:nvSpPr>
        <p:spPr>
          <a:xfrm>
            <a:off x="822960" y="1682640"/>
            <a:ext cx="1481040" cy="328680"/>
          </a:xfrm>
          <a:prstGeom prst="roundRect">
            <a:avLst>
              <a:gd name="adj" fmla="val 16667"/>
            </a:avLst>
          </a:prstGeom>
          <a:solidFill>
            <a:srgbClr val="1f5eff"/>
          </a:solidFill>
          <a:ln w="12700">
            <a:solidFill>
              <a:srgbClr val="1f5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Text 5"/>
          <p:cNvSpPr/>
          <p:nvPr/>
        </p:nvSpPr>
        <p:spPr>
          <a:xfrm>
            <a:off x="868680" y="1755720"/>
            <a:ext cx="138960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950" spc="-1" strike="noStrike">
                <a:solidFill>
                  <a:srgbClr val="ffffff"/>
                </a:solidFill>
                <a:latin typeface="Aptos"/>
              </a:rPr>
              <a:t>PR-03 / IA-02*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6"/>
          <p:cNvSpPr/>
          <p:nvPr/>
        </p:nvSpPr>
        <p:spPr>
          <a:xfrm>
            <a:off x="2487240" y="1710000"/>
            <a:ext cx="3245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20" spc="-1" strike="noStrike">
                <a:solidFill>
                  <a:srgbClr val="111827"/>
                </a:solidFill>
                <a:latin typeface="Aptos"/>
              </a:rPr>
              <a:t>Dados com Python e Pandas</a:t>
            </a:r>
            <a:endParaRPr b="0" lang="pt-BR" sz="12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7"/>
          <p:cNvSpPr/>
          <p:nvPr/>
        </p:nvSpPr>
        <p:spPr>
          <a:xfrm>
            <a:off x="5742360" y="1728360"/>
            <a:ext cx="1416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60" spc="-1" strike="noStrike">
                <a:solidFill>
                  <a:srgbClr val="1f5eff"/>
                </a:solidFill>
                <a:latin typeface="Aptos"/>
              </a:rPr>
              <a:t>Inteligência Artificial</a:t>
            </a:r>
            <a:endParaRPr b="0" lang="pt-BR" sz="10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Shape 8"/>
          <p:cNvSpPr/>
          <p:nvPr/>
        </p:nvSpPr>
        <p:spPr>
          <a:xfrm>
            <a:off x="694800" y="2267640"/>
            <a:ext cx="6766200" cy="548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Shape 9"/>
          <p:cNvSpPr/>
          <p:nvPr/>
        </p:nvSpPr>
        <p:spPr>
          <a:xfrm>
            <a:off x="822960" y="2377440"/>
            <a:ext cx="1481040" cy="32868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10"/>
          <p:cNvSpPr/>
          <p:nvPr/>
        </p:nvSpPr>
        <p:spPr>
          <a:xfrm>
            <a:off x="868680" y="2450520"/>
            <a:ext cx="138960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950" spc="-1" strike="noStrike">
                <a:solidFill>
                  <a:srgbClr val="ffffff"/>
                </a:solidFill>
                <a:latin typeface="Aptos"/>
              </a:rPr>
              <a:t>PR-05 / BE-04*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 11"/>
          <p:cNvSpPr/>
          <p:nvPr/>
        </p:nvSpPr>
        <p:spPr>
          <a:xfrm>
            <a:off x="2487240" y="2404800"/>
            <a:ext cx="3245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20" spc="-1" strike="noStrike">
                <a:solidFill>
                  <a:srgbClr val="111827"/>
                </a:solidFill>
                <a:latin typeface="Aptos"/>
              </a:rPr>
              <a:t>Fundamentos de Banco de Dados SQL</a:t>
            </a:r>
            <a:endParaRPr b="0" lang="pt-BR" sz="12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 12"/>
          <p:cNvSpPr/>
          <p:nvPr/>
        </p:nvSpPr>
        <p:spPr>
          <a:xfrm>
            <a:off x="5742360" y="2423160"/>
            <a:ext cx="1416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60" spc="-1" strike="noStrike">
                <a:solidFill>
                  <a:srgbClr val="f59e0b"/>
                </a:solidFill>
                <a:latin typeface="Aptos"/>
              </a:rPr>
              <a:t>Backend</a:t>
            </a:r>
            <a:endParaRPr b="0" lang="pt-BR" sz="10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13"/>
          <p:cNvSpPr/>
          <p:nvPr/>
        </p:nvSpPr>
        <p:spPr>
          <a:xfrm>
            <a:off x="694800" y="2962800"/>
            <a:ext cx="6766200" cy="548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Shape 14"/>
          <p:cNvSpPr/>
          <p:nvPr/>
        </p:nvSpPr>
        <p:spPr>
          <a:xfrm>
            <a:off x="822960" y="3072240"/>
            <a:ext cx="1481040" cy="328680"/>
          </a:xfrm>
          <a:prstGeom prst="roundRect">
            <a:avLst>
              <a:gd name="adj" fmla="val 16667"/>
            </a:avLst>
          </a:prstGeom>
          <a:solidFill>
            <a:srgbClr val="27c89a"/>
          </a:solidFill>
          <a:ln w="12700">
            <a:solidFill>
              <a:srgbClr val="27c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Text 15"/>
          <p:cNvSpPr/>
          <p:nvPr/>
        </p:nvSpPr>
        <p:spPr>
          <a:xfrm>
            <a:off x="868680" y="3145680"/>
            <a:ext cx="138960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950" spc="-1" strike="noStrike">
                <a:solidFill>
                  <a:srgbClr val="ffffff"/>
                </a:solidFill>
                <a:latin typeface="Aptos"/>
              </a:rPr>
              <a:t>PR-07 / FE-01*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 16"/>
          <p:cNvSpPr/>
          <p:nvPr/>
        </p:nvSpPr>
        <p:spPr>
          <a:xfrm>
            <a:off x="2487240" y="3099960"/>
            <a:ext cx="3245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20" spc="-1" strike="noStrike">
                <a:solidFill>
                  <a:srgbClr val="111827"/>
                </a:solidFill>
                <a:latin typeface="Aptos"/>
              </a:rPr>
              <a:t>HTML e CSS para Interfaces</a:t>
            </a:r>
            <a:endParaRPr b="0" lang="pt-BR" sz="12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17"/>
          <p:cNvSpPr/>
          <p:nvPr/>
        </p:nvSpPr>
        <p:spPr>
          <a:xfrm>
            <a:off x="5742360" y="3117960"/>
            <a:ext cx="1416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60" spc="-1" strike="noStrike">
                <a:solidFill>
                  <a:srgbClr val="27c89a"/>
                </a:solidFill>
                <a:latin typeface="Aptos"/>
              </a:rPr>
              <a:t>Frontend</a:t>
            </a:r>
            <a:endParaRPr b="0" lang="pt-BR" sz="10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Shape 18"/>
          <p:cNvSpPr/>
          <p:nvPr/>
        </p:nvSpPr>
        <p:spPr>
          <a:xfrm>
            <a:off x="694800" y="3657600"/>
            <a:ext cx="6766200" cy="548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Shape 19"/>
          <p:cNvSpPr/>
          <p:nvPr/>
        </p:nvSpPr>
        <p:spPr>
          <a:xfrm>
            <a:off x="822960" y="3767400"/>
            <a:ext cx="1481040" cy="328680"/>
          </a:xfrm>
          <a:prstGeom prst="roundRect">
            <a:avLst>
              <a:gd name="adj" fmla="val 16667"/>
            </a:avLst>
          </a:prstGeom>
          <a:solidFill>
            <a:srgbClr val="16b8d4"/>
          </a:solidFill>
          <a:ln w="12700">
            <a:solidFill>
              <a:srgbClr val="16b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Text 20"/>
          <p:cNvSpPr/>
          <p:nvPr/>
        </p:nvSpPr>
        <p:spPr>
          <a:xfrm>
            <a:off x="868680" y="3840480"/>
            <a:ext cx="138960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950" spc="-1" strike="noStrike">
                <a:solidFill>
                  <a:srgbClr val="ffffff"/>
                </a:solidFill>
                <a:latin typeface="Aptos"/>
              </a:rPr>
              <a:t>PR-09 / IOT-01*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 21"/>
          <p:cNvSpPr/>
          <p:nvPr/>
        </p:nvSpPr>
        <p:spPr>
          <a:xfrm>
            <a:off x="2487240" y="3794760"/>
            <a:ext cx="3245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20" spc="-1" strike="noStrike">
                <a:solidFill>
                  <a:srgbClr val="111827"/>
                </a:solidFill>
                <a:latin typeface="Aptos"/>
              </a:rPr>
              <a:t>Fundamentos de IoT com ESP32-C3</a:t>
            </a:r>
            <a:endParaRPr b="0" lang="pt-BR" sz="12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 22"/>
          <p:cNvSpPr/>
          <p:nvPr/>
        </p:nvSpPr>
        <p:spPr>
          <a:xfrm>
            <a:off x="5742360" y="3813120"/>
            <a:ext cx="1416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60" spc="-1" strike="noStrike">
                <a:solidFill>
                  <a:srgbClr val="16b8d4"/>
                </a:solidFill>
                <a:latin typeface="Aptos"/>
              </a:rPr>
              <a:t>IoT</a:t>
            </a:r>
            <a:endParaRPr b="0" lang="pt-BR" sz="10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Shape 23"/>
          <p:cNvSpPr/>
          <p:nvPr/>
        </p:nvSpPr>
        <p:spPr>
          <a:xfrm>
            <a:off x="694800" y="4352400"/>
            <a:ext cx="6766200" cy="548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Shape 24"/>
          <p:cNvSpPr/>
          <p:nvPr/>
        </p:nvSpPr>
        <p:spPr>
          <a:xfrm>
            <a:off x="822960" y="4462200"/>
            <a:ext cx="1481040" cy="328680"/>
          </a:xfrm>
          <a:prstGeom prst="roundRect">
            <a:avLst>
              <a:gd name="adj" fmla="val 16667"/>
            </a:avLst>
          </a:prstGeom>
          <a:solidFill>
            <a:srgbClr val="d81b73"/>
          </a:solidFill>
          <a:ln w="12700">
            <a:solidFill>
              <a:srgbClr val="d81b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Text 25"/>
          <p:cNvSpPr/>
          <p:nvPr/>
        </p:nvSpPr>
        <p:spPr>
          <a:xfrm>
            <a:off x="868680" y="4535280"/>
            <a:ext cx="138960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950" spc="-1" strike="noStrike">
                <a:solidFill>
                  <a:srgbClr val="ffffff"/>
                </a:solidFill>
                <a:latin typeface="Aptos"/>
              </a:rPr>
              <a:t>PR-10 / IA-07*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 26"/>
          <p:cNvSpPr/>
          <p:nvPr/>
        </p:nvSpPr>
        <p:spPr>
          <a:xfrm>
            <a:off x="2487240" y="4489560"/>
            <a:ext cx="3245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20" spc="-1" strike="noStrike">
                <a:solidFill>
                  <a:srgbClr val="111827"/>
                </a:solidFill>
                <a:latin typeface="Aptos"/>
              </a:rPr>
              <a:t>IA na Borda com ESP32-S3</a:t>
            </a:r>
            <a:endParaRPr b="0" lang="pt-BR" sz="12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 27"/>
          <p:cNvSpPr/>
          <p:nvPr/>
        </p:nvSpPr>
        <p:spPr>
          <a:xfrm>
            <a:off x="5742360" y="4507920"/>
            <a:ext cx="1416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60" spc="-1" strike="noStrike">
                <a:solidFill>
                  <a:srgbClr val="d81b73"/>
                </a:solidFill>
                <a:latin typeface="Aptos"/>
              </a:rPr>
              <a:t>Inteligência Artificial</a:t>
            </a:r>
            <a:endParaRPr b="0" lang="pt-BR" sz="10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Shape 28"/>
          <p:cNvSpPr/>
          <p:nvPr/>
        </p:nvSpPr>
        <p:spPr>
          <a:xfrm>
            <a:off x="694800" y="5047560"/>
            <a:ext cx="6766200" cy="548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Shape 29"/>
          <p:cNvSpPr/>
          <p:nvPr/>
        </p:nvSpPr>
        <p:spPr>
          <a:xfrm>
            <a:off x="822960" y="5157360"/>
            <a:ext cx="1481040" cy="328680"/>
          </a:xfrm>
          <a:prstGeom prst="roundRect">
            <a:avLst>
              <a:gd name="adj" fmla="val 16667"/>
            </a:avLst>
          </a:prstGeom>
          <a:solidFill>
            <a:srgbClr val="8b36ff"/>
          </a:solidFill>
          <a:ln w="12700">
            <a:solidFill>
              <a:srgbClr val="8b3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Text 30"/>
          <p:cNvSpPr/>
          <p:nvPr/>
        </p:nvSpPr>
        <p:spPr>
          <a:xfrm>
            <a:off x="868680" y="5230440"/>
            <a:ext cx="138960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950" spc="-1" strike="noStrike">
                <a:solidFill>
                  <a:srgbClr val="ffffff"/>
                </a:solidFill>
                <a:latin typeface="Aptos"/>
              </a:rPr>
              <a:t>PR-11 / MTV-01*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 31"/>
          <p:cNvSpPr/>
          <p:nvPr/>
        </p:nvSpPr>
        <p:spPr>
          <a:xfrm>
            <a:off x="2487240" y="5184720"/>
            <a:ext cx="3245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20" spc="-1" strike="noStrike">
                <a:solidFill>
                  <a:srgbClr val="111827"/>
                </a:solidFill>
                <a:latin typeface="Aptos"/>
              </a:rPr>
              <a:t>Programação para o Metaverso</a:t>
            </a:r>
            <a:endParaRPr b="0" lang="pt-BR" sz="12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 32"/>
          <p:cNvSpPr/>
          <p:nvPr/>
        </p:nvSpPr>
        <p:spPr>
          <a:xfrm>
            <a:off x="5742360" y="5203080"/>
            <a:ext cx="1416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60" spc="-1" strike="noStrike">
                <a:solidFill>
                  <a:srgbClr val="8b36ff"/>
                </a:solidFill>
                <a:latin typeface="Aptos"/>
              </a:rPr>
              <a:t>Metaverso</a:t>
            </a:r>
            <a:endParaRPr b="0" lang="pt-BR" sz="10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Shape 33"/>
          <p:cNvSpPr/>
          <p:nvPr/>
        </p:nvSpPr>
        <p:spPr>
          <a:xfrm>
            <a:off x="7818120" y="1581840"/>
            <a:ext cx="3611520" cy="4525920"/>
          </a:xfrm>
          <a:prstGeom prst="roundRect">
            <a:avLst>
              <a:gd name="adj" fmla="val 16667"/>
            </a:avLst>
          </a:prstGeom>
          <a:solidFill>
            <a:srgbClr val="0b1b5e"/>
          </a:solidFill>
          <a:ln w="12700">
            <a:solidFill>
              <a:srgbClr val="0b1b5e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Text 34"/>
          <p:cNvSpPr/>
          <p:nvPr/>
        </p:nvSpPr>
        <p:spPr>
          <a:xfrm>
            <a:off x="8119800" y="1874520"/>
            <a:ext cx="2971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900" spc="-1" strike="noStrike">
                <a:solidFill>
                  <a:srgbClr val="ffffff"/>
                </a:solidFill>
                <a:latin typeface="Aptos"/>
              </a:rPr>
              <a:t>Por que compartilhar?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Shape 35"/>
          <p:cNvSpPr/>
          <p:nvPr/>
        </p:nvSpPr>
        <p:spPr>
          <a:xfrm>
            <a:off x="8119800" y="2468880"/>
            <a:ext cx="383760" cy="383760"/>
          </a:xfrm>
          <a:prstGeom prst="ellipse">
            <a:avLst/>
          </a:prstGeom>
          <a:solidFill>
            <a:srgbClr val="16b8d4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Text 36"/>
          <p:cNvSpPr/>
          <p:nvPr/>
        </p:nvSpPr>
        <p:spPr>
          <a:xfrm>
            <a:off x="8119800" y="2569320"/>
            <a:ext cx="3837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00" spc="-1" strike="noStrike">
                <a:solidFill>
                  <a:srgbClr val="ffffff"/>
                </a:solidFill>
                <a:latin typeface="Aptos"/>
              </a:rPr>
              <a:t>1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 37"/>
          <p:cNvSpPr/>
          <p:nvPr/>
        </p:nvSpPr>
        <p:spPr>
          <a:xfrm>
            <a:off x="8668440" y="2450520"/>
            <a:ext cx="23040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20" spc="-1" strike="noStrike">
                <a:solidFill>
                  <a:srgbClr val="e8edff"/>
                </a:solidFill>
                <a:latin typeface="Aptos"/>
              </a:rPr>
              <a:t>evita repetir o mesmo conteúdo em trilhas diferentes</a:t>
            </a:r>
            <a:endParaRPr b="0" lang="pt-BR" sz="11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Shape 38"/>
          <p:cNvSpPr/>
          <p:nvPr/>
        </p:nvSpPr>
        <p:spPr>
          <a:xfrm>
            <a:off x="8119800" y="3273480"/>
            <a:ext cx="383760" cy="383760"/>
          </a:xfrm>
          <a:prstGeom prst="ellipse">
            <a:avLst/>
          </a:prstGeom>
          <a:solidFill>
            <a:srgbClr val="d81b73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Text 39"/>
          <p:cNvSpPr/>
          <p:nvPr/>
        </p:nvSpPr>
        <p:spPr>
          <a:xfrm>
            <a:off x="8119800" y="3374280"/>
            <a:ext cx="3837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00" spc="-1" strike="noStrike">
                <a:solidFill>
                  <a:srgbClr val="ffffff"/>
                </a:solidFill>
                <a:latin typeface="Aptos"/>
              </a:rPr>
              <a:t>2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 40"/>
          <p:cNvSpPr/>
          <p:nvPr/>
        </p:nvSpPr>
        <p:spPr>
          <a:xfrm>
            <a:off x="8668440" y="3255120"/>
            <a:ext cx="23040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20" spc="-1" strike="noStrike">
                <a:solidFill>
                  <a:srgbClr val="e8edff"/>
                </a:solidFill>
                <a:latin typeface="Aptos"/>
              </a:rPr>
              <a:t>reduz esforço de preparação e de agenda dos instrutores</a:t>
            </a:r>
            <a:endParaRPr b="0" lang="pt-BR" sz="11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Shape 41"/>
          <p:cNvSpPr/>
          <p:nvPr/>
        </p:nvSpPr>
        <p:spPr>
          <a:xfrm>
            <a:off x="8119800" y="4078080"/>
            <a:ext cx="383760" cy="383760"/>
          </a:xfrm>
          <a:prstGeom prst="ellipse">
            <a:avLst/>
          </a:prstGeom>
          <a:solidFill>
            <a:srgbClr val="27c89a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Text 42"/>
          <p:cNvSpPr/>
          <p:nvPr/>
        </p:nvSpPr>
        <p:spPr>
          <a:xfrm>
            <a:off x="8119800" y="4178880"/>
            <a:ext cx="3837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00" spc="-1" strike="noStrike">
                <a:solidFill>
                  <a:srgbClr val="ffffff"/>
                </a:solidFill>
                <a:latin typeface="Aptos"/>
              </a:rPr>
              <a:t>3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 43"/>
          <p:cNvSpPr/>
          <p:nvPr/>
        </p:nvSpPr>
        <p:spPr>
          <a:xfrm>
            <a:off x="8668440" y="4060080"/>
            <a:ext cx="23040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20" spc="-1" strike="noStrike">
                <a:solidFill>
                  <a:srgbClr val="e8edff"/>
                </a:solidFill>
                <a:latin typeface="Aptos"/>
              </a:rPr>
              <a:t>favorece turmas interdisciplinares e linguagem comum</a:t>
            </a:r>
            <a:endParaRPr b="0" lang="pt-BR" sz="11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Shape 44"/>
          <p:cNvSpPr/>
          <p:nvPr/>
        </p:nvSpPr>
        <p:spPr>
          <a:xfrm>
            <a:off x="8119800" y="4883040"/>
            <a:ext cx="383760" cy="383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 45"/>
          <p:cNvSpPr/>
          <p:nvPr/>
        </p:nvSpPr>
        <p:spPr>
          <a:xfrm>
            <a:off x="8119800" y="4983480"/>
            <a:ext cx="3837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000" spc="-1" strike="noStrike">
                <a:solidFill>
                  <a:srgbClr val="ffffff"/>
                </a:solidFill>
                <a:latin typeface="Aptos"/>
              </a:rPr>
              <a:t>4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 46"/>
          <p:cNvSpPr/>
          <p:nvPr/>
        </p:nvSpPr>
        <p:spPr>
          <a:xfrm>
            <a:off x="8668440" y="4864680"/>
            <a:ext cx="23040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120" spc="-1" strike="noStrike">
                <a:solidFill>
                  <a:srgbClr val="e8edff"/>
                </a:solidFill>
                <a:latin typeface="Aptos"/>
              </a:rPr>
              <a:t>permite ao participante aproveitar a atividade sem repeti-la</a:t>
            </a:r>
            <a:endParaRPr b="0" lang="pt-BR" sz="11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 47"/>
          <p:cNvSpPr/>
          <p:nvPr/>
        </p:nvSpPr>
        <p:spPr>
          <a:xfrm>
            <a:off x="713160" y="5943600"/>
            <a:ext cx="6903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pt-BR" sz="960" spc="-1" strike="noStrike">
                <a:solidFill>
                  <a:srgbClr val="6b7280"/>
                </a:solidFill>
                <a:latin typeface="Aptos"/>
              </a:rPr>
              <a:t>* Códigos secundários provisórios, a confirmar com as trilhas correspondentes.</a:t>
            </a:r>
            <a:endParaRPr b="0" lang="pt-BR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PlaceHolder 1"/>
          <p:cNvSpPr>
            <a:spLocks noGrp="1"/>
          </p:cNvSpPr>
          <p:nvPr>
            <p:ph type="sldNum" idx="9"/>
          </p:nvPr>
        </p:nvSpPr>
        <p:spPr>
          <a:xfrm>
            <a:off x="11722680" y="274320"/>
            <a:ext cx="25560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900" spc="-1" strike="noStrike">
                <a:solidFill>
                  <a:srgbClr val="94a3b8"/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CA1A708-8EE8-4241-9A33-AF9AE10DE4AC}" type="slidenum">
              <a:rPr b="0" lang="pt-BR" sz="900" spc="-1" strike="noStrike">
                <a:solidFill>
                  <a:srgbClr val="94a3b8"/>
                </a:solidFill>
                <a:latin typeface="Aptos"/>
              </a:rPr>
              <a:t>8</a:t>
            </a:fld>
            <a:endParaRPr b="0" lang="pt-BR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0"/>
          <p:cNvSpPr/>
          <p:nvPr/>
        </p:nvSpPr>
        <p:spPr>
          <a:xfrm>
            <a:off x="594360" y="438840"/>
            <a:ext cx="109267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600" spc="-1" strike="noStrike">
                <a:solidFill>
                  <a:srgbClr val="111827"/>
                </a:solidFill>
                <a:latin typeface="Aptos Display"/>
                <a:ea typeface="Aptos Display"/>
              </a:rPr>
              <a:t>Modelo didático: progressão sem pré-requisitos rígidos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 1"/>
          <p:cNvSpPr/>
          <p:nvPr/>
        </p:nvSpPr>
        <p:spPr>
          <a:xfrm>
            <a:off x="612720" y="914400"/>
            <a:ext cx="10606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6b7280"/>
                </a:solidFill>
                <a:latin typeface="Aptos"/>
                <a:ea typeface="Aptos"/>
              </a:rPr>
              <a:t>O mesmo problema de saúde pode evoluir ao longo da trilha — e cada curso continua sendo ofertável isoladamente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Shape 2"/>
          <p:cNvSpPr/>
          <p:nvPr/>
        </p:nvSpPr>
        <p:spPr>
          <a:xfrm>
            <a:off x="603360" y="1261800"/>
            <a:ext cx="1463040" cy="360"/>
          </a:xfrm>
          <a:prstGeom prst="line">
            <a:avLst/>
          </a:prstGeom>
          <a:ln w="38100">
            <a:solidFill>
              <a:srgbClr val="1f5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Shape 3"/>
          <p:cNvSpPr/>
          <p:nvPr/>
        </p:nvSpPr>
        <p:spPr>
          <a:xfrm>
            <a:off x="694800" y="2030040"/>
            <a:ext cx="1499400" cy="1023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1f5eff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 4"/>
          <p:cNvSpPr/>
          <p:nvPr/>
        </p:nvSpPr>
        <p:spPr>
          <a:xfrm>
            <a:off x="822960" y="2139840"/>
            <a:ext cx="1243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50" spc="-1" strike="noStrike">
                <a:solidFill>
                  <a:srgbClr val="1f5eff"/>
                </a:solidFill>
                <a:latin typeface="Aptos"/>
              </a:rPr>
              <a:t>Python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 5"/>
          <p:cNvSpPr/>
          <p:nvPr/>
        </p:nvSpPr>
        <p:spPr>
          <a:xfrm>
            <a:off x="804600" y="2395800"/>
            <a:ext cx="127980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939" spc="-1" strike="noStrike">
                <a:solidFill>
                  <a:srgbClr val="6b7280"/>
                </a:solidFill>
                <a:latin typeface="Aptos"/>
              </a:rPr>
              <a:t>listas e dicionários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Shape 6"/>
          <p:cNvSpPr/>
          <p:nvPr/>
        </p:nvSpPr>
        <p:spPr>
          <a:xfrm>
            <a:off x="2194560" y="2541960"/>
            <a:ext cx="255960" cy="360"/>
          </a:xfrm>
          <a:prstGeom prst="line">
            <a:avLst/>
          </a:prstGeom>
          <a:ln w="16510">
            <a:solidFill>
              <a:srgbClr val="9aa8b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Shape 7"/>
          <p:cNvSpPr/>
          <p:nvPr/>
        </p:nvSpPr>
        <p:spPr>
          <a:xfrm>
            <a:off x="2496240" y="2030040"/>
            <a:ext cx="1499400" cy="1023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16b8d4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8"/>
          <p:cNvSpPr/>
          <p:nvPr/>
        </p:nvSpPr>
        <p:spPr>
          <a:xfrm>
            <a:off x="2624400" y="2139840"/>
            <a:ext cx="1243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50" spc="-1" strike="noStrike">
                <a:solidFill>
                  <a:srgbClr val="16b8d4"/>
                </a:solidFill>
                <a:latin typeface="Aptos"/>
              </a:rPr>
              <a:t>Pandas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 9"/>
          <p:cNvSpPr/>
          <p:nvPr/>
        </p:nvSpPr>
        <p:spPr>
          <a:xfrm>
            <a:off x="2606040" y="2395800"/>
            <a:ext cx="127980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939" spc="-1" strike="noStrike">
                <a:solidFill>
                  <a:srgbClr val="6b7280"/>
                </a:solidFill>
                <a:latin typeface="Aptos"/>
              </a:rPr>
              <a:t>DataFrame / CSV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Shape 10"/>
          <p:cNvSpPr/>
          <p:nvPr/>
        </p:nvSpPr>
        <p:spPr>
          <a:xfrm>
            <a:off x="3995640" y="2541960"/>
            <a:ext cx="256320" cy="360"/>
          </a:xfrm>
          <a:prstGeom prst="line">
            <a:avLst/>
          </a:prstGeom>
          <a:ln w="16510">
            <a:solidFill>
              <a:srgbClr val="9aa8b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Shape 11"/>
          <p:cNvSpPr/>
          <p:nvPr/>
        </p:nvSpPr>
        <p:spPr>
          <a:xfrm>
            <a:off x="4297680" y="2030040"/>
            <a:ext cx="1499400" cy="1023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d81b73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 12"/>
          <p:cNvSpPr/>
          <p:nvPr/>
        </p:nvSpPr>
        <p:spPr>
          <a:xfrm>
            <a:off x="4425840" y="2139840"/>
            <a:ext cx="1243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50" spc="-1" strike="noStrike">
                <a:solidFill>
                  <a:srgbClr val="d81b73"/>
                </a:solidFill>
                <a:latin typeface="Aptos"/>
              </a:rPr>
              <a:t>Tempo real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 13"/>
          <p:cNvSpPr/>
          <p:nvPr/>
        </p:nvSpPr>
        <p:spPr>
          <a:xfrm>
            <a:off x="4407480" y="2395800"/>
            <a:ext cx="127980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939" spc="-1" strike="noStrike">
                <a:solidFill>
                  <a:srgbClr val="6b7280"/>
                </a:solidFill>
                <a:latin typeface="Aptos"/>
              </a:rPr>
              <a:t>buffers / séries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Shape 14"/>
          <p:cNvSpPr/>
          <p:nvPr/>
        </p:nvSpPr>
        <p:spPr>
          <a:xfrm>
            <a:off x="5797080" y="2541960"/>
            <a:ext cx="255960" cy="360"/>
          </a:xfrm>
          <a:prstGeom prst="line">
            <a:avLst/>
          </a:prstGeom>
          <a:ln w="16510">
            <a:solidFill>
              <a:srgbClr val="9aa8b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Shape 15"/>
          <p:cNvSpPr/>
          <p:nvPr/>
        </p:nvSpPr>
        <p:spPr>
          <a:xfrm>
            <a:off x="6099120" y="2030040"/>
            <a:ext cx="1499400" cy="1023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f59e0b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 16"/>
          <p:cNvSpPr/>
          <p:nvPr/>
        </p:nvSpPr>
        <p:spPr>
          <a:xfrm>
            <a:off x="6226920" y="2139840"/>
            <a:ext cx="1243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50" spc="-1" strike="noStrike">
                <a:solidFill>
                  <a:srgbClr val="f59e0b"/>
                </a:solidFill>
                <a:latin typeface="Aptos"/>
              </a:rPr>
              <a:t>SQLite / SQL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 17"/>
          <p:cNvSpPr/>
          <p:nvPr/>
        </p:nvSpPr>
        <p:spPr>
          <a:xfrm>
            <a:off x="6208920" y="2395800"/>
            <a:ext cx="127980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939" spc="-1" strike="noStrike">
                <a:solidFill>
                  <a:srgbClr val="6b7280"/>
                </a:solidFill>
                <a:latin typeface="Aptos"/>
              </a:rPr>
              <a:t>persistência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Shape 18"/>
          <p:cNvSpPr/>
          <p:nvPr/>
        </p:nvSpPr>
        <p:spPr>
          <a:xfrm>
            <a:off x="7598520" y="2541960"/>
            <a:ext cx="255960" cy="360"/>
          </a:xfrm>
          <a:prstGeom prst="line">
            <a:avLst/>
          </a:prstGeom>
          <a:ln w="16510">
            <a:solidFill>
              <a:srgbClr val="9aa8b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Shape 19"/>
          <p:cNvSpPr/>
          <p:nvPr/>
        </p:nvSpPr>
        <p:spPr>
          <a:xfrm>
            <a:off x="7900560" y="2030040"/>
            <a:ext cx="1499400" cy="1023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27c89a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 20"/>
          <p:cNvSpPr/>
          <p:nvPr/>
        </p:nvSpPr>
        <p:spPr>
          <a:xfrm>
            <a:off x="8028360" y="2139840"/>
            <a:ext cx="1243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50" spc="-1" strike="noStrike">
                <a:solidFill>
                  <a:srgbClr val="27c89a"/>
                </a:solidFill>
                <a:latin typeface="Aptos"/>
              </a:rPr>
              <a:t>Web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Text 21"/>
          <p:cNvSpPr/>
          <p:nvPr/>
        </p:nvSpPr>
        <p:spPr>
          <a:xfrm>
            <a:off x="8010000" y="2395800"/>
            <a:ext cx="127980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939" spc="-1" strike="noStrike">
                <a:solidFill>
                  <a:srgbClr val="6b7280"/>
                </a:solidFill>
                <a:latin typeface="Aptos"/>
              </a:rPr>
              <a:t>HTML / dashboard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Shape 22"/>
          <p:cNvSpPr/>
          <p:nvPr/>
        </p:nvSpPr>
        <p:spPr>
          <a:xfrm>
            <a:off x="9399960" y="2541960"/>
            <a:ext cx="255960" cy="360"/>
          </a:xfrm>
          <a:prstGeom prst="line">
            <a:avLst/>
          </a:prstGeom>
          <a:ln w="16510">
            <a:solidFill>
              <a:srgbClr val="9aa8b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Shape 23"/>
          <p:cNvSpPr/>
          <p:nvPr/>
        </p:nvSpPr>
        <p:spPr>
          <a:xfrm>
            <a:off x="9701640" y="2030040"/>
            <a:ext cx="1499400" cy="1023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7780">
            <a:solidFill>
              <a:srgbClr val="8b36ff"/>
            </a:solidFill>
            <a:round/>
          </a:ln>
          <a:effectLst>
            <a:outerShdw algn="bl" blurRad="0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 24"/>
          <p:cNvSpPr/>
          <p:nvPr/>
        </p:nvSpPr>
        <p:spPr>
          <a:xfrm>
            <a:off x="9829800" y="2139840"/>
            <a:ext cx="1243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250" spc="-1" strike="noStrike">
                <a:solidFill>
                  <a:srgbClr val="8b36ff"/>
                </a:solidFill>
                <a:latin typeface="Aptos"/>
              </a:rPr>
              <a:t>ESP32 / Edge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 25"/>
          <p:cNvSpPr/>
          <p:nvPr/>
        </p:nvSpPr>
        <p:spPr>
          <a:xfrm>
            <a:off x="9811440" y="2395800"/>
            <a:ext cx="127980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939" spc="-1" strike="noStrike">
                <a:solidFill>
                  <a:srgbClr val="6b7280"/>
                </a:solidFill>
                <a:latin typeface="Aptos"/>
              </a:rPr>
              <a:t>GPIO / inferência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 26"/>
          <p:cNvSpPr/>
          <p:nvPr/>
        </p:nvSpPr>
        <p:spPr>
          <a:xfrm>
            <a:off x="720000" y="3299040"/>
            <a:ext cx="1044000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600" spc="-1" strike="noStrike">
                <a:solidFill>
                  <a:srgbClr val="111827"/>
                </a:solidFill>
                <a:latin typeface="Aptos"/>
              </a:rPr>
              <a:t>Exemplo de fio condutor: um conjunto sintético de medições pode nascer como estrutura Python, virar tabela, chegar em fluxo contínuo, ser salvo em banco, ganhar interface web e, ao final, dialogar com hardware e IA na borda.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Shape 27"/>
          <p:cNvSpPr/>
          <p:nvPr/>
        </p:nvSpPr>
        <p:spPr>
          <a:xfrm>
            <a:off x="749880" y="4500000"/>
            <a:ext cx="10652400" cy="1440000"/>
          </a:xfrm>
          <a:prstGeom prst="roundRect">
            <a:avLst>
              <a:gd name="adj" fmla="val 16667"/>
            </a:avLst>
          </a:prstGeom>
          <a:solidFill>
            <a:srgbClr val="eaf0ff"/>
          </a:solidFill>
          <a:ln w="13970">
            <a:solidFill>
              <a:srgbClr val="b9c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 28"/>
          <p:cNvSpPr/>
          <p:nvPr/>
        </p:nvSpPr>
        <p:spPr>
          <a:xfrm>
            <a:off x="900000" y="4680000"/>
            <a:ext cx="10080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440" spc="-1" strike="noStrike">
                <a:solidFill>
                  <a:srgbClr val="0b1b5e"/>
                </a:solidFill>
                <a:latin typeface="Aptos"/>
              </a:rPr>
              <a:t>Kit de contingência para garantir independência</a:t>
            </a:r>
            <a:endParaRPr b="0" lang="pt-BR" sz="14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Shape 29"/>
          <p:cNvSpPr/>
          <p:nvPr/>
        </p:nvSpPr>
        <p:spPr>
          <a:xfrm>
            <a:off x="2340000" y="5040000"/>
            <a:ext cx="117000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8d3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Text 30"/>
          <p:cNvSpPr/>
          <p:nvPr/>
        </p:nvSpPr>
        <p:spPr>
          <a:xfrm>
            <a:off x="2413080" y="5104080"/>
            <a:ext cx="1023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950" spc="-1" strike="noStrike">
                <a:solidFill>
                  <a:srgbClr val="0b1b5e"/>
                </a:solidFill>
                <a:latin typeface="Aptos"/>
              </a:rPr>
              <a:t>notebook inicial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Shape 31"/>
          <p:cNvSpPr/>
          <p:nvPr/>
        </p:nvSpPr>
        <p:spPr>
          <a:xfrm>
            <a:off x="3629160" y="5040000"/>
            <a:ext cx="120672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8d3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 32"/>
          <p:cNvSpPr/>
          <p:nvPr/>
        </p:nvSpPr>
        <p:spPr>
          <a:xfrm>
            <a:off x="3702600" y="5104080"/>
            <a:ext cx="1060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950" spc="-1" strike="noStrike">
                <a:solidFill>
                  <a:srgbClr val="0b1b5e"/>
                </a:solidFill>
                <a:latin typeface="Aptos"/>
              </a:rPr>
              <a:t>dataset sintético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Shape 33"/>
          <p:cNvSpPr/>
          <p:nvPr/>
        </p:nvSpPr>
        <p:spPr>
          <a:xfrm>
            <a:off x="4955040" y="5040000"/>
            <a:ext cx="138960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8d3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 34"/>
          <p:cNvSpPr/>
          <p:nvPr/>
        </p:nvSpPr>
        <p:spPr>
          <a:xfrm>
            <a:off x="5028480" y="5104080"/>
            <a:ext cx="1243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950" spc="-1" strike="noStrike">
                <a:solidFill>
                  <a:srgbClr val="0b1b5e"/>
                </a:solidFill>
                <a:latin typeface="Aptos"/>
              </a:rPr>
              <a:t>banco SQLite pronto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Shape 35"/>
          <p:cNvSpPr/>
          <p:nvPr/>
        </p:nvSpPr>
        <p:spPr>
          <a:xfrm>
            <a:off x="6463800" y="5040000"/>
            <a:ext cx="146268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8d3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 36"/>
          <p:cNvSpPr/>
          <p:nvPr/>
        </p:nvSpPr>
        <p:spPr>
          <a:xfrm>
            <a:off x="6537240" y="5104080"/>
            <a:ext cx="13165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950" spc="-1" strike="noStrike">
                <a:solidFill>
                  <a:srgbClr val="0b1b5e"/>
                </a:solidFill>
                <a:latin typeface="Aptos"/>
              </a:rPr>
              <a:t>template HTML/CSS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Shape 37"/>
          <p:cNvSpPr/>
          <p:nvPr/>
        </p:nvSpPr>
        <p:spPr>
          <a:xfrm>
            <a:off x="8046000" y="5040000"/>
            <a:ext cx="178272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8d3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Text 38"/>
          <p:cNvSpPr/>
          <p:nvPr/>
        </p:nvSpPr>
        <p:spPr>
          <a:xfrm>
            <a:off x="8119080" y="5104080"/>
            <a:ext cx="1636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950" spc="-1" strike="noStrike">
                <a:solidFill>
                  <a:srgbClr val="0b1b5e"/>
                </a:solidFill>
                <a:latin typeface="Aptos"/>
              </a:rPr>
              <a:t>código-base / configuração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Text 39"/>
          <p:cNvSpPr/>
          <p:nvPr/>
        </p:nvSpPr>
        <p:spPr>
          <a:xfrm>
            <a:off x="987480" y="5413320"/>
            <a:ext cx="10172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300" spc="-1" strike="noStrike">
                <a:solidFill>
                  <a:srgbClr val="6b7280"/>
                </a:solidFill>
                <a:latin typeface="Aptos"/>
              </a:rPr>
              <a:t>Assim, o instrutor pode iniciar diretamente no objetivo da aula, mesmo que o participante não tenha realizado o módulo anterior.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PlaceHolder 1"/>
          <p:cNvSpPr>
            <a:spLocks noGrp="1"/>
          </p:cNvSpPr>
          <p:nvPr>
            <p:ph type="sldNum" idx="10"/>
          </p:nvPr>
        </p:nvSpPr>
        <p:spPr>
          <a:xfrm>
            <a:off x="11722680" y="274320"/>
            <a:ext cx="25560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900" spc="-1" strike="noStrike">
                <a:solidFill>
                  <a:srgbClr val="94a3b8"/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19C13EF-B33B-46D8-A5EE-B3D61D0EA5B7}" type="slidenum">
              <a:rPr b="0" lang="pt-BR" sz="900" spc="-1" strike="noStrike">
                <a:solidFill>
                  <a:srgbClr val="94a3b8"/>
                </a:solidFill>
                <a:latin typeface="Aptos"/>
              </a:rPr>
              <a:t>9</a:t>
            </a:fld>
            <a:endParaRPr b="0" lang="pt-BR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" descr=""/>
          <p:cNvPicPr/>
          <p:nvPr/>
        </p:nvPicPr>
        <p:blipFill>
          <a:blip r:embed="rId1"/>
          <a:srcRect l="0" t="0" r="23353" b="51889"/>
          <a:stretch/>
        </p:blipFill>
        <p:spPr>
          <a:xfrm>
            <a:off x="385920" y="1497240"/>
            <a:ext cx="5648760" cy="4600080"/>
          </a:xfrm>
          <a:prstGeom prst="rect">
            <a:avLst/>
          </a:prstGeom>
          <a:ln w="0">
            <a:noFill/>
          </a:ln>
        </p:spPr>
      </p:pic>
      <p:sp>
        <p:nvSpPr>
          <p:cNvPr id="253" name="Text 41"/>
          <p:cNvSpPr/>
          <p:nvPr/>
        </p:nvSpPr>
        <p:spPr>
          <a:xfrm>
            <a:off x="594360" y="438840"/>
            <a:ext cx="109267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600" spc="-1" strike="noStrike">
                <a:solidFill>
                  <a:srgbClr val="111827"/>
                </a:solidFill>
                <a:latin typeface="Aptos Display"/>
                <a:ea typeface="Aptos Display"/>
              </a:rPr>
              <a:t>Cursos </a:t>
            </a:r>
            <a:r>
              <a:rPr b="1" lang="pt-BR" sz="2600" spc="-1" strike="noStrike">
                <a:solidFill>
                  <a:srgbClr val="111827"/>
                </a:solidFill>
                <a:latin typeface="Aptos Display"/>
                <a:ea typeface="Aptos Display"/>
              </a:rPr>
              <a:t>ministrados, </a:t>
            </a:r>
            <a:r>
              <a:rPr b="1" lang="pt-BR" sz="2600" spc="-1" strike="noStrike">
                <a:solidFill>
                  <a:srgbClr val="111827"/>
                </a:solidFill>
                <a:latin typeface="Aptos Display"/>
                <a:ea typeface="Aptos Display"/>
              </a:rPr>
              <a:t>presentes / </a:t>
            </a:r>
            <a:r>
              <a:rPr b="1" lang="pt-BR" sz="2600" spc="-1" strike="noStrike">
                <a:solidFill>
                  <a:srgbClr val="111827"/>
                </a:solidFill>
                <a:latin typeface="Aptos Display"/>
                <a:ea typeface="Aptos Display"/>
              </a:rPr>
              <a:t>inscritos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Text 49"/>
          <p:cNvSpPr/>
          <p:nvPr/>
        </p:nvSpPr>
        <p:spPr>
          <a:xfrm>
            <a:off x="612720" y="914400"/>
            <a:ext cx="10606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6b7280"/>
                </a:solidFill>
                <a:latin typeface="Aptos"/>
                <a:ea typeface="Aptos"/>
              </a:rPr>
              <a:t>Embora as vagas acabam muito rápido, a </a:t>
            </a:r>
            <a:r>
              <a:rPr b="0" lang="pt-BR" sz="1250" spc="-1" strike="noStrike">
                <a:solidFill>
                  <a:srgbClr val="6b7280"/>
                </a:solidFill>
                <a:latin typeface="Aptos"/>
                <a:ea typeface="Aptos"/>
              </a:rPr>
              <a:t>participação real é bem menor.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Shape 30"/>
          <p:cNvSpPr/>
          <p:nvPr/>
        </p:nvSpPr>
        <p:spPr>
          <a:xfrm>
            <a:off x="603360" y="1262160"/>
            <a:ext cx="1463040" cy="360"/>
          </a:xfrm>
          <a:prstGeom prst="line">
            <a:avLst/>
          </a:prstGeom>
          <a:ln w="38100">
            <a:solidFill>
              <a:srgbClr val="1f5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5108760" y="4919760"/>
            <a:ext cx="946800" cy="382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800" spc="-1" strike="noStrike">
                <a:solidFill>
                  <a:srgbClr val="c9211e"/>
                </a:solidFill>
                <a:latin typeface="Arial"/>
              </a:rPr>
              <a:t>100/8</a:t>
            </a:r>
            <a:endParaRPr b="1" lang="pt-BR" sz="1800" spc="-1" strike="noStrike">
              <a:solidFill>
                <a:srgbClr val="c9211e"/>
              </a:solidFill>
              <a:latin typeface="Arial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5108760" y="2607840"/>
            <a:ext cx="946800" cy="382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800" spc="-1" strike="noStrike">
                <a:solidFill>
                  <a:srgbClr val="c9211e"/>
                </a:solidFill>
                <a:latin typeface="Arial"/>
              </a:rPr>
              <a:t>100/18</a:t>
            </a:r>
            <a:endParaRPr b="1" lang="pt-BR" sz="1800" spc="-1" strike="noStrike">
              <a:solidFill>
                <a:srgbClr val="c9211e"/>
              </a:solidFill>
              <a:latin typeface="Arial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5108760" y="3371760"/>
            <a:ext cx="946800" cy="382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800" spc="-1" strike="noStrike">
                <a:solidFill>
                  <a:srgbClr val="c9211e"/>
                </a:solidFill>
                <a:latin typeface="Arial"/>
              </a:rPr>
              <a:t>200/20</a:t>
            </a:r>
            <a:endParaRPr b="1" lang="pt-BR" sz="1800" spc="-1" strike="noStrike">
              <a:solidFill>
                <a:srgbClr val="c9211e"/>
              </a:solidFill>
              <a:latin typeface="Arial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5108760" y="5708160"/>
            <a:ext cx="946800" cy="382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pt-BR" sz="1800" spc="-1" strike="noStrike">
                <a:solidFill>
                  <a:srgbClr val="c9211e"/>
                </a:solidFill>
                <a:latin typeface="Arial"/>
              </a:rPr>
              <a:t>112/?</a:t>
            </a:r>
            <a:endParaRPr b="1" lang="pt-BR" sz="1800" spc="-1" strike="noStrike">
              <a:solidFill>
                <a:srgbClr val="c9211e"/>
              </a:solidFill>
              <a:latin typeface="Arial"/>
            </a:endParaRPr>
          </a:p>
        </p:txBody>
      </p:sp>
      <p:pic>
        <p:nvPicPr>
          <p:cNvPr id="260" name="" descr=""/>
          <p:cNvPicPr/>
          <p:nvPr/>
        </p:nvPicPr>
        <p:blipFill>
          <a:blip r:embed="rId2"/>
          <a:srcRect l="0" t="47692" r="23353" b="3174"/>
          <a:stretch/>
        </p:blipFill>
        <p:spPr>
          <a:xfrm>
            <a:off x="6126840" y="1418400"/>
            <a:ext cx="5626080" cy="4678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Text 0"/>
          <p:cNvSpPr/>
          <p:nvPr/>
        </p:nvSpPr>
        <p:spPr>
          <a:xfrm>
            <a:off x="594360" y="438840"/>
            <a:ext cx="109267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600" spc="-1" strike="noStrike">
                <a:solidFill>
                  <a:srgbClr val="111827"/>
                </a:solidFill>
                <a:latin typeface="Aptos Display"/>
                <a:ea typeface="Aptos Display"/>
              </a:rPr>
              <a:t>Como sincronizar cursos compartilhados sem travar as trilhas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Text 1"/>
          <p:cNvSpPr/>
          <p:nvPr/>
        </p:nvSpPr>
        <p:spPr>
          <a:xfrm>
            <a:off x="612720" y="914400"/>
            <a:ext cx="10606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50" spc="-1" strike="noStrike">
                <a:solidFill>
                  <a:srgbClr val="6b7280"/>
                </a:solidFill>
                <a:latin typeface="Aptos"/>
                <a:ea typeface="Aptos"/>
              </a:rPr>
              <a:t>Sincronizar apenas os pontos de interseção — não o percurso inteiro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Shape 2"/>
          <p:cNvSpPr/>
          <p:nvPr/>
        </p:nvSpPr>
        <p:spPr>
          <a:xfrm>
            <a:off x="603360" y="1261800"/>
            <a:ext cx="1463040" cy="360"/>
          </a:xfrm>
          <a:prstGeom prst="line">
            <a:avLst/>
          </a:prstGeom>
          <a:ln w="38100">
            <a:solidFill>
              <a:srgbClr val="1f5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ext 3"/>
          <p:cNvSpPr/>
          <p:nvPr/>
        </p:nvSpPr>
        <p:spPr>
          <a:xfrm>
            <a:off x="640080" y="1974960"/>
            <a:ext cx="12798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-1" strike="noStrike">
                <a:solidFill>
                  <a:srgbClr val="6b7280"/>
                </a:solidFill>
                <a:latin typeface="Aptos"/>
              </a:rPr>
              <a:t>Programação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Shape 4"/>
          <p:cNvSpPr/>
          <p:nvPr/>
        </p:nvSpPr>
        <p:spPr>
          <a:xfrm>
            <a:off x="2148840" y="2103120"/>
            <a:ext cx="8156160" cy="360"/>
          </a:xfrm>
          <a:prstGeom prst="line">
            <a:avLst/>
          </a:prstGeom>
          <a:ln w="38100">
            <a:solidFill>
              <a:srgbClr val="cfd7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ext 5"/>
          <p:cNvSpPr/>
          <p:nvPr/>
        </p:nvSpPr>
        <p:spPr>
          <a:xfrm>
            <a:off x="640080" y="2752200"/>
            <a:ext cx="12798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-1" strike="noStrike">
                <a:solidFill>
                  <a:srgbClr val="6b7280"/>
                </a:solidFill>
                <a:latin typeface="Aptos"/>
              </a:rPr>
              <a:t>IA / IoT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Shape 6"/>
          <p:cNvSpPr/>
          <p:nvPr/>
        </p:nvSpPr>
        <p:spPr>
          <a:xfrm>
            <a:off x="2148840" y="2880360"/>
            <a:ext cx="8156160" cy="360"/>
          </a:xfrm>
          <a:prstGeom prst="line">
            <a:avLst/>
          </a:prstGeom>
          <a:ln w="38100">
            <a:solidFill>
              <a:srgbClr val="cfd7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Text 7"/>
          <p:cNvSpPr/>
          <p:nvPr/>
        </p:nvSpPr>
        <p:spPr>
          <a:xfrm>
            <a:off x="640080" y="3529440"/>
            <a:ext cx="12798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100" spc="-1" strike="noStrike">
                <a:solidFill>
                  <a:srgbClr val="6b7280"/>
                </a:solidFill>
                <a:latin typeface="Aptos"/>
              </a:rPr>
              <a:t>Backend / Frontend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Shape 8"/>
          <p:cNvSpPr/>
          <p:nvPr/>
        </p:nvSpPr>
        <p:spPr>
          <a:xfrm>
            <a:off x="2148840" y="3657600"/>
            <a:ext cx="8156160" cy="360"/>
          </a:xfrm>
          <a:prstGeom prst="line">
            <a:avLst/>
          </a:prstGeom>
          <a:ln w="38100">
            <a:solidFill>
              <a:srgbClr val="cfd7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Shape 9"/>
          <p:cNvSpPr/>
          <p:nvPr/>
        </p:nvSpPr>
        <p:spPr>
          <a:xfrm>
            <a:off x="2423160" y="1947600"/>
            <a:ext cx="310680" cy="310680"/>
          </a:xfrm>
          <a:prstGeom prst="ellipse">
            <a:avLst/>
          </a:prstGeom>
          <a:solidFill>
            <a:srgbClr val="aab6c7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Shape 10"/>
          <p:cNvSpPr/>
          <p:nvPr/>
        </p:nvSpPr>
        <p:spPr>
          <a:xfrm>
            <a:off x="3657600" y="1947600"/>
            <a:ext cx="310680" cy="310680"/>
          </a:xfrm>
          <a:prstGeom prst="ellipse">
            <a:avLst/>
          </a:prstGeom>
          <a:solidFill>
            <a:srgbClr val="aab6c7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Shape 11"/>
          <p:cNvSpPr/>
          <p:nvPr/>
        </p:nvSpPr>
        <p:spPr>
          <a:xfrm>
            <a:off x="6537960" y="1947600"/>
            <a:ext cx="310680" cy="310680"/>
          </a:xfrm>
          <a:prstGeom prst="ellipse">
            <a:avLst/>
          </a:prstGeom>
          <a:solidFill>
            <a:srgbClr val="aab6c7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Shape 12"/>
          <p:cNvSpPr/>
          <p:nvPr/>
        </p:nvSpPr>
        <p:spPr>
          <a:xfrm>
            <a:off x="8778240" y="1947600"/>
            <a:ext cx="310680" cy="310680"/>
          </a:xfrm>
          <a:prstGeom prst="ellipse">
            <a:avLst/>
          </a:prstGeom>
          <a:solidFill>
            <a:srgbClr val="aab6c7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Shape 13"/>
          <p:cNvSpPr/>
          <p:nvPr/>
        </p:nvSpPr>
        <p:spPr>
          <a:xfrm>
            <a:off x="2697480" y="2724840"/>
            <a:ext cx="310680" cy="310680"/>
          </a:xfrm>
          <a:prstGeom prst="ellipse">
            <a:avLst/>
          </a:prstGeom>
          <a:solidFill>
            <a:srgbClr val="aab6c7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Shape 14"/>
          <p:cNvSpPr/>
          <p:nvPr/>
        </p:nvSpPr>
        <p:spPr>
          <a:xfrm>
            <a:off x="5074920" y="2724840"/>
            <a:ext cx="310680" cy="310680"/>
          </a:xfrm>
          <a:prstGeom prst="ellipse">
            <a:avLst/>
          </a:prstGeom>
          <a:solidFill>
            <a:srgbClr val="aab6c7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Shape 15"/>
          <p:cNvSpPr/>
          <p:nvPr/>
        </p:nvSpPr>
        <p:spPr>
          <a:xfrm>
            <a:off x="7589520" y="2724840"/>
            <a:ext cx="310680" cy="310680"/>
          </a:xfrm>
          <a:prstGeom prst="ellipse">
            <a:avLst/>
          </a:prstGeom>
          <a:solidFill>
            <a:srgbClr val="aab6c7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Shape 16"/>
          <p:cNvSpPr/>
          <p:nvPr/>
        </p:nvSpPr>
        <p:spPr>
          <a:xfrm>
            <a:off x="3383280" y="3502080"/>
            <a:ext cx="310680" cy="310680"/>
          </a:xfrm>
          <a:prstGeom prst="ellipse">
            <a:avLst/>
          </a:prstGeom>
          <a:solidFill>
            <a:srgbClr val="aab6c7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Shape 17"/>
          <p:cNvSpPr/>
          <p:nvPr/>
        </p:nvSpPr>
        <p:spPr>
          <a:xfrm>
            <a:off x="6080760" y="3502080"/>
            <a:ext cx="310680" cy="310680"/>
          </a:xfrm>
          <a:prstGeom prst="ellipse">
            <a:avLst/>
          </a:prstGeom>
          <a:solidFill>
            <a:srgbClr val="aab6c7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Shape 18"/>
          <p:cNvSpPr/>
          <p:nvPr/>
        </p:nvSpPr>
        <p:spPr>
          <a:xfrm>
            <a:off x="9326880" y="3502080"/>
            <a:ext cx="310680" cy="310680"/>
          </a:xfrm>
          <a:prstGeom prst="ellipse">
            <a:avLst/>
          </a:prstGeom>
          <a:solidFill>
            <a:srgbClr val="aab6c7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Shape 19"/>
          <p:cNvSpPr/>
          <p:nvPr/>
        </p:nvSpPr>
        <p:spPr>
          <a:xfrm>
            <a:off x="4572000" y="1719000"/>
            <a:ext cx="360" cy="2230920"/>
          </a:xfrm>
          <a:prstGeom prst="line">
            <a:avLst/>
          </a:prstGeom>
          <a:ln w="25400">
            <a:solidFill>
              <a:srgbClr val="1f5e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Shape 20"/>
          <p:cNvSpPr/>
          <p:nvPr/>
        </p:nvSpPr>
        <p:spPr>
          <a:xfrm>
            <a:off x="4416480" y="1947600"/>
            <a:ext cx="310680" cy="310680"/>
          </a:xfrm>
          <a:prstGeom prst="ellipse">
            <a:avLst/>
          </a:prstGeom>
          <a:solidFill>
            <a:srgbClr val="1f5e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Shape 21"/>
          <p:cNvSpPr/>
          <p:nvPr/>
        </p:nvSpPr>
        <p:spPr>
          <a:xfrm>
            <a:off x="4416480" y="2724840"/>
            <a:ext cx="310680" cy="310680"/>
          </a:xfrm>
          <a:prstGeom prst="ellipse">
            <a:avLst/>
          </a:prstGeom>
          <a:solidFill>
            <a:srgbClr val="1f5e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" name="Text 22"/>
          <p:cNvSpPr/>
          <p:nvPr/>
        </p:nvSpPr>
        <p:spPr>
          <a:xfrm>
            <a:off x="4069080" y="3977640"/>
            <a:ext cx="1005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960" spc="-1" strike="noStrike">
                <a:solidFill>
                  <a:srgbClr val="1f5eff"/>
                </a:solidFill>
                <a:latin typeface="Aptos"/>
              </a:rPr>
              <a:t>Janela A</a:t>
            </a:r>
            <a:endParaRPr b="0" lang="pt-BR" sz="96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960" spc="-1" strike="noStrike">
                <a:solidFill>
                  <a:srgbClr val="1f5eff"/>
                </a:solidFill>
                <a:latin typeface="Aptos"/>
              </a:rPr>
              <a:t>Dados / IA</a:t>
            </a:r>
            <a:endParaRPr b="0" lang="pt-BR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Shape 23"/>
          <p:cNvSpPr/>
          <p:nvPr/>
        </p:nvSpPr>
        <p:spPr>
          <a:xfrm>
            <a:off x="7269480" y="1719000"/>
            <a:ext cx="360" cy="2230920"/>
          </a:xfrm>
          <a:prstGeom prst="line">
            <a:avLst/>
          </a:prstGeom>
          <a:ln w="25400">
            <a:solidFill>
              <a:srgbClr val="16b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Shape 24"/>
          <p:cNvSpPr/>
          <p:nvPr/>
        </p:nvSpPr>
        <p:spPr>
          <a:xfrm>
            <a:off x="7113960" y="1947600"/>
            <a:ext cx="310680" cy="310680"/>
          </a:xfrm>
          <a:prstGeom prst="ellipse">
            <a:avLst/>
          </a:prstGeom>
          <a:solidFill>
            <a:srgbClr val="16b8d4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Shape 25"/>
          <p:cNvSpPr/>
          <p:nvPr/>
        </p:nvSpPr>
        <p:spPr>
          <a:xfrm>
            <a:off x="7113960" y="2724840"/>
            <a:ext cx="310680" cy="310680"/>
          </a:xfrm>
          <a:prstGeom prst="ellipse">
            <a:avLst/>
          </a:prstGeom>
          <a:solidFill>
            <a:srgbClr val="16b8d4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" name="Text 26"/>
          <p:cNvSpPr/>
          <p:nvPr/>
        </p:nvSpPr>
        <p:spPr>
          <a:xfrm>
            <a:off x="6766560" y="3977640"/>
            <a:ext cx="1005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960" spc="-1" strike="noStrike">
                <a:solidFill>
                  <a:srgbClr val="16b8d4"/>
                </a:solidFill>
                <a:latin typeface="Aptos"/>
              </a:rPr>
              <a:t>Janela B</a:t>
            </a:r>
            <a:endParaRPr b="0" lang="pt-BR" sz="96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960" spc="-1" strike="noStrike">
                <a:solidFill>
                  <a:srgbClr val="16b8d4"/>
                </a:solidFill>
                <a:latin typeface="Aptos"/>
              </a:rPr>
              <a:t>IoT / Edge</a:t>
            </a:r>
            <a:endParaRPr b="0" lang="pt-BR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Shape 27"/>
          <p:cNvSpPr/>
          <p:nvPr/>
        </p:nvSpPr>
        <p:spPr>
          <a:xfrm>
            <a:off x="9646920" y="1719000"/>
            <a:ext cx="360" cy="2230920"/>
          </a:xfrm>
          <a:prstGeom prst="line">
            <a:avLst/>
          </a:prstGeom>
          <a:ln w="25400">
            <a:solidFill>
              <a:srgbClr val="27c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Shape 28"/>
          <p:cNvSpPr/>
          <p:nvPr/>
        </p:nvSpPr>
        <p:spPr>
          <a:xfrm>
            <a:off x="9491400" y="1947600"/>
            <a:ext cx="310680" cy="310680"/>
          </a:xfrm>
          <a:prstGeom prst="ellipse">
            <a:avLst/>
          </a:prstGeom>
          <a:solidFill>
            <a:srgbClr val="27c89a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Shape 29"/>
          <p:cNvSpPr/>
          <p:nvPr/>
        </p:nvSpPr>
        <p:spPr>
          <a:xfrm>
            <a:off x="9491400" y="3502080"/>
            <a:ext cx="310680" cy="310680"/>
          </a:xfrm>
          <a:prstGeom prst="ellipse">
            <a:avLst/>
          </a:prstGeom>
          <a:solidFill>
            <a:srgbClr val="27c89a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" name="Text 30"/>
          <p:cNvSpPr/>
          <p:nvPr/>
        </p:nvSpPr>
        <p:spPr>
          <a:xfrm>
            <a:off x="9144000" y="3977640"/>
            <a:ext cx="1005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960" spc="-1" strike="noStrike">
                <a:solidFill>
                  <a:srgbClr val="27c89a"/>
                </a:solidFill>
                <a:latin typeface="Aptos"/>
              </a:rPr>
              <a:t>Janela C</a:t>
            </a:r>
            <a:endParaRPr b="0" lang="pt-BR" sz="96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960" spc="-1" strike="noStrike">
                <a:solidFill>
                  <a:srgbClr val="27c89a"/>
                </a:solidFill>
                <a:latin typeface="Aptos"/>
              </a:rPr>
              <a:t>Web</a:t>
            </a:r>
            <a:endParaRPr b="0" lang="pt-BR" sz="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Text 31"/>
          <p:cNvSpPr/>
          <p:nvPr/>
        </p:nvSpPr>
        <p:spPr>
          <a:xfrm>
            <a:off x="822960" y="4736520"/>
            <a:ext cx="3154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500" spc="-1" strike="noStrike">
                <a:solidFill>
                  <a:srgbClr val="111827"/>
                </a:solidFill>
                <a:latin typeface="Aptos"/>
              </a:rPr>
              <a:t>Cada trilha mantém seu ritmo próprio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Text 32"/>
          <p:cNvSpPr/>
          <p:nvPr/>
        </p:nvSpPr>
        <p:spPr>
          <a:xfrm>
            <a:off x="3959280" y="470916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200" spc="-1" strike="noStrike">
                <a:solidFill>
                  <a:srgbClr val="1f5eff"/>
                </a:solidFill>
                <a:latin typeface="Aptos"/>
              </a:rPr>
              <a:t>→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Text 33"/>
          <p:cNvSpPr/>
          <p:nvPr/>
        </p:nvSpPr>
        <p:spPr>
          <a:xfrm>
            <a:off x="4316040" y="4617720"/>
            <a:ext cx="37213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500" spc="-1" strike="noStrike">
                <a:solidFill>
                  <a:srgbClr val="111827"/>
                </a:solidFill>
                <a:latin typeface="Aptos"/>
              </a:rPr>
              <a:t>As agendas convergem somente nos cursos compartilhados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Text 34"/>
          <p:cNvSpPr/>
          <p:nvPr/>
        </p:nvSpPr>
        <p:spPr>
          <a:xfrm>
            <a:off x="8065080" y="470916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200" spc="-1" strike="noStrike">
                <a:solidFill>
                  <a:srgbClr val="1f5eff"/>
                </a:solidFill>
                <a:latin typeface="Aptos"/>
              </a:rPr>
              <a:t>→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Text 35"/>
          <p:cNvSpPr/>
          <p:nvPr/>
        </p:nvSpPr>
        <p:spPr>
          <a:xfrm>
            <a:off x="8412480" y="4736520"/>
            <a:ext cx="286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500" spc="-1" strike="noStrike">
                <a:solidFill>
                  <a:srgbClr val="111827"/>
                </a:solidFill>
                <a:latin typeface="Aptos"/>
              </a:rPr>
              <a:t>Uma oferta atende mais de um percurso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Shape 36"/>
          <p:cNvSpPr/>
          <p:nvPr/>
        </p:nvSpPr>
        <p:spPr>
          <a:xfrm>
            <a:off x="1024200" y="5376600"/>
            <a:ext cx="10103760" cy="712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fea"/>
            </a:solidFill>
            <a:round/>
          </a:ln>
          <a:effectLst>
            <a:outerShdw algn="bl" blurRad="12600" dir="2700000" dist="6109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Text 37"/>
          <p:cNvSpPr/>
          <p:nvPr/>
        </p:nvSpPr>
        <p:spPr>
          <a:xfrm>
            <a:off x="1080000" y="5596200"/>
            <a:ext cx="10047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68178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1600" spc="-1" strike="noStrike">
                <a:solidFill>
                  <a:srgbClr val="0b1b5e"/>
                </a:solidFill>
                <a:latin typeface="Aptos"/>
              </a:rPr>
              <a:t>Regra de implementação: uma única atividade, uma única carga horária, sem repetição para quem já concluiu — e sem dupla contagem.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PlaceHolder 1"/>
          <p:cNvSpPr>
            <a:spLocks noGrp="1"/>
          </p:cNvSpPr>
          <p:nvPr>
            <p:ph type="sldNum" idx="11"/>
          </p:nvPr>
        </p:nvSpPr>
        <p:spPr>
          <a:xfrm>
            <a:off x="11722680" y="274320"/>
            <a:ext cx="25560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900" spc="-1" strike="noStrike">
                <a:solidFill>
                  <a:srgbClr val="94a3b8"/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C57D56F-9F49-4B77-8E5E-4BD9751FA2D2}" type="slidenum">
              <a:rPr b="0" lang="pt-BR" sz="900" spc="-1" strike="noStrike">
                <a:solidFill>
                  <a:srgbClr val="94a3b8"/>
                </a:solidFill>
                <a:latin typeface="Aptos"/>
              </a:rPr>
              <a:t>11</a:t>
            </a:fld>
            <a:endParaRPr b="0" lang="pt-BR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Application>LibreOffice/24.2.7.2$Linux_X86_64 LibreOffice_project/420$Build-2</Application>
  <AppVersion>15.0000</AppVersion>
  <Words>0</Words>
  <Paragraphs>0</Paragraphs>
  <Company>Universidade de Brasília / Residência em TIC 53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2026-10-16T00:16:38Z</dcterms:created>
  <dc:creator>Guillermo Alvarez Bestard</dc:creator>
  <dc:description/>
  <dc:language>pt-BR</dc:language>
  <cp:lastModifiedBy/>
  <dcterms:modified xsi:type="dcterms:W3CDTF">2026-10-15T22:14:53Z</dcterms:modified>
  <cp:revision>6</cp:revision>
  <dc:subject>Proposta da Trilha de Programação aplicada à Saúde Digital</dc:subject>
  <dc:title>Trilha de Programação aplicada à Saúde Digital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On-screen Show (16:9)</vt:lpwstr>
  </property>
  <property fmtid="{D5CDD505-2E9C-101B-9397-08002B2CF9AE}" pid="4" name="Slides">
    <vt:i4>8</vt:i4>
  </property>
</Properties>
</file>