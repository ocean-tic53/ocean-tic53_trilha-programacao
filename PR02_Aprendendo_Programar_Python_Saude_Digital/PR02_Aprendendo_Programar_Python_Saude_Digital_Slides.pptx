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33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30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31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32.xml.rels" ContentType="application/vnd.openxmlformats-package.relationships+xml"/>
  <Override PartName="/ppt/slides/_rels/slide44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32.xml" ContentType="application/vnd.openxmlformats-officedocument.presentationml.slide+xml"/>
  <Override PartName="/ppt/slides/slide44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CEAN - Conteúdo 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50B96D5-E506-477C-A350-A5073F56F5F4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CEAN - Destaque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06B3DB-43A1-4DAD-80F9-B88191A5B20A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formato do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cean_assets/ocean_logo_color_transparent.png"/>
          <p:cNvPicPr/>
          <p:nvPr/>
        </p:nvPicPr>
        <p:blipFill>
          <a:blip r:embed="rId2"/>
          <a:stretch/>
        </p:blipFill>
        <p:spPr>
          <a:xfrm>
            <a:off x="10031040" y="182880"/>
            <a:ext cx="1414800" cy="372240"/>
          </a:xfrm>
          <a:prstGeom prst="rect">
            <a:avLst/>
          </a:prstGeom>
          <a:ln w="0">
            <a:noFill/>
          </a:ln>
        </p:spPr>
      </p:pic>
      <p:sp>
        <p:nvSpPr>
          <p:cNvPr id="3" name="Text 0"/>
          <p:cNvSpPr/>
          <p:nvPr/>
        </p:nvSpPr>
        <p:spPr>
          <a:xfrm>
            <a:off x="685800" y="228600"/>
            <a:ext cx="4935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2" strike="noStrike">
                <a:solidFill>
                  <a:srgbClr val="5b6b86"/>
                </a:solidFill>
                <a:latin typeface="Lato"/>
                <a:ea typeface="Lato"/>
              </a:rPr>
              <a:t>RESIDÊNCIA EM TIC 53 · TRILHA PROGRAMAÇÃO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85800" y="658440"/>
            <a:ext cx="3536280" cy="24840"/>
          </a:xfrm>
          <a:prstGeom prst="rect">
            <a:avLst/>
          </a:prstGeom>
          <a:solidFill>
            <a:srgbClr val="f36b21"/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224600" y="658440"/>
            <a:ext cx="3545280" cy="24840"/>
          </a:xfrm>
          <a:prstGeom prst="rect">
            <a:avLst/>
          </a:prstGeom>
          <a:solidFill>
            <a:srgbClr val="e72b76"/>
          </a:solidFill>
          <a:ln w="12700">
            <a:solidFill>
              <a:srgbClr val="e72b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772400" y="658440"/>
            <a:ext cx="3499560" cy="24840"/>
          </a:xfrm>
          <a:prstGeom prst="rect">
            <a:avLst/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5800" y="6492240"/>
            <a:ext cx="758700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7a879d"/>
                </a:solidFill>
                <a:latin typeface="Lato"/>
                <a:ea typeface="Lato"/>
              </a:rPr>
              <a:t>PR-01 · Lógica de Programação Aplicada à Saúde com Scratch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sldNum" idx="1"/>
          </p:nvPr>
        </p:nvSpPr>
        <p:spPr>
          <a:xfrm>
            <a:off x="11283840" y="6446520"/>
            <a:ext cx="317520" cy="16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88EA0A-53BC-4014-8AB8-F56F7FD8A98C}" type="slidenum">
              <a:rPr b="0" lang="en-US" sz="850" spc="-1" strike="noStrike">
                <a:solidFill>
                  <a:srgbClr val="7a879d"/>
                </a:solidFill>
                <a:latin typeface="Lato"/>
                <a:ea typeface="Lato"/>
              </a:rPr>
              <a:t>&lt;número&gt;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/>
          <p:cNvSpPr/>
          <p:nvPr/>
        </p:nvSpPr>
        <p:spPr>
          <a:xfrm>
            <a:off x="594360" y="329040"/>
            <a:ext cx="1661760" cy="48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Image 0" descr="/mnt/data/ocean_assets/ocean_logo_color_transparent.png"/>
          <p:cNvPicPr/>
          <p:nvPr/>
        </p:nvPicPr>
        <p:blipFill>
          <a:blip r:embed="rId2"/>
          <a:stretch/>
        </p:blipFill>
        <p:spPr>
          <a:xfrm>
            <a:off x="731520" y="420480"/>
            <a:ext cx="1323360" cy="344880"/>
          </a:xfrm>
          <a:prstGeom prst="rect">
            <a:avLst/>
          </a:prstGeom>
          <a:ln w="0">
            <a:noFill/>
          </a:ln>
        </p:spPr>
      </p:pic>
      <p:sp>
        <p:nvSpPr>
          <p:cNvPr id="11" name="Text 1"/>
          <p:cNvSpPr/>
          <p:nvPr/>
        </p:nvSpPr>
        <p:spPr>
          <a:xfrm>
            <a:off x="6510600" y="475560"/>
            <a:ext cx="49809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7" strike="noStrike">
                <a:solidFill>
                  <a:srgbClr val="c2cee5"/>
                </a:solidFill>
                <a:latin typeface="Lato"/>
                <a:ea typeface="Lato"/>
              </a:rPr>
              <a:t>RESIDÊNCIA EM TIC 53 · TRILHA PROGRAMAÇÃO</a:t>
            </a:r>
            <a:endParaRPr b="0" lang="pt-B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85800" y="6473880"/>
            <a:ext cx="310644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fb0d0"/>
                </a:solidFill>
                <a:latin typeface="Lato"/>
                <a:ea typeface="Lato"/>
              </a:rPr>
              <a:t>PR-01 · Projeto Ocean</a:t>
            </a:r>
            <a:endParaRPr b="0" lang="pt-B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sldNum" idx="2"/>
          </p:nvPr>
        </p:nvSpPr>
        <p:spPr>
          <a:xfrm>
            <a:off x="11283840" y="6446520"/>
            <a:ext cx="317520" cy="16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9fb0d0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A59BF5-6118-4357-B92C-D3D41A4E3BC1}" type="slidenum">
              <a:rPr b="0" lang="en-US" sz="850" spc="-1" strike="noStrike">
                <a:solidFill>
                  <a:srgbClr val="9fb0d0"/>
                </a:solidFill>
                <a:latin typeface="Lato"/>
                <a:ea typeface="Lato"/>
              </a:rPr>
              <a:t>&lt;número&gt;</a:t>
            </a:fld>
            <a:endParaRPr b="0" lang="pt-BR" sz="8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xagon 1"/>
          <p:cNvSpPr/>
          <p:nvPr/>
        </p:nvSpPr>
        <p:spPr>
          <a:xfrm>
            <a:off x="2834640" y="-164520"/>
            <a:ext cx="821160" cy="729720"/>
          </a:xfrm>
          <a:prstGeom prst="hexagon">
            <a:avLst>
              <a:gd name="adj" fmla="val 25000"/>
              <a:gd name="vf" fmla="val 115470"/>
            </a:avLst>
          </a:prstGeom>
          <a:noFill/>
          <a:ln w="2540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7" name="Hexagon 2"/>
          <p:cNvSpPr/>
          <p:nvPr/>
        </p:nvSpPr>
        <p:spPr>
          <a:xfrm>
            <a:off x="8028360" y="-182880"/>
            <a:ext cx="912600" cy="775440"/>
          </a:xfrm>
          <a:prstGeom prst="hexagon">
            <a:avLst>
              <a:gd name="adj" fmla="val 25000"/>
              <a:gd name="vf" fmla="val 115470"/>
            </a:avLst>
          </a:prstGeom>
          <a:noFill/>
          <a:ln w="2540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8" name="Hexagon 3"/>
          <p:cNvSpPr/>
          <p:nvPr/>
        </p:nvSpPr>
        <p:spPr>
          <a:xfrm>
            <a:off x="-365760" y="1005840"/>
            <a:ext cx="1049760" cy="1004040"/>
          </a:xfrm>
          <a:prstGeom prst="hexagon">
            <a:avLst>
              <a:gd name="adj" fmla="val 25000"/>
              <a:gd name="vf" fmla="val 115470"/>
            </a:avLst>
          </a:prstGeom>
          <a:noFill/>
          <a:ln w="25400">
            <a:solidFill>
              <a:srgbClr val="f72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9" name="Hexagon 4"/>
          <p:cNvSpPr/>
          <p:nvPr/>
        </p:nvSpPr>
        <p:spPr>
          <a:xfrm>
            <a:off x="10835640" y="1609200"/>
            <a:ext cx="1049760" cy="1004040"/>
          </a:xfrm>
          <a:prstGeom prst="hexagon">
            <a:avLst>
              <a:gd name="adj" fmla="val 25000"/>
              <a:gd name="vf" fmla="val 115470"/>
            </a:avLst>
          </a:prstGeom>
          <a:noFill/>
          <a:ln w="2540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0" name="Hexagon 5"/>
          <p:cNvSpPr/>
          <p:nvPr/>
        </p:nvSpPr>
        <p:spPr>
          <a:xfrm>
            <a:off x="9921240" y="5166360"/>
            <a:ext cx="866880" cy="775440"/>
          </a:xfrm>
          <a:prstGeom prst="hexagon">
            <a:avLst>
              <a:gd name="adj" fmla="val 25000"/>
              <a:gd name="vf" fmla="val 115470"/>
            </a:avLst>
          </a:prstGeom>
          <a:noFill/>
          <a:ln w="2540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1" name="Hexagon 6"/>
          <p:cNvSpPr/>
          <p:nvPr/>
        </p:nvSpPr>
        <p:spPr>
          <a:xfrm>
            <a:off x="109800" y="5193720"/>
            <a:ext cx="866880" cy="775440"/>
          </a:xfrm>
          <a:prstGeom prst="hexagon">
            <a:avLst>
              <a:gd name="adj" fmla="val 25000"/>
              <a:gd name="vf" fmla="val 115470"/>
            </a:avLst>
          </a:prstGeom>
          <a:noFill/>
          <a:ln w="2540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pic>
        <p:nvPicPr>
          <p:cNvPr id="22" name="Picture 7" descr="image.png"/>
          <p:cNvPicPr/>
          <p:nvPr/>
        </p:nvPicPr>
        <p:blipFill>
          <a:blip r:embed="rId1"/>
          <a:stretch/>
        </p:blipFill>
        <p:spPr>
          <a:xfrm>
            <a:off x="585360" y="320040"/>
            <a:ext cx="1589400" cy="420480"/>
          </a:xfrm>
          <a:prstGeom prst="rect">
            <a:avLst/>
          </a:prstGeom>
          <a:ln w="0">
            <a:noFill/>
          </a:ln>
        </p:spPr>
      </p:pic>
      <p:sp>
        <p:nvSpPr>
          <p:cNvPr id="23" name="TextBox 8"/>
          <p:cNvSpPr/>
          <p:nvPr/>
        </p:nvSpPr>
        <p:spPr>
          <a:xfrm>
            <a:off x="8251920" y="484200"/>
            <a:ext cx="25506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1" lang="pt-BR" sz="850" spc="-1" strike="noStrike">
                <a:solidFill>
                  <a:srgbClr val="cfd9eb"/>
                </a:solidFill>
                <a:latin typeface="Lato"/>
              </a:rPr>
              <a:t>RESIDÊNCIA EM TIC 53 · TRILHA PROGRAMAÇÃO</a:t>
            </a:r>
            <a:endParaRPr b="0" lang="pt-B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Rounded Rectangle 9"/>
          <p:cNvSpPr/>
          <p:nvPr/>
        </p:nvSpPr>
        <p:spPr>
          <a:xfrm>
            <a:off x="713160" y="1188720"/>
            <a:ext cx="1077120" cy="345600"/>
          </a:xfrm>
          <a:prstGeom prst="roundRect">
            <a:avLst>
              <a:gd name="adj" fmla="val 16667"/>
            </a:avLst>
          </a:prstGeom>
          <a:solidFill>
            <a:srgbClr val="10b9f3"/>
          </a:solidFill>
          <a:ln w="1270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5" name="TextBox 10"/>
          <p:cNvSpPr/>
          <p:nvPr/>
        </p:nvSpPr>
        <p:spPr>
          <a:xfrm>
            <a:off x="1048320" y="1258920"/>
            <a:ext cx="4064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071a4a"/>
                </a:solidFill>
                <a:latin typeface="Lato"/>
              </a:rPr>
              <a:t>PR-02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Box 11"/>
          <p:cNvSpPr/>
          <p:nvPr/>
        </p:nvSpPr>
        <p:spPr>
          <a:xfrm>
            <a:off x="966240" y="1993320"/>
            <a:ext cx="667008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3100" spc="-1" strike="noStrike">
                <a:solidFill>
                  <a:srgbClr val="ffffff"/>
                </a:solidFill>
                <a:latin typeface="Inter Display"/>
              </a:rPr>
              <a:t>Aprendendo a Programar em Python</a:t>
            </a:r>
            <a:endParaRPr b="0" lang="pt-BR" sz="3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3100" spc="-1" strike="noStrike">
                <a:solidFill>
                  <a:srgbClr val="ffffff"/>
                </a:solidFill>
                <a:latin typeface="Inter Display"/>
              </a:rPr>
              <a:t>para Saúde Digital</a:t>
            </a:r>
            <a:endParaRPr b="0" lang="pt-BR" sz="3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Box 12"/>
          <p:cNvSpPr/>
          <p:nvPr/>
        </p:nvSpPr>
        <p:spPr>
          <a:xfrm>
            <a:off x="900000" y="3780000"/>
            <a:ext cx="991152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d4deef"/>
                </a:solidFill>
                <a:latin typeface="Lato"/>
              </a:rPr>
              <a:t>Primeiros programas em Python no navegador, com exemplos de saúde digital e sem exigir experiência anterior.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Rounded Rectangle 13"/>
          <p:cNvSpPr/>
          <p:nvPr/>
        </p:nvSpPr>
        <p:spPr>
          <a:xfrm>
            <a:off x="900000" y="4434120"/>
            <a:ext cx="839520" cy="345600"/>
          </a:xfrm>
          <a:prstGeom prst="roundRect">
            <a:avLst>
              <a:gd name="adj" fmla="val 16667"/>
            </a:avLst>
          </a:prstGeom>
          <a:solidFill>
            <a:srgbClr val="f36b21"/>
          </a:solidFill>
          <a:ln w="1270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9" name="TextBox 14"/>
          <p:cNvSpPr/>
          <p:nvPr/>
        </p:nvSpPr>
        <p:spPr>
          <a:xfrm>
            <a:off x="1204920" y="4504320"/>
            <a:ext cx="22968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3 h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Rounded Rectangle 15"/>
          <p:cNvSpPr/>
          <p:nvPr/>
        </p:nvSpPr>
        <p:spPr>
          <a:xfrm>
            <a:off x="1869120" y="4434120"/>
            <a:ext cx="1881720" cy="345600"/>
          </a:xfrm>
          <a:prstGeom prst="roundRect">
            <a:avLst>
              <a:gd name="adj" fmla="val 16667"/>
            </a:avLst>
          </a:prstGeom>
          <a:solidFill>
            <a:srgbClr val="193b78"/>
          </a:solidFill>
          <a:ln w="12700">
            <a:solidFill>
              <a:srgbClr val="193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1" name="TextBox 16"/>
          <p:cNvSpPr/>
          <p:nvPr/>
        </p:nvSpPr>
        <p:spPr>
          <a:xfrm>
            <a:off x="2261520" y="4504320"/>
            <a:ext cx="109692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sem pré-requisitos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Rounded Rectangle 17"/>
          <p:cNvSpPr/>
          <p:nvPr/>
        </p:nvSpPr>
        <p:spPr>
          <a:xfrm>
            <a:off x="3899160" y="4434120"/>
            <a:ext cx="1598400" cy="345600"/>
          </a:xfrm>
          <a:prstGeom prst="roundRect">
            <a:avLst>
              <a:gd name="adj" fmla="val 16667"/>
            </a:avLst>
          </a:prstGeom>
          <a:solidFill>
            <a:srgbClr val="193b78"/>
          </a:solidFill>
          <a:ln w="12700">
            <a:solidFill>
              <a:srgbClr val="193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3" name="TextBox 18"/>
          <p:cNvSpPr/>
          <p:nvPr/>
        </p:nvSpPr>
        <p:spPr>
          <a:xfrm>
            <a:off x="4293720" y="4504320"/>
            <a:ext cx="80892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Google Colab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Rounded Rectangle 19"/>
          <p:cNvSpPr/>
          <p:nvPr/>
        </p:nvSpPr>
        <p:spPr>
          <a:xfrm>
            <a:off x="8650080" y="1627560"/>
            <a:ext cx="1872720" cy="1964160"/>
          </a:xfrm>
          <a:prstGeom prst="roundRect">
            <a:avLst>
              <a:gd name="adj" fmla="val 16667"/>
            </a:avLst>
          </a:prstGeom>
          <a:solidFill>
            <a:srgbClr val="183a78"/>
          </a:solidFill>
          <a:ln w="2540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5" name="TextBox 20"/>
          <p:cNvSpPr/>
          <p:nvPr/>
        </p:nvSpPr>
        <p:spPr>
          <a:xfrm>
            <a:off x="9100440" y="2185560"/>
            <a:ext cx="97164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3000" spc="-1" strike="noStrike">
                <a:solidFill>
                  <a:srgbClr val="ffffff"/>
                </a:solidFill>
                <a:latin typeface="DejaVu Sans Mono"/>
              </a:rPr>
              <a:t>&gt;&gt;&gt;_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Box 21"/>
          <p:cNvSpPr/>
          <p:nvPr/>
        </p:nvSpPr>
        <p:spPr>
          <a:xfrm>
            <a:off x="2048400" y="5197680"/>
            <a:ext cx="25048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250" spc="-1" strike="noStrike">
                <a:solidFill>
                  <a:srgbClr val="ffffff"/>
                </a:solidFill>
                <a:latin typeface="Lato"/>
              </a:rPr>
              <a:t>Prof. Dr. Guillermo Alvarez Bestard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Box 22"/>
          <p:cNvSpPr/>
          <p:nvPr/>
        </p:nvSpPr>
        <p:spPr>
          <a:xfrm>
            <a:off x="1980000" y="5538240"/>
            <a:ext cx="29332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afc0da"/>
                </a:solidFill>
                <a:latin typeface="Lato"/>
              </a:rPr>
              <a:t>Projeto Ocean · Residência em TIC 53 - Brasília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Box 23"/>
          <p:cNvSpPr/>
          <p:nvPr/>
        </p:nvSpPr>
        <p:spPr>
          <a:xfrm>
            <a:off x="1114200" y="6419160"/>
            <a:ext cx="9518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afc0da"/>
                </a:solidFill>
                <a:latin typeface="Lato"/>
              </a:rPr>
              <a:t>PR-02 · Projeto Ocean</a:t>
            </a:r>
            <a:endParaRPr b="0" lang="pt-BR" sz="7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Box 24"/>
          <p:cNvSpPr/>
          <p:nvPr/>
        </p:nvSpPr>
        <p:spPr>
          <a:xfrm>
            <a:off x="11156760" y="6419160"/>
            <a:ext cx="106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afc0da"/>
                </a:solidFill>
                <a:latin typeface="Lato"/>
              </a:rPr>
              <a:t>1</a:t>
            </a:r>
            <a:endParaRPr b="0" lang="pt-BR" sz="7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1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42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43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44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45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46" name="TextBox 7"/>
          <p:cNvSpPr/>
          <p:nvPr/>
        </p:nvSpPr>
        <p:spPr>
          <a:xfrm>
            <a:off x="3498120" y="768240"/>
            <a:ext cx="463248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Você pode começar por aqui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8"/>
          <p:cNvSpPr/>
          <p:nvPr/>
        </p:nvSpPr>
        <p:spPr>
          <a:xfrm>
            <a:off x="3393000" y="1307520"/>
            <a:ext cx="47880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O curso foi desenhado para quem nunca programou em Python.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Box 10"/>
          <p:cNvSpPr/>
          <p:nvPr/>
        </p:nvSpPr>
        <p:spPr>
          <a:xfrm>
            <a:off x="11215800" y="6419160"/>
            <a:ext cx="106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2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Rounded Rectangle 11"/>
          <p:cNvSpPr/>
          <p:nvPr/>
        </p:nvSpPr>
        <p:spPr>
          <a:xfrm>
            <a:off x="1080000" y="2030040"/>
            <a:ext cx="9898920" cy="282888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1" name="TextBox 13"/>
          <p:cNvSpPr/>
          <p:nvPr/>
        </p:nvSpPr>
        <p:spPr>
          <a:xfrm>
            <a:off x="1620000" y="3240000"/>
            <a:ext cx="6431040" cy="5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700" spc="-1" strike="noStrike">
                <a:solidFill>
                  <a:srgbClr val="071a4a"/>
                </a:solidFill>
                <a:latin typeface="Lato"/>
              </a:rPr>
              <a:t>Os conceitos essenciais de algoritmo, variável, decisão e repetição 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700" spc="-1" strike="noStrike">
                <a:solidFill>
                  <a:srgbClr val="071a4a"/>
                </a:solidFill>
                <a:latin typeface="Lato"/>
              </a:rPr>
              <a:t>serão apresentados novamente antes de aparecerem em código.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14"/>
          <p:cNvSpPr/>
          <p:nvPr/>
        </p:nvSpPr>
        <p:spPr>
          <a:xfrm>
            <a:off x="1620000" y="2398680"/>
            <a:ext cx="612648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5b6b86"/>
                </a:solidFill>
                <a:latin typeface="Lato"/>
              </a:rPr>
              <a:t>Se você participou do curso com Scratch, algumas ideias parecerão familiares.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5b6b86"/>
                </a:solidFill>
                <a:latin typeface="Lato"/>
              </a:rPr>
              <a:t>Se não participou, nada ficará faltando.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Rounded Rectangle 15"/>
          <p:cNvSpPr/>
          <p:nvPr/>
        </p:nvSpPr>
        <p:spPr>
          <a:xfrm>
            <a:off x="6198840" y="4153320"/>
            <a:ext cx="1900080" cy="345600"/>
          </a:xfrm>
          <a:prstGeom prst="roundRect">
            <a:avLst>
              <a:gd name="adj" fmla="val 16667"/>
            </a:avLst>
          </a:prstGeom>
          <a:solidFill>
            <a:srgbClr val="f36b21"/>
          </a:solidFill>
          <a:ln w="1270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4" name="TextBox 16"/>
          <p:cNvSpPr/>
          <p:nvPr/>
        </p:nvSpPr>
        <p:spPr>
          <a:xfrm>
            <a:off x="6407640" y="4223520"/>
            <a:ext cx="148248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COMEÇAMOS DO ZERO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Rounded Rectangle 17"/>
          <p:cNvSpPr/>
          <p:nvPr/>
        </p:nvSpPr>
        <p:spPr>
          <a:xfrm>
            <a:off x="1325880" y="5248080"/>
            <a:ext cx="9416520" cy="565200"/>
          </a:xfrm>
          <a:prstGeom prst="roundRect">
            <a:avLst>
              <a:gd name="adj" fmla="val 16667"/>
            </a:avLst>
          </a:prstGeom>
          <a:solidFill>
            <a:srgbClr val="fff5e8"/>
          </a:solidFill>
          <a:ln w="12700">
            <a:solidFill>
              <a:srgbClr val="f5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6" name="TextBox 18"/>
          <p:cNvSpPr/>
          <p:nvPr/>
        </p:nvSpPr>
        <p:spPr>
          <a:xfrm>
            <a:off x="3246840" y="5426640"/>
            <a:ext cx="5574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40" spc="-1" strike="noStrike">
                <a:solidFill>
                  <a:srgbClr val="8a4a0a"/>
                </a:solidFill>
                <a:latin typeface="Lato"/>
              </a:rPr>
              <a:t>O objetivo é aprender a pensar e escrever pequenos programas — não decorar sintaxe.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8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59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60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61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62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63" name="TextBox 7"/>
          <p:cNvSpPr/>
          <p:nvPr/>
        </p:nvSpPr>
        <p:spPr>
          <a:xfrm>
            <a:off x="3392280" y="768240"/>
            <a:ext cx="48441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Onde este curso está na trilha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8"/>
          <p:cNvSpPr/>
          <p:nvPr/>
        </p:nvSpPr>
        <p:spPr>
          <a:xfrm>
            <a:off x="2959560" y="1307520"/>
            <a:ext cx="56552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PR-02 é independente, mas prepara o terreno para dados e monitoramento.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11215800" y="6419160"/>
            <a:ext cx="106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3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Rounded Rectangle 11"/>
          <p:cNvSpPr/>
          <p:nvPr/>
        </p:nvSpPr>
        <p:spPr>
          <a:xfrm>
            <a:off x="960120" y="2011680"/>
            <a:ext cx="1955160" cy="2211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8" name="Rounded Rectangle 12"/>
          <p:cNvSpPr/>
          <p:nvPr/>
        </p:nvSpPr>
        <p:spPr>
          <a:xfrm>
            <a:off x="1124640" y="2176200"/>
            <a:ext cx="1186920" cy="345600"/>
          </a:xfrm>
          <a:prstGeom prst="roundRect">
            <a:avLst>
              <a:gd name="adj" fmla="val 16667"/>
            </a:avLst>
          </a:prstGeom>
          <a:solidFill>
            <a:srgbClr val="725ac1"/>
          </a:solidFill>
          <a:ln w="1270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9" name="TextBox 13"/>
          <p:cNvSpPr/>
          <p:nvPr/>
        </p:nvSpPr>
        <p:spPr>
          <a:xfrm>
            <a:off x="1364040" y="2246400"/>
            <a:ext cx="70812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OPCIONAL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14"/>
          <p:cNvSpPr/>
          <p:nvPr/>
        </p:nvSpPr>
        <p:spPr>
          <a:xfrm>
            <a:off x="1697760" y="2688480"/>
            <a:ext cx="4795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725ac1"/>
                </a:solidFill>
                <a:latin typeface="Lato"/>
              </a:rPr>
              <a:t>PR-01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15"/>
          <p:cNvSpPr/>
          <p:nvPr/>
        </p:nvSpPr>
        <p:spPr>
          <a:xfrm>
            <a:off x="1276200" y="2999160"/>
            <a:ext cx="1322280" cy="5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700" spc="-1" strike="noStrike">
                <a:solidFill>
                  <a:srgbClr val="071a4a"/>
                </a:solidFill>
                <a:latin typeface="Inter Display"/>
              </a:rPr>
              <a:t>Lógica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700" spc="-1" strike="noStrike">
                <a:solidFill>
                  <a:srgbClr val="071a4a"/>
                </a:solidFill>
                <a:latin typeface="Inter Display"/>
              </a:rPr>
              <a:t>com Scratch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ounded Rectangle 16"/>
          <p:cNvSpPr/>
          <p:nvPr/>
        </p:nvSpPr>
        <p:spPr>
          <a:xfrm>
            <a:off x="3749040" y="2011680"/>
            <a:ext cx="1955160" cy="2211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3" name="Rounded Rectangle 17"/>
          <p:cNvSpPr/>
          <p:nvPr/>
        </p:nvSpPr>
        <p:spPr>
          <a:xfrm>
            <a:off x="3913560" y="2176200"/>
            <a:ext cx="1186920" cy="345600"/>
          </a:xfrm>
          <a:prstGeom prst="roundRect">
            <a:avLst>
              <a:gd name="adj" fmla="val 16667"/>
            </a:avLst>
          </a:prstGeom>
          <a:solidFill>
            <a:srgbClr val="10b9f3"/>
          </a:solidFill>
          <a:ln w="1270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4" name="TextBox 18"/>
          <p:cNvSpPr/>
          <p:nvPr/>
        </p:nvSpPr>
        <p:spPr>
          <a:xfrm>
            <a:off x="4318920" y="2246400"/>
            <a:ext cx="3758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HOJE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19"/>
          <p:cNvSpPr/>
          <p:nvPr/>
        </p:nvSpPr>
        <p:spPr>
          <a:xfrm>
            <a:off x="4486680" y="2688480"/>
            <a:ext cx="4795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10b9f3"/>
                </a:solidFill>
                <a:latin typeface="Lato"/>
              </a:rPr>
              <a:t>PR-02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20"/>
          <p:cNvSpPr/>
          <p:nvPr/>
        </p:nvSpPr>
        <p:spPr>
          <a:xfrm>
            <a:off x="4132080" y="2999160"/>
            <a:ext cx="1188360" cy="5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700" spc="-1" strike="noStrike">
                <a:solidFill>
                  <a:srgbClr val="071a4a"/>
                </a:solidFill>
                <a:latin typeface="Inter Display"/>
              </a:rPr>
              <a:t>Python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700" spc="-1" strike="noStrike">
                <a:solidFill>
                  <a:srgbClr val="071a4a"/>
                </a:solidFill>
                <a:latin typeface="Inter Display"/>
              </a:rPr>
              <a:t>para Saúde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ounded Rectangle 21"/>
          <p:cNvSpPr/>
          <p:nvPr/>
        </p:nvSpPr>
        <p:spPr>
          <a:xfrm>
            <a:off x="6537960" y="2011680"/>
            <a:ext cx="1955160" cy="2211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8" name="Rounded Rectangle 22"/>
          <p:cNvSpPr/>
          <p:nvPr/>
        </p:nvSpPr>
        <p:spPr>
          <a:xfrm>
            <a:off x="6702480" y="2176200"/>
            <a:ext cx="1186920" cy="345600"/>
          </a:xfrm>
          <a:prstGeom prst="roundRect">
            <a:avLst>
              <a:gd name="adj" fmla="val 16667"/>
            </a:avLst>
          </a:prstGeom>
          <a:solidFill>
            <a:srgbClr val="f36b21"/>
          </a:solidFill>
          <a:ln w="1270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9" name="TextBox 23"/>
          <p:cNvSpPr/>
          <p:nvPr/>
        </p:nvSpPr>
        <p:spPr>
          <a:xfrm>
            <a:off x="6968520" y="2246400"/>
            <a:ext cx="6548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PRÓXIMO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24"/>
          <p:cNvSpPr/>
          <p:nvPr/>
        </p:nvSpPr>
        <p:spPr>
          <a:xfrm>
            <a:off x="7275600" y="2688480"/>
            <a:ext cx="4795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f36b21"/>
                </a:solidFill>
                <a:latin typeface="Lato"/>
              </a:rPr>
              <a:t>PR-03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25"/>
          <p:cNvSpPr/>
          <p:nvPr/>
        </p:nvSpPr>
        <p:spPr>
          <a:xfrm>
            <a:off x="6643080" y="2999160"/>
            <a:ext cx="1746000" cy="5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700" spc="-1" strike="noStrike">
                <a:solidFill>
                  <a:srgbClr val="071a4a"/>
                </a:solidFill>
                <a:latin typeface="Inter Display"/>
              </a:rPr>
              <a:t>Dados com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700" spc="-1" strike="noStrike">
                <a:solidFill>
                  <a:srgbClr val="071a4a"/>
                </a:solidFill>
                <a:latin typeface="Inter Display"/>
              </a:rPr>
              <a:t>Python + Pandas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ounded Rectangle 26"/>
          <p:cNvSpPr/>
          <p:nvPr/>
        </p:nvSpPr>
        <p:spPr>
          <a:xfrm>
            <a:off x="9326880" y="2011680"/>
            <a:ext cx="1955160" cy="2211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3" name="Rounded Rectangle 27"/>
          <p:cNvSpPr/>
          <p:nvPr/>
        </p:nvSpPr>
        <p:spPr>
          <a:xfrm>
            <a:off x="9491400" y="2176200"/>
            <a:ext cx="1186920" cy="345600"/>
          </a:xfrm>
          <a:prstGeom prst="roundRect">
            <a:avLst>
              <a:gd name="adj" fmla="val 16667"/>
            </a:avLst>
          </a:prstGeom>
          <a:solidFill>
            <a:srgbClr val="f72585"/>
          </a:solidFill>
          <a:ln w="12700">
            <a:solidFill>
              <a:srgbClr val="f72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4" name="TextBox 28"/>
          <p:cNvSpPr/>
          <p:nvPr/>
        </p:nvSpPr>
        <p:spPr>
          <a:xfrm>
            <a:off x="9703080" y="2246400"/>
            <a:ext cx="76320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APLICAÇÃO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29"/>
          <p:cNvSpPr/>
          <p:nvPr/>
        </p:nvSpPr>
        <p:spPr>
          <a:xfrm>
            <a:off x="10064520" y="2688480"/>
            <a:ext cx="4795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f72585"/>
                </a:solidFill>
                <a:latin typeface="Lato"/>
              </a:rPr>
              <a:t>PR-04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30"/>
          <p:cNvSpPr/>
          <p:nvPr/>
        </p:nvSpPr>
        <p:spPr>
          <a:xfrm>
            <a:off x="9504360" y="2999160"/>
            <a:ext cx="1599840" cy="5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700" spc="-1" strike="noStrike">
                <a:solidFill>
                  <a:srgbClr val="071a4a"/>
                </a:solidFill>
                <a:latin typeface="Inter Display"/>
              </a:rPr>
              <a:t>Monitoramento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700" spc="-1" strike="noStrike">
                <a:solidFill>
                  <a:srgbClr val="071a4a"/>
                </a:solidFill>
                <a:latin typeface="Inter Display"/>
              </a:rPr>
              <a:t>em tempo real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7" name="Connector 31"/>
          <p:cNvCxnSpPr/>
          <p:nvPr/>
        </p:nvCxnSpPr>
        <p:spPr>
          <a:xfrm>
            <a:off x="3126960" y="3126960"/>
            <a:ext cx="477360" cy="1800"/>
          </a:xfrm>
          <a:prstGeom prst="straightConnector1">
            <a:avLst/>
          </a:prstGeom>
          <a:ln w="21590">
            <a:solidFill>
              <a:srgbClr val="91a0b6"/>
            </a:solidFill>
            <a:round/>
          </a:ln>
        </p:spPr>
      </p:cxnSp>
      <p:cxnSp>
        <p:nvCxnSpPr>
          <p:cNvPr id="88" name="Connector 32"/>
          <p:cNvCxnSpPr/>
          <p:nvPr/>
        </p:nvCxnSpPr>
        <p:spPr>
          <a:xfrm>
            <a:off x="5915880" y="3126960"/>
            <a:ext cx="477360" cy="1800"/>
          </a:xfrm>
          <a:prstGeom prst="straightConnector1">
            <a:avLst/>
          </a:prstGeom>
          <a:ln w="21590">
            <a:solidFill>
              <a:srgbClr val="91a0b6"/>
            </a:solidFill>
            <a:round/>
          </a:ln>
        </p:spPr>
      </p:cxnSp>
      <p:cxnSp>
        <p:nvCxnSpPr>
          <p:cNvPr id="89" name="Connector 33"/>
          <p:cNvCxnSpPr/>
          <p:nvPr/>
        </p:nvCxnSpPr>
        <p:spPr>
          <a:xfrm>
            <a:off x="8704800" y="3126960"/>
            <a:ext cx="477360" cy="1800"/>
          </a:xfrm>
          <a:prstGeom prst="straightConnector1">
            <a:avLst/>
          </a:prstGeom>
          <a:ln w="21590">
            <a:solidFill>
              <a:srgbClr val="91a0b6"/>
            </a:solidFill>
            <a:round/>
          </a:ln>
        </p:spPr>
      </p:cxnSp>
      <p:sp>
        <p:nvSpPr>
          <p:cNvPr id="90" name="TextBox 34"/>
          <p:cNvSpPr/>
          <p:nvPr/>
        </p:nvSpPr>
        <p:spPr>
          <a:xfrm>
            <a:off x="2326680" y="4866120"/>
            <a:ext cx="757980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0" lang="pt-BR" sz="1600" spc="-1" strike="noStrike">
                <a:solidFill>
                  <a:srgbClr val="5b6b86"/>
                </a:solidFill>
                <a:latin typeface="Lato"/>
              </a:rPr>
              <a:t>O PR-02 entrega a base textual: dados → regras → repetição → funções → registros.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2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93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94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95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96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97" name="TextBox 7"/>
          <p:cNvSpPr/>
          <p:nvPr/>
        </p:nvSpPr>
        <p:spPr>
          <a:xfrm>
            <a:off x="2909880" y="768240"/>
            <a:ext cx="58089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O que você será capaz de fazer hoje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8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9"/>
          <p:cNvSpPr/>
          <p:nvPr/>
        </p:nvSpPr>
        <p:spPr>
          <a:xfrm>
            <a:off x="11215800" y="6419160"/>
            <a:ext cx="106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4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1069560" y="1980000"/>
            <a:ext cx="20052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000" spc="-1" strike="noStrike">
                <a:solidFill>
                  <a:srgbClr val="10b9f3"/>
                </a:solidFill>
                <a:latin typeface="Lato"/>
              </a:rPr>
              <a:t>01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11"/>
          <p:cNvSpPr/>
          <p:nvPr/>
        </p:nvSpPr>
        <p:spPr>
          <a:xfrm>
            <a:off x="1069560" y="2284200"/>
            <a:ext cx="14763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520" spc="-1" strike="noStrike">
                <a:solidFill>
                  <a:srgbClr val="071a4a"/>
                </a:solidFill>
                <a:latin typeface="Lato"/>
              </a:rPr>
              <a:t>Executar Python</a:t>
            </a:r>
            <a:endParaRPr b="0" lang="pt-BR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12"/>
          <p:cNvSpPr/>
          <p:nvPr/>
        </p:nvSpPr>
        <p:spPr>
          <a:xfrm>
            <a:off x="1069560" y="2763360"/>
            <a:ext cx="174492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160" spc="-1" strike="noStrike">
                <a:solidFill>
                  <a:srgbClr val="5b6b86"/>
                </a:solidFill>
                <a:latin typeface="Lato"/>
              </a:rPr>
              <a:t>Criar células no Colab, </a:t>
            </a:r>
            <a:endParaRPr b="0" lang="pt-BR" sz="11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60" spc="-1" strike="noStrike">
                <a:solidFill>
                  <a:srgbClr val="5b6b86"/>
                </a:solidFill>
                <a:latin typeface="Lato"/>
              </a:rPr>
              <a:t>rodar código e interpretar </a:t>
            </a:r>
            <a:endParaRPr b="0" lang="pt-BR" sz="11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60" spc="-1" strike="noStrike">
                <a:solidFill>
                  <a:srgbClr val="5b6b86"/>
                </a:solidFill>
                <a:latin typeface="Lato"/>
              </a:rPr>
              <a:t>saídas e erros básicos.</a:t>
            </a:r>
            <a:endParaRPr b="0" lang="pt-BR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13"/>
          <p:cNvSpPr/>
          <p:nvPr/>
        </p:nvSpPr>
        <p:spPr>
          <a:xfrm>
            <a:off x="3060000" y="1982520"/>
            <a:ext cx="20052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000" spc="-1" strike="noStrike">
                <a:solidFill>
                  <a:srgbClr val="f36b21"/>
                </a:solidFill>
                <a:latin typeface="Lato"/>
              </a:rPr>
              <a:t>02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14"/>
          <p:cNvSpPr/>
          <p:nvPr/>
        </p:nvSpPr>
        <p:spPr>
          <a:xfrm>
            <a:off x="3060000" y="2284200"/>
            <a:ext cx="18237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520" spc="-1" strike="noStrike">
                <a:solidFill>
                  <a:srgbClr val="071a4a"/>
                </a:solidFill>
                <a:latin typeface="Lato"/>
              </a:rPr>
              <a:t>Trabalhar com dados</a:t>
            </a:r>
            <a:endParaRPr b="0" lang="pt-BR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15"/>
          <p:cNvSpPr/>
          <p:nvPr/>
        </p:nvSpPr>
        <p:spPr>
          <a:xfrm>
            <a:off x="3060000" y="2763360"/>
            <a:ext cx="140652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160" spc="-1" strike="noStrike">
                <a:solidFill>
                  <a:srgbClr val="5b6b86"/>
                </a:solidFill>
                <a:latin typeface="Lato"/>
              </a:rPr>
              <a:t>Usar variáveis, tipos, </a:t>
            </a:r>
            <a:endParaRPr b="0" lang="pt-BR" sz="11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60" spc="-1" strike="noStrike">
                <a:solidFill>
                  <a:srgbClr val="5b6b86"/>
                </a:solidFill>
                <a:latin typeface="Lato"/>
              </a:rPr>
              <a:t>entrada, conversões </a:t>
            </a:r>
            <a:endParaRPr b="0" lang="pt-BR" sz="11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60" spc="-1" strike="noStrike">
                <a:solidFill>
                  <a:srgbClr val="5b6b86"/>
                </a:solidFill>
                <a:latin typeface="Lato"/>
              </a:rPr>
              <a:t>e operadores.</a:t>
            </a:r>
            <a:endParaRPr b="0" lang="pt-BR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16"/>
          <p:cNvSpPr/>
          <p:nvPr/>
        </p:nvSpPr>
        <p:spPr>
          <a:xfrm>
            <a:off x="5324040" y="1982520"/>
            <a:ext cx="20052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000" spc="-1" strike="noStrike">
                <a:solidFill>
                  <a:srgbClr val="f72585"/>
                </a:solidFill>
                <a:latin typeface="Lato"/>
              </a:rPr>
              <a:t>03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7"/>
          <p:cNvSpPr/>
          <p:nvPr/>
        </p:nvSpPr>
        <p:spPr>
          <a:xfrm>
            <a:off x="5324040" y="2284200"/>
            <a:ext cx="14518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520" spc="-1" strike="noStrike">
                <a:solidFill>
                  <a:srgbClr val="071a4a"/>
                </a:solidFill>
                <a:latin typeface="Lato"/>
              </a:rPr>
              <a:t>Decidir e repetir</a:t>
            </a:r>
            <a:endParaRPr b="0" lang="pt-BR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18"/>
          <p:cNvSpPr/>
          <p:nvPr/>
        </p:nvSpPr>
        <p:spPr>
          <a:xfrm>
            <a:off x="5324040" y="2763360"/>
            <a:ext cx="1667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160" spc="-1" strike="noStrike">
                <a:solidFill>
                  <a:srgbClr val="5b6b86"/>
                </a:solidFill>
                <a:latin typeface="Lato"/>
              </a:rPr>
              <a:t>Aplicar if/elif/else, listas, </a:t>
            </a:r>
            <a:endParaRPr b="0" lang="pt-BR" sz="11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60" spc="-1" strike="noStrike">
                <a:solidFill>
                  <a:srgbClr val="5b6b86"/>
                </a:solidFill>
                <a:latin typeface="Lato"/>
              </a:rPr>
              <a:t>for e compreender while.</a:t>
            </a:r>
            <a:endParaRPr b="0" lang="pt-BR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19"/>
          <p:cNvSpPr/>
          <p:nvPr/>
        </p:nvSpPr>
        <p:spPr>
          <a:xfrm>
            <a:off x="7582320" y="1982520"/>
            <a:ext cx="20052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000" spc="-1" strike="noStrike">
                <a:solidFill>
                  <a:srgbClr val="725ac1"/>
                </a:solidFill>
                <a:latin typeface="Lato"/>
              </a:rPr>
              <a:t>04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20"/>
          <p:cNvSpPr/>
          <p:nvPr/>
        </p:nvSpPr>
        <p:spPr>
          <a:xfrm>
            <a:off x="7582320" y="2284200"/>
            <a:ext cx="16729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520" spc="-1" strike="noStrike">
                <a:solidFill>
                  <a:srgbClr val="071a4a"/>
                </a:solidFill>
                <a:latin typeface="Lato"/>
              </a:rPr>
              <a:t>Organizar o código</a:t>
            </a:r>
            <a:endParaRPr b="0" lang="pt-BR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21"/>
          <p:cNvSpPr/>
          <p:nvPr/>
        </p:nvSpPr>
        <p:spPr>
          <a:xfrm>
            <a:off x="7582320" y="2763360"/>
            <a:ext cx="17312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160" spc="-1" strike="noStrike">
                <a:solidFill>
                  <a:srgbClr val="5b6b86"/>
                </a:solidFill>
                <a:latin typeface="Lato"/>
              </a:rPr>
              <a:t>Criar funções pequenas e </a:t>
            </a:r>
            <a:endParaRPr b="0" lang="pt-BR" sz="11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60" spc="-1" strike="noStrike">
                <a:solidFill>
                  <a:srgbClr val="5b6b86"/>
                </a:solidFill>
                <a:latin typeface="Lato"/>
              </a:rPr>
              <a:t>representar leituras </a:t>
            </a:r>
            <a:endParaRPr b="0" lang="pt-BR" sz="11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60" spc="-1" strike="noStrike">
                <a:solidFill>
                  <a:srgbClr val="5b6b86"/>
                </a:solidFill>
                <a:latin typeface="Lato"/>
              </a:rPr>
              <a:t>com dicionários.</a:t>
            </a:r>
            <a:endParaRPr b="0" lang="pt-BR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22"/>
          <p:cNvSpPr/>
          <p:nvPr/>
        </p:nvSpPr>
        <p:spPr>
          <a:xfrm>
            <a:off x="9776880" y="1982520"/>
            <a:ext cx="20052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000" spc="-1" strike="noStrike">
                <a:solidFill>
                  <a:srgbClr val="2fb886"/>
                </a:solidFill>
                <a:latin typeface="Lato"/>
              </a:rPr>
              <a:t>05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23"/>
          <p:cNvSpPr/>
          <p:nvPr/>
        </p:nvSpPr>
        <p:spPr>
          <a:xfrm>
            <a:off x="9776880" y="2284200"/>
            <a:ext cx="1444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520" spc="-1" strike="noStrike">
                <a:solidFill>
                  <a:srgbClr val="071a4a"/>
                </a:solidFill>
                <a:latin typeface="Lato"/>
              </a:rPr>
              <a:t>Testar e explicar</a:t>
            </a:r>
            <a:endParaRPr b="0" lang="pt-BR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24"/>
          <p:cNvSpPr/>
          <p:nvPr/>
        </p:nvSpPr>
        <p:spPr>
          <a:xfrm>
            <a:off x="9776880" y="2763360"/>
            <a:ext cx="16898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160" spc="-1" strike="noStrike">
                <a:solidFill>
                  <a:srgbClr val="5b6b86"/>
                </a:solidFill>
                <a:latin typeface="Lato"/>
              </a:rPr>
              <a:t>Usar casos de fronteira, </a:t>
            </a:r>
            <a:endParaRPr b="0" lang="pt-BR" sz="11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60" spc="-1" strike="noStrike">
                <a:solidFill>
                  <a:srgbClr val="5b6b86"/>
                </a:solidFill>
                <a:latin typeface="Lato"/>
              </a:rPr>
              <a:t>localizar erros e justificar </a:t>
            </a:r>
            <a:endParaRPr b="0" lang="pt-BR" sz="11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60" spc="-1" strike="noStrike">
                <a:solidFill>
                  <a:srgbClr val="5b6b86"/>
                </a:solidFill>
                <a:latin typeface="Lato"/>
              </a:rPr>
              <a:t>a lógica.</a:t>
            </a:r>
            <a:endParaRPr b="0" lang="pt-BR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ounded Rectangle 25"/>
          <p:cNvSpPr/>
          <p:nvPr/>
        </p:nvSpPr>
        <p:spPr>
          <a:xfrm>
            <a:off x="1051560" y="4754880"/>
            <a:ext cx="10010880" cy="565200"/>
          </a:xfrm>
          <a:prstGeom prst="roundRect">
            <a:avLst>
              <a:gd name="adj" fmla="val 16667"/>
            </a:avLst>
          </a:prstGeom>
          <a:solidFill>
            <a:srgbClr val="fff5e8"/>
          </a:solidFill>
          <a:ln w="12700">
            <a:solidFill>
              <a:srgbClr val="f5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16" name="TextBox 26"/>
          <p:cNvSpPr/>
          <p:nvPr/>
        </p:nvSpPr>
        <p:spPr>
          <a:xfrm>
            <a:off x="2683800" y="4933440"/>
            <a:ext cx="67464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40" spc="-1" strike="noStrike">
                <a:solidFill>
                  <a:srgbClr val="8a4a0a"/>
                </a:solidFill>
                <a:latin typeface="Lato"/>
              </a:rPr>
              <a:t>Meta: terminar com um notebook que executa do início ao fim e resolve um pequeno problema aplicado.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8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119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120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121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122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123" name="TextBox 7"/>
          <p:cNvSpPr/>
          <p:nvPr/>
        </p:nvSpPr>
        <p:spPr>
          <a:xfrm>
            <a:off x="3476160" y="768240"/>
            <a:ext cx="46767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Como vamos usar as 3 horas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8"/>
          <p:cNvSpPr/>
          <p:nvPr/>
        </p:nvSpPr>
        <p:spPr>
          <a:xfrm>
            <a:off x="3585240" y="1307520"/>
            <a:ext cx="4403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Explicação curta → demonstração → prática → integração.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11215800" y="6419160"/>
            <a:ext cx="106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5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 11"/>
          <p:cNvSpPr/>
          <p:nvPr/>
        </p:nvSpPr>
        <p:spPr>
          <a:xfrm>
            <a:off x="768240" y="2249280"/>
            <a:ext cx="878400" cy="546840"/>
          </a:xfrm>
          <a:prstGeom prst="rect">
            <a:avLst/>
          </a:prstGeom>
          <a:solidFill>
            <a:srgbClr val="10b9f3"/>
          </a:solidFill>
          <a:ln w="1270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28" name="TextBox 12"/>
          <p:cNvSpPr/>
          <p:nvPr/>
        </p:nvSpPr>
        <p:spPr>
          <a:xfrm>
            <a:off x="1104120" y="2258640"/>
            <a:ext cx="2066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</a:rPr>
              <a:t>15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13"/>
          <p:cNvSpPr/>
          <p:nvPr/>
        </p:nvSpPr>
        <p:spPr>
          <a:xfrm>
            <a:off x="941040" y="2871360"/>
            <a:ext cx="5328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950" spc="-1" strike="noStrike">
                <a:solidFill>
                  <a:srgbClr val="071a4a"/>
                </a:solidFill>
                <a:latin typeface="Lato"/>
              </a:rPr>
              <a:t>Abertura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ectangle 14"/>
          <p:cNvSpPr/>
          <p:nvPr/>
        </p:nvSpPr>
        <p:spPr>
          <a:xfrm>
            <a:off x="1648080" y="2249280"/>
            <a:ext cx="585000" cy="546840"/>
          </a:xfrm>
          <a:prstGeom prst="rect">
            <a:avLst/>
          </a:prstGeom>
          <a:solidFill>
            <a:srgbClr val="725ac1"/>
          </a:solidFill>
          <a:ln w="1270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31" name="TextBox 15"/>
          <p:cNvSpPr/>
          <p:nvPr/>
        </p:nvSpPr>
        <p:spPr>
          <a:xfrm>
            <a:off x="1837080" y="2258640"/>
            <a:ext cx="2066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</a:rPr>
              <a:t>10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16"/>
          <p:cNvSpPr/>
          <p:nvPr/>
        </p:nvSpPr>
        <p:spPr>
          <a:xfrm>
            <a:off x="1760040" y="2871360"/>
            <a:ext cx="3607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950" spc="-1" strike="noStrike">
                <a:solidFill>
                  <a:srgbClr val="071a4a"/>
                </a:solidFill>
                <a:latin typeface="Lato"/>
              </a:rPr>
              <a:t>Colab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ectangle 17"/>
          <p:cNvSpPr/>
          <p:nvPr/>
        </p:nvSpPr>
        <p:spPr>
          <a:xfrm>
            <a:off x="2234880" y="2249280"/>
            <a:ext cx="1758600" cy="546840"/>
          </a:xfrm>
          <a:prstGeom prst="rect">
            <a:avLst/>
          </a:prstGeom>
          <a:solidFill>
            <a:srgbClr val="f36b21"/>
          </a:solidFill>
          <a:ln w="1270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34" name="TextBox 18"/>
          <p:cNvSpPr/>
          <p:nvPr/>
        </p:nvSpPr>
        <p:spPr>
          <a:xfrm>
            <a:off x="3010680" y="2258640"/>
            <a:ext cx="2066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</a:rPr>
              <a:t>30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19"/>
          <p:cNvSpPr/>
          <p:nvPr/>
        </p:nvSpPr>
        <p:spPr>
          <a:xfrm>
            <a:off x="2647080" y="2871360"/>
            <a:ext cx="9338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950" spc="-1" strike="noStrike">
                <a:solidFill>
                  <a:srgbClr val="071a4a"/>
                </a:solidFill>
                <a:latin typeface="Lato"/>
              </a:rPr>
              <a:t>Dados + entrada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 20"/>
          <p:cNvSpPr/>
          <p:nvPr/>
        </p:nvSpPr>
        <p:spPr>
          <a:xfrm>
            <a:off x="3995280" y="2249280"/>
            <a:ext cx="878400" cy="54684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37" name="TextBox 21"/>
          <p:cNvSpPr/>
          <p:nvPr/>
        </p:nvSpPr>
        <p:spPr>
          <a:xfrm>
            <a:off x="4331160" y="2258640"/>
            <a:ext cx="2066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</a:rPr>
              <a:t>15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22"/>
          <p:cNvSpPr/>
          <p:nvPr/>
        </p:nvSpPr>
        <p:spPr>
          <a:xfrm>
            <a:off x="4091760" y="2871360"/>
            <a:ext cx="685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950" spc="-1" strike="noStrike">
                <a:solidFill>
                  <a:srgbClr val="071a4a"/>
                </a:solidFill>
                <a:latin typeface="Lato"/>
              </a:rPr>
              <a:t>Operadores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ectangle 23"/>
          <p:cNvSpPr/>
          <p:nvPr/>
        </p:nvSpPr>
        <p:spPr>
          <a:xfrm>
            <a:off x="4875120" y="2249280"/>
            <a:ext cx="1171800" cy="546840"/>
          </a:xfrm>
          <a:prstGeom prst="rect">
            <a:avLst/>
          </a:prstGeom>
          <a:solidFill>
            <a:srgbClr val="10b9f3"/>
          </a:solidFill>
          <a:ln w="1270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40" name="TextBox 24"/>
          <p:cNvSpPr/>
          <p:nvPr/>
        </p:nvSpPr>
        <p:spPr>
          <a:xfrm>
            <a:off x="5357520" y="2258640"/>
            <a:ext cx="2066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</a:rPr>
              <a:t>20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25"/>
          <p:cNvSpPr/>
          <p:nvPr/>
        </p:nvSpPr>
        <p:spPr>
          <a:xfrm>
            <a:off x="5193000" y="2871360"/>
            <a:ext cx="5360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950" spc="-1" strike="noStrike">
                <a:solidFill>
                  <a:srgbClr val="071a4a"/>
                </a:solidFill>
                <a:latin typeface="Lato"/>
              </a:rPr>
              <a:t>Decisões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ctangle 26"/>
          <p:cNvSpPr/>
          <p:nvPr/>
        </p:nvSpPr>
        <p:spPr>
          <a:xfrm>
            <a:off x="6048720" y="2249280"/>
            <a:ext cx="1758600" cy="546840"/>
          </a:xfrm>
          <a:prstGeom prst="rect">
            <a:avLst/>
          </a:prstGeom>
          <a:solidFill>
            <a:srgbClr val="2fb886"/>
          </a:solidFill>
          <a:ln w="12700">
            <a:solidFill>
              <a:srgbClr val="2f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43" name="TextBox 27"/>
          <p:cNvSpPr/>
          <p:nvPr/>
        </p:nvSpPr>
        <p:spPr>
          <a:xfrm>
            <a:off x="6824520" y="2258640"/>
            <a:ext cx="2066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</a:rPr>
              <a:t>30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28"/>
          <p:cNvSpPr/>
          <p:nvPr/>
        </p:nvSpPr>
        <p:spPr>
          <a:xfrm>
            <a:off x="6606000" y="2871360"/>
            <a:ext cx="6440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950" spc="-1" strike="noStrike">
                <a:solidFill>
                  <a:srgbClr val="071a4a"/>
                </a:solidFill>
                <a:latin typeface="Lato"/>
              </a:rPr>
              <a:t>Repetições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ectangle 29"/>
          <p:cNvSpPr/>
          <p:nvPr/>
        </p:nvSpPr>
        <p:spPr>
          <a:xfrm>
            <a:off x="7809120" y="2249280"/>
            <a:ext cx="2051640" cy="546840"/>
          </a:xfrm>
          <a:prstGeom prst="rect">
            <a:avLst/>
          </a:prstGeom>
          <a:solidFill>
            <a:srgbClr val="725ac1"/>
          </a:solidFill>
          <a:ln w="1270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46" name="TextBox 30"/>
          <p:cNvSpPr/>
          <p:nvPr/>
        </p:nvSpPr>
        <p:spPr>
          <a:xfrm>
            <a:off x="8731440" y="2258640"/>
            <a:ext cx="2066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</a:rPr>
              <a:t>35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31"/>
          <p:cNvSpPr/>
          <p:nvPr/>
        </p:nvSpPr>
        <p:spPr>
          <a:xfrm>
            <a:off x="8290440" y="2871360"/>
            <a:ext cx="10890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950" spc="-1" strike="noStrike">
                <a:solidFill>
                  <a:srgbClr val="071a4a"/>
                </a:solidFill>
                <a:latin typeface="Lato"/>
              </a:rPr>
              <a:t>Funções + registros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 32"/>
          <p:cNvSpPr/>
          <p:nvPr/>
        </p:nvSpPr>
        <p:spPr>
          <a:xfrm>
            <a:off x="9862560" y="2249280"/>
            <a:ext cx="1465200" cy="546840"/>
          </a:xfrm>
          <a:prstGeom prst="rect">
            <a:avLst/>
          </a:prstGeom>
          <a:solidFill>
            <a:srgbClr val="f36b21"/>
          </a:solidFill>
          <a:ln w="1270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49" name="TextBox 33"/>
          <p:cNvSpPr/>
          <p:nvPr/>
        </p:nvSpPr>
        <p:spPr>
          <a:xfrm>
            <a:off x="10491840" y="2258640"/>
            <a:ext cx="2066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</a:rPr>
              <a:t>25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34"/>
          <p:cNvSpPr/>
          <p:nvPr/>
        </p:nvSpPr>
        <p:spPr>
          <a:xfrm>
            <a:off x="9980280" y="2871360"/>
            <a:ext cx="12294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950" spc="-1" strike="noStrike">
                <a:solidFill>
                  <a:srgbClr val="071a4a"/>
                </a:solidFill>
                <a:latin typeface="Lato"/>
              </a:rPr>
              <a:t>Desafio + fechamento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ounded Rectangle 35"/>
          <p:cNvSpPr/>
          <p:nvPr/>
        </p:nvSpPr>
        <p:spPr>
          <a:xfrm>
            <a:off x="1280160" y="4718160"/>
            <a:ext cx="9370800" cy="565200"/>
          </a:xfrm>
          <a:prstGeom prst="roundRect">
            <a:avLst>
              <a:gd name="adj" fmla="val 16667"/>
            </a:avLst>
          </a:prstGeom>
          <a:solidFill>
            <a:srgbClr val="fff5e8"/>
          </a:solidFill>
          <a:ln w="12700">
            <a:solidFill>
              <a:srgbClr val="f5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52" name="TextBox 36"/>
          <p:cNvSpPr/>
          <p:nvPr/>
        </p:nvSpPr>
        <p:spPr>
          <a:xfrm>
            <a:off x="3313080" y="4896720"/>
            <a:ext cx="53046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40" spc="-1" strike="noStrike">
                <a:solidFill>
                  <a:srgbClr val="8a4a0a"/>
                </a:solidFill>
                <a:latin typeface="Lato"/>
              </a:rPr>
              <a:t>Mais tempo será gasto escrevendo e testando código do que ouvindo explicações.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4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155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156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157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158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159" name="TextBox 7"/>
          <p:cNvSpPr/>
          <p:nvPr/>
        </p:nvSpPr>
        <p:spPr>
          <a:xfrm>
            <a:off x="1755720" y="768240"/>
            <a:ext cx="81194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Projeto condutor: um </a:t>
            </a:r>
            <a:r>
              <a:rPr b="1" i="1" lang="pt-BR" sz="2750" spc="-1" strike="noStrike">
                <a:solidFill>
                  <a:srgbClr val="071a4a"/>
                </a:solidFill>
                <a:latin typeface="Inter Display"/>
              </a:rPr>
              <a:t>wearable</a:t>
            </a: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 (vestível) simulado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10"/>
          <p:cNvSpPr/>
          <p:nvPr/>
        </p:nvSpPr>
        <p:spPr>
          <a:xfrm>
            <a:off x="11215800" y="6419160"/>
            <a:ext cx="106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6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ounded Rectangle 11"/>
          <p:cNvSpPr/>
          <p:nvPr/>
        </p:nvSpPr>
        <p:spPr>
          <a:xfrm>
            <a:off x="850320" y="2030040"/>
            <a:ext cx="2320920" cy="1936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63" name="TextBox 12"/>
          <p:cNvSpPr/>
          <p:nvPr/>
        </p:nvSpPr>
        <p:spPr>
          <a:xfrm>
            <a:off x="1619280" y="2148840"/>
            <a:ext cx="7830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10b9f3"/>
                </a:solidFill>
                <a:latin typeface="Lato"/>
              </a:rPr>
              <a:t>1 · ENTRADA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13"/>
          <p:cNvSpPr/>
          <p:nvPr/>
        </p:nvSpPr>
        <p:spPr>
          <a:xfrm>
            <a:off x="1026000" y="2886480"/>
            <a:ext cx="196992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700" spc="-1" strike="noStrike">
                <a:solidFill>
                  <a:srgbClr val="071a4a"/>
                </a:solidFill>
                <a:latin typeface="Lato"/>
              </a:rPr>
              <a:t>uma leitura sintética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700" spc="-1" strike="noStrike">
                <a:solidFill>
                  <a:srgbClr val="071a4a"/>
                </a:solidFill>
                <a:latin typeface="Lato"/>
              </a:rPr>
              <a:t>de 0 a 100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ounded Rectangle 14"/>
          <p:cNvSpPr/>
          <p:nvPr/>
        </p:nvSpPr>
        <p:spPr>
          <a:xfrm>
            <a:off x="3438000" y="2030040"/>
            <a:ext cx="2320920" cy="1936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66" name="TextBox 15"/>
          <p:cNvSpPr/>
          <p:nvPr/>
        </p:nvSpPr>
        <p:spPr>
          <a:xfrm>
            <a:off x="4294800" y="2148840"/>
            <a:ext cx="6076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f36b21"/>
                </a:solidFill>
                <a:latin typeface="Lato"/>
              </a:rPr>
              <a:t>2 · REGRA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16"/>
          <p:cNvSpPr/>
          <p:nvPr/>
        </p:nvSpPr>
        <p:spPr>
          <a:xfrm>
            <a:off x="3942720" y="2886480"/>
            <a:ext cx="131184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700" spc="-1" strike="noStrike">
                <a:solidFill>
                  <a:srgbClr val="071a4a"/>
                </a:solidFill>
                <a:latin typeface="Lato"/>
              </a:rPr>
              <a:t>classificar em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700" spc="-1" strike="noStrike">
                <a:solidFill>
                  <a:srgbClr val="071a4a"/>
                </a:solidFill>
                <a:latin typeface="Lato"/>
              </a:rPr>
              <a:t>A / B / C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ounded Rectangle 17"/>
          <p:cNvSpPr/>
          <p:nvPr/>
        </p:nvSpPr>
        <p:spPr>
          <a:xfrm>
            <a:off x="6026040" y="2030040"/>
            <a:ext cx="2320920" cy="1936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69" name="TextBox 18"/>
          <p:cNvSpPr/>
          <p:nvPr/>
        </p:nvSpPr>
        <p:spPr>
          <a:xfrm>
            <a:off x="6750720" y="2148840"/>
            <a:ext cx="8712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f72585"/>
                </a:solidFill>
                <a:latin typeface="Lato"/>
              </a:rPr>
              <a:t>3 · REPETIÇÃO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19"/>
          <p:cNvSpPr/>
          <p:nvPr/>
        </p:nvSpPr>
        <p:spPr>
          <a:xfrm>
            <a:off x="6408360" y="2886480"/>
            <a:ext cx="155556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700" spc="-1" strike="noStrike">
                <a:solidFill>
                  <a:srgbClr val="071a4a"/>
                </a:solidFill>
                <a:latin typeface="Lato"/>
              </a:rPr>
              <a:t>processar várias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700" spc="-1" strike="noStrike">
                <a:solidFill>
                  <a:srgbClr val="071a4a"/>
                </a:solidFill>
                <a:latin typeface="Lato"/>
              </a:rPr>
              <a:t>leituras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ounded Rectangle 20"/>
          <p:cNvSpPr/>
          <p:nvPr/>
        </p:nvSpPr>
        <p:spPr>
          <a:xfrm>
            <a:off x="8613720" y="2030040"/>
            <a:ext cx="2320920" cy="1936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72" name="TextBox 21"/>
          <p:cNvSpPr/>
          <p:nvPr/>
        </p:nvSpPr>
        <p:spPr>
          <a:xfrm>
            <a:off x="9376560" y="2148840"/>
            <a:ext cx="7948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725ac1"/>
                </a:solidFill>
                <a:latin typeface="Lato"/>
              </a:rPr>
              <a:t>4 · REGISTRO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22"/>
          <p:cNvSpPr/>
          <p:nvPr/>
        </p:nvSpPr>
        <p:spPr>
          <a:xfrm>
            <a:off x="8857440" y="2886480"/>
            <a:ext cx="183276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700" spc="-1" strike="noStrike">
                <a:solidFill>
                  <a:srgbClr val="071a4a"/>
                </a:solidFill>
                <a:latin typeface="Lato"/>
              </a:rPr>
              <a:t>guardar valor,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700" spc="-1" strike="noStrike">
                <a:solidFill>
                  <a:srgbClr val="071a4a"/>
                </a:solidFill>
                <a:latin typeface="Lato"/>
              </a:rPr>
              <a:t>estado e qualidade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4" name="Connector 23"/>
          <p:cNvCxnSpPr/>
          <p:nvPr/>
        </p:nvCxnSpPr>
        <p:spPr>
          <a:xfrm>
            <a:off x="3182040" y="2989800"/>
            <a:ext cx="239400" cy="1800"/>
          </a:xfrm>
          <a:prstGeom prst="straightConnector1">
            <a:avLst/>
          </a:prstGeom>
          <a:ln w="21590">
            <a:solidFill>
              <a:srgbClr val="91a0b6"/>
            </a:solidFill>
            <a:round/>
          </a:ln>
        </p:spPr>
      </p:cxnSp>
      <p:cxnSp>
        <p:nvCxnSpPr>
          <p:cNvPr id="175" name="Connector 24"/>
          <p:cNvCxnSpPr/>
          <p:nvPr/>
        </p:nvCxnSpPr>
        <p:spPr>
          <a:xfrm>
            <a:off x="5769720" y="2989800"/>
            <a:ext cx="239400" cy="1800"/>
          </a:xfrm>
          <a:prstGeom prst="straightConnector1">
            <a:avLst/>
          </a:prstGeom>
          <a:ln w="21590">
            <a:solidFill>
              <a:srgbClr val="91a0b6"/>
            </a:solidFill>
            <a:round/>
          </a:ln>
        </p:spPr>
      </p:cxnSp>
      <p:cxnSp>
        <p:nvCxnSpPr>
          <p:cNvPr id="176" name="Connector 25"/>
          <p:cNvCxnSpPr/>
          <p:nvPr/>
        </p:nvCxnSpPr>
        <p:spPr>
          <a:xfrm>
            <a:off x="8357400" y="2989800"/>
            <a:ext cx="239760" cy="1800"/>
          </a:xfrm>
          <a:prstGeom prst="straightConnector1">
            <a:avLst/>
          </a:prstGeom>
          <a:ln w="21590">
            <a:solidFill>
              <a:srgbClr val="91a0b6"/>
            </a:solidFill>
            <a:round/>
          </a:ln>
        </p:spPr>
      </p:cxnSp>
      <p:sp>
        <p:nvSpPr>
          <p:cNvPr id="177" name="Rounded Rectangle 26"/>
          <p:cNvSpPr/>
          <p:nvPr/>
        </p:nvSpPr>
        <p:spPr>
          <a:xfrm>
            <a:off x="1080000" y="4860000"/>
            <a:ext cx="9782280" cy="592560"/>
          </a:xfrm>
          <a:prstGeom prst="roundRect">
            <a:avLst>
              <a:gd name="adj" fmla="val 16667"/>
            </a:avLst>
          </a:prstGeom>
          <a:solidFill>
            <a:srgbClr val="fff5e8"/>
          </a:solidFill>
          <a:ln w="12700">
            <a:solidFill>
              <a:srgbClr val="f5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78" name="TextBox 27"/>
          <p:cNvSpPr/>
          <p:nvPr/>
        </p:nvSpPr>
        <p:spPr>
          <a:xfrm>
            <a:off x="3015000" y="5052600"/>
            <a:ext cx="59140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40" spc="-1" strike="noStrike">
                <a:solidFill>
                  <a:srgbClr val="8a4a0a"/>
                </a:solidFill>
                <a:latin typeface="Lato"/>
              </a:rPr>
              <a:t>Usaremos o mesmo problema durante todo o encontro, construindo o programa por etapas.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0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181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182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183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184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185" name="TextBox 7"/>
          <p:cNvSpPr/>
          <p:nvPr/>
        </p:nvSpPr>
        <p:spPr>
          <a:xfrm>
            <a:off x="3483720" y="768240"/>
            <a:ext cx="466128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Todo programa tem um fluxo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8"/>
          <p:cNvSpPr/>
          <p:nvPr/>
        </p:nvSpPr>
        <p:spPr>
          <a:xfrm>
            <a:off x="3436560" y="1307520"/>
            <a:ext cx="470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Antes da sintaxe, enxergue entrada → processamento → saída.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10"/>
          <p:cNvSpPr/>
          <p:nvPr/>
        </p:nvSpPr>
        <p:spPr>
          <a:xfrm>
            <a:off x="11215800" y="6419160"/>
            <a:ext cx="106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7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Rounded Rectangle 11"/>
          <p:cNvSpPr/>
          <p:nvPr/>
        </p:nvSpPr>
        <p:spPr>
          <a:xfrm>
            <a:off x="850320" y="1993320"/>
            <a:ext cx="2375640" cy="1973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90" name="TextBox 12"/>
          <p:cNvSpPr/>
          <p:nvPr/>
        </p:nvSpPr>
        <p:spPr>
          <a:xfrm>
            <a:off x="1727640" y="2112120"/>
            <a:ext cx="621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10b9f3"/>
                </a:solidFill>
                <a:latin typeface="Lato"/>
              </a:rPr>
              <a:t>ENTRADA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13"/>
          <p:cNvSpPr/>
          <p:nvPr/>
        </p:nvSpPr>
        <p:spPr>
          <a:xfrm>
            <a:off x="1307880" y="2853000"/>
            <a:ext cx="146088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Lato"/>
              </a:rPr>
              <a:t>valor sintético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Lato"/>
              </a:rPr>
              <a:t>ex.: 52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Rounded Rectangle 14"/>
          <p:cNvSpPr/>
          <p:nvPr/>
        </p:nvSpPr>
        <p:spPr>
          <a:xfrm>
            <a:off x="3493080" y="1993320"/>
            <a:ext cx="2375640" cy="1973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93" name="TextBox 15"/>
          <p:cNvSpPr/>
          <p:nvPr/>
        </p:nvSpPr>
        <p:spPr>
          <a:xfrm>
            <a:off x="4277160" y="2112120"/>
            <a:ext cx="8071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f36b21"/>
                </a:solidFill>
                <a:latin typeface="Lato"/>
              </a:rPr>
              <a:t>ARMAZENAR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16"/>
          <p:cNvSpPr/>
          <p:nvPr/>
        </p:nvSpPr>
        <p:spPr>
          <a:xfrm>
            <a:off x="4024080" y="2990160"/>
            <a:ext cx="1313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Lato"/>
              </a:rPr>
              <a:t>valor_sensor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ounded Rectangle 17"/>
          <p:cNvSpPr/>
          <p:nvPr/>
        </p:nvSpPr>
        <p:spPr>
          <a:xfrm>
            <a:off x="6135480" y="1993320"/>
            <a:ext cx="2375640" cy="1973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96" name="TextBox 18"/>
          <p:cNvSpPr/>
          <p:nvPr/>
        </p:nvSpPr>
        <p:spPr>
          <a:xfrm>
            <a:off x="6952680" y="2112120"/>
            <a:ext cx="7416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f72585"/>
                </a:solidFill>
                <a:latin typeface="Lato"/>
              </a:rPr>
              <a:t>PROCESSAR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19"/>
          <p:cNvSpPr/>
          <p:nvPr/>
        </p:nvSpPr>
        <p:spPr>
          <a:xfrm>
            <a:off x="6585120" y="2853000"/>
            <a:ext cx="147636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Lato"/>
              </a:rPr>
              <a:t>comparar com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Lato"/>
              </a:rPr>
              <a:t>30 e 70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Rounded Rectangle 20"/>
          <p:cNvSpPr/>
          <p:nvPr/>
        </p:nvSpPr>
        <p:spPr>
          <a:xfrm>
            <a:off x="8778240" y="1993320"/>
            <a:ext cx="2375640" cy="1973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99" name="TextBox 21"/>
          <p:cNvSpPr/>
          <p:nvPr/>
        </p:nvSpPr>
        <p:spPr>
          <a:xfrm>
            <a:off x="9761040" y="2112120"/>
            <a:ext cx="409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725ac1"/>
                </a:solidFill>
                <a:latin typeface="Lato"/>
              </a:rPr>
              <a:t>SAÍDA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22"/>
          <p:cNvSpPr/>
          <p:nvPr/>
        </p:nvSpPr>
        <p:spPr>
          <a:xfrm>
            <a:off x="9253440" y="2997720"/>
            <a:ext cx="14245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700" spc="-1" strike="noStrike">
                <a:solidFill>
                  <a:srgbClr val="071a4a"/>
                </a:solidFill>
                <a:latin typeface="Lato"/>
              </a:rPr>
              <a:t>Faixa A / B / C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1" name="Connector 23"/>
          <p:cNvCxnSpPr/>
          <p:nvPr/>
        </p:nvCxnSpPr>
        <p:spPr>
          <a:xfrm>
            <a:off x="3246120" y="2980800"/>
            <a:ext cx="221040" cy="1800"/>
          </a:xfrm>
          <a:prstGeom prst="straightConnector1">
            <a:avLst/>
          </a:prstGeom>
          <a:ln w="25400">
            <a:solidFill>
              <a:srgbClr val="071a4a"/>
            </a:solidFill>
            <a:round/>
          </a:ln>
        </p:spPr>
      </p:cxnSp>
      <p:cxnSp>
        <p:nvCxnSpPr>
          <p:cNvPr id="202" name="Connector 24"/>
          <p:cNvCxnSpPr/>
          <p:nvPr/>
        </p:nvCxnSpPr>
        <p:spPr>
          <a:xfrm>
            <a:off x="5888520" y="2980800"/>
            <a:ext cx="221400" cy="1800"/>
          </a:xfrm>
          <a:prstGeom prst="straightConnector1">
            <a:avLst/>
          </a:prstGeom>
          <a:ln w="25400">
            <a:solidFill>
              <a:srgbClr val="071a4a"/>
            </a:solidFill>
            <a:round/>
          </a:ln>
        </p:spPr>
      </p:cxnSp>
      <p:cxnSp>
        <p:nvCxnSpPr>
          <p:cNvPr id="203" name="Connector 25"/>
          <p:cNvCxnSpPr/>
          <p:nvPr/>
        </p:nvCxnSpPr>
        <p:spPr>
          <a:xfrm>
            <a:off x="8531280" y="2980800"/>
            <a:ext cx="221040" cy="1800"/>
          </a:xfrm>
          <a:prstGeom prst="straightConnector1">
            <a:avLst/>
          </a:prstGeom>
          <a:ln w="25400">
            <a:solidFill>
              <a:srgbClr val="071a4a"/>
            </a:solidFill>
            <a:round/>
          </a:ln>
        </p:spPr>
      </p:cxnSp>
      <p:sp>
        <p:nvSpPr>
          <p:cNvPr id="204" name="TextBox 26"/>
          <p:cNvSpPr/>
          <p:nvPr/>
        </p:nvSpPr>
        <p:spPr>
          <a:xfrm>
            <a:off x="1976760" y="4554720"/>
            <a:ext cx="792288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0" lang="pt-BR" sz="1400" spc="-1" strike="noStrike">
                <a:solidFill>
                  <a:srgbClr val="5b6b86"/>
                </a:solidFill>
                <a:latin typeface="Lato"/>
              </a:rPr>
              <a:t>O mesmo raciocínio vale para sensores, formulários, APIs, arquivos ou qualquer outra fonte de dados.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Rounded Rectangle 1"/>
          <p:cNvSpPr/>
          <p:nvPr/>
        </p:nvSpPr>
        <p:spPr>
          <a:xfrm>
            <a:off x="1080000" y="4986000"/>
            <a:ext cx="9782280" cy="592560"/>
          </a:xfrm>
          <a:prstGeom prst="roundRect">
            <a:avLst>
              <a:gd name="adj" fmla="val 16667"/>
            </a:avLst>
          </a:prstGeom>
          <a:solidFill>
            <a:srgbClr val="fff5e8"/>
          </a:solidFill>
          <a:ln w="12700">
            <a:solidFill>
              <a:srgbClr val="f5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06" name="TextBox 2"/>
          <p:cNvSpPr/>
          <p:nvPr/>
        </p:nvSpPr>
        <p:spPr>
          <a:xfrm>
            <a:off x="3122280" y="5178240"/>
            <a:ext cx="5697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40" spc="-1" strike="noStrike">
                <a:solidFill>
                  <a:srgbClr val="8a4a0a"/>
                </a:solidFill>
                <a:latin typeface="Lato"/>
              </a:rPr>
              <a:t>As faixas 30 e 70 existem apenas para ensinar programação. Não têm significado clínico.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8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209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210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211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212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213" name="TextBox 7"/>
          <p:cNvSpPr/>
          <p:nvPr/>
        </p:nvSpPr>
        <p:spPr>
          <a:xfrm>
            <a:off x="3665880" y="768240"/>
            <a:ext cx="429732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Algoritmo antes do código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8"/>
          <p:cNvSpPr/>
          <p:nvPr/>
        </p:nvSpPr>
        <p:spPr>
          <a:xfrm>
            <a:off x="3023640" y="1307520"/>
            <a:ext cx="5527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Escreva a ideia em passos claros. Depois transforme os passos em Python.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10"/>
          <p:cNvSpPr/>
          <p:nvPr/>
        </p:nvSpPr>
        <p:spPr>
          <a:xfrm>
            <a:off x="11215800" y="6419160"/>
            <a:ext cx="106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8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ounded Rectangle 11"/>
          <p:cNvSpPr/>
          <p:nvPr/>
        </p:nvSpPr>
        <p:spPr>
          <a:xfrm>
            <a:off x="896040" y="1938600"/>
            <a:ext cx="5027400" cy="292428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18" name="TextBox 12"/>
          <p:cNvSpPr/>
          <p:nvPr/>
        </p:nvSpPr>
        <p:spPr>
          <a:xfrm>
            <a:off x="2895480" y="2048400"/>
            <a:ext cx="10281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PSEUDOCÓDIGO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13"/>
          <p:cNvSpPr/>
          <p:nvPr/>
        </p:nvSpPr>
        <p:spPr>
          <a:xfrm>
            <a:off x="1919160" y="2322720"/>
            <a:ext cx="29808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marL="216000" indent="-216000">
              <a:lnSpc>
                <a:spcPct val="100000"/>
              </a:lnSpc>
              <a:buClr>
                <a:srgbClr val="071a4a"/>
              </a:buClr>
              <a:buFont typeface="OpenSymbol"/>
              <a:buAutoNum type="arabicParenR"/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exibir mensagem </a:t>
            </a:r>
            <a:r>
              <a:rPr b="0" i="1" lang="pt-BR" sz="1500" spc="-1" strike="noStrike">
                <a:solidFill>
                  <a:srgbClr val="071a4a"/>
                </a:solidFill>
                <a:latin typeface="DejaVu Sans Mono"/>
              </a:rPr>
              <a:t>Olá!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71a4a"/>
              </a:buClr>
              <a:buFont typeface="OpenSymbol"/>
              <a:buAutoNum type="arabicParenR"/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receber um valor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71a4a"/>
              </a:buClr>
              <a:buFont typeface="OpenSymbol"/>
              <a:buAutoNum type="arabicParenR"/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guardar o valor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71a4a"/>
              </a:buClr>
              <a:buFont typeface="OpenSymbol"/>
              <a:buAutoNum type="arabicParenR"/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se valor &lt; 30 → 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71a4a"/>
              </a:buClr>
              <a:buFont typeface="OpenSymbol"/>
              <a:buAutoNum type="arabicParenR"/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senão, se valor ≤ 70 → B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71a4a"/>
              </a:buClr>
              <a:buFont typeface="OpenSymbol"/>
              <a:buAutoNum type="arabicParenR"/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senão → C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71a4a"/>
              </a:buClr>
              <a:buFont typeface="OpenSymbol"/>
              <a:buAutoNum type="arabicParenR"/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mostrar o resultado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71a4a"/>
              </a:buClr>
              <a:buFont typeface="OpenSymbol"/>
              <a:buAutoNum type="arabicParenR"/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terminar execução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ounded Rectangle 14"/>
          <p:cNvSpPr/>
          <p:nvPr/>
        </p:nvSpPr>
        <p:spPr>
          <a:xfrm>
            <a:off x="6419160" y="1938600"/>
            <a:ext cx="4661640" cy="2924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21" name="TextBox 15"/>
          <p:cNvSpPr/>
          <p:nvPr/>
        </p:nvSpPr>
        <p:spPr>
          <a:xfrm>
            <a:off x="8017560" y="2238840"/>
            <a:ext cx="14367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100" spc="-1" strike="noStrike">
                <a:solidFill>
                  <a:srgbClr val="10b9f3"/>
                </a:solidFill>
                <a:latin typeface="Lato"/>
              </a:rPr>
              <a:t>Pergunta para a turma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Box 17"/>
          <p:cNvSpPr/>
          <p:nvPr/>
        </p:nvSpPr>
        <p:spPr>
          <a:xfrm>
            <a:off x="6976080" y="3600360"/>
            <a:ext cx="37746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71a4a"/>
                </a:solidFill>
                <a:latin typeface="Inter Display"/>
              </a:rPr>
              <a:t>2) E qual passo precisará se repetir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71a4a"/>
                </a:solidFill>
                <a:latin typeface="Inter Display"/>
              </a:rPr>
              <a:t>quando houver várias leituras</a:t>
            </a:r>
            <a:r>
              <a:rPr b="1" lang="pt-BR" sz="1400" spc="-1" strike="noStrike">
                <a:solidFill>
                  <a:srgbClr val="5b6b86"/>
                </a:solidFill>
                <a:latin typeface="Lato"/>
              </a:rPr>
              <a:t>?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16"/>
          <p:cNvSpPr/>
          <p:nvPr/>
        </p:nvSpPr>
        <p:spPr>
          <a:xfrm>
            <a:off x="6913440" y="2637000"/>
            <a:ext cx="39297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071a4a"/>
                </a:solidFill>
                <a:latin typeface="Inter Display"/>
              </a:rPr>
              <a:t>1) Em qual passo o programa precisa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71a4a"/>
                </a:solidFill>
                <a:latin typeface="Inter Display"/>
              </a:rPr>
              <a:t>“</a:t>
            </a:r>
            <a:r>
              <a:rPr b="1" lang="pt-BR" sz="1800" spc="-1" strike="noStrike">
                <a:solidFill>
                  <a:srgbClr val="071a4a"/>
                </a:solidFill>
                <a:latin typeface="Inter Display"/>
              </a:rPr>
              <a:t>tomar uma decisão”?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35"/>
          <p:cNvSpPr/>
          <p:nvPr/>
        </p:nvSpPr>
        <p:spPr>
          <a:xfrm>
            <a:off x="1785600" y="175320"/>
            <a:ext cx="244476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25" name="Connector 9"/>
          <p:cNvCxnSpPr/>
          <p:nvPr/>
        </p:nvCxnSpPr>
        <p:spPr>
          <a:xfrm>
            <a:off x="676440" y="484560"/>
            <a:ext cx="2387880" cy="108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226" name="Connector 10"/>
          <p:cNvCxnSpPr/>
          <p:nvPr/>
        </p:nvCxnSpPr>
        <p:spPr>
          <a:xfrm>
            <a:off x="3063240" y="484560"/>
            <a:ext cx="1738440" cy="108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227" name="Connector 11"/>
          <p:cNvCxnSpPr/>
          <p:nvPr/>
        </p:nvCxnSpPr>
        <p:spPr>
          <a:xfrm>
            <a:off x="4800600" y="484560"/>
            <a:ext cx="2195640" cy="108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228" name="Connector 12"/>
          <p:cNvCxnSpPr/>
          <p:nvPr/>
        </p:nvCxnSpPr>
        <p:spPr>
          <a:xfrm>
            <a:off x="6995160" y="484560"/>
            <a:ext cx="3567240" cy="108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sp>
        <p:nvSpPr>
          <p:cNvPr id="229" name="TextBox 44"/>
          <p:cNvSpPr/>
          <p:nvPr/>
        </p:nvSpPr>
        <p:spPr>
          <a:xfrm>
            <a:off x="4123080" y="768240"/>
            <a:ext cx="3383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Como começar no Google Colab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45"/>
          <p:cNvSpPr/>
          <p:nvPr/>
        </p:nvSpPr>
        <p:spPr>
          <a:xfrm>
            <a:off x="1636560" y="1307520"/>
            <a:ext cx="830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Abra um notebook, escreva uma instrução e execute seu primeiro código Python.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46"/>
          <p:cNvSpPr/>
          <p:nvPr/>
        </p:nvSpPr>
        <p:spPr>
          <a:xfrm>
            <a:off x="3406320" y="6419160"/>
            <a:ext cx="25866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47"/>
          <p:cNvSpPr/>
          <p:nvPr/>
        </p:nvSpPr>
        <p:spPr>
          <a:xfrm>
            <a:off x="11215800" y="6419160"/>
            <a:ext cx="1069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9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ounded Rectangle 24"/>
          <p:cNvSpPr/>
          <p:nvPr/>
        </p:nvSpPr>
        <p:spPr>
          <a:xfrm>
            <a:off x="850320" y="1883520"/>
            <a:ext cx="5183640" cy="1068840"/>
          </a:xfrm>
          <a:prstGeom prst="roundRect">
            <a:avLst>
              <a:gd name="adj" fmla="val 16667"/>
            </a:avLst>
          </a:prstGeom>
          <a:solidFill>
            <a:srgbClr val="e8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34" name="Rounded Rectangle 29"/>
          <p:cNvSpPr/>
          <p:nvPr/>
        </p:nvSpPr>
        <p:spPr>
          <a:xfrm>
            <a:off x="978480" y="2066400"/>
            <a:ext cx="437760" cy="437760"/>
          </a:xfrm>
          <a:prstGeom prst="roundRect">
            <a:avLst>
              <a:gd name="adj" fmla="val 16667"/>
            </a:avLst>
          </a:prstGeom>
          <a:solidFill>
            <a:srgbClr val="1a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35" name="TextBox 48"/>
          <p:cNvSpPr/>
          <p:nvPr/>
        </p:nvSpPr>
        <p:spPr>
          <a:xfrm>
            <a:off x="1060560" y="2112120"/>
            <a:ext cx="2822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</a:rPr>
              <a:t>1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49"/>
          <p:cNvSpPr/>
          <p:nvPr/>
        </p:nvSpPr>
        <p:spPr>
          <a:xfrm>
            <a:off x="1545480" y="2002680"/>
            <a:ext cx="42508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pt-BR" sz="1800" spc="-1" strike="noStrike">
                <a:solidFill>
                  <a:srgbClr val="1b4669"/>
                </a:solidFill>
                <a:latin typeface="Aptos"/>
              </a:rPr>
              <a:t>Acesse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50"/>
          <p:cNvSpPr/>
          <p:nvPr/>
        </p:nvSpPr>
        <p:spPr>
          <a:xfrm>
            <a:off x="1545480" y="2359080"/>
            <a:ext cx="425088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pt-BR" sz="1300" spc="-1" strike="noStrike">
                <a:solidFill>
                  <a:srgbClr val="374e5f"/>
                </a:solidFill>
                <a:latin typeface="Aptos"/>
              </a:rPr>
              <a:t>https://colab.research.google.com/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Rounded Rectangle 30"/>
          <p:cNvSpPr/>
          <p:nvPr/>
        </p:nvSpPr>
        <p:spPr>
          <a:xfrm>
            <a:off x="6336720" y="1883520"/>
            <a:ext cx="5183640" cy="1068840"/>
          </a:xfrm>
          <a:prstGeom prst="roundRect">
            <a:avLst>
              <a:gd name="adj" fmla="val 16667"/>
            </a:avLst>
          </a:prstGeom>
          <a:solidFill>
            <a:srgbClr val="e8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39" name="Rounded Rectangle 31"/>
          <p:cNvSpPr/>
          <p:nvPr/>
        </p:nvSpPr>
        <p:spPr>
          <a:xfrm>
            <a:off x="6464880" y="2066400"/>
            <a:ext cx="437760" cy="437760"/>
          </a:xfrm>
          <a:prstGeom prst="roundRect">
            <a:avLst>
              <a:gd name="adj" fmla="val 16667"/>
            </a:avLst>
          </a:prstGeom>
          <a:solidFill>
            <a:srgbClr val="1a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40" name="TextBox 51"/>
          <p:cNvSpPr/>
          <p:nvPr/>
        </p:nvSpPr>
        <p:spPr>
          <a:xfrm>
            <a:off x="6546960" y="2112120"/>
            <a:ext cx="2822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</a:rPr>
              <a:t>2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Box 52"/>
          <p:cNvSpPr/>
          <p:nvPr/>
        </p:nvSpPr>
        <p:spPr>
          <a:xfrm>
            <a:off x="7031880" y="2002680"/>
            <a:ext cx="42508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pt-BR" sz="1800" spc="-1" strike="noStrike">
                <a:solidFill>
                  <a:srgbClr val="1b4669"/>
                </a:solidFill>
                <a:latin typeface="Aptos"/>
              </a:rPr>
              <a:t>Entre com sua conta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53"/>
          <p:cNvSpPr/>
          <p:nvPr/>
        </p:nvSpPr>
        <p:spPr>
          <a:xfrm>
            <a:off x="7031880" y="2359080"/>
            <a:ext cx="425088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pt-BR" sz="1300" spc="-1" strike="noStrike">
                <a:solidFill>
                  <a:srgbClr val="374e5f"/>
                </a:solidFill>
                <a:latin typeface="Aptos"/>
              </a:rPr>
              <a:t>Faça login com uma conta Google.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ounded Rectangle 32"/>
          <p:cNvSpPr/>
          <p:nvPr/>
        </p:nvSpPr>
        <p:spPr>
          <a:xfrm>
            <a:off x="850320" y="3117960"/>
            <a:ext cx="5183640" cy="1068840"/>
          </a:xfrm>
          <a:prstGeom prst="roundRect">
            <a:avLst>
              <a:gd name="adj" fmla="val 16667"/>
            </a:avLst>
          </a:prstGeom>
          <a:solidFill>
            <a:srgbClr val="e8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44" name="Rounded Rectangle 33"/>
          <p:cNvSpPr/>
          <p:nvPr/>
        </p:nvSpPr>
        <p:spPr>
          <a:xfrm>
            <a:off x="978480" y="3300840"/>
            <a:ext cx="437760" cy="437760"/>
          </a:xfrm>
          <a:prstGeom prst="roundRect">
            <a:avLst>
              <a:gd name="adj" fmla="val 16667"/>
            </a:avLst>
          </a:prstGeom>
          <a:solidFill>
            <a:srgbClr val="1a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45" name="TextBox 54"/>
          <p:cNvSpPr/>
          <p:nvPr/>
        </p:nvSpPr>
        <p:spPr>
          <a:xfrm>
            <a:off x="1060560" y="3346560"/>
            <a:ext cx="2822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</a:rPr>
              <a:t>3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55"/>
          <p:cNvSpPr/>
          <p:nvPr/>
        </p:nvSpPr>
        <p:spPr>
          <a:xfrm>
            <a:off x="1545480" y="3237120"/>
            <a:ext cx="42508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pt-BR" sz="1800" spc="-1" strike="noStrike">
                <a:solidFill>
                  <a:srgbClr val="1b4669"/>
                </a:solidFill>
                <a:latin typeface="Aptos"/>
              </a:rPr>
              <a:t>Crie o notebook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56"/>
          <p:cNvSpPr/>
          <p:nvPr/>
        </p:nvSpPr>
        <p:spPr>
          <a:xfrm>
            <a:off x="1545480" y="3593520"/>
            <a:ext cx="42508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pt-BR" sz="1300" spc="-1" strike="noStrike">
                <a:solidFill>
                  <a:srgbClr val="374e5f"/>
                </a:solidFill>
                <a:latin typeface="Aptos"/>
              </a:rPr>
              <a:t>Clique em “Novo notebook” (ou Arquivo → Novo notebook).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Rounded Rectangle 34"/>
          <p:cNvSpPr/>
          <p:nvPr/>
        </p:nvSpPr>
        <p:spPr>
          <a:xfrm>
            <a:off x="6336720" y="3117960"/>
            <a:ext cx="5183640" cy="1068840"/>
          </a:xfrm>
          <a:prstGeom prst="roundRect">
            <a:avLst>
              <a:gd name="adj" fmla="val 16667"/>
            </a:avLst>
          </a:prstGeom>
          <a:solidFill>
            <a:srgbClr val="e8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49" name="Rounded Rectangle 36"/>
          <p:cNvSpPr/>
          <p:nvPr/>
        </p:nvSpPr>
        <p:spPr>
          <a:xfrm>
            <a:off x="6464880" y="3300840"/>
            <a:ext cx="437760" cy="437760"/>
          </a:xfrm>
          <a:prstGeom prst="roundRect">
            <a:avLst>
              <a:gd name="adj" fmla="val 16667"/>
            </a:avLst>
          </a:prstGeom>
          <a:solidFill>
            <a:srgbClr val="1a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50" name="TextBox 57"/>
          <p:cNvSpPr/>
          <p:nvPr/>
        </p:nvSpPr>
        <p:spPr>
          <a:xfrm>
            <a:off x="6546960" y="3346560"/>
            <a:ext cx="2822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</a:rPr>
              <a:t>4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58"/>
          <p:cNvSpPr/>
          <p:nvPr/>
        </p:nvSpPr>
        <p:spPr>
          <a:xfrm>
            <a:off x="7031880" y="3237120"/>
            <a:ext cx="42508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pt-BR" sz="1800" spc="-1" strike="noStrike">
                <a:solidFill>
                  <a:srgbClr val="1b4669"/>
                </a:solidFill>
                <a:latin typeface="Aptos"/>
              </a:rPr>
              <a:t>Digite e execute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59"/>
          <p:cNvSpPr/>
          <p:nvPr/>
        </p:nvSpPr>
        <p:spPr>
          <a:xfrm>
            <a:off x="7031880" y="3593520"/>
            <a:ext cx="42508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pt-BR" sz="1300" spc="-1" strike="noStrike">
                <a:solidFill>
                  <a:srgbClr val="374e5f"/>
                </a:solidFill>
                <a:latin typeface="Aptos"/>
              </a:rPr>
              <a:t>Na primeira célula, escreva o código e clique em ▶ ou use Shift + Enter.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Rounded Rectangle 37"/>
          <p:cNvSpPr/>
          <p:nvPr/>
        </p:nvSpPr>
        <p:spPr>
          <a:xfrm>
            <a:off x="859680" y="4498920"/>
            <a:ext cx="10642680" cy="986400"/>
          </a:xfrm>
          <a:prstGeom prst="roundRect">
            <a:avLst>
              <a:gd name="adj" fmla="val 16667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54" name="TextBox 60"/>
          <p:cNvSpPr/>
          <p:nvPr/>
        </p:nvSpPr>
        <p:spPr>
          <a:xfrm>
            <a:off x="1088280" y="4636080"/>
            <a:ext cx="383940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pt-BR" sz="1300" spc="-1" strike="noStrike">
                <a:solidFill>
                  <a:srgbClr val="1a6f9f"/>
                </a:solidFill>
                <a:latin typeface="Aptos"/>
              </a:rPr>
              <a:t>PRIMEIRO CÓDIGO PYTHON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61"/>
          <p:cNvSpPr/>
          <p:nvPr/>
        </p:nvSpPr>
        <p:spPr>
          <a:xfrm>
            <a:off x="1088280" y="4965120"/>
            <a:ext cx="548532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pt-BR" sz="1900" spc="-1" strike="noStrike">
                <a:solidFill>
                  <a:srgbClr val="1b4669"/>
                </a:solidFill>
                <a:latin typeface="Consolas"/>
              </a:rPr>
              <a:t>print("Olá, saúde digital!")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62"/>
          <p:cNvSpPr/>
          <p:nvPr/>
        </p:nvSpPr>
        <p:spPr>
          <a:xfrm>
            <a:off x="7369920" y="4709160"/>
            <a:ext cx="374796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pt-BR" sz="1200" spc="-1" strike="noStrike">
                <a:solidFill>
                  <a:srgbClr val="168273"/>
                </a:solidFill>
                <a:latin typeface="Aptos"/>
              </a:rPr>
              <a:t>SAÍDA ESPERADA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63"/>
          <p:cNvSpPr/>
          <p:nvPr/>
        </p:nvSpPr>
        <p:spPr>
          <a:xfrm>
            <a:off x="7369920" y="5020200"/>
            <a:ext cx="37479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pt-BR" sz="1600" spc="-1" strike="noStrike">
                <a:solidFill>
                  <a:srgbClr val="1b4669"/>
                </a:solidFill>
                <a:latin typeface="Aptos"/>
              </a:rPr>
              <a:t>Olá, saúde digital!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64"/>
          <p:cNvSpPr/>
          <p:nvPr/>
        </p:nvSpPr>
        <p:spPr>
          <a:xfrm>
            <a:off x="951120" y="5687640"/>
            <a:ext cx="1042308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pt-BR" sz="1300" spc="-1" strike="noStrike">
                <a:solidFill>
                  <a:srgbClr val="495b66"/>
                </a:solidFill>
                <a:latin typeface="Aptos"/>
              </a:rPr>
              <a:t>Dica: renomeie o notebook no canto superior esquerdo (ex.: PR02_Primeiro_Programa).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60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261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262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263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264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265" name="TextBox 7"/>
          <p:cNvSpPr/>
          <p:nvPr/>
        </p:nvSpPr>
        <p:spPr>
          <a:xfrm>
            <a:off x="2907000" y="768240"/>
            <a:ext cx="581508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Google Colab: Python no navegador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Box 8"/>
          <p:cNvSpPr/>
          <p:nvPr/>
        </p:nvSpPr>
        <p:spPr>
          <a:xfrm>
            <a:off x="3677400" y="1307520"/>
            <a:ext cx="4219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Não precisamos instalar Python para acompanhar a aula.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Box 10"/>
          <p:cNvSpPr/>
          <p:nvPr/>
        </p:nvSpPr>
        <p:spPr>
          <a:xfrm>
            <a:off x="11215800" y="6419160"/>
            <a:ext cx="106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9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Rounded Rectangle 11"/>
          <p:cNvSpPr/>
          <p:nvPr/>
        </p:nvSpPr>
        <p:spPr>
          <a:xfrm>
            <a:off x="868680" y="1847160"/>
            <a:ext cx="6810480" cy="3344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70" name="Rounded Rectangle 12"/>
          <p:cNvSpPr/>
          <p:nvPr/>
        </p:nvSpPr>
        <p:spPr>
          <a:xfrm>
            <a:off x="868680" y="1847160"/>
            <a:ext cx="6810480" cy="418680"/>
          </a:xfrm>
          <a:prstGeom prst="roundRect">
            <a:avLst>
              <a:gd name="adj" fmla="val 16667"/>
            </a:avLst>
          </a:prstGeom>
          <a:solidFill>
            <a:srgbClr val="eef3f9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71" name="Oval 13"/>
          <p:cNvSpPr/>
          <p:nvPr/>
        </p:nvSpPr>
        <p:spPr>
          <a:xfrm>
            <a:off x="1078920" y="1974960"/>
            <a:ext cx="89640" cy="89640"/>
          </a:xfrm>
          <a:prstGeom prst="ellipse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72" name="Oval 14"/>
          <p:cNvSpPr/>
          <p:nvPr/>
        </p:nvSpPr>
        <p:spPr>
          <a:xfrm>
            <a:off x="1316880" y="1974960"/>
            <a:ext cx="89640" cy="89640"/>
          </a:xfrm>
          <a:prstGeom prst="ellipse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73" name="Oval 15"/>
          <p:cNvSpPr/>
          <p:nvPr/>
        </p:nvSpPr>
        <p:spPr>
          <a:xfrm>
            <a:off x="1554480" y="1974960"/>
            <a:ext cx="89640" cy="89640"/>
          </a:xfrm>
          <a:prstGeom prst="ellipse">
            <a:avLst/>
          </a:prstGeom>
          <a:solidFill>
            <a:srgbClr val="2f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74" name="TextBox 16"/>
          <p:cNvSpPr/>
          <p:nvPr/>
        </p:nvSpPr>
        <p:spPr>
          <a:xfrm>
            <a:off x="2665440" y="2592360"/>
            <a:ext cx="28054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▶  </a:t>
            </a: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print("Olá, Python!")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Rounded Rectangle 17"/>
          <p:cNvSpPr/>
          <p:nvPr/>
        </p:nvSpPr>
        <p:spPr>
          <a:xfrm>
            <a:off x="1078920" y="3127320"/>
            <a:ext cx="6353280" cy="107712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76" name="TextBox 18"/>
          <p:cNvSpPr/>
          <p:nvPr/>
        </p:nvSpPr>
        <p:spPr>
          <a:xfrm>
            <a:off x="3535560" y="3415680"/>
            <a:ext cx="143064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Olá, Python!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Box 19"/>
          <p:cNvSpPr/>
          <p:nvPr/>
        </p:nvSpPr>
        <p:spPr>
          <a:xfrm>
            <a:off x="7133760" y="2583000"/>
            <a:ext cx="1231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900" spc="-1" strike="noStrike">
                <a:solidFill>
                  <a:srgbClr val="91a0b6"/>
                </a:solidFill>
                <a:latin typeface="DejaVu Sans Mono"/>
              </a:rPr>
              <a:t>1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20"/>
          <p:cNvSpPr/>
          <p:nvPr/>
        </p:nvSpPr>
        <p:spPr>
          <a:xfrm>
            <a:off x="8091720" y="1993320"/>
            <a:ext cx="1641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10b9f3"/>
                </a:solidFill>
                <a:latin typeface="Lato"/>
              </a:rPr>
              <a:t>•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Box 21"/>
          <p:cNvSpPr/>
          <p:nvPr/>
        </p:nvSpPr>
        <p:spPr>
          <a:xfrm>
            <a:off x="8102520" y="1993320"/>
            <a:ext cx="299736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071a4a"/>
                </a:solidFill>
                <a:latin typeface="Lato"/>
              </a:rPr>
              <a:t>Cada célula pode conter código ou texto.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Box 22"/>
          <p:cNvSpPr/>
          <p:nvPr/>
        </p:nvSpPr>
        <p:spPr>
          <a:xfrm>
            <a:off x="8091720" y="2633400"/>
            <a:ext cx="1641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10b9f3"/>
                </a:solidFill>
                <a:latin typeface="Lato"/>
              </a:rPr>
              <a:t>•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Box 23"/>
          <p:cNvSpPr/>
          <p:nvPr/>
        </p:nvSpPr>
        <p:spPr>
          <a:xfrm>
            <a:off x="8662320" y="2633400"/>
            <a:ext cx="18756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071a4a"/>
                </a:solidFill>
                <a:latin typeface="Lato"/>
              </a:rPr>
              <a:t>▶ </a:t>
            </a:r>
            <a:r>
              <a:rPr b="0" lang="pt-BR" sz="1300" spc="-1" strike="noStrike">
                <a:solidFill>
                  <a:srgbClr val="071a4a"/>
                </a:solidFill>
                <a:latin typeface="Lato"/>
              </a:rPr>
              <a:t>executa a célula atual.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Box 24"/>
          <p:cNvSpPr/>
          <p:nvPr/>
        </p:nvSpPr>
        <p:spPr>
          <a:xfrm>
            <a:off x="8091720" y="3273480"/>
            <a:ext cx="1641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10b9f3"/>
                </a:solidFill>
                <a:latin typeface="Lato"/>
              </a:rPr>
              <a:t>•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Box 25"/>
          <p:cNvSpPr/>
          <p:nvPr/>
        </p:nvSpPr>
        <p:spPr>
          <a:xfrm>
            <a:off x="8563320" y="3273480"/>
            <a:ext cx="20736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071a4a"/>
                </a:solidFill>
                <a:latin typeface="Lato"/>
              </a:rPr>
              <a:t>A saída aparece logo abaixo.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Box 26"/>
          <p:cNvSpPr/>
          <p:nvPr/>
        </p:nvSpPr>
        <p:spPr>
          <a:xfrm>
            <a:off x="8091720" y="3913560"/>
            <a:ext cx="1641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10b9f3"/>
                </a:solidFill>
                <a:latin typeface="Lato"/>
              </a:rPr>
              <a:t>•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Box 27"/>
          <p:cNvSpPr/>
          <p:nvPr/>
        </p:nvSpPr>
        <p:spPr>
          <a:xfrm>
            <a:off x="8476560" y="3913560"/>
            <a:ext cx="224748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071a4a"/>
                </a:solidFill>
                <a:latin typeface="Lato"/>
              </a:rPr>
              <a:t>A ordem de execução importa.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Rounded Rectangle 28"/>
          <p:cNvSpPr/>
          <p:nvPr/>
        </p:nvSpPr>
        <p:spPr>
          <a:xfrm>
            <a:off x="8101440" y="4727520"/>
            <a:ext cx="2604240" cy="345600"/>
          </a:xfrm>
          <a:prstGeom prst="roundRect">
            <a:avLst>
              <a:gd name="adj" fmla="val 16667"/>
            </a:avLst>
          </a:prstGeom>
          <a:solidFill>
            <a:srgbClr val="10b9f3"/>
          </a:solidFill>
          <a:ln w="1270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87" name="TextBox 29"/>
          <p:cNvSpPr/>
          <p:nvPr/>
        </p:nvSpPr>
        <p:spPr>
          <a:xfrm>
            <a:off x="8635680" y="4797720"/>
            <a:ext cx="153576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071a4a"/>
                </a:solidFill>
                <a:latin typeface="Lato"/>
              </a:rPr>
              <a:t>colab.research.google.com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9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290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291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292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293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294" name="TextBox 7"/>
          <p:cNvSpPr/>
          <p:nvPr/>
        </p:nvSpPr>
        <p:spPr>
          <a:xfrm>
            <a:off x="4286160" y="768240"/>
            <a:ext cx="30567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Primeiro programa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Box 8"/>
          <p:cNvSpPr/>
          <p:nvPr/>
        </p:nvSpPr>
        <p:spPr>
          <a:xfrm>
            <a:off x="4244400" y="1307520"/>
            <a:ext cx="3085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print() envia uma mensagem para a saída.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10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Rounded Rectangle 11"/>
          <p:cNvSpPr/>
          <p:nvPr/>
        </p:nvSpPr>
        <p:spPr>
          <a:xfrm>
            <a:off x="1005840" y="2422080"/>
            <a:ext cx="5484600" cy="210132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99" name="TextBox 12"/>
          <p:cNvSpPr/>
          <p:nvPr/>
        </p:nvSpPr>
        <p:spPr>
          <a:xfrm>
            <a:off x="3233880" y="2531880"/>
            <a:ext cx="10281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CÉLULA PYTHON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13"/>
          <p:cNvSpPr/>
          <p:nvPr/>
        </p:nvSpPr>
        <p:spPr>
          <a:xfrm>
            <a:off x="1982880" y="3060000"/>
            <a:ext cx="341640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71a4a"/>
                </a:solidFill>
                <a:latin typeface="DejaVu Sans Mono"/>
              </a:rPr>
              <a:t>print("Olá, saúde digital!")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71a4a"/>
                </a:solidFill>
                <a:latin typeface="DejaVu Sans Mono"/>
              </a:rPr>
              <a:t>print(2 + 3)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Rounded Rectangle 14"/>
          <p:cNvSpPr/>
          <p:nvPr/>
        </p:nvSpPr>
        <p:spPr>
          <a:xfrm>
            <a:off x="1005840" y="4635000"/>
            <a:ext cx="5484600" cy="583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02" name="TextBox 15"/>
          <p:cNvSpPr/>
          <p:nvPr/>
        </p:nvSpPr>
        <p:spPr>
          <a:xfrm>
            <a:off x="1289520" y="4708080"/>
            <a:ext cx="3729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5b6b86"/>
                </a:solidFill>
                <a:latin typeface="Lato"/>
              </a:rPr>
              <a:t>SAÍDA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Box 16"/>
          <p:cNvSpPr/>
          <p:nvPr/>
        </p:nvSpPr>
        <p:spPr>
          <a:xfrm>
            <a:off x="3211200" y="4689720"/>
            <a:ext cx="1796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Olá, saúde digital!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5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Rounded Rectangle 17"/>
          <p:cNvSpPr/>
          <p:nvPr/>
        </p:nvSpPr>
        <p:spPr>
          <a:xfrm>
            <a:off x="6903720" y="2422080"/>
            <a:ext cx="4158720" cy="2723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05" name="TextBox 18"/>
          <p:cNvSpPr/>
          <p:nvPr/>
        </p:nvSpPr>
        <p:spPr>
          <a:xfrm>
            <a:off x="8336520" y="2694960"/>
            <a:ext cx="12841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100" spc="-1" strike="noStrike">
                <a:solidFill>
                  <a:srgbClr val="f36b21"/>
                </a:solidFill>
                <a:latin typeface="Lato"/>
              </a:rPr>
              <a:t>Experimento rápido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Box 19"/>
          <p:cNvSpPr/>
          <p:nvPr/>
        </p:nvSpPr>
        <p:spPr>
          <a:xfrm>
            <a:off x="7164360" y="3135240"/>
            <a:ext cx="17172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f36b21"/>
                </a:solidFill>
                <a:latin typeface="Lato"/>
              </a:rPr>
              <a:t>•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Box 20"/>
          <p:cNvSpPr/>
          <p:nvPr/>
        </p:nvSpPr>
        <p:spPr>
          <a:xfrm>
            <a:off x="8178480" y="3135240"/>
            <a:ext cx="165456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Lato"/>
              </a:rPr>
              <a:t>Troque a mensagem.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Box 21"/>
          <p:cNvSpPr/>
          <p:nvPr/>
        </p:nvSpPr>
        <p:spPr>
          <a:xfrm>
            <a:off x="7164360" y="3702240"/>
            <a:ext cx="17172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f36b21"/>
                </a:solidFill>
                <a:latin typeface="Lato"/>
              </a:rPr>
              <a:t>•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Box 22"/>
          <p:cNvSpPr/>
          <p:nvPr/>
        </p:nvSpPr>
        <p:spPr>
          <a:xfrm>
            <a:off x="7668000" y="3702240"/>
            <a:ext cx="267552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Lato"/>
              </a:rPr>
              <a:t>Mude 2 + 3 para outra expressão.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Box 23"/>
          <p:cNvSpPr/>
          <p:nvPr/>
        </p:nvSpPr>
        <p:spPr>
          <a:xfrm>
            <a:off x="7164360" y="4269240"/>
            <a:ext cx="17172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f36b21"/>
                </a:solidFill>
                <a:latin typeface="Lato"/>
              </a:rPr>
              <a:t>•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Box 24"/>
          <p:cNvSpPr/>
          <p:nvPr/>
        </p:nvSpPr>
        <p:spPr>
          <a:xfrm>
            <a:off x="8186040" y="4269240"/>
            <a:ext cx="16394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Lato"/>
              </a:rPr>
              <a:t>Execute novamente.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Box 25"/>
          <p:cNvSpPr/>
          <p:nvPr/>
        </p:nvSpPr>
        <p:spPr>
          <a:xfrm>
            <a:off x="7679520" y="4722120"/>
            <a:ext cx="25246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500" spc="-1" strike="noStrike">
                <a:solidFill>
                  <a:srgbClr val="071a4a"/>
                </a:solidFill>
                <a:latin typeface="Inter Display"/>
              </a:rPr>
              <a:t>Código → execução → saída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Box 3"/>
          <p:cNvSpPr/>
          <p:nvPr/>
        </p:nvSpPr>
        <p:spPr>
          <a:xfrm>
            <a:off x="1409760" y="1980000"/>
            <a:ext cx="486396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ff0000"/>
                </a:solidFill>
                <a:latin typeface="Lato"/>
              </a:rPr>
              <a:t>Adicione um novo bloco de código para cada exemplo.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15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316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317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318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319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320" name="TextBox 7"/>
          <p:cNvSpPr/>
          <p:nvPr/>
        </p:nvSpPr>
        <p:spPr>
          <a:xfrm>
            <a:off x="3144600" y="768240"/>
            <a:ext cx="533952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Comentários e erros fazem parte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Box 8"/>
          <p:cNvSpPr/>
          <p:nvPr/>
        </p:nvSpPr>
        <p:spPr>
          <a:xfrm>
            <a:off x="3591360" y="1307520"/>
            <a:ext cx="4391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Ler a mensagem de erro é uma habilidade de programação.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11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Rounded Rectangle 11"/>
          <p:cNvSpPr/>
          <p:nvPr/>
        </p:nvSpPr>
        <p:spPr>
          <a:xfrm>
            <a:off x="900000" y="2340000"/>
            <a:ext cx="5987520" cy="246708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25" name="TextBox 12"/>
          <p:cNvSpPr/>
          <p:nvPr/>
        </p:nvSpPr>
        <p:spPr>
          <a:xfrm>
            <a:off x="3250800" y="2449800"/>
            <a:ext cx="12859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EXEMPLO COM ERRO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Box 13"/>
          <p:cNvSpPr/>
          <p:nvPr/>
        </p:nvSpPr>
        <p:spPr>
          <a:xfrm>
            <a:off x="2537280" y="3139920"/>
            <a:ext cx="2682000" cy="64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# isto é um comentário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print("Leitura recebida")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print(valor_inexistente)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Rounded Rectangle 14"/>
          <p:cNvSpPr/>
          <p:nvPr/>
        </p:nvSpPr>
        <p:spPr>
          <a:xfrm>
            <a:off x="900000" y="4918680"/>
            <a:ext cx="5987520" cy="583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28" name="TextBox 15"/>
          <p:cNvSpPr/>
          <p:nvPr/>
        </p:nvSpPr>
        <p:spPr>
          <a:xfrm>
            <a:off x="1183320" y="4991760"/>
            <a:ext cx="3729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5b6b86"/>
                </a:solidFill>
                <a:latin typeface="Lato"/>
              </a:rPr>
              <a:t>SAÍDA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Box 16"/>
          <p:cNvSpPr/>
          <p:nvPr/>
        </p:nvSpPr>
        <p:spPr>
          <a:xfrm>
            <a:off x="1933920" y="4973400"/>
            <a:ext cx="4641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NameError: name 'valor_inexistente' is not defined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Rounded Rectangle 17"/>
          <p:cNvSpPr/>
          <p:nvPr/>
        </p:nvSpPr>
        <p:spPr>
          <a:xfrm>
            <a:off x="7218360" y="2340000"/>
            <a:ext cx="3820320" cy="100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31" name="TextBox 18"/>
          <p:cNvSpPr/>
          <p:nvPr/>
        </p:nvSpPr>
        <p:spPr>
          <a:xfrm>
            <a:off x="9066600" y="2458800"/>
            <a:ext cx="1231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f72585"/>
                </a:solidFill>
                <a:latin typeface="Lato"/>
              </a:rPr>
              <a:t>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Box 19"/>
          <p:cNvSpPr/>
          <p:nvPr/>
        </p:nvSpPr>
        <p:spPr>
          <a:xfrm>
            <a:off x="8174520" y="2890080"/>
            <a:ext cx="190764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071a4a"/>
                </a:solidFill>
                <a:latin typeface="Lato"/>
              </a:rPr>
              <a:t>Leia a última linha do erro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Rounded Rectangle 20"/>
          <p:cNvSpPr/>
          <p:nvPr/>
        </p:nvSpPr>
        <p:spPr>
          <a:xfrm>
            <a:off x="7218360" y="3510360"/>
            <a:ext cx="3820320" cy="100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34" name="TextBox 21"/>
          <p:cNvSpPr/>
          <p:nvPr/>
        </p:nvSpPr>
        <p:spPr>
          <a:xfrm>
            <a:off x="9066600" y="3629160"/>
            <a:ext cx="1231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f36b21"/>
                </a:solidFill>
                <a:latin typeface="Lato"/>
              </a:rPr>
              <a:t>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22"/>
          <p:cNvSpPr/>
          <p:nvPr/>
        </p:nvSpPr>
        <p:spPr>
          <a:xfrm>
            <a:off x="8241480" y="4060440"/>
            <a:ext cx="177336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071a4a"/>
                </a:solidFill>
                <a:latin typeface="Lato"/>
              </a:rPr>
              <a:t>Localize a linha indicada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Rounded Rectangle 23"/>
          <p:cNvSpPr/>
          <p:nvPr/>
        </p:nvSpPr>
        <p:spPr>
          <a:xfrm>
            <a:off x="7218360" y="4680720"/>
            <a:ext cx="3820320" cy="100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37" name="TextBox 24"/>
          <p:cNvSpPr/>
          <p:nvPr/>
        </p:nvSpPr>
        <p:spPr>
          <a:xfrm>
            <a:off x="9066600" y="4799880"/>
            <a:ext cx="1231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10b9f3"/>
                </a:solidFill>
                <a:latin typeface="Lato"/>
              </a:rPr>
              <a:t>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Box 25"/>
          <p:cNvSpPr/>
          <p:nvPr/>
        </p:nvSpPr>
        <p:spPr>
          <a:xfrm>
            <a:off x="7956720" y="5132160"/>
            <a:ext cx="2345040" cy="45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071a4a"/>
                </a:solidFill>
                <a:latin typeface="Lato"/>
              </a:rPr>
              <a:t>Corrija uma coisa por vez</a:t>
            </a:r>
            <a:br>
              <a:rPr sz="1300"/>
            </a:br>
            <a:r>
              <a:rPr b="0" lang="pt-BR" sz="1300" spc="-1" strike="noStrike">
                <a:solidFill>
                  <a:srgbClr val="071a4a"/>
                </a:solidFill>
                <a:latin typeface="Lato"/>
              </a:rPr>
              <a:t>(será corrigido no próximo slide)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Box 37"/>
          <p:cNvSpPr/>
          <p:nvPr/>
        </p:nvSpPr>
        <p:spPr>
          <a:xfrm>
            <a:off x="2572200" y="1980000"/>
            <a:ext cx="253548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071a4a"/>
                </a:solidFill>
                <a:latin typeface="Lato"/>
              </a:rPr>
              <a:t>Adicione um novo bloco de código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41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342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343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344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345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346" name="TextBox 7"/>
          <p:cNvSpPr/>
          <p:nvPr/>
        </p:nvSpPr>
        <p:spPr>
          <a:xfrm>
            <a:off x="3403080" y="768240"/>
            <a:ext cx="482292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Variáveis: nomes para valores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Box 8"/>
          <p:cNvSpPr/>
          <p:nvPr/>
        </p:nvSpPr>
        <p:spPr>
          <a:xfrm>
            <a:off x="3169800" y="1307520"/>
            <a:ext cx="52344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Uma variável guarda um valor que pode ser consultado ou substituído.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12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Rounded Rectangle 11"/>
          <p:cNvSpPr/>
          <p:nvPr/>
        </p:nvSpPr>
        <p:spPr>
          <a:xfrm>
            <a:off x="967680" y="2419920"/>
            <a:ext cx="3930120" cy="239400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51" name="TextBox 12"/>
          <p:cNvSpPr/>
          <p:nvPr/>
        </p:nvSpPr>
        <p:spPr>
          <a:xfrm>
            <a:off x="1230480" y="3666960"/>
            <a:ext cx="143064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500" spc="-1" strike="noStrike">
                <a:solidFill>
                  <a:srgbClr val="10b9f3"/>
                </a:solidFill>
                <a:latin typeface="DejaVu Sans Mono"/>
              </a:rPr>
              <a:t>valor_sensor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Box 13"/>
          <p:cNvSpPr/>
          <p:nvPr/>
        </p:nvSpPr>
        <p:spPr>
          <a:xfrm>
            <a:off x="3495240" y="3477960"/>
            <a:ext cx="569520" cy="5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71a4a"/>
                </a:solidFill>
                <a:latin typeface="Inter Display"/>
              </a:rPr>
              <a:t>52</a:t>
            </a:r>
            <a:endParaRPr b="0" lang="pt-B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Box 14"/>
          <p:cNvSpPr/>
          <p:nvPr/>
        </p:nvSpPr>
        <p:spPr>
          <a:xfrm>
            <a:off x="1620000" y="3213360"/>
            <a:ext cx="3668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0" lang="pt-BR" sz="1000" spc="-1" strike="noStrike">
                <a:solidFill>
                  <a:srgbClr val="5b6b86"/>
                </a:solidFill>
                <a:latin typeface="Lato"/>
              </a:rPr>
              <a:t>nome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Box 15"/>
          <p:cNvSpPr/>
          <p:nvPr/>
        </p:nvSpPr>
        <p:spPr>
          <a:xfrm>
            <a:off x="3630600" y="3213360"/>
            <a:ext cx="32868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0" lang="pt-BR" sz="1000" spc="-1" strike="noStrike">
                <a:solidFill>
                  <a:srgbClr val="5b6b86"/>
                </a:solidFill>
                <a:latin typeface="Lato"/>
              </a:rPr>
              <a:t>valor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Rounded Rectangle 16"/>
          <p:cNvSpPr/>
          <p:nvPr/>
        </p:nvSpPr>
        <p:spPr>
          <a:xfrm>
            <a:off x="5329440" y="2419920"/>
            <a:ext cx="5649120" cy="239400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56" name="TextBox 17"/>
          <p:cNvSpPr/>
          <p:nvPr/>
        </p:nvSpPr>
        <p:spPr>
          <a:xfrm>
            <a:off x="7765560" y="2529720"/>
            <a:ext cx="7768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ATRIBUIÇÃO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Box 18"/>
          <p:cNvSpPr/>
          <p:nvPr/>
        </p:nvSpPr>
        <p:spPr>
          <a:xfrm>
            <a:off x="7065360" y="2997360"/>
            <a:ext cx="21772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valor_sensor = 52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print(valor_sensor)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valor_sensor = 78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print(valor_sensor)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Rounded Rectangle 19"/>
          <p:cNvSpPr/>
          <p:nvPr/>
        </p:nvSpPr>
        <p:spPr>
          <a:xfrm>
            <a:off x="5329440" y="4925520"/>
            <a:ext cx="5649120" cy="583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59" name="TextBox 20"/>
          <p:cNvSpPr/>
          <p:nvPr/>
        </p:nvSpPr>
        <p:spPr>
          <a:xfrm>
            <a:off x="5613120" y="4998600"/>
            <a:ext cx="3729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5b6b86"/>
                </a:solidFill>
                <a:latin typeface="Lato"/>
              </a:rPr>
              <a:t>SAÍDA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Box 21"/>
          <p:cNvSpPr/>
          <p:nvPr/>
        </p:nvSpPr>
        <p:spPr>
          <a:xfrm>
            <a:off x="8396640" y="4980240"/>
            <a:ext cx="2372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52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78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Box 22"/>
          <p:cNvSpPr/>
          <p:nvPr/>
        </p:nvSpPr>
        <p:spPr>
          <a:xfrm>
            <a:off x="3260520" y="5760000"/>
            <a:ext cx="483804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0" lang="pt-BR" sz="1400" spc="-1" strike="noStrike">
                <a:solidFill>
                  <a:srgbClr val="5b6b86"/>
                </a:solidFill>
                <a:latin typeface="Lato"/>
              </a:rPr>
              <a:t>O nome permanece. O valor pode mudar durante a execução.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63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364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365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366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367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368" name="TextBox 7"/>
          <p:cNvSpPr/>
          <p:nvPr/>
        </p:nvSpPr>
        <p:spPr>
          <a:xfrm>
            <a:off x="4675680" y="768240"/>
            <a:ext cx="227772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Tipos básicos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Box 8"/>
          <p:cNvSpPr/>
          <p:nvPr/>
        </p:nvSpPr>
        <p:spPr>
          <a:xfrm>
            <a:off x="3599640" y="1307520"/>
            <a:ext cx="4375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O tipo do valor influencia as operações que fazem sentido.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13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Rounded Rectangle 11"/>
          <p:cNvSpPr/>
          <p:nvPr/>
        </p:nvSpPr>
        <p:spPr>
          <a:xfrm>
            <a:off x="868680" y="1938600"/>
            <a:ext cx="2421360" cy="21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73" name="TextBox 12"/>
          <p:cNvSpPr/>
          <p:nvPr/>
        </p:nvSpPr>
        <p:spPr>
          <a:xfrm>
            <a:off x="1951920" y="2057400"/>
            <a:ext cx="2541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10b9f3"/>
                </a:solidFill>
                <a:latin typeface="Lato"/>
              </a:rPr>
              <a:t>INT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Box 13"/>
          <p:cNvSpPr/>
          <p:nvPr/>
        </p:nvSpPr>
        <p:spPr>
          <a:xfrm>
            <a:off x="1314360" y="2885040"/>
            <a:ext cx="152964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Lato"/>
              </a:rPr>
              <a:t>52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Lato"/>
              </a:rPr>
              <a:t>número inteiro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Rounded Rectangle 14"/>
          <p:cNvSpPr/>
          <p:nvPr/>
        </p:nvSpPr>
        <p:spPr>
          <a:xfrm>
            <a:off x="3438000" y="1938600"/>
            <a:ext cx="2421360" cy="21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76" name="TextBox 15"/>
          <p:cNvSpPr/>
          <p:nvPr/>
        </p:nvSpPr>
        <p:spPr>
          <a:xfrm>
            <a:off x="4437360" y="2057400"/>
            <a:ext cx="4230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f36b21"/>
                </a:solidFill>
                <a:latin typeface="Lato"/>
              </a:rPr>
              <a:t>FLOAT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Box 16"/>
          <p:cNvSpPr/>
          <p:nvPr/>
        </p:nvSpPr>
        <p:spPr>
          <a:xfrm>
            <a:off x="3630240" y="2793240"/>
            <a:ext cx="20386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Lato"/>
              </a:rPr>
              <a:t>52.5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Lato"/>
              </a:rPr>
              <a:t>número decimal</a:t>
            </a:r>
            <a:br>
              <a:rPr sz="1800"/>
            </a:br>
            <a:r>
              <a:rPr b="0" lang="pt-BR" sz="1200" spc="-1" strike="noStrike">
                <a:solidFill>
                  <a:srgbClr val="071a4a"/>
                </a:solidFill>
                <a:latin typeface="Lato"/>
              </a:rPr>
              <a:t>(observe o separador decimal)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Rounded Rectangle 17"/>
          <p:cNvSpPr/>
          <p:nvPr/>
        </p:nvSpPr>
        <p:spPr>
          <a:xfrm>
            <a:off x="6007680" y="1938600"/>
            <a:ext cx="2421360" cy="21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79" name="TextBox 18"/>
          <p:cNvSpPr/>
          <p:nvPr/>
        </p:nvSpPr>
        <p:spPr>
          <a:xfrm>
            <a:off x="7083360" y="2057400"/>
            <a:ext cx="2692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f72585"/>
                </a:solidFill>
                <a:latin typeface="Lato"/>
              </a:rPr>
              <a:t>STR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Box 19"/>
          <p:cNvSpPr/>
          <p:nvPr/>
        </p:nvSpPr>
        <p:spPr>
          <a:xfrm>
            <a:off x="6928920" y="2885040"/>
            <a:ext cx="5785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Lato"/>
              </a:rPr>
              <a:t>"OK"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Lato"/>
              </a:rPr>
              <a:t>texto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Rounded Rectangle 20"/>
          <p:cNvSpPr/>
          <p:nvPr/>
        </p:nvSpPr>
        <p:spPr>
          <a:xfrm>
            <a:off x="8577000" y="1938600"/>
            <a:ext cx="2421360" cy="21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82" name="TextBox 21"/>
          <p:cNvSpPr/>
          <p:nvPr/>
        </p:nvSpPr>
        <p:spPr>
          <a:xfrm>
            <a:off x="9592920" y="2057400"/>
            <a:ext cx="3895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725ac1"/>
                </a:solidFill>
                <a:latin typeface="Lato"/>
              </a:rPr>
              <a:t>BOOL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Box 22"/>
          <p:cNvSpPr/>
          <p:nvPr/>
        </p:nvSpPr>
        <p:spPr>
          <a:xfrm>
            <a:off x="9180000" y="2885040"/>
            <a:ext cx="12157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Lato"/>
              </a:rPr>
              <a:t>True / False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Lato"/>
              </a:rPr>
              <a:t>lógico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Rounded Rectangle 23"/>
          <p:cNvSpPr/>
          <p:nvPr/>
        </p:nvSpPr>
        <p:spPr>
          <a:xfrm>
            <a:off x="3383280" y="4572000"/>
            <a:ext cx="5256000" cy="85788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85" name="TextBox 24"/>
          <p:cNvSpPr/>
          <p:nvPr/>
        </p:nvSpPr>
        <p:spPr>
          <a:xfrm>
            <a:off x="5119920" y="4736520"/>
            <a:ext cx="17827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071a4a"/>
                </a:solidFill>
                <a:latin typeface="DejaVu Sans Mono"/>
              </a:rPr>
              <a:t>valor = 52.5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071a4a"/>
                </a:solidFill>
                <a:latin typeface="DejaVu Sans Mono"/>
              </a:rPr>
              <a:t>print(</a:t>
            </a:r>
            <a:r>
              <a:rPr b="1" lang="pt-BR" sz="1300" spc="-1" strike="noStrike">
                <a:solidFill>
                  <a:srgbClr val="bf0041"/>
                </a:solidFill>
                <a:latin typeface="DejaVu Sans Mono"/>
              </a:rPr>
              <a:t>type</a:t>
            </a:r>
            <a:r>
              <a:rPr b="0" lang="pt-BR" sz="1300" spc="-1" strike="noStrike">
                <a:solidFill>
                  <a:srgbClr val="071a4a"/>
                </a:solidFill>
                <a:latin typeface="DejaVu Sans Mono"/>
              </a:rPr>
              <a:t>(valor))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Rounded Rectangle 25"/>
          <p:cNvSpPr/>
          <p:nvPr/>
        </p:nvSpPr>
        <p:spPr>
          <a:xfrm>
            <a:off x="3383280" y="5541120"/>
            <a:ext cx="5256000" cy="583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87" name="TextBox 26"/>
          <p:cNvSpPr/>
          <p:nvPr/>
        </p:nvSpPr>
        <p:spPr>
          <a:xfrm>
            <a:off x="3666960" y="5614560"/>
            <a:ext cx="3729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5b6b86"/>
                </a:solidFill>
                <a:latin typeface="Lato"/>
              </a:rPr>
              <a:t>SAÍDA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Box 27"/>
          <p:cNvSpPr/>
          <p:nvPr/>
        </p:nvSpPr>
        <p:spPr>
          <a:xfrm>
            <a:off x="5657040" y="5596200"/>
            <a:ext cx="1430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&lt;class 'float'&gt;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90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391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392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393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394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395" name="TextBox 7"/>
          <p:cNvSpPr/>
          <p:nvPr/>
        </p:nvSpPr>
        <p:spPr>
          <a:xfrm>
            <a:off x="4289760" y="768240"/>
            <a:ext cx="304920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type() e conversão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Box 8"/>
          <p:cNvSpPr/>
          <p:nvPr/>
        </p:nvSpPr>
        <p:spPr>
          <a:xfrm>
            <a:off x="3607200" y="1307520"/>
            <a:ext cx="43596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Às vezes precisamos transformar um valor antes de usá-lo.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14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Rounded Rectangle 11"/>
          <p:cNvSpPr/>
          <p:nvPr/>
        </p:nvSpPr>
        <p:spPr>
          <a:xfrm>
            <a:off x="896040" y="1901880"/>
            <a:ext cx="5557680" cy="265608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00" name="TextBox 12"/>
          <p:cNvSpPr/>
          <p:nvPr/>
        </p:nvSpPr>
        <p:spPr>
          <a:xfrm>
            <a:off x="2522160" y="2011680"/>
            <a:ext cx="2305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CONVERSÃO DE TEXTO PARA NÚMERO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Box 13"/>
          <p:cNvSpPr/>
          <p:nvPr/>
        </p:nvSpPr>
        <p:spPr>
          <a:xfrm>
            <a:off x="2643480" y="2340000"/>
            <a:ext cx="192600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texto = "52.5"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print(texto)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print(type(texto))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valor = float(texto)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print(valor)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print(type(valor))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print(valor+1)</a:t>
            </a:r>
            <a:br>
              <a:rPr sz="1200"/>
            </a:br>
            <a:r>
              <a:rPr b="0" lang="pt-BR" sz="12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print(</a:t>
            </a:r>
            <a:r>
              <a:rPr b="0" lang="pt-BR" sz="12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texto+1) # Erro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Rounded Rectangle 14"/>
          <p:cNvSpPr/>
          <p:nvPr/>
        </p:nvSpPr>
        <p:spPr>
          <a:xfrm>
            <a:off x="896040" y="4860000"/>
            <a:ext cx="5557680" cy="143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03" name="TextBox 15"/>
          <p:cNvSpPr/>
          <p:nvPr/>
        </p:nvSpPr>
        <p:spPr>
          <a:xfrm>
            <a:off x="1179720" y="5010840"/>
            <a:ext cx="3729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5b6b86"/>
                </a:solidFill>
                <a:latin typeface="Lato"/>
              </a:rPr>
              <a:t>SAÍDA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Box 16"/>
          <p:cNvSpPr/>
          <p:nvPr/>
        </p:nvSpPr>
        <p:spPr>
          <a:xfrm>
            <a:off x="2741400" y="4860000"/>
            <a:ext cx="1272600" cy="11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t-BR" sz="1000" spc="-1" strike="noStrike">
                <a:solidFill>
                  <a:srgbClr val="071a4a"/>
                </a:solidFill>
                <a:latin typeface="DejaVu Sans Mono"/>
              </a:rPr>
              <a:t>52.5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t-BR" sz="1000" spc="-1" strike="noStrike">
                <a:solidFill>
                  <a:srgbClr val="071a4a"/>
                </a:solidFill>
                <a:latin typeface="DejaVu Sans Mono"/>
              </a:rPr>
              <a:t>&lt;class 'str'&gt;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t-BR" sz="1000" spc="-1" strike="noStrike">
                <a:solidFill>
                  <a:srgbClr val="071a4a"/>
                </a:solidFill>
                <a:latin typeface="DejaVu Sans Mono"/>
              </a:rPr>
              <a:t>52.5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t-BR" sz="1000" spc="-1" strike="noStrike">
                <a:solidFill>
                  <a:srgbClr val="071a4a"/>
                </a:solidFill>
                <a:latin typeface="DejaVu Sans Mono"/>
              </a:rPr>
              <a:t>&lt;class 'float'&gt;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t-BR" sz="1000" spc="-1" strike="noStrike">
                <a:solidFill>
                  <a:srgbClr val="071a4a"/>
                </a:solidFill>
                <a:latin typeface="DejaVu Sans Mono"/>
              </a:rPr>
              <a:t>53.5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Rounded Rectangle 17"/>
          <p:cNvSpPr/>
          <p:nvPr/>
        </p:nvSpPr>
        <p:spPr>
          <a:xfrm>
            <a:off x="6903720" y="1901880"/>
            <a:ext cx="4158720" cy="2924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06" name="TextBox 18"/>
          <p:cNvSpPr/>
          <p:nvPr/>
        </p:nvSpPr>
        <p:spPr>
          <a:xfrm>
            <a:off x="8228880" y="2220480"/>
            <a:ext cx="14900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100" spc="-1" strike="noStrike">
                <a:solidFill>
                  <a:srgbClr val="10b9f3"/>
                </a:solidFill>
                <a:latin typeface="Lato"/>
              </a:rPr>
              <a:t>Conversões frequentes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Box 19"/>
          <p:cNvSpPr/>
          <p:nvPr/>
        </p:nvSpPr>
        <p:spPr>
          <a:xfrm>
            <a:off x="7456320" y="2697480"/>
            <a:ext cx="30351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int("52")   → 52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float("52.5") → 52.5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str(52)     → "52"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bool(...)   → True / False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Rounded Rectangle 20"/>
          <p:cNvSpPr/>
          <p:nvPr/>
        </p:nvSpPr>
        <p:spPr>
          <a:xfrm>
            <a:off x="6801120" y="4943160"/>
            <a:ext cx="4357440" cy="455400"/>
          </a:xfrm>
          <a:prstGeom prst="roundRect">
            <a:avLst>
              <a:gd name="adj" fmla="val 16667"/>
            </a:avLst>
          </a:prstGeom>
          <a:solidFill>
            <a:srgbClr val="fff5e8"/>
          </a:solidFill>
          <a:ln w="12700">
            <a:solidFill>
              <a:srgbClr val="f5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09" name="TextBox 21"/>
          <p:cNvSpPr/>
          <p:nvPr/>
        </p:nvSpPr>
        <p:spPr>
          <a:xfrm>
            <a:off x="6840000" y="5040000"/>
            <a:ext cx="4212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40" spc="-1" strike="noStrike">
                <a:solidFill>
                  <a:srgbClr val="8a4a0a"/>
                </a:solidFill>
                <a:latin typeface="Lato"/>
              </a:rPr>
              <a:t>Converter não “corrige” o dado. Apenas muda sua representação.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6840000" y="5760000"/>
            <a:ext cx="4319280" cy="7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DejaVu Sans Mono"/>
              </a:rPr>
              <a:t>Acrescente no final </a:t>
            </a:r>
            <a:r>
              <a:rPr b="0" lang="pt-BR" sz="1400" spc="-1" strike="noStrike">
                <a:solidFill>
                  <a:srgbClr val="bf0041"/>
                </a:solidFill>
                <a:latin typeface="DejaVu Sans Mono"/>
              </a:rPr>
              <a:t>print(texto+1)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12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413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414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415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416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417" name="TextBox 7"/>
          <p:cNvSpPr/>
          <p:nvPr/>
        </p:nvSpPr>
        <p:spPr>
          <a:xfrm>
            <a:off x="2892600" y="768240"/>
            <a:ext cx="584388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input(): recebendo dados do usuário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Box 8"/>
          <p:cNvSpPr/>
          <p:nvPr/>
        </p:nvSpPr>
        <p:spPr>
          <a:xfrm>
            <a:off x="3177360" y="1307520"/>
            <a:ext cx="52192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input() sempre devolve texto — mesmo quando digitamos um número.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15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Rounded Rectangle 11"/>
          <p:cNvSpPr/>
          <p:nvPr/>
        </p:nvSpPr>
        <p:spPr>
          <a:xfrm>
            <a:off x="859680" y="1865520"/>
            <a:ext cx="6563520" cy="301572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22" name="TextBox 12"/>
          <p:cNvSpPr/>
          <p:nvPr/>
        </p:nvSpPr>
        <p:spPr>
          <a:xfrm>
            <a:off x="3398040" y="1974960"/>
            <a:ext cx="14868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ENTRADA + CONVERSÃO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Box 13"/>
          <p:cNvSpPr/>
          <p:nvPr/>
        </p:nvSpPr>
        <p:spPr>
          <a:xfrm>
            <a:off x="1544760" y="2766960"/>
            <a:ext cx="5193360" cy="101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valor_texto = input("Digite um valor de 0 a 100: ")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print(type(valor_texto))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valor_sensor = float(valor_texto)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print(valor_sensor)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Rounded Rectangle 14"/>
          <p:cNvSpPr/>
          <p:nvPr/>
        </p:nvSpPr>
        <p:spPr>
          <a:xfrm>
            <a:off x="859680" y="4992480"/>
            <a:ext cx="6563520" cy="583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25" name="TextBox 15"/>
          <p:cNvSpPr/>
          <p:nvPr/>
        </p:nvSpPr>
        <p:spPr>
          <a:xfrm>
            <a:off x="1143000" y="5065920"/>
            <a:ext cx="3729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5b6b86"/>
                </a:solidFill>
                <a:latin typeface="Lato"/>
              </a:rPr>
              <a:t>SAÍDA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Box 16"/>
          <p:cNvSpPr/>
          <p:nvPr/>
        </p:nvSpPr>
        <p:spPr>
          <a:xfrm>
            <a:off x="3879360" y="5047560"/>
            <a:ext cx="1245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&lt;class 'str'&gt;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52.0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Rounded Rectangle 17"/>
          <p:cNvSpPr/>
          <p:nvPr/>
        </p:nvSpPr>
        <p:spPr>
          <a:xfrm>
            <a:off x="7818120" y="1938600"/>
            <a:ext cx="3235320" cy="116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28" name="TextBox 18"/>
          <p:cNvSpPr/>
          <p:nvPr/>
        </p:nvSpPr>
        <p:spPr>
          <a:xfrm>
            <a:off x="9168120" y="2057400"/>
            <a:ext cx="5346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10b9f3"/>
                </a:solidFill>
                <a:latin typeface="Lato"/>
              </a:rPr>
              <a:t>PASSO 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Box 19"/>
          <p:cNvSpPr/>
          <p:nvPr/>
        </p:nvSpPr>
        <p:spPr>
          <a:xfrm>
            <a:off x="8851320" y="2556000"/>
            <a:ext cx="116856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500" spc="-1" strike="noStrike">
                <a:solidFill>
                  <a:srgbClr val="071a4a"/>
                </a:solidFill>
                <a:latin typeface="Lato"/>
              </a:rPr>
              <a:t>receber texto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Rounded Rectangle 20"/>
          <p:cNvSpPr/>
          <p:nvPr/>
        </p:nvSpPr>
        <p:spPr>
          <a:xfrm>
            <a:off x="7818120" y="3291840"/>
            <a:ext cx="3235320" cy="116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31" name="TextBox 21"/>
          <p:cNvSpPr/>
          <p:nvPr/>
        </p:nvSpPr>
        <p:spPr>
          <a:xfrm>
            <a:off x="9168120" y="3410640"/>
            <a:ext cx="5346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f36b21"/>
                </a:solidFill>
                <a:latin typeface="Lato"/>
              </a:rPr>
              <a:t>PASSO 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Box 22"/>
          <p:cNvSpPr/>
          <p:nvPr/>
        </p:nvSpPr>
        <p:spPr>
          <a:xfrm>
            <a:off x="8586000" y="3909240"/>
            <a:ext cx="169884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500" spc="-1" strike="noStrike">
                <a:solidFill>
                  <a:srgbClr val="071a4a"/>
                </a:solidFill>
                <a:latin typeface="Lato"/>
              </a:rPr>
              <a:t>converter para float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Box 23"/>
          <p:cNvSpPr/>
          <p:nvPr/>
        </p:nvSpPr>
        <p:spPr>
          <a:xfrm>
            <a:off x="2688840" y="5760000"/>
            <a:ext cx="664560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400" spc="-1" strike="noStrike">
                <a:solidFill>
                  <a:srgbClr val="5b6b86"/>
                </a:solidFill>
                <a:latin typeface="Lato"/>
              </a:rPr>
              <a:t>Pergunta: o que aconteceria se tentássemos comparar o texto diretamente com 30?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TextBox 107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35" name="Connector 13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436" name="Connector 15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437" name="Connector 17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438" name="Connector 19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439" name="Picture 2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440" name="TextBox 108"/>
          <p:cNvSpPr/>
          <p:nvPr/>
        </p:nvSpPr>
        <p:spPr>
          <a:xfrm>
            <a:off x="5268960" y="768240"/>
            <a:ext cx="10922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Round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Box 109"/>
          <p:cNvSpPr/>
          <p:nvPr/>
        </p:nvSpPr>
        <p:spPr>
          <a:xfrm>
            <a:off x="4052880" y="1307520"/>
            <a:ext cx="34772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Um valor numérico </a:t>
            </a:r>
            <a:r>
              <a:rPr b="0" i="1" lang="pt-BR" sz="1330" spc="-1" strike="noStrike">
                <a:solidFill>
                  <a:srgbClr val="5b6b86"/>
                </a:solidFill>
                <a:latin typeface="Lato"/>
              </a:rPr>
              <a:t>float</a:t>
            </a: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 pode ser aredondado 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Box 110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Box 111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15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Rounded Rectangle 45"/>
          <p:cNvSpPr/>
          <p:nvPr/>
        </p:nvSpPr>
        <p:spPr>
          <a:xfrm>
            <a:off x="859680" y="1865520"/>
            <a:ext cx="6563520" cy="301572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45" name="TextBox 112"/>
          <p:cNvSpPr/>
          <p:nvPr/>
        </p:nvSpPr>
        <p:spPr>
          <a:xfrm>
            <a:off x="3398040" y="1974960"/>
            <a:ext cx="14868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ENTRADA + CONVERSÃO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Box 113"/>
          <p:cNvSpPr/>
          <p:nvPr/>
        </p:nvSpPr>
        <p:spPr>
          <a:xfrm>
            <a:off x="1291320" y="2766960"/>
            <a:ext cx="5700960" cy="16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valor_texto = input("Digite um valor </a:t>
            </a: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de 0 a 100: ")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print(type(valor_texto))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valor_sensor = float(valor_texto)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print(valor_sensor)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valor_sensor = round(</a:t>
            </a: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valor_sensor, 1) </a:t>
            </a: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# Uma casa decimal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print(valor_sensor)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Rounded Rectangle 46"/>
          <p:cNvSpPr/>
          <p:nvPr/>
        </p:nvSpPr>
        <p:spPr>
          <a:xfrm>
            <a:off x="859680" y="4992480"/>
            <a:ext cx="6563520" cy="767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48" name="TextBox 114"/>
          <p:cNvSpPr/>
          <p:nvPr/>
        </p:nvSpPr>
        <p:spPr>
          <a:xfrm>
            <a:off x="1143000" y="5065920"/>
            <a:ext cx="3729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5b6b86"/>
                </a:solidFill>
                <a:latin typeface="Lato"/>
              </a:rPr>
              <a:t>SAÍDA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Box 115"/>
          <p:cNvSpPr/>
          <p:nvPr/>
        </p:nvSpPr>
        <p:spPr>
          <a:xfrm>
            <a:off x="3879360" y="5047560"/>
            <a:ext cx="1245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&lt;class 'str'&gt;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52.36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52.4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Rounded Rectangle 47"/>
          <p:cNvSpPr/>
          <p:nvPr/>
        </p:nvSpPr>
        <p:spPr>
          <a:xfrm>
            <a:off x="7744680" y="1938600"/>
            <a:ext cx="3235320" cy="116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51" name="TextBox 116"/>
          <p:cNvSpPr/>
          <p:nvPr/>
        </p:nvSpPr>
        <p:spPr>
          <a:xfrm>
            <a:off x="9168120" y="2057400"/>
            <a:ext cx="5346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10b9f3"/>
                </a:solidFill>
                <a:latin typeface="Lato"/>
              </a:rPr>
              <a:t>PASSO 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Box 117"/>
          <p:cNvSpPr/>
          <p:nvPr/>
        </p:nvSpPr>
        <p:spPr>
          <a:xfrm>
            <a:off x="8851320" y="2556000"/>
            <a:ext cx="116856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500" spc="-1" strike="noStrike">
                <a:solidFill>
                  <a:srgbClr val="071a4a"/>
                </a:solidFill>
                <a:latin typeface="Lato"/>
              </a:rPr>
              <a:t>receber texto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Rounded Rectangle 48"/>
          <p:cNvSpPr/>
          <p:nvPr/>
        </p:nvSpPr>
        <p:spPr>
          <a:xfrm>
            <a:off x="7744680" y="3291840"/>
            <a:ext cx="3235320" cy="116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54" name="TextBox 118"/>
          <p:cNvSpPr/>
          <p:nvPr/>
        </p:nvSpPr>
        <p:spPr>
          <a:xfrm>
            <a:off x="9168120" y="3410640"/>
            <a:ext cx="5346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f36b21"/>
                </a:solidFill>
                <a:latin typeface="Lato"/>
              </a:rPr>
              <a:t>PASSO 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Box 119"/>
          <p:cNvSpPr/>
          <p:nvPr/>
        </p:nvSpPr>
        <p:spPr>
          <a:xfrm>
            <a:off x="8586000" y="3909240"/>
            <a:ext cx="169884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500" spc="-1" strike="noStrike">
                <a:solidFill>
                  <a:srgbClr val="071a4a"/>
                </a:solidFill>
                <a:latin typeface="Lato"/>
              </a:rPr>
              <a:t>converter para float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Rounded Rectangle 49"/>
          <p:cNvSpPr/>
          <p:nvPr/>
        </p:nvSpPr>
        <p:spPr>
          <a:xfrm>
            <a:off x="7744680" y="4771440"/>
            <a:ext cx="3235320" cy="116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57" name="TextBox 120"/>
          <p:cNvSpPr/>
          <p:nvPr/>
        </p:nvSpPr>
        <p:spPr>
          <a:xfrm>
            <a:off x="9093960" y="4890240"/>
            <a:ext cx="5360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f36b21"/>
                </a:solidFill>
                <a:latin typeface="Lato"/>
              </a:rPr>
              <a:t>PASSO 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Box 121"/>
          <p:cNvSpPr/>
          <p:nvPr/>
        </p:nvSpPr>
        <p:spPr>
          <a:xfrm>
            <a:off x="8873640" y="5388840"/>
            <a:ext cx="9748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500" spc="-1" strike="noStrike">
                <a:solidFill>
                  <a:srgbClr val="071a4a"/>
                </a:solidFill>
                <a:latin typeface="Lato"/>
              </a:rPr>
              <a:t>arredondar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60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461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462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463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464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465" name="TextBox 7"/>
          <p:cNvSpPr/>
          <p:nvPr/>
        </p:nvSpPr>
        <p:spPr>
          <a:xfrm>
            <a:off x="2123640" y="768240"/>
            <a:ext cx="738180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CHECKPOINT · Receber e mostrar uma leitura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Box 8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Box 9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16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Rounded Rectangle 10"/>
          <p:cNvSpPr/>
          <p:nvPr/>
        </p:nvSpPr>
        <p:spPr>
          <a:xfrm>
            <a:off x="896040" y="1874520"/>
            <a:ext cx="10148040" cy="208296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69" name="TextBox 11"/>
          <p:cNvSpPr/>
          <p:nvPr/>
        </p:nvSpPr>
        <p:spPr>
          <a:xfrm>
            <a:off x="1946160" y="2183760"/>
            <a:ext cx="12812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100" spc="-1" strike="noStrike">
                <a:solidFill>
                  <a:srgbClr val="f36b21"/>
                </a:solidFill>
                <a:latin typeface="Lato"/>
              </a:rPr>
              <a:t>Tarefa de 3 minutos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Box 12"/>
          <p:cNvSpPr/>
          <p:nvPr/>
        </p:nvSpPr>
        <p:spPr>
          <a:xfrm>
            <a:off x="1606320" y="2615040"/>
            <a:ext cx="36068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71a4a"/>
                </a:solidFill>
                <a:latin typeface="Lato"/>
              </a:rPr>
              <a:t>1. Peça ao usuário uma leitura sintética.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71a4a"/>
                </a:solidFill>
                <a:latin typeface="Lato"/>
              </a:rPr>
              <a:t>2. Converta para float.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71a4a"/>
                </a:solidFill>
                <a:latin typeface="Lato"/>
              </a:rPr>
              <a:t>3. Mostre: “</a:t>
            </a:r>
            <a:r>
              <a:rPr b="1" lang="pt-BR" sz="1600" spc="-1" strike="noStrike">
                <a:solidFill>
                  <a:srgbClr val="c9211e"/>
                </a:solidFill>
                <a:latin typeface="Lato"/>
              </a:rPr>
              <a:t>Leitura recebida: X</a:t>
            </a:r>
            <a:r>
              <a:rPr b="1" lang="pt-BR" sz="1600" spc="-1" strike="noStrike">
                <a:solidFill>
                  <a:srgbClr val="071a4a"/>
                </a:solidFill>
                <a:latin typeface="Lato"/>
              </a:rPr>
              <a:t>”.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Rounded Rectangle 13"/>
          <p:cNvSpPr/>
          <p:nvPr/>
        </p:nvSpPr>
        <p:spPr>
          <a:xfrm>
            <a:off x="6035040" y="2249280"/>
            <a:ext cx="4478760" cy="123264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72" name="TextBox 14"/>
          <p:cNvSpPr/>
          <p:nvPr/>
        </p:nvSpPr>
        <p:spPr>
          <a:xfrm>
            <a:off x="7894440" y="2359080"/>
            <a:ext cx="7599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SUA CÉLULA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Box 15"/>
          <p:cNvSpPr/>
          <p:nvPr/>
        </p:nvSpPr>
        <p:spPr>
          <a:xfrm>
            <a:off x="7472160" y="2633400"/>
            <a:ext cx="160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500" spc="-1" strike="noStrike">
                <a:solidFill>
                  <a:srgbClr val="071a4a"/>
                </a:solidFill>
                <a:latin typeface="DejaVu Sans Mono"/>
              </a:rPr>
              <a:t># escreva aqui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Box 16"/>
          <p:cNvSpPr/>
          <p:nvPr/>
        </p:nvSpPr>
        <p:spPr>
          <a:xfrm>
            <a:off x="3841560" y="4446720"/>
            <a:ext cx="457020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/>
            <a:r>
              <a:rPr b="1" lang="pt-BR" sz="1600" spc="-1" strike="noStrike">
                <a:solidFill>
                  <a:srgbClr val="10b9f3"/>
                </a:solidFill>
                <a:latin typeface="Inter Display"/>
                <a:ea typeface="Noto Sans CJK SC"/>
              </a:rPr>
              <a:t>Precisa concatenar </a:t>
            </a:r>
            <a:r>
              <a:rPr b="1" lang="pt-BR" sz="1600" spc="-1" strike="noStrike">
                <a:solidFill>
                  <a:srgbClr val="c9211e"/>
                </a:solidFill>
                <a:latin typeface="Lato"/>
              </a:rPr>
              <a:t>Leitura recebida: </a:t>
            </a:r>
            <a:r>
              <a:rPr b="1" lang="pt-BR" sz="1600" spc="-1" strike="noStrike">
                <a:solidFill>
                  <a:srgbClr val="10b9f3"/>
                </a:solidFill>
                <a:latin typeface="Inter Display"/>
              </a:rPr>
              <a:t>com o valor</a:t>
            </a:r>
            <a:r>
              <a:rPr b="1" lang="pt-BR" sz="1600" spc="-1" strike="noStrike">
                <a:solidFill>
                  <a:srgbClr val="10b9f3"/>
                </a:solidFill>
                <a:latin typeface="Inter Display"/>
              </a:rPr>
              <a:t> </a:t>
            </a:r>
            <a:br>
              <a:rPr sz="1600"/>
            </a:br>
            <a:r>
              <a:rPr b="1" lang="pt-BR" sz="1600" spc="-1" strike="noStrike">
                <a:solidFill>
                  <a:srgbClr val="10b9f3"/>
                </a:solidFill>
                <a:latin typeface="Inter Display"/>
              </a:rPr>
              <a:t>Teste pelo menos com 30 e 70.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76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477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478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479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480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481" name="TextBox 7"/>
          <p:cNvSpPr/>
          <p:nvPr/>
        </p:nvSpPr>
        <p:spPr>
          <a:xfrm>
            <a:off x="3879360" y="768240"/>
            <a:ext cx="38703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Operadores aritméticos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Box 8"/>
          <p:cNvSpPr/>
          <p:nvPr/>
        </p:nvSpPr>
        <p:spPr>
          <a:xfrm>
            <a:off x="4408200" y="1307520"/>
            <a:ext cx="27579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Expressões produzem novos valores.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17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Rounded Rectangle 11"/>
          <p:cNvSpPr/>
          <p:nvPr/>
        </p:nvSpPr>
        <p:spPr>
          <a:xfrm>
            <a:off x="914400" y="1938600"/>
            <a:ext cx="2211120" cy="127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86" name="TextBox 12"/>
          <p:cNvSpPr/>
          <p:nvPr/>
        </p:nvSpPr>
        <p:spPr>
          <a:xfrm>
            <a:off x="1886040" y="2109240"/>
            <a:ext cx="2678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2800" spc="-1" strike="noStrike">
                <a:solidFill>
                  <a:srgbClr val="10b9f3"/>
                </a:solidFill>
                <a:latin typeface="DejaVu Sans Mono"/>
              </a:rPr>
              <a:t>+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Box 13"/>
          <p:cNvSpPr/>
          <p:nvPr/>
        </p:nvSpPr>
        <p:spPr>
          <a:xfrm>
            <a:off x="1801440" y="2705400"/>
            <a:ext cx="4370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00" spc="-1" strike="noStrike">
                <a:solidFill>
                  <a:srgbClr val="5b6b86"/>
                </a:solidFill>
                <a:latin typeface="Lato"/>
              </a:rPr>
              <a:t>somar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Rounded Rectangle 14"/>
          <p:cNvSpPr/>
          <p:nvPr/>
        </p:nvSpPr>
        <p:spPr>
          <a:xfrm>
            <a:off x="3493080" y="1938600"/>
            <a:ext cx="2211120" cy="127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89" name="TextBox 15"/>
          <p:cNvSpPr/>
          <p:nvPr/>
        </p:nvSpPr>
        <p:spPr>
          <a:xfrm>
            <a:off x="4464720" y="2109240"/>
            <a:ext cx="2678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2800" spc="-1" strike="noStrike">
                <a:solidFill>
                  <a:srgbClr val="f36b21"/>
                </a:solidFill>
                <a:latin typeface="DejaVu Sans Mono"/>
              </a:rPr>
              <a:t>-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Box 16"/>
          <p:cNvSpPr/>
          <p:nvPr/>
        </p:nvSpPr>
        <p:spPr>
          <a:xfrm>
            <a:off x="4330440" y="2705400"/>
            <a:ext cx="5360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00" spc="-1" strike="noStrike">
                <a:solidFill>
                  <a:srgbClr val="5b6b86"/>
                </a:solidFill>
                <a:latin typeface="Lato"/>
              </a:rPr>
              <a:t>subtrair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Rounded Rectangle 17"/>
          <p:cNvSpPr/>
          <p:nvPr/>
        </p:nvSpPr>
        <p:spPr>
          <a:xfrm>
            <a:off x="6071760" y="1938600"/>
            <a:ext cx="2211120" cy="127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92" name="TextBox 18"/>
          <p:cNvSpPr/>
          <p:nvPr/>
        </p:nvSpPr>
        <p:spPr>
          <a:xfrm>
            <a:off x="7043400" y="2109240"/>
            <a:ext cx="2678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2800" spc="-1" strike="noStrike">
                <a:solidFill>
                  <a:srgbClr val="f72585"/>
                </a:solidFill>
                <a:latin typeface="DejaVu Sans Mono"/>
              </a:rPr>
              <a:t>*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Box 19"/>
          <p:cNvSpPr/>
          <p:nvPr/>
        </p:nvSpPr>
        <p:spPr>
          <a:xfrm>
            <a:off x="6819480" y="2705400"/>
            <a:ext cx="715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00" spc="-1" strike="noStrike">
                <a:solidFill>
                  <a:srgbClr val="5b6b86"/>
                </a:solidFill>
                <a:latin typeface="Lato"/>
              </a:rPr>
              <a:t>multiplicar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Rounded Rectangle 20"/>
          <p:cNvSpPr/>
          <p:nvPr/>
        </p:nvSpPr>
        <p:spPr>
          <a:xfrm>
            <a:off x="8650080" y="1938600"/>
            <a:ext cx="2211120" cy="127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95" name="TextBox 21"/>
          <p:cNvSpPr/>
          <p:nvPr/>
        </p:nvSpPr>
        <p:spPr>
          <a:xfrm>
            <a:off x="9621720" y="2109240"/>
            <a:ext cx="2678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2800" spc="-1" strike="noStrike">
                <a:solidFill>
                  <a:srgbClr val="725ac1"/>
                </a:solidFill>
                <a:latin typeface="DejaVu Sans Mono"/>
              </a:rPr>
              <a:t>/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Box 22"/>
          <p:cNvSpPr/>
          <p:nvPr/>
        </p:nvSpPr>
        <p:spPr>
          <a:xfrm>
            <a:off x="9532440" y="2705400"/>
            <a:ext cx="4460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00" spc="-1" strike="noStrike">
                <a:solidFill>
                  <a:srgbClr val="5b6b86"/>
                </a:solidFill>
                <a:latin typeface="Lato"/>
              </a:rPr>
              <a:t>dividir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Rounded Rectangle 23"/>
          <p:cNvSpPr/>
          <p:nvPr/>
        </p:nvSpPr>
        <p:spPr>
          <a:xfrm>
            <a:off x="2697480" y="3684960"/>
            <a:ext cx="6783120" cy="157104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498" name="TextBox 24"/>
          <p:cNvSpPr/>
          <p:nvPr/>
        </p:nvSpPr>
        <p:spPr>
          <a:xfrm>
            <a:off x="4753080" y="3849480"/>
            <a:ext cx="26712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350" spc="-1" strike="noStrike">
                <a:solidFill>
                  <a:srgbClr val="071a4a"/>
                </a:solidFill>
                <a:latin typeface="DejaVu Sans Mono"/>
              </a:rPr>
              <a:t>valor = 52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50" spc="-1" strike="noStrike">
                <a:solidFill>
                  <a:srgbClr val="071a4a"/>
                </a:solidFill>
                <a:latin typeface="DejaVu Sans Mono"/>
              </a:rPr>
              <a:t>ajuste = 10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50" spc="-1" strike="noStrike">
                <a:solidFill>
                  <a:srgbClr val="071a4a"/>
                </a:solidFill>
                <a:latin typeface="DejaVu Sans Mono"/>
              </a:rPr>
              <a:t>resultado = valor + ajuste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50" spc="-1" strike="noStrike">
                <a:solidFill>
                  <a:srgbClr val="071a4a"/>
                </a:solidFill>
                <a:latin typeface="DejaVu Sans Mono"/>
              </a:rPr>
              <a:t>print(resultado)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Rounded Rectangle 25"/>
          <p:cNvSpPr/>
          <p:nvPr/>
        </p:nvSpPr>
        <p:spPr>
          <a:xfrm>
            <a:off x="2697480" y="5367600"/>
            <a:ext cx="6783120" cy="583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00" name="TextBox 26"/>
          <p:cNvSpPr/>
          <p:nvPr/>
        </p:nvSpPr>
        <p:spPr>
          <a:xfrm>
            <a:off x="2981160" y="5440680"/>
            <a:ext cx="3729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5b6b86"/>
                </a:solidFill>
                <a:latin typeface="Lato"/>
              </a:rPr>
              <a:t>SAÍDA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Box 27"/>
          <p:cNvSpPr/>
          <p:nvPr/>
        </p:nvSpPr>
        <p:spPr>
          <a:xfrm>
            <a:off x="6331680" y="542232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62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03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504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505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506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507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508" name="TextBox 7"/>
          <p:cNvSpPr/>
          <p:nvPr/>
        </p:nvSpPr>
        <p:spPr>
          <a:xfrm>
            <a:off x="3923280" y="768240"/>
            <a:ext cx="37821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Operadores relacionais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Box 8"/>
          <p:cNvSpPr/>
          <p:nvPr/>
        </p:nvSpPr>
        <p:spPr>
          <a:xfrm>
            <a:off x="4338720" y="1307520"/>
            <a:ext cx="2896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Comparações produzem True ou False.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18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Rounded Rectangle 11"/>
          <p:cNvSpPr/>
          <p:nvPr/>
        </p:nvSpPr>
        <p:spPr>
          <a:xfrm>
            <a:off x="841320" y="1984320"/>
            <a:ext cx="2485440" cy="171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13" name="TextBox 12"/>
          <p:cNvSpPr/>
          <p:nvPr/>
        </p:nvSpPr>
        <p:spPr>
          <a:xfrm>
            <a:off x="1600920" y="2302920"/>
            <a:ext cx="96588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071a4a"/>
                </a:solidFill>
                <a:latin typeface="DejaVu Sans Mono"/>
              </a:rPr>
              <a:t>52 &lt; 30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Rounded Rectangle 13"/>
          <p:cNvSpPr/>
          <p:nvPr/>
        </p:nvSpPr>
        <p:spPr>
          <a:xfrm>
            <a:off x="1499760" y="2971800"/>
            <a:ext cx="1168560" cy="345600"/>
          </a:xfrm>
          <a:prstGeom prst="roundRect">
            <a:avLst>
              <a:gd name="adj" fmla="val 16667"/>
            </a:avLst>
          </a:prstGeom>
          <a:solidFill>
            <a:srgbClr val="f36b21"/>
          </a:solidFill>
          <a:ln w="1270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15" name="TextBox 14"/>
          <p:cNvSpPr/>
          <p:nvPr/>
        </p:nvSpPr>
        <p:spPr>
          <a:xfrm>
            <a:off x="1916640" y="3042000"/>
            <a:ext cx="33480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False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Rounded Rectangle 15"/>
          <p:cNvSpPr/>
          <p:nvPr/>
        </p:nvSpPr>
        <p:spPr>
          <a:xfrm>
            <a:off x="3602880" y="1984320"/>
            <a:ext cx="2485440" cy="171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17" name="TextBox 16"/>
          <p:cNvSpPr/>
          <p:nvPr/>
        </p:nvSpPr>
        <p:spPr>
          <a:xfrm>
            <a:off x="4297680" y="2302920"/>
            <a:ext cx="1095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071a4a"/>
                </a:solidFill>
                <a:latin typeface="DejaVu Sans Mono"/>
              </a:rPr>
              <a:t>52 &lt;= 70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Rounded Rectangle 17"/>
          <p:cNvSpPr/>
          <p:nvPr/>
        </p:nvSpPr>
        <p:spPr>
          <a:xfrm>
            <a:off x="4260960" y="2971800"/>
            <a:ext cx="1168560" cy="345600"/>
          </a:xfrm>
          <a:prstGeom prst="roundRect">
            <a:avLst>
              <a:gd name="adj" fmla="val 16667"/>
            </a:avLst>
          </a:prstGeom>
          <a:solidFill>
            <a:srgbClr val="10b9f3"/>
          </a:solidFill>
          <a:ln w="1270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19" name="TextBox 18"/>
          <p:cNvSpPr/>
          <p:nvPr/>
        </p:nvSpPr>
        <p:spPr>
          <a:xfrm>
            <a:off x="4693680" y="3042000"/>
            <a:ext cx="30276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True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Rounded Rectangle 19"/>
          <p:cNvSpPr/>
          <p:nvPr/>
        </p:nvSpPr>
        <p:spPr>
          <a:xfrm>
            <a:off x="6364080" y="1984320"/>
            <a:ext cx="2485440" cy="171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21" name="TextBox 20"/>
          <p:cNvSpPr/>
          <p:nvPr/>
        </p:nvSpPr>
        <p:spPr>
          <a:xfrm>
            <a:off x="7059240" y="2302920"/>
            <a:ext cx="1095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071a4a"/>
                </a:solidFill>
                <a:latin typeface="DejaVu Sans Mono"/>
              </a:rPr>
              <a:t>52 == 52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Rounded Rectangle 21"/>
          <p:cNvSpPr/>
          <p:nvPr/>
        </p:nvSpPr>
        <p:spPr>
          <a:xfrm>
            <a:off x="7022520" y="2971800"/>
            <a:ext cx="1168560" cy="345600"/>
          </a:xfrm>
          <a:prstGeom prst="roundRect">
            <a:avLst>
              <a:gd name="adj" fmla="val 16667"/>
            </a:avLst>
          </a:prstGeom>
          <a:solidFill>
            <a:srgbClr val="10b9f3"/>
          </a:solidFill>
          <a:ln w="1270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23" name="TextBox 22"/>
          <p:cNvSpPr/>
          <p:nvPr/>
        </p:nvSpPr>
        <p:spPr>
          <a:xfrm>
            <a:off x="7455240" y="3042000"/>
            <a:ext cx="30276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True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Rounded Rectangle 23"/>
          <p:cNvSpPr/>
          <p:nvPr/>
        </p:nvSpPr>
        <p:spPr>
          <a:xfrm>
            <a:off x="9125640" y="1984320"/>
            <a:ext cx="2485440" cy="171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25" name="TextBox 24"/>
          <p:cNvSpPr/>
          <p:nvPr/>
        </p:nvSpPr>
        <p:spPr>
          <a:xfrm>
            <a:off x="9820800" y="2302920"/>
            <a:ext cx="1095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071a4a"/>
                </a:solidFill>
                <a:latin typeface="DejaVu Sans Mono"/>
              </a:rPr>
              <a:t>52 != 70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Rounded Rectangle 25"/>
          <p:cNvSpPr/>
          <p:nvPr/>
        </p:nvSpPr>
        <p:spPr>
          <a:xfrm>
            <a:off x="9784080" y="2971800"/>
            <a:ext cx="1168560" cy="345600"/>
          </a:xfrm>
          <a:prstGeom prst="roundRect">
            <a:avLst>
              <a:gd name="adj" fmla="val 16667"/>
            </a:avLst>
          </a:prstGeom>
          <a:solidFill>
            <a:srgbClr val="10b9f3"/>
          </a:solidFill>
          <a:ln w="1270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27" name="TextBox 26"/>
          <p:cNvSpPr/>
          <p:nvPr/>
        </p:nvSpPr>
        <p:spPr>
          <a:xfrm>
            <a:off x="10216800" y="3042000"/>
            <a:ext cx="30276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True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Box 27"/>
          <p:cNvSpPr/>
          <p:nvPr/>
        </p:nvSpPr>
        <p:spPr>
          <a:xfrm>
            <a:off x="4421160" y="4174200"/>
            <a:ext cx="331740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700" spc="-1" strike="noStrike">
                <a:solidFill>
                  <a:srgbClr val="f72585"/>
                </a:solidFill>
                <a:latin typeface="Inter Display"/>
              </a:rPr>
              <a:t>== compara valores.  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700" spc="-1" strike="noStrike">
                <a:solidFill>
                  <a:srgbClr val="f72585"/>
                </a:solidFill>
                <a:latin typeface="Inter Display"/>
              </a:rPr>
              <a:t>= atribui um valor a uma variável.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30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531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532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533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534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535" name="TextBox 7"/>
          <p:cNvSpPr/>
          <p:nvPr/>
        </p:nvSpPr>
        <p:spPr>
          <a:xfrm>
            <a:off x="4218480" y="768240"/>
            <a:ext cx="319212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Operadores lógicos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Box 8"/>
          <p:cNvSpPr/>
          <p:nvPr/>
        </p:nvSpPr>
        <p:spPr>
          <a:xfrm>
            <a:off x="4007160" y="1307520"/>
            <a:ext cx="3559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and, or e not combinam ou invertem condições.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19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Rounded Rectangle 11"/>
          <p:cNvSpPr/>
          <p:nvPr/>
        </p:nvSpPr>
        <p:spPr>
          <a:xfrm>
            <a:off x="896040" y="1974960"/>
            <a:ext cx="3061440" cy="202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40" name="TextBox 12"/>
          <p:cNvSpPr/>
          <p:nvPr/>
        </p:nvSpPr>
        <p:spPr>
          <a:xfrm>
            <a:off x="2175480" y="2094120"/>
            <a:ext cx="50400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10b9f3"/>
                </a:solidFill>
                <a:latin typeface="Lato"/>
              </a:rPr>
              <a:t>AND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Box 13"/>
          <p:cNvSpPr/>
          <p:nvPr/>
        </p:nvSpPr>
        <p:spPr>
          <a:xfrm>
            <a:off x="1311480" y="2892960"/>
            <a:ext cx="223056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71a4a"/>
                </a:solidFill>
                <a:latin typeface="Lato"/>
              </a:rPr>
              <a:t>as duas condições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71a4a"/>
                </a:solidFill>
                <a:latin typeface="Lato"/>
              </a:rPr>
              <a:t>precisam ser verdadeiras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Rounded Rectangle 14"/>
          <p:cNvSpPr/>
          <p:nvPr/>
        </p:nvSpPr>
        <p:spPr>
          <a:xfrm>
            <a:off x="4105800" y="1974960"/>
            <a:ext cx="3061440" cy="202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43" name="TextBox 15"/>
          <p:cNvSpPr/>
          <p:nvPr/>
        </p:nvSpPr>
        <p:spPr>
          <a:xfrm>
            <a:off x="5463360" y="2094120"/>
            <a:ext cx="3470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f36b21"/>
                </a:solidFill>
                <a:latin typeface="Lato"/>
              </a:rPr>
              <a:t>OR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Box 16"/>
          <p:cNvSpPr/>
          <p:nvPr/>
        </p:nvSpPr>
        <p:spPr>
          <a:xfrm>
            <a:off x="4730400" y="2892960"/>
            <a:ext cx="181152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71a4a"/>
                </a:solidFill>
                <a:latin typeface="Lato"/>
              </a:rPr>
              <a:t>basta uma condição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71a4a"/>
                </a:solidFill>
                <a:latin typeface="Lato"/>
              </a:rPr>
              <a:t>ser verdadeira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Rounded Rectangle 17"/>
          <p:cNvSpPr/>
          <p:nvPr/>
        </p:nvSpPr>
        <p:spPr>
          <a:xfrm>
            <a:off x="7315200" y="1974960"/>
            <a:ext cx="3061440" cy="202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46" name="TextBox 18"/>
          <p:cNvSpPr/>
          <p:nvPr/>
        </p:nvSpPr>
        <p:spPr>
          <a:xfrm>
            <a:off x="8601480" y="2094120"/>
            <a:ext cx="49032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725ac1"/>
                </a:solidFill>
                <a:latin typeface="Lato"/>
              </a:rPr>
              <a:t>NOT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Box 19"/>
          <p:cNvSpPr/>
          <p:nvPr/>
        </p:nvSpPr>
        <p:spPr>
          <a:xfrm>
            <a:off x="7914600" y="3015000"/>
            <a:ext cx="186192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71a4a"/>
                </a:solidFill>
                <a:latin typeface="Lato"/>
              </a:rPr>
              <a:t>inverte True ↔ False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Rounded Rectangle 20"/>
          <p:cNvSpPr/>
          <p:nvPr/>
        </p:nvSpPr>
        <p:spPr>
          <a:xfrm>
            <a:off x="2011680" y="4140000"/>
            <a:ext cx="8090640" cy="118908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49" name="TextBox 21"/>
          <p:cNvSpPr/>
          <p:nvPr/>
        </p:nvSpPr>
        <p:spPr>
          <a:xfrm>
            <a:off x="4500000" y="4168440"/>
            <a:ext cx="3081240" cy="10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valor = 52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qualidade_ok = True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print(valor &lt;= 70 and qualidade_ok)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print(valor &lt; 30 or valor &gt; 70)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print(not qualidade_ok)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Rounded Rectangle 22"/>
          <p:cNvSpPr/>
          <p:nvPr/>
        </p:nvSpPr>
        <p:spPr>
          <a:xfrm>
            <a:off x="2011680" y="5580000"/>
            <a:ext cx="8090640" cy="71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51" name="TextBox 23"/>
          <p:cNvSpPr/>
          <p:nvPr/>
        </p:nvSpPr>
        <p:spPr>
          <a:xfrm>
            <a:off x="2340000" y="5580000"/>
            <a:ext cx="3729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5b6b86"/>
                </a:solidFill>
                <a:latin typeface="Lato"/>
              </a:rPr>
              <a:t>SAÍDA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Box 24"/>
          <p:cNvSpPr/>
          <p:nvPr/>
        </p:nvSpPr>
        <p:spPr>
          <a:xfrm>
            <a:off x="4500000" y="5580000"/>
            <a:ext cx="51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True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False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False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54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555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556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557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558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559" name="TextBox 7"/>
          <p:cNvSpPr/>
          <p:nvPr/>
        </p:nvSpPr>
        <p:spPr>
          <a:xfrm>
            <a:off x="3529440" y="768240"/>
            <a:ext cx="45698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Programas precisam decidir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TextBox 8"/>
          <p:cNvSpPr/>
          <p:nvPr/>
        </p:nvSpPr>
        <p:spPr>
          <a:xfrm>
            <a:off x="3815280" y="1307520"/>
            <a:ext cx="39434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Uma condição escolhe qual caminho será executado.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20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Box 11"/>
          <p:cNvSpPr/>
          <p:nvPr/>
        </p:nvSpPr>
        <p:spPr>
          <a:xfrm>
            <a:off x="4918680" y="2013480"/>
            <a:ext cx="223056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900" spc="-1" strike="noStrike">
                <a:solidFill>
                  <a:srgbClr val="071a4a"/>
                </a:solidFill>
                <a:latin typeface="Inter Display"/>
              </a:rPr>
              <a:t>valor_sensor &lt; 30 ?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Diamond 12"/>
          <p:cNvSpPr/>
          <p:nvPr/>
        </p:nvSpPr>
        <p:spPr>
          <a:xfrm>
            <a:off x="5029200" y="2541960"/>
            <a:ext cx="1918440" cy="1369800"/>
          </a:xfrm>
          <a:prstGeom prst="diamond">
            <a:avLst/>
          </a:prstGeom>
          <a:solidFill>
            <a:srgbClr val="eef3f9"/>
          </a:solidFill>
          <a:ln w="2286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65" name="TextBox 13"/>
          <p:cNvSpPr/>
          <p:nvPr/>
        </p:nvSpPr>
        <p:spPr>
          <a:xfrm>
            <a:off x="5617440" y="2899080"/>
            <a:ext cx="7416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071a4a"/>
                </a:solidFill>
                <a:latin typeface="DejaVu Sans Mono"/>
              </a:rPr>
              <a:t>&lt; 30?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66" name="Connector 14"/>
          <p:cNvCxnSpPr/>
          <p:nvPr/>
        </p:nvCxnSpPr>
        <p:spPr>
          <a:xfrm>
            <a:off x="5989320" y="3913560"/>
            <a:ext cx="1800" cy="403920"/>
          </a:xfrm>
          <a:prstGeom prst="straightConnector1">
            <a:avLst/>
          </a:prstGeom>
          <a:ln w="22860">
            <a:solidFill>
              <a:srgbClr val="071a4a"/>
            </a:solidFill>
            <a:round/>
          </a:ln>
        </p:spPr>
      </p:cxnSp>
      <p:sp>
        <p:nvSpPr>
          <p:cNvPr id="567" name="TextBox 15"/>
          <p:cNvSpPr/>
          <p:nvPr/>
        </p:nvSpPr>
        <p:spPr>
          <a:xfrm>
            <a:off x="6272280" y="4000320"/>
            <a:ext cx="3103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5b6b86"/>
                </a:solidFill>
                <a:latin typeface="Lato"/>
              </a:rPr>
              <a:t>NÃO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68" name="Connector 16"/>
          <p:cNvCxnSpPr/>
          <p:nvPr/>
        </p:nvCxnSpPr>
        <p:spPr>
          <a:xfrm flipH="1">
            <a:off x="3886200" y="3227760"/>
            <a:ext cx="1144800" cy="1800"/>
          </a:xfrm>
          <a:prstGeom prst="straightConnector1">
            <a:avLst/>
          </a:prstGeom>
          <a:ln w="22860">
            <a:solidFill>
              <a:srgbClr val="071a4a"/>
            </a:solidFill>
            <a:round/>
          </a:ln>
        </p:spPr>
      </p:cxnSp>
      <p:sp>
        <p:nvSpPr>
          <p:cNvPr id="569" name="TextBox 17"/>
          <p:cNvSpPr/>
          <p:nvPr/>
        </p:nvSpPr>
        <p:spPr>
          <a:xfrm>
            <a:off x="4149360" y="3003480"/>
            <a:ext cx="2584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5b6b86"/>
                </a:solidFill>
                <a:latin typeface="Lato"/>
              </a:rPr>
              <a:t>SIM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Rounded Rectangle 18"/>
          <p:cNvSpPr/>
          <p:nvPr/>
        </p:nvSpPr>
        <p:spPr>
          <a:xfrm>
            <a:off x="1920240" y="2761560"/>
            <a:ext cx="1936800" cy="985680"/>
          </a:xfrm>
          <a:prstGeom prst="roundRect">
            <a:avLst>
              <a:gd name="adj" fmla="val 16667"/>
            </a:avLst>
          </a:prstGeom>
          <a:solidFill>
            <a:srgbClr val="eaf9ff"/>
          </a:solidFill>
          <a:ln w="1270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71" name="TextBox 19"/>
          <p:cNvSpPr/>
          <p:nvPr/>
        </p:nvSpPr>
        <p:spPr>
          <a:xfrm>
            <a:off x="2496960" y="3034800"/>
            <a:ext cx="78300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071a4a"/>
                </a:solidFill>
                <a:latin typeface="Inter Display"/>
              </a:rPr>
              <a:t>Faixa 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Rounded Rectangle 20"/>
          <p:cNvSpPr/>
          <p:nvPr/>
        </p:nvSpPr>
        <p:spPr>
          <a:xfrm>
            <a:off x="5020200" y="4334400"/>
            <a:ext cx="1936800" cy="985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73" name="TextBox 21"/>
          <p:cNvSpPr/>
          <p:nvPr/>
        </p:nvSpPr>
        <p:spPr>
          <a:xfrm>
            <a:off x="5363280" y="4622760"/>
            <a:ext cx="125064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500" spc="-1" strike="noStrike">
                <a:solidFill>
                  <a:srgbClr val="071a4a"/>
                </a:solidFill>
                <a:latin typeface="Inter Display"/>
              </a:rPr>
              <a:t>outra decisão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Box 39"/>
          <p:cNvSpPr/>
          <p:nvPr/>
        </p:nvSpPr>
        <p:spPr>
          <a:xfrm>
            <a:off x="8695800" y="3060000"/>
            <a:ext cx="2061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DejaVu Sans Mono"/>
              </a:rPr>
              <a:t>if </a:t>
            </a:r>
            <a:r>
              <a:rPr b="0" lang="pt-BR" sz="1800" spc="-1" strike="noStrike">
                <a:solidFill>
                  <a:srgbClr val="ff0000"/>
                </a:solidFill>
                <a:latin typeface="DejaVu Sans Mono"/>
              </a:rPr>
              <a:t>CONDICÂO1</a:t>
            </a:r>
            <a:r>
              <a:rPr b="0" lang="pt-BR" sz="1800" spc="-1" strike="noStrike">
                <a:solidFill>
                  <a:srgbClr val="071a4a"/>
                </a:solidFill>
                <a:latin typeface="DejaVu Sans Mono"/>
              </a:rPr>
              <a:t>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800" spc="-1" strike="noStrike">
                <a:solidFill>
                  <a:srgbClr val="3faf46"/>
                </a:solidFill>
                <a:latin typeface="DejaVu Sans Mono"/>
              </a:rPr>
              <a:t>AÇÂO1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elif </a:t>
            </a:r>
            <a:r>
              <a:rPr b="0" lang="pt-BR" sz="1800" spc="-1" strike="noStrike">
                <a:solidFill>
                  <a:srgbClr val="ff0000"/>
                </a:solidFill>
                <a:latin typeface="DejaVu Sans Mono"/>
                <a:ea typeface="Noto Sans CJK SC"/>
              </a:rPr>
              <a:t>CONDICÂO2</a:t>
            </a:r>
            <a:r>
              <a:rPr b="0" lang="pt-BR" sz="18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    </a:t>
            </a:r>
            <a:r>
              <a:rPr b="0" lang="pt-BR" sz="1800" spc="-1" strike="noStrike">
                <a:solidFill>
                  <a:srgbClr val="3faf46"/>
                </a:solidFill>
                <a:latin typeface="DejaVu Sans Mono"/>
                <a:ea typeface="Noto Sans CJK SC"/>
              </a:rPr>
              <a:t>AÇÂO2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Box 41"/>
          <p:cNvSpPr/>
          <p:nvPr/>
        </p:nvSpPr>
        <p:spPr>
          <a:xfrm>
            <a:off x="8695800" y="4680000"/>
            <a:ext cx="20613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DejaVu Sans Mono"/>
              </a:rPr>
              <a:t>if </a:t>
            </a:r>
            <a:r>
              <a:rPr b="0" lang="pt-BR" sz="1800" spc="-1" strike="noStrike">
                <a:solidFill>
                  <a:srgbClr val="ff0000"/>
                </a:solidFill>
                <a:latin typeface="DejaVu Sans Mono"/>
              </a:rPr>
              <a:t>CONDICÂO1</a:t>
            </a:r>
            <a:r>
              <a:rPr b="0" lang="pt-BR" sz="1800" spc="-1" strike="noStrike">
                <a:solidFill>
                  <a:srgbClr val="071a4a"/>
                </a:solidFill>
                <a:latin typeface="DejaVu Sans Mono"/>
              </a:rPr>
              <a:t>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800" spc="-1" strike="noStrike">
                <a:solidFill>
                  <a:srgbClr val="3faf46"/>
                </a:solidFill>
                <a:latin typeface="DejaVu Sans Mono"/>
              </a:rPr>
              <a:t>AÇÂO1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elif </a:t>
            </a:r>
            <a:r>
              <a:rPr b="0" lang="pt-BR" sz="1800" spc="-1" strike="noStrike">
                <a:solidFill>
                  <a:srgbClr val="ff0000"/>
                </a:solidFill>
                <a:latin typeface="DejaVu Sans Mono"/>
                <a:ea typeface="Noto Sans CJK SC"/>
              </a:rPr>
              <a:t>CONDICÂO2</a:t>
            </a:r>
            <a:r>
              <a:rPr b="0" lang="pt-BR" sz="18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    </a:t>
            </a:r>
            <a:r>
              <a:rPr b="0" lang="pt-BR" sz="1800" spc="-1" strike="noStrike">
                <a:solidFill>
                  <a:srgbClr val="3faf46"/>
                </a:solidFill>
                <a:latin typeface="DejaVu Sans Mono"/>
                <a:ea typeface="Noto Sans CJK SC"/>
              </a:rPr>
              <a:t>AÇÂO2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else: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    </a:t>
            </a:r>
            <a:r>
              <a:rPr b="0" lang="pt-BR" sz="1800" spc="-1" strike="noStrike">
                <a:solidFill>
                  <a:srgbClr val="3faf46"/>
                </a:solidFill>
                <a:latin typeface="DejaVu Sans Mono"/>
                <a:ea typeface="Noto Sans CJK SC"/>
              </a:rPr>
              <a:t>AÇÂO3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TextBox 43"/>
          <p:cNvSpPr/>
          <p:nvPr/>
        </p:nvSpPr>
        <p:spPr>
          <a:xfrm>
            <a:off x="8695800" y="1980000"/>
            <a:ext cx="1786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DejaVu Sans Mono"/>
              </a:rPr>
              <a:t>if </a:t>
            </a:r>
            <a:r>
              <a:rPr b="0" lang="pt-BR" sz="1800" spc="-1" strike="noStrike">
                <a:solidFill>
                  <a:srgbClr val="ff0000"/>
                </a:solidFill>
                <a:latin typeface="DejaVu Sans Mono"/>
              </a:rPr>
              <a:t>CONDICÂO1</a:t>
            </a:r>
            <a:r>
              <a:rPr b="0" lang="pt-BR" sz="1800" spc="-1" strike="noStrike">
                <a:solidFill>
                  <a:srgbClr val="071a4a"/>
                </a:solidFill>
                <a:latin typeface="DejaVu Sans Mono"/>
              </a:rPr>
              <a:t>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800" spc="-1" strike="noStrike">
                <a:solidFill>
                  <a:srgbClr val="3faf46"/>
                </a:solidFill>
                <a:latin typeface="DejaVu Sans Mono"/>
              </a:rPr>
              <a:t>AÇÂO1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78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579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580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581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582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583" name="TextBox 7"/>
          <p:cNvSpPr/>
          <p:nvPr/>
        </p:nvSpPr>
        <p:spPr>
          <a:xfrm>
            <a:off x="3260520" y="768240"/>
            <a:ext cx="51080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Indentação faz parte da sintaxe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TextBox 8"/>
          <p:cNvSpPr/>
          <p:nvPr/>
        </p:nvSpPr>
        <p:spPr>
          <a:xfrm>
            <a:off x="3299400" y="1307520"/>
            <a:ext cx="4975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Em Python, os espaços dizem quais linhas pertencem a cada bloco.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22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Rounded Rectangle 11"/>
          <p:cNvSpPr/>
          <p:nvPr/>
        </p:nvSpPr>
        <p:spPr>
          <a:xfrm>
            <a:off x="896040" y="1929240"/>
            <a:ext cx="5164560" cy="202932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88" name="TextBox 12"/>
          <p:cNvSpPr/>
          <p:nvPr/>
        </p:nvSpPr>
        <p:spPr>
          <a:xfrm>
            <a:off x="3168360" y="2039040"/>
            <a:ext cx="6199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CORRETO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Box 13"/>
          <p:cNvSpPr/>
          <p:nvPr/>
        </p:nvSpPr>
        <p:spPr>
          <a:xfrm>
            <a:off x="1923120" y="2532240"/>
            <a:ext cx="3110400" cy="10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if valor_sensor &lt; 30: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estado = "A"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print("abaixo do limite")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print("fim")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Rounded Rectangle 14"/>
          <p:cNvSpPr/>
          <p:nvPr/>
        </p:nvSpPr>
        <p:spPr>
          <a:xfrm>
            <a:off x="6327720" y="1929240"/>
            <a:ext cx="4680000" cy="202932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91" name="TextBox 15"/>
          <p:cNvSpPr/>
          <p:nvPr/>
        </p:nvSpPr>
        <p:spPr>
          <a:xfrm>
            <a:off x="7978680" y="2039040"/>
            <a:ext cx="1377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ERRO DE INDENTAÇÃO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TextBox 16"/>
          <p:cNvSpPr/>
          <p:nvPr/>
        </p:nvSpPr>
        <p:spPr>
          <a:xfrm>
            <a:off x="7326360" y="2520000"/>
            <a:ext cx="2682000" cy="64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if valor_sensor &lt; 30: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estado = "A"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print("abaixo do limite")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Rounded Rectangle 17"/>
          <p:cNvSpPr/>
          <p:nvPr/>
        </p:nvSpPr>
        <p:spPr>
          <a:xfrm>
            <a:off x="3754080" y="4320000"/>
            <a:ext cx="4524480" cy="345600"/>
          </a:xfrm>
          <a:prstGeom prst="roundRect">
            <a:avLst>
              <a:gd name="adj" fmla="val 16667"/>
            </a:avLst>
          </a:prstGeom>
          <a:solidFill>
            <a:srgbClr val="10b9f3"/>
          </a:solidFill>
          <a:ln w="1270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594" name="TextBox 18"/>
          <p:cNvSpPr/>
          <p:nvPr/>
        </p:nvSpPr>
        <p:spPr>
          <a:xfrm>
            <a:off x="4987800" y="4390200"/>
            <a:ext cx="20570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071a4a"/>
                </a:solidFill>
                <a:latin typeface="Lato"/>
              </a:rPr>
              <a:t>4 espaços é uma convenção comum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900000" y="5010840"/>
            <a:ext cx="10078560" cy="128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1" lang="pt-BR" sz="1400" spc="-1" strike="noStrike">
                <a:solidFill>
                  <a:srgbClr val="3faf46"/>
                </a:solidFill>
                <a:latin typeface="Arial"/>
              </a:rPr>
              <a:t>Origem na tipografia: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Antigamente, quando os livros eram impressos com tipos de chumbo, a primeira linha de um parágrafo era deslocada para dentro. Historicamente, documentos oficiais também podiam ser recortados de forma ondulada ou "dentada" no topo para provar autenticidade.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br>
              <a:rPr sz="1400"/>
            </a:b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Vem do </a:t>
            </a:r>
            <a:r>
              <a:rPr b="0" lang="pt-BR" sz="1400" spc="-1" strike="noStrike" u="sng">
                <a:solidFill>
                  <a:srgbClr val="000000"/>
                </a:solidFill>
                <a:uFillTx/>
                <a:latin typeface="Arial"/>
              </a:rPr>
              <a:t>latim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i="1" lang="pt-BR" sz="1400" spc="-1" strike="noStrike">
                <a:solidFill>
                  <a:srgbClr val="000000"/>
                </a:solidFill>
                <a:latin typeface="Arial"/>
              </a:rPr>
              <a:t>dens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(que significa "dente"), passando pelo verbo latino </a:t>
            </a:r>
            <a:r>
              <a:rPr b="1" i="1" lang="pt-BR" sz="1400" spc="-1" strike="noStrike">
                <a:solidFill>
                  <a:srgbClr val="000000"/>
                </a:solidFill>
                <a:latin typeface="Arial"/>
              </a:rPr>
              <a:t>indentare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("colocar dentes" ou "recortar em forma de dentes"), e chegou ao </a:t>
            </a:r>
            <a:r>
              <a:rPr b="0" lang="pt-BR" sz="1400" spc="-1" strike="noStrike" u="sng">
                <a:solidFill>
                  <a:srgbClr val="000000"/>
                </a:solidFill>
                <a:uFillTx/>
                <a:latin typeface="Arial"/>
              </a:rPr>
              <a:t>português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através do </a:t>
            </a:r>
            <a:r>
              <a:rPr b="0" lang="pt-BR" sz="1400" spc="-1" strike="noStrike" u="sng">
                <a:solidFill>
                  <a:srgbClr val="000000"/>
                </a:solidFill>
                <a:uFillTx/>
                <a:latin typeface="Arial"/>
              </a:rPr>
              <a:t>inglês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i="1" lang="pt-BR" sz="1400" spc="-1" strike="noStrike" u="sng">
                <a:solidFill>
                  <a:srgbClr val="000000"/>
                </a:solidFill>
                <a:uFillTx/>
                <a:latin typeface="Arial"/>
              </a:rPr>
              <a:t>indentation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no contexto da ciência da computação.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97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598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599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600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601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602" name="TextBox 7"/>
          <p:cNvSpPr/>
          <p:nvPr/>
        </p:nvSpPr>
        <p:spPr>
          <a:xfrm>
            <a:off x="4825800" y="768240"/>
            <a:ext cx="197748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if / elif / else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Box 8"/>
          <p:cNvSpPr/>
          <p:nvPr/>
        </p:nvSpPr>
        <p:spPr>
          <a:xfrm>
            <a:off x="3755160" y="1307520"/>
            <a:ext cx="4064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Três faixas didáticas com uma única cadeia de decisão.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21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Rounded Rectangle 11"/>
          <p:cNvSpPr/>
          <p:nvPr/>
        </p:nvSpPr>
        <p:spPr>
          <a:xfrm>
            <a:off x="868680" y="1847160"/>
            <a:ext cx="6444720" cy="356436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07" name="TextBox 12"/>
          <p:cNvSpPr/>
          <p:nvPr/>
        </p:nvSpPr>
        <p:spPr>
          <a:xfrm>
            <a:off x="3605760" y="1956960"/>
            <a:ext cx="9702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CLASSIFICAÇÃO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TextBox 13"/>
          <p:cNvSpPr/>
          <p:nvPr/>
        </p:nvSpPr>
        <p:spPr>
          <a:xfrm>
            <a:off x="2880000" y="2634840"/>
            <a:ext cx="2465640" cy="20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340" spc="-1" strike="noStrike">
                <a:solidFill>
                  <a:srgbClr val="071a4a"/>
                </a:solidFill>
                <a:latin typeface="DejaVu Sans Mono"/>
              </a:rPr>
              <a:t>valor_sensor = 52</a:t>
            </a:r>
            <a:endParaRPr b="0" lang="pt-BR" sz="134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34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40" spc="-1" strike="noStrike">
                <a:solidFill>
                  <a:srgbClr val="071a4a"/>
                </a:solidFill>
                <a:latin typeface="DejaVu Sans Mono"/>
              </a:rPr>
              <a:t>if valor_sensor &lt; 30:</a:t>
            </a:r>
            <a:endParaRPr b="0" lang="pt-BR" sz="134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4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340" spc="-1" strike="noStrike">
                <a:solidFill>
                  <a:srgbClr val="071a4a"/>
                </a:solidFill>
                <a:latin typeface="DejaVu Sans Mono"/>
              </a:rPr>
              <a:t>estado = "Faixa A"</a:t>
            </a:r>
            <a:endParaRPr b="0" lang="pt-BR" sz="134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40" spc="-1" strike="noStrike">
                <a:solidFill>
                  <a:srgbClr val="071a4a"/>
                </a:solidFill>
                <a:latin typeface="DejaVu Sans Mono"/>
              </a:rPr>
              <a:t>elif valor_sensor &lt;= 70:</a:t>
            </a:r>
            <a:endParaRPr b="0" lang="pt-BR" sz="134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4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340" spc="-1" strike="noStrike">
                <a:solidFill>
                  <a:srgbClr val="071a4a"/>
                </a:solidFill>
                <a:latin typeface="DejaVu Sans Mono"/>
              </a:rPr>
              <a:t>estado = "Faixa B"</a:t>
            </a:r>
            <a:endParaRPr b="0" lang="pt-BR" sz="134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40" spc="-1" strike="noStrike">
                <a:solidFill>
                  <a:srgbClr val="071a4a"/>
                </a:solidFill>
                <a:latin typeface="DejaVu Sans Mono"/>
              </a:rPr>
              <a:t>else:</a:t>
            </a:r>
            <a:endParaRPr b="0" lang="pt-BR" sz="134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4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340" spc="-1" strike="noStrike">
                <a:solidFill>
                  <a:srgbClr val="071a4a"/>
                </a:solidFill>
                <a:latin typeface="DejaVu Sans Mono"/>
              </a:rPr>
              <a:t>estado = "Faixa C"</a:t>
            </a:r>
            <a:endParaRPr b="0" lang="pt-BR" sz="134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34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40" spc="-1" strike="noStrike">
                <a:solidFill>
                  <a:srgbClr val="071a4a"/>
                </a:solidFill>
                <a:latin typeface="DejaVu Sans Mono"/>
              </a:rPr>
              <a:t>print(estado)</a:t>
            </a:r>
            <a:endParaRPr b="0" lang="pt-BR" sz="1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Rounded Rectangle 14"/>
          <p:cNvSpPr/>
          <p:nvPr/>
        </p:nvSpPr>
        <p:spPr>
          <a:xfrm>
            <a:off x="868680" y="5523120"/>
            <a:ext cx="6444720" cy="583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10" name="TextBox 15"/>
          <p:cNvSpPr/>
          <p:nvPr/>
        </p:nvSpPr>
        <p:spPr>
          <a:xfrm>
            <a:off x="1152360" y="5596200"/>
            <a:ext cx="3729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5b6b86"/>
                </a:solidFill>
                <a:latin typeface="Lato"/>
              </a:rPr>
              <a:t>SAÍDA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Box 16"/>
          <p:cNvSpPr/>
          <p:nvPr/>
        </p:nvSpPr>
        <p:spPr>
          <a:xfrm>
            <a:off x="4104360" y="5577840"/>
            <a:ext cx="695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Faixa B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Rounded Rectangle 17"/>
          <p:cNvSpPr/>
          <p:nvPr/>
        </p:nvSpPr>
        <p:spPr>
          <a:xfrm>
            <a:off x="7726680" y="1920240"/>
            <a:ext cx="3216960" cy="1022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13" name="TextBox 18"/>
          <p:cNvSpPr/>
          <p:nvPr/>
        </p:nvSpPr>
        <p:spPr>
          <a:xfrm>
            <a:off x="9221400" y="2039040"/>
            <a:ext cx="2282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10b9f3"/>
                </a:solidFill>
                <a:latin typeface="Lato"/>
              </a:rPr>
              <a:t>IF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Box 19"/>
          <p:cNvSpPr/>
          <p:nvPr/>
        </p:nvSpPr>
        <p:spPr>
          <a:xfrm>
            <a:off x="8613360" y="2472120"/>
            <a:ext cx="144288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Lato"/>
              </a:rPr>
              <a:t>primeira pergunta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Rounded Rectangle 20"/>
          <p:cNvSpPr/>
          <p:nvPr/>
        </p:nvSpPr>
        <p:spPr>
          <a:xfrm>
            <a:off x="7726680" y="3127320"/>
            <a:ext cx="3216960" cy="1022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16" name="TextBox 21"/>
          <p:cNvSpPr/>
          <p:nvPr/>
        </p:nvSpPr>
        <p:spPr>
          <a:xfrm>
            <a:off x="9110520" y="3246120"/>
            <a:ext cx="45072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f36b21"/>
                </a:solidFill>
                <a:latin typeface="Lato"/>
              </a:rPr>
              <a:t>ELIF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Box 22"/>
          <p:cNvSpPr/>
          <p:nvPr/>
        </p:nvSpPr>
        <p:spPr>
          <a:xfrm>
            <a:off x="8251560" y="3686760"/>
            <a:ext cx="216648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071a4a"/>
                </a:solidFill>
                <a:latin typeface="Lato"/>
              </a:rPr>
              <a:t>outra pergunta, se necessário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Rounded Rectangle 23"/>
          <p:cNvSpPr/>
          <p:nvPr/>
        </p:nvSpPr>
        <p:spPr>
          <a:xfrm>
            <a:off x="7726680" y="4334400"/>
            <a:ext cx="3216960" cy="1022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19" name="TextBox 24"/>
          <p:cNvSpPr/>
          <p:nvPr/>
        </p:nvSpPr>
        <p:spPr>
          <a:xfrm>
            <a:off x="9084240" y="4453200"/>
            <a:ext cx="50256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725ac1"/>
                </a:solidFill>
                <a:latin typeface="Lato"/>
              </a:rPr>
              <a:t>ELSE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Box 25"/>
          <p:cNvSpPr/>
          <p:nvPr/>
        </p:nvSpPr>
        <p:spPr>
          <a:xfrm>
            <a:off x="8788680" y="4886280"/>
            <a:ext cx="109224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Lato"/>
              </a:rPr>
              <a:t>caso restante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22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623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624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625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626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627" name="TextBox 7"/>
          <p:cNvSpPr/>
          <p:nvPr/>
        </p:nvSpPr>
        <p:spPr>
          <a:xfrm>
            <a:off x="4231440" y="768240"/>
            <a:ext cx="316620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Testar as fronteiras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Box 8"/>
          <p:cNvSpPr/>
          <p:nvPr/>
        </p:nvSpPr>
        <p:spPr>
          <a:xfrm>
            <a:off x="3521880" y="1307520"/>
            <a:ext cx="45302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Os casos próximos aos limites encontram erros rapidamente.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23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Rectangle 11"/>
          <p:cNvSpPr/>
          <p:nvPr/>
        </p:nvSpPr>
        <p:spPr>
          <a:xfrm>
            <a:off x="1710720" y="1772640"/>
            <a:ext cx="1506960" cy="455400"/>
          </a:xfrm>
          <a:prstGeom prst="rect">
            <a:avLst/>
          </a:prstGeom>
          <a:solidFill>
            <a:srgbClr val="071a4a"/>
          </a:solidFill>
          <a:ln w="12700">
            <a:solidFill>
              <a:srgbClr val="07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32" name="TextBox 12"/>
          <p:cNvSpPr/>
          <p:nvPr/>
        </p:nvSpPr>
        <p:spPr>
          <a:xfrm>
            <a:off x="2208960" y="1875600"/>
            <a:ext cx="5101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</a:rPr>
              <a:t>Entrada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Rectangle 13"/>
          <p:cNvSpPr/>
          <p:nvPr/>
        </p:nvSpPr>
        <p:spPr>
          <a:xfrm>
            <a:off x="3219480" y="1772640"/>
            <a:ext cx="1964160" cy="455400"/>
          </a:xfrm>
          <a:prstGeom prst="rect">
            <a:avLst/>
          </a:prstGeom>
          <a:solidFill>
            <a:srgbClr val="071a4a"/>
          </a:solidFill>
          <a:ln w="12700">
            <a:solidFill>
              <a:srgbClr val="07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34" name="TextBox 14"/>
          <p:cNvSpPr/>
          <p:nvPr/>
        </p:nvSpPr>
        <p:spPr>
          <a:xfrm>
            <a:off x="3901320" y="1875600"/>
            <a:ext cx="6001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</a:rPr>
              <a:t>Esperado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Rectangle 15"/>
          <p:cNvSpPr/>
          <p:nvPr/>
        </p:nvSpPr>
        <p:spPr>
          <a:xfrm>
            <a:off x="5185440" y="1772640"/>
            <a:ext cx="5073120" cy="455400"/>
          </a:xfrm>
          <a:prstGeom prst="rect">
            <a:avLst/>
          </a:prstGeom>
          <a:solidFill>
            <a:srgbClr val="071a4a"/>
          </a:solidFill>
          <a:ln w="12700">
            <a:solidFill>
              <a:srgbClr val="07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36" name="TextBox 16"/>
          <p:cNvSpPr/>
          <p:nvPr/>
        </p:nvSpPr>
        <p:spPr>
          <a:xfrm>
            <a:off x="7438680" y="1875600"/>
            <a:ext cx="5662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</a:rPr>
              <a:t>Por quê?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Rectangle 17"/>
          <p:cNvSpPr/>
          <p:nvPr/>
        </p:nvSpPr>
        <p:spPr>
          <a:xfrm>
            <a:off x="1710720" y="2229840"/>
            <a:ext cx="1506960" cy="61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38" name="TextBox 18"/>
          <p:cNvSpPr/>
          <p:nvPr/>
        </p:nvSpPr>
        <p:spPr>
          <a:xfrm>
            <a:off x="2346840" y="2392920"/>
            <a:ext cx="2343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0" lang="pt-BR" sz="1220" spc="-1" strike="noStrike">
                <a:solidFill>
                  <a:srgbClr val="071a4a"/>
                </a:solidFill>
                <a:latin typeface="Lato"/>
              </a:rPr>
              <a:t>29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Rectangle 19"/>
          <p:cNvSpPr/>
          <p:nvPr/>
        </p:nvSpPr>
        <p:spPr>
          <a:xfrm>
            <a:off x="3219480" y="2229840"/>
            <a:ext cx="1964160" cy="61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40" name="TextBox 20"/>
          <p:cNvSpPr/>
          <p:nvPr/>
        </p:nvSpPr>
        <p:spPr>
          <a:xfrm>
            <a:off x="4121640" y="2392920"/>
            <a:ext cx="1594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0" lang="pt-BR" sz="1220" spc="-1" strike="noStrike">
                <a:solidFill>
                  <a:srgbClr val="071a4a"/>
                </a:solidFill>
                <a:latin typeface="Lato"/>
              </a:rPr>
              <a:t>A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Rectangle 21"/>
          <p:cNvSpPr/>
          <p:nvPr/>
        </p:nvSpPr>
        <p:spPr>
          <a:xfrm>
            <a:off x="5185440" y="2229840"/>
            <a:ext cx="5073120" cy="61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42" name="TextBox 22"/>
          <p:cNvSpPr/>
          <p:nvPr/>
        </p:nvSpPr>
        <p:spPr>
          <a:xfrm>
            <a:off x="6854400" y="2392920"/>
            <a:ext cx="173520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0" lang="pt-BR" sz="1220" spc="-1" strike="noStrike">
                <a:solidFill>
                  <a:srgbClr val="071a4a"/>
                </a:solidFill>
                <a:latin typeface="Lato"/>
              </a:rPr>
              <a:t>abaixo do primeiro limite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Rectangle 23"/>
          <p:cNvSpPr/>
          <p:nvPr/>
        </p:nvSpPr>
        <p:spPr>
          <a:xfrm>
            <a:off x="1710720" y="2842560"/>
            <a:ext cx="1506960" cy="610920"/>
          </a:xfrm>
          <a:prstGeom prst="rect">
            <a:avLst/>
          </a:prstGeom>
          <a:solidFill>
            <a:srgbClr val="f5f8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44" name="TextBox 24"/>
          <p:cNvSpPr/>
          <p:nvPr/>
        </p:nvSpPr>
        <p:spPr>
          <a:xfrm>
            <a:off x="2346840" y="3005640"/>
            <a:ext cx="2343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0" lang="pt-BR" sz="1220" spc="-1" strike="noStrike">
                <a:solidFill>
                  <a:srgbClr val="071a4a"/>
                </a:solidFill>
                <a:latin typeface="Lato"/>
              </a:rPr>
              <a:t>30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Rectangle 25"/>
          <p:cNvSpPr/>
          <p:nvPr/>
        </p:nvSpPr>
        <p:spPr>
          <a:xfrm>
            <a:off x="3219480" y="2842560"/>
            <a:ext cx="1964160" cy="610920"/>
          </a:xfrm>
          <a:prstGeom prst="rect">
            <a:avLst/>
          </a:prstGeom>
          <a:solidFill>
            <a:srgbClr val="f5f8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46" name="TextBox 26"/>
          <p:cNvSpPr/>
          <p:nvPr/>
        </p:nvSpPr>
        <p:spPr>
          <a:xfrm>
            <a:off x="4124880" y="3005640"/>
            <a:ext cx="1533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0" lang="pt-BR" sz="1220" spc="-1" strike="noStrike">
                <a:solidFill>
                  <a:srgbClr val="071a4a"/>
                </a:solidFill>
                <a:latin typeface="Lato"/>
              </a:rPr>
              <a:t>B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Rectangle 27"/>
          <p:cNvSpPr/>
          <p:nvPr/>
        </p:nvSpPr>
        <p:spPr>
          <a:xfrm>
            <a:off x="5185440" y="2842560"/>
            <a:ext cx="5073120" cy="610920"/>
          </a:xfrm>
          <a:prstGeom prst="rect">
            <a:avLst/>
          </a:prstGeom>
          <a:solidFill>
            <a:srgbClr val="f5f8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48" name="TextBox 28"/>
          <p:cNvSpPr/>
          <p:nvPr/>
        </p:nvSpPr>
        <p:spPr>
          <a:xfrm>
            <a:off x="7094880" y="3005640"/>
            <a:ext cx="12538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0" lang="pt-BR" sz="1220" spc="-1" strike="noStrike">
                <a:solidFill>
                  <a:srgbClr val="071a4a"/>
                </a:solidFill>
                <a:latin typeface="Lato"/>
              </a:rPr>
              <a:t>no primeiro limite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Rectangle 29"/>
          <p:cNvSpPr/>
          <p:nvPr/>
        </p:nvSpPr>
        <p:spPr>
          <a:xfrm>
            <a:off x="1710720" y="3454920"/>
            <a:ext cx="1506960" cy="61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50" name="TextBox 30"/>
          <p:cNvSpPr/>
          <p:nvPr/>
        </p:nvSpPr>
        <p:spPr>
          <a:xfrm>
            <a:off x="2346840" y="3618360"/>
            <a:ext cx="2343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0" lang="pt-BR" sz="1220" spc="-1" strike="noStrike">
                <a:solidFill>
                  <a:srgbClr val="071a4a"/>
                </a:solidFill>
                <a:latin typeface="Lato"/>
              </a:rPr>
              <a:t>70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Rectangle 31"/>
          <p:cNvSpPr/>
          <p:nvPr/>
        </p:nvSpPr>
        <p:spPr>
          <a:xfrm>
            <a:off x="3219480" y="3454920"/>
            <a:ext cx="1964160" cy="61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52" name="TextBox 32"/>
          <p:cNvSpPr/>
          <p:nvPr/>
        </p:nvSpPr>
        <p:spPr>
          <a:xfrm>
            <a:off x="4124880" y="3618360"/>
            <a:ext cx="1533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0" lang="pt-BR" sz="1220" spc="-1" strike="noStrike">
                <a:solidFill>
                  <a:srgbClr val="071a4a"/>
                </a:solidFill>
                <a:latin typeface="Lato"/>
              </a:rPr>
              <a:t>B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Rectangle 33"/>
          <p:cNvSpPr/>
          <p:nvPr/>
        </p:nvSpPr>
        <p:spPr>
          <a:xfrm>
            <a:off x="5185440" y="3454920"/>
            <a:ext cx="5073120" cy="61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54" name="TextBox 34"/>
          <p:cNvSpPr/>
          <p:nvPr/>
        </p:nvSpPr>
        <p:spPr>
          <a:xfrm>
            <a:off x="7090560" y="3618360"/>
            <a:ext cx="12628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0" lang="pt-BR" sz="1220" spc="-1" strike="noStrike">
                <a:solidFill>
                  <a:srgbClr val="071a4a"/>
                </a:solidFill>
                <a:latin typeface="Lato"/>
              </a:rPr>
              <a:t>no segundo limite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Rectangle 35"/>
          <p:cNvSpPr/>
          <p:nvPr/>
        </p:nvSpPr>
        <p:spPr>
          <a:xfrm>
            <a:off x="1710720" y="4067640"/>
            <a:ext cx="1506960" cy="610920"/>
          </a:xfrm>
          <a:prstGeom prst="rect">
            <a:avLst/>
          </a:prstGeom>
          <a:solidFill>
            <a:srgbClr val="f5f8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56" name="TextBox 36"/>
          <p:cNvSpPr/>
          <p:nvPr/>
        </p:nvSpPr>
        <p:spPr>
          <a:xfrm>
            <a:off x="2346840" y="4230720"/>
            <a:ext cx="2343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0" lang="pt-BR" sz="1220" spc="-1" strike="noStrike">
                <a:solidFill>
                  <a:srgbClr val="071a4a"/>
                </a:solidFill>
                <a:latin typeface="Lato"/>
              </a:rPr>
              <a:t>71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Rectangle 37"/>
          <p:cNvSpPr/>
          <p:nvPr/>
        </p:nvSpPr>
        <p:spPr>
          <a:xfrm>
            <a:off x="3219480" y="4067640"/>
            <a:ext cx="1964160" cy="610920"/>
          </a:xfrm>
          <a:prstGeom prst="rect">
            <a:avLst/>
          </a:prstGeom>
          <a:solidFill>
            <a:srgbClr val="f5f8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58" name="TextBox 38"/>
          <p:cNvSpPr/>
          <p:nvPr/>
        </p:nvSpPr>
        <p:spPr>
          <a:xfrm>
            <a:off x="4122360" y="4230720"/>
            <a:ext cx="1580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0" lang="pt-BR" sz="1220" spc="-1" strike="noStrike">
                <a:solidFill>
                  <a:srgbClr val="071a4a"/>
                </a:solidFill>
                <a:latin typeface="Lato"/>
              </a:rPr>
              <a:t>C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Rectangle 39"/>
          <p:cNvSpPr/>
          <p:nvPr/>
        </p:nvSpPr>
        <p:spPr>
          <a:xfrm>
            <a:off x="5185440" y="4067640"/>
            <a:ext cx="5073120" cy="610920"/>
          </a:xfrm>
          <a:prstGeom prst="rect">
            <a:avLst/>
          </a:prstGeom>
          <a:solidFill>
            <a:srgbClr val="f5f8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60" name="TextBox 40"/>
          <p:cNvSpPr/>
          <p:nvPr/>
        </p:nvSpPr>
        <p:spPr>
          <a:xfrm>
            <a:off x="6873120" y="4230720"/>
            <a:ext cx="169740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0" lang="pt-BR" sz="1220" spc="-1" strike="noStrike">
                <a:solidFill>
                  <a:srgbClr val="071a4a"/>
                </a:solidFill>
                <a:latin typeface="Lato"/>
              </a:rPr>
              <a:t>acima do segundo limite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Rounded Rectangle 41"/>
          <p:cNvSpPr/>
          <p:nvPr/>
        </p:nvSpPr>
        <p:spPr>
          <a:xfrm>
            <a:off x="1398960" y="4992480"/>
            <a:ext cx="9096480" cy="565200"/>
          </a:xfrm>
          <a:prstGeom prst="roundRect">
            <a:avLst>
              <a:gd name="adj" fmla="val 16667"/>
            </a:avLst>
          </a:prstGeom>
          <a:solidFill>
            <a:srgbClr val="fff5e8"/>
          </a:solidFill>
          <a:ln w="12700">
            <a:solidFill>
              <a:srgbClr val="f5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62" name="TextBox 42"/>
          <p:cNvSpPr/>
          <p:nvPr/>
        </p:nvSpPr>
        <p:spPr>
          <a:xfrm>
            <a:off x="3272040" y="5171040"/>
            <a:ext cx="5350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40" spc="-1" strike="noStrike">
                <a:solidFill>
                  <a:srgbClr val="8a4a0a"/>
                </a:solidFill>
                <a:latin typeface="Lato"/>
              </a:rPr>
              <a:t>Fronteiras são mais informativas do que testar apenas valores “no meio” das faixas.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64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665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666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667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668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669" name="TextBox 7"/>
          <p:cNvSpPr/>
          <p:nvPr/>
        </p:nvSpPr>
        <p:spPr>
          <a:xfrm>
            <a:off x="2743920" y="768240"/>
            <a:ext cx="61412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Listas: várias leituras em uma coleção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TextBox 8"/>
          <p:cNvSpPr/>
          <p:nvPr/>
        </p:nvSpPr>
        <p:spPr>
          <a:xfrm>
            <a:off x="3169080" y="1307520"/>
            <a:ext cx="5235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Uma lista mantém valores em ordem e permite acessá-los por posição.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24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Rounded Rectangle 11"/>
          <p:cNvSpPr/>
          <p:nvPr/>
        </p:nvSpPr>
        <p:spPr>
          <a:xfrm>
            <a:off x="896040" y="1901880"/>
            <a:ext cx="5896080" cy="269568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74" name="TextBox 12"/>
          <p:cNvSpPr/>
          <p:nvPr/>
        </p:nvSpPr>
        <p:spPr>
          <a:xfrm>
            <a:off x="3661200" y="2011680"/>
            <a:ext cx="3654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LISTA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TextBox 13"/>
          <p:cNvSpPr/>
          <p:nvPr/>
        </p:nvSpPr>
        <p:spPr>
          <a:xfrm>
            <a:off x="2252880" y="2700000"/>
            <a:ext cx="3326400" cy="12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leituras = [22, 30, 45, 70, 90]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print(leituras)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print(leituras[0])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print(leituras[2])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print(len(leituras))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Rounded Rectangle 14"/>
          <p:cNvSpPr/>
          <p:nvPr/>
        </p:nvSpPr>
        <p:spPr>
          <a:xfrm>
            <a:off x="896040" y="4709160"/>
            <a:ext cx="5896080" cy="869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77" name="TextBox 15"/>
          <p:cNvSpPr/>
          <p:nvPr/>
        </p:nvSpPr>
        <p:spPr>
          <a:xfrm>
            <a:off x="1179720" y="4782240"/>
            <a:ext cx="3729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5b6b86"/>
                </a:solidFill>
                <a:latin typeface="Lato"/>
              </a:rPr>
              <a:t>SAÍDA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TextBox 16"/>
          <p:cNvSpPr/>
          <p:nvPr/>
        </p:nvSpPr>
        <p:spPr>
          <a:xfrm>
            <a:off x="3260520" y="4763880"/>
            <a:ext cx="1889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[22, 30, 45, 70, 90]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22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45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5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Rounded Rectangle 17"/>
          <p:cNvSpPr/>
          <p:nvPr/>
        </p:nvSpPr>
        <p:spPr>
          <a:xfrm>
            <a:off x="7178040" y="1938600"/>
            <a:ext cx="3765600" cy="2613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80" name="TextBox 18"/>
          <p:cNvSpPr/>
          <p:nvPr/>
        </p:nvSpPr>
        <p:spPr>
          <a:xfrm>
            <a:off x="8805600" y="2247840"/>
            <a:ext cx="4917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100" spc="-1" strike="noStrike">
                <a:solidFill>
                  <a:srgbClr val="10b9f3"/>
                </a:solidFill>
                <a:latin typeface="Lato"/>
              </a:rPr>
              <a:t>Índices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TextBox 19"/>
          <p:cNvSpPr/>
          <p:nvPr/>
        </p:nvSpPr>
        <p:spPr>
          <a:xfrm>
            <a:off x="7477560" y="2761560"/>
            <a:ext cx="316620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posição:   0   1   2   3   4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valor:     22  30  45  70  90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TextBox 20"/>
          <p:cNvSpPr/>
          <p:nvPr/>
        </p:nvSpPr>
        <p:spPr>
          <a:xfrm>
            <a:off x="7745040" y="3901320"/>
            <a:ext cx="256752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300" spc="-1" strike="noStrike">
                <a:solidFill>
                  <a:srgbClr val="5b6b86"/>
                </a:solidFill>
                <a:latin typeface="Lato"/>
              </a:rPr>
              <a:t>Em Python, a primeira posição é 0.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TextBox 65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84" name="Connector 1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685" name="Connector 6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686" name="Connector 7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687" name="Connector 8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688" name="Picture 1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689" name="TextBox 66"/>
          <p:cNvSpPr/>
          <p:nvPr/>
        </p:nvSpPr>
        <p:spPr>
          <a:xfrm>
            <a:off x="1924920" y="768240"/>
            <a:ext cx="778320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Listas: mudar e acrescentar valor a uma coleção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TextBox 67"/>
          <p:cNvSpPr/>
          <p:nvPr/>
        </p:nvSpPr>
        <p:spPr>
          <a:xfrm>
            <a:off x="3169080" y="1307520"/>
            <a:ext cx="5235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Uma lista mantém valores em ordem e permite acessá-los por posição.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TextBox 68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TextBox 69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24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Rounded Rectangle 2"/>
          <p:cNvSpPr/>
          <p:nvPr/>
        </p:nvSpPr>
        <p:spPr>
          <a:xfrm>
            <a:off x="896040" y="1901880"/>
            <a:ext cx="5896080" cy="269568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94" name="TextBox 70"/>
          <p:cNvSpPr/>
          <p:nvPr/>
        </p:nvSpPr>
        <p:spPr>
          <a:xfrm>
            <a:off x="3661200" y="2011680"/>
            <a:ext cx="3654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LISTA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TextBox 71"/>
          <p:cNvSpPr/>
          <p:nvPr/>
        </p:nvSpPr>
        <p:spPr>
          <a:xfrm>
            <a:off x="2394720" y="2465280"/>
            <a:ext cx="3219840" cy="177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ff0000"/>
                </a:solidFill>
                <a:latin typeface="DejaVu Sans Mono"/>
              </a:rPr>
              <a:t>Acrescentar no código anterior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leituras[0] = 20</a:t>
            </a:r>
            <a:br>
              <a:rPr sz="1400"/>
            </a:br>
            <a:r>
              <a:rPr b="0" lang="pt-BR" sz="14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leituras.append(100)</a:t>
            </a:r>
            <a:br>
              <a:rPr sz="1400"/>
            </a:br>
            <a:r>
              <a:rPr b="0" lang="pt-BR" sz="14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print(leituras)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  <a:ea typeface="Noto Sans CJK SC"/>
              </a:rPr>
              <a:t>print(len(leituras))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Rounded Rectangle 3"/>
          <p:cNvSpPr/>
          <p:nvPr/>
        </p:nvSpPr>
        <p:spPr>
          <a:xfrm>
            <a:off x="896040" y="4709160"/>
            <a:ext cx="5896080" cy="869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697" name="TextBox 72"/>
          <p:cNvSpPr/>
          <p:nvPr/>
        </p:nvSpPr>
        <p:spPr>
          <a:xfrm>
            <a:off x="1179720" y="4782240"/>
            <a:ext cx="3729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5b6b86"/>
                </a:solidFill>
                <a:latin typeface="Lato"/>
              </a:rPr>
              <a:t>SAÍDA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TextBox 73"/>
          <p:cNvSpPr/>
          <p:nvPr/>
        </p:nvSpPr>
        <p:spPr>
          <a:xfrm>
            <a:off x="3031560" y="4763880"/>
            <a:ext cx="2347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[20, 30, 45, 70, 90, 100]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6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Rounded Rectangle 4"/>
          <p:cNvSpPr/>
          <p:nvPr/>
        </p:nvSpPr>
        <p:spPr>
          <a:xfrm>
            <a:off x="7178040" y="1938600"/>
            <a:ext cx="3981240" cy="2613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00" name="TextBox 74"/>
          <p:cNvSpPr/>
          <p:nvPr/>
        </p:nvSpPr>
        <p:spPr>
          <a:xfrm>
            <a:off x="8805600" y="2247840"/>
            <a:ext cx="4917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100" spc="-1" strike="noStrike">
                <a:solidFill>
                  <a:srgbClr val="10b9f3"/>
                </a:solidFill>
                <a:latin typeface="Lato"/>
              </a:rPr>
              <a:t>Índices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TextBox 75"/>
          <p:cNvSpPr/>
          <p:nvPr/>
        </p:nvSpPr>
        <p:spPr>
          <a:xfrm>
            <a:off x="7380000" y="2761560"/>
            <a:ext cx="37029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Posição:   0   1   2   3   4   5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Valor:     20  30  45  70  90  100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TextBox 76"/>
          <p:cNvSpPr/>
          <p:nvPr/>
        </p:nvSpPr>
        <p:spPr>
          <a:xfrm>
            <a:off x="7745040" y="3901320"/>
            <a:ext cx="256752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300" spc="-1" strike="noStrike">
                <a:solidFill>
                  <a:srgbClr val="5b6b86"/>
                </a:solidFill>
                <a:latin typeface="Lato"/>
              </a:rPr>
              <a:t>Em Python, a primeira posição é 0.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04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705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706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707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708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709" name="TextBox 7"/>
          <p:cNvSpPr/>
          <p:nvPr/>
        </p:nvSpPr>
        <p:spPr>
          <a:xfrm>
            <a:off x="3514320" y="768240"/>
            <a:ext cx="46004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for: faça algo para cada item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TextBox 8"/>
          <p:cNvSpPr/>
          <p:nvPr/>
        </p:nvSpPr>
        <p:spPr>
          <a:xfrm>
            <a:off x="3234600" y="1307520"/>
            <a:ext cx="51048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O laço percorre a lista sem copiarmos o mesmo código muitas vezes.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25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Rounded Rectangle 11"/>
          <p:cNvSpPr/>
          <p:nvPr/>
        </p:nvSpPr>
        <p:spPr>
          <a:xfrm>
            <a:off x="896040" y="1920240"/>
            <a:ext cx="6289200" cy="246708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14" name="TextBox 12"/>
          <p:cNvSpPr/>
          <p:nvPr/>
        </p:nvSpPr>
        <p:spPr>
          <a:xfrm>
            <a:off x="3340440" y="2030040"/>
            <a:ext cx="14000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PERCORRENDO A LISTA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TextBox 13"/>
          <p:cNvSpPr/>
          <p:nvPr/>
        </p:nvSpPr>
        <p:spPr>
          <a:xfrm>
            <a:off x="2448000" y="2304360"/>
            <a:ext cx="31849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350" spc="-1" strike="noStrike">
                <a:solidFill>
                  <a:srgbClr val="071a4a"/>
                </a:solidFill>
                <a:latin typeface="DejaVu Sans Mono"/>
              </a:rPr>
              <a:t>leituras = [22, 30, 45, 70, 90]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50" spc="-1" strike="noStrike">
                <a:solidFill>
                  <a:srgbClr val="071a4a"/>
                </a:solidFill>
                <a:latin typeface="DejaVu Sans Mono"/>
              </a:rPr>
              <a:t>for valor in leituras: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5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350" spc="-1" strike="noStrike">
                <a:solidFill>
                  <a:srgbClr val="071a4a"/>
                </a:solidFill>
                <a:latin typeface="DejaVu Sans Mono"/>
              </a:rPr>
              <a:t>print("Leitura:", valor)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Rounded Rectangle 14"/>
          <p:cNvSpPr/>
          <p:nvPr/>
        </p:nvSpPr>
        <p:spPr>
          <a:xfrm>
            <a:off x="896040" y="4498920"/>
            <a:ext cx="6289200" cy="1259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17" name="TextBox 15"/>
          <p:cNvSpPr/>
          <p:nvPr/>
        </p:nvSpPr>
        <p:spPr>
          <a:xfrm>
            <a:off x="1179720" y="4572000"/>
            <a:ext cx="3729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5b6b86"/>
                </a:solidFill>
                <a:latin typeface="Lato"/>
              </a:rPr>
              <a:t>SAÍDA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TextBox 16"/>
          <p:cNvSpPr/>
          <p:nvPr/>
        </p:nvSpPr>
        <p:spPr>
          <a:xfrm>
            <a:off x="3870360" y="4553640"/>
            <a:ext cx="106308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Leitura: 22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Leitura: 30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Leitura: 45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Leitura: 70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Leitura: 90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Rounded Rectangle 17"/>
          <p:cNvSpPr/>
          <p:nvPr/>
        </p:nvSpPr>
        <p:spPr>
          <a:xfrm>
            <a:off x="7543800" y="1956960"/>
            <a:ext cx="3974760" cy="233892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20" name="TextBox 18"/>
          <p:cNvSpPr/>
          <p:nvPr/>
        </p:nvSpPr>
        <p:spPr>
          <a:xfrm>
            <a:off x="8715600" y="2247840"/>
            <a:ext cx="10922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100" spc="-1" strike="noStrike">
                <a:solidFill>
                  <a:srgbClr val="f36b21"/>
                </a:solidFill>
                <a:latin typeface="Lato"/>
              </a:rPr>
              <a:t>A cada repetição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TextBox 19"/>
          <p:cNvSpPr/>
          <p:nvPr/>
        </p:nvSpPr>
        <p:spPr>
          <a:xfrm>
            <a:off x="7920000" y="2700000"/>
            <a:ext cx="34070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71a4a"/>
                </a:solidFill>
                <a:latin typeface="Inter Display"/>
              </a:rPr>
              <a:t>valor recebe o próximo item da lista.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TextBox 20"/>
          <p:cNvSpPr/>
          <p:nvPr/>
        </p:nvSpPr>
        <p:spPr>
          <a:xfrm>
            <a:off x="8156520" y="3355200"/>
            <a:ext cx="264204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5b6b86"/>
                </a:solidFill>
                <a:latin typeface="Lato"/>
              </a:rPr>
              <a:t>Quando a lista termina, o for termina.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24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725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726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727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728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729" name="TextBox 7"/>
          <p:cNvSpPr/>
          <p:nvPr/>
        </p:nvSpPr>
        <p:spPr>
          <a:xfrm>
            <a:off x="3751200" y="768240"/>
            <a:ext cx="412632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Repetir a lógica completa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TextBox 8"/>
          <p:cNvSpPr/>
          <p:nvPr/>
        </p:nvSpPr>
        <p:spPr>
          <a:xfrm>
            <a:off x="3366360" y="1307520"/>
            <a:ext cx="48412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Cada nova leitura precisa ser classificada — não apenas impressa.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26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Rounded Rectangle 11"/>
          <p:cNvSpPr/>
          <p:nvPr/>
        </p:nvSpPr>
        <p:spPr>
          <a:xfrm>
            <a:off x="804600" y="1810440"/>
            <a:ext cx="4953960" cy="268884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34" name="TextBox 12"/>
          <p:cNvSpPr/>
          <p:nvPr/>
        </p:nvSpPr>
        <p:spPr>
          <a:xfrm>
            <a:off x="2516400" y="1980000"/>
            <a:ext cx="19821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DECISÃO DENTRO DA REPETIÇÃO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TextBox 13"/>
          <p:cNvSpPr/>
          <p:nvPr/>
        </p:nvSpPr>
        <p:spPr>
          <a:xfrm>
            <a:off x="1838160" y="2235960"/>
            <a:ext cx="3242880" cy="21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leituras = [22, 30, 45, 70, 90]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print(“Leituras e classificações”)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for </a:t>
            </a:r>
            <a:r>
              <a:rPr b="0" lang="pt-BR" sz="1250" spc="-1" strike="noStrike">
                <a:solidFill>
                  <a:srgbClr val="ff0000"/>
                </a:solidFill>
                <a:latin typeface="DejaVu Sans Mono"/>
              </a:rPr>
              <a:t>valor</a:t>
            </a: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 in </a:t>
            </a:r>
            <a:r>
              <a:rPr b="0" lang="pt-BR" sz="1250" spc="-1" strike="noStrike">
                <a:solidFill>
                  <a:srgbClr val="ff0000"/>
                </a:solidFill>
                <a:latin typeface="DejaVu Sans Mono"/>
              </a:rPr>
              <a:t>leituras</a:t>
            </a: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: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if valor &lt; 30: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        </a:t>
            </a: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estado = "A"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elif valor &lt;= 70: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        </a:t>
            </a: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estado = "B"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else: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        </a:t>
            </a: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estado = "C"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print(valor, estado)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20" spc="-1" strike="noStrike">
                <a:solidFill>
                  <a:srgbClr val="071a4a"/>
                </a:solidFill>
                <a:latin typeface="DejaVu Sans Mono"/>
              </a:rPr>
              <a:t>print("Fim")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Rounded Rectangle 14"/>
          <p:cNvSpPr/>
          <p:nvPr/>
        </p:nvSpPr>
        <p:spPr>
          <a:xfrm>
            <a:off x="720000" y="4680720"/>
            <a:ext cx="4954680" cy="161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37" name="TextBox 15"/>
          <p:cNvSpPr/>
          <p:nvPr/>
        </p:nvSpPr>
        <p:spPr>
          <a:xfrm>
            <a:off x="1066320" y="4863960"/>
            <a:ext cx="3729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5b6b86"/>
                </a:solidFill>
                <a:latin typeface="Lato"/>
              </a:rPr>
              <a:t>SAÍDA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TextBox 16"/>
          <p:cNvSpPr/>
          <p:nvPr/>
        </p:nvSpPr>
        <p:spPr>
          <a:xfrm>
            <a:off x="1851840" y="4860000"/>
            <a:ext cx="2439360" cy="13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DejaVu Sans Mono"/>
              </a:rPr>
              <a:t>Leituras e classificações</a:t>
            </a:r>
            <a:br>
              <a:rPr sz="1200"/>
            </a:b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22 A  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30 B 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45 B  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70 B  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90 C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Fim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TextBox 17"/>
          <p:cNvSpPr/>
          <p:nvPr/>
        </p:nvSpPr>
        <p:spPr>
          <a:xfrm>
            <a:off x="6396840" y="2191320"/>
            <a:ext cx="5303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71a4a"/>
                </a:solidFill>
                <a:latin typeface="Inter Display"/>
              </a:rPr>
              <a:t>Qual trecho precisa ficar indentado dentro do for?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Rounded Rectangle 18"/>
          <p:cNvSpPr/>
          <p:nvPr/>
        </p:nvSpPr>
        <p:spPr>
          <a:xfrm>
            <a:off x="7380000" y="3072960"/>
            <a:ext cx="2905920" cy="345600"/>
          </a:xfrm>
          <a:prstGeom prst="roundRect">
            <a:avLst>
              <a:gd name="adj" fmla="val 16667"/>
            </a:avLst>
          </a:prstGeom>
          <a:solidFill>
            <a:srgbClr val="f36b21"/>
          </a:solidFill>
          <a:ln w="1270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41" name="TextBox 19"/>
          <p:cNvSpPr/>
          <p:nvPr/>
        </p:nvSpPr>
        <p:spPr>
          <a:xfrm>
            <a:off x="7607880" y="3143160"/>
            <a:ext cx="245016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TODO O PROCESSAMENTO DA LEITURA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TextBox 20"/>
          <p:cNvSpPr/>
          <p:nvPr/>
        </p:nvSpPr>
        <p:spPr>
          <a:xfrm>
            <a:off x="6480000" y="4140000"/>
            <a:ext cx="469332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5b6b86"/>
                </a:solidFill>
                <a:latin typeface="Lato"/>
              </a:rPr>
              <a:t>Esse erro — deixar a classificação fora do laço — é muito comum.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"/>
          <p:cNvSpPr/>
          <p:nvPr/>
        </p:nvSpPr>
        <p:spPr>
          <a:xfrm>
            <a:off x="6217200" y="5106600"/>
            <a:ext cx="5482080" cy="6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370" spc="-1" strike="noStrike">
                <a:solidFill>
                  <a:srgbClr val="071a4a"/>
                </a:solidFill>
                <a:latin typeface="DejaVu Sans Mono"/>
              </a:rPr>
              <a:t>O </a:t>
            </a:r>
            <a:r>
              <a:rPr b="0" lang="pt-BR" sz="1370" spc="-1" strike="noStrike">
                <a:solidFill>
                  <a:srgbClr val="ff0000"/>
                </a:solidFill>
                <a:latin typeface="DejaVu Sans Mono"/>
              </a:rPr>
              <a:t>for</a:t>
            </a:r>
            <a:r>
              <a:rPr b="0" lang="pt-BR" sz="1370" spc="-1" strike="noStrike">
                <a:solidFill>
                  <a:srgbClr val="071a4a"/>
                </a:solidFill>
                <a:latin typeface="DejaVu Sans Mono"/>
              </a:rPr>
              <a:t> percorre a variável </a:t>
            </a:r>
            <a:r>
              <a:rPr b="0" lang="pt-BR" sz="1370" spc="-1" strike="noStrike">
                <a:solidFill>
                  <a:srgbClr val="ff0000"/>
                </a:solidFill>
                <a:latin typeface="DejaVu Sans Mono"/>
              </a:rPr>
              <a:t>leituras</a:t>
            </a:r>
            <a:r>
              <a:rPr b="0" lang="pt-BR" sz="1370" spc="-1" strike="noStrike">
                <a:solidFill>
                  <a:srgbClr val="071a4a"/>
                </a:solidFill>
                <a:latin typeface="DejaVu Sans Mono"/>
              </a:rPr>
              <a:t> e guarda cada valor na variável </a:t>
            </a:r>
            <a:r>
              <a:rPr b="0" lang="pt-BR" sz="1370" spc="-1" strike="noStrike">
                <a:solidFill>
                  <a:srgbClr val="ff0000"/>
                </a:solidFill>
                <a:latin typeface="DejaVu Sans Mono"/>
              </a:rPr>
              <a:t>valor</a:t>
            </a:r>
            <a:endParaRPr b="0" lang="pt-BR" sz="13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45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746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747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748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749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750" name="TextBox 7"/>
          <p:cNvSpPr/>
          <p:nvPr/>
        </p:nvSpPr>
        <p:spPr>
          <a:xfrm>
            <a:off x="1597680" y="768240"/>
            <a:ext cx="84333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while: repetir enquanto uma condição for verdadeira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TextBox 8"/>
          <p:cNvSpPr/>
          <p:nvPr/>
        </p:nvSpPr>
        <p:spPr>
          <a:xfrm>
            <a:off x="3280320" y="1307520"/>
            <a:ext cx="50133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Use quando a quantidade de repetições depende de uma condição.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27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Rounded Rectangle 11"/>
          <p:cNvSpPr/>
          <p:nvPr/>
        </p:nvSpPr>
        <p:spPr>
          <a:xfrm>
            <a:off x="896040" y="1901880"/>
            <a:ext cx="5582520" cy="301572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55" name="TextBox 12"/>
          <p:cNvSpPr/>
          <p:nvPr/>
        </p:nvSpPr>
        <p:spPr>
          <a:xfrm>
            <a:off x="3142440" y="2011680"/>
            <a:ext cx="15861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REPETIÇÃO CONDICIONAL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TextBox 13"/>
          <p:cNvSpPr/>
          <p:nvPr/>
        </p:nvSpPr>
        <p:spPr>
          <a:xfrm>
            <a:off x="1980000" y="2550960"/>
            <a:ext cx="3631320" cy="140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320" spc="-1" strike="noStrike">
                <a:solidFill>
                  <a:srgbClr val="071a4a"/>
                </a:solidFill>
                <a:latin typeface="DejaVu Sans Mono"/>
              </a:rPr>
              <a:t>contador = 0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20" spc="-1" strike="noStrike">
                <a:solidFill>
                  <a:srgbClr val="071a4a"/>
                </a:solidFill>
                <a:latin typeface="DejaVu Sans Mono"/>
              </a:rPr>
              <a:t>while contador &lt; 3: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2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320" spc="-1" strike="noStrike">
                <a:solidFill>
                  <a:srgbClr val="071a4a"/>
                </a:solidFill>
                <a:latin typeface="DejaVu Sans Mono"/>
              </a:rPr>
              <a:t>print("Tentativa", contador + 1)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2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320" spc="-1" strike="noStrike">
                <a:solidFill>
                  <a:srgbClr val="071a4a"/>
                </a:solidFill>
                <a:latin typeface="DejaVu Sans Mono"/>
              </a:rPr>
              <a:t>contador += 1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20" spc="-1" strike="noStrike">
                <a:solidFill>
                  <a:srgbClr val="071a4a"/>
                </a:solidFill>
                <a:latin typeface="DejaVu Sans Mono"/>
              </a:rPr>
              <a:t>print("fim")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Rounded Rectangle 14"/>
          <p:cNvSpPr/>
          <p:nvPr/>
        </p:nvSpPr>
        <p:spPr>
          <a:xfrm>
            <a:off x="896040" y="5040000"/>
            <a:ext cx="5582520" cy="108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58" name="TextBox 15"/>
          <p:cNvSpPr/>
          <p:nvPr/>
        </p:nvSpPr>
        <p:spPr>
          <a:xfrm>
            <a:off x="1179720" y="5102280"/>
            <a:ext cx="3729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5b6b86"/>
                </a:solidFill>
                <a:latin typeface="Lato"/>
              </a:rPr>
              <a:t>SAÍDA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TextBox 16"/>
          <p:cNvSpPr/>
          <p:nvPr/>
        </p:nvSpPr>
        <p:spPr>
          <a:xfrm>
            <a:off x="2340000" y="5220000"/>
            <a:ext cx="10630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Tentativa 1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Tentativa 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Tentativa 3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fim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Rounded Rectangle 17"/>
          <p:cNvSpPr/>
          <p:nvPr/>
        </p:nvSpPr>
        <p:spPr>
          <a:xfrm>
            <a:off x="7360920" y="1938600"/>
            <a:ext cx="3491280" cy="122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61" name="TextBox 18"/>
          <p:cNvSpPr/>
          <p:nvPr/>
        </p:nvSpPr>
        <p:spPr>
          <a:xfrm>
            <a:off x="8876520" y="2057400"/>
            <a:ext cx="46116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10b9f3"/>
                </a:solidFill>
                <a:latin typeface="Lato"/>
              </a:rPr>
              <a:t>FOR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TextBox 19"/>
          <p:cNvSpPr/>
          <p:nvPr/>
        </p:nvSpPr>
        <p:spPr>
          <a:xfrm>
            <a:off x="7679160" y="2598480"/>
            <a:ext cx="285408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071a4a"/>
                </a:solidFill>
                <a:latin typeface="Lato"/>
              </a:rPr>
              <a:t>bom quando percorremos uma coleção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Rounded Rectangle 20"/>
          <p:cNvSpPr/>
          <p:nvPr/>
        </p:nvSpPr>
        <p:spPr>
          <a:xfrm>
            <a:off x="7360920" y="3364920"/>
            <a:ext cx="3491280" cy="122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64" name="TextBox 21"/>
          <p:cNvSpPr/>
          <p:nvPr/>
        </p:nvSpPr>
        <p:spPr>
          <a:xfrm>
            <a:off x="8754480" y="3483720"/>
            <a:ext cx="7052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725ac1"/>
                </a:solidFill>
                <a:latin typeface="Lato"/>
              </a:rPr>
              <a:t>WHILE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TextBox 22"/>
          <p:cNvSpPr/>
          <p:nvPr/>
        </p:nvSpPr>
        <p:spPr>
          <a:xfrm>
            <a:off x="7687800" y="4024800"/>
            <a:ext cx="283716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071a4a"/>
                </a:solidFill>
                <a:latin typeface="Lato"/>
              </a:rPr>
              <a:t>bom quando repetimos até algo mudar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Rounded Rectangle 23"/>
          <p:cNvSpPr/>
          <p:nvPr/>
        </p:nvSpPr>
        <p:spPr>
          <a:xfrm>
            <a:off x="7388280" y="4800600"/>
            <a:ext cx="3454560" cy="510120"/>
          </a:xfrm>
          <a:prstGeom prst="roundRect">
            <a:avLst>
              <a:gd name="adj" fmla="val 16667"/>
            </a:avLst>
          </a:prstGeom>
          <a:solidFill>
            <a:srgbClr val="fff5e8"/>
          </a:solidFill>
          <a:ln w="12700">
            <a:solidFill>
              <a:srgbClr val="f5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67" name="TextBox 24"/>
          <p:cNvSpPr/>
          <p:nvPr/>
        </p:nvSpPr>
        <p:spPr>
          <a:xfrm>
            <a:off x="7886880" y="4865040"/>
            <a:ext cx="245772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40" spc="-1" strike="noStrike">
                <a:solidFill>
                  <a:srgbClr val="8a4a0a"/>
                </a:solidFill>
                <a:latin typeface="Lato"/>
              </a:rPr>
              <a:t>Cuidado: se a condição nunca mudar, 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140" spc="-1" strike="noStrike">
                <a:solidFill>
                  <a:srgbClr val="8a4a0a"/>
                </a:solidFill>
                <a:latin typeface="Lato"/>
              </a:rPr>
              <a:t>o while pode não terminar.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69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770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771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772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773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774" name="TextBox 7"/>
          <p:cNvSpPr/>
          <p:nvPr/>
        </p:nvSpPr>
        <p:spPr>
          <a:xfrm>
            <a:off x="3627000" y="768240"/>
            <a:ext cx="437508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Gerando leituras sintéticas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TextBox 8"/>
          <p:cNvSpPr/>
          <p:nvPr/>
        </p:nvSpPr>
        <p:spPr>
          <a:xfrm>
            <a:off x="3027960" y="1307520"/>
            <a:ext cx="5518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Um módulo pode fornecer funções que não fazem parte do núcleo básico.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28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Rounded Rectangle 11"/>
          <p:cNvSpPr/>
          <p:nvPr/>
        </p:nvSpPr>
        <p:spPr>
          <a:xfrm>
            <a:off x="896040" y="1920240"/>
            <a:ext cx="5896080" cy="203904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79" name="TextBox 12"/>
          <p:cNvSpPr/>
          <p:nvPr/>
        </p:nvSpPr>
        <p:spPr>
          <a:xfrm>
            <a:off x="3173040" y="2030040"/>
            <a:ext cx="13420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VALORES ALEATÓRIOS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TextBox 13"/>
          <p:cNvSpPr/>
          <p:nvPr/>
        </p:nvSpPr>
        <p:spPr>
          <a:xfrm>
            <a:off x="2066400" y="2555640"/>
            <a:ext cx="3555000" cy="10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370" spc="-1" strike="noStrike">
                <a:solidFill>
                  <a:srgbClr val="071a4a"/>
                </a:solidFill>
                <a:latin typeface="DejaVu Sans Mono"/>
              </a:rPr>
              <a:t>from random import randint</a:t>
            </a:r>
            <a:endParaRPr b="0" lang="pt-BR" sz="13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3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70" spc="-1" strike="noStrike">
                <a:solidFill>
                  <a:srgbClr val="071a4a"/>
                </a:solidFill>
                <a:latin typeface="DejaVu Sans Mono"/>
              </a:rPr>
              <a:t>for _ in range(5):</a:t>
            </a:r>
            <a:endParaRPr b="0" lang="pt-BR" sz="13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7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370" spc="-1" strike="noStrike">
                <a:solidFill>
                  <a:srgbClr val="071a4a"/>
                </a:solidFill>
                <a:latin typeface="DejaVu Sans Mono"/>
              </a:rPr>
              <a:t>valor_sensor = randint(0, 100)</a:t>
            </a:r>
            <a:endParaRPr b="0" lang="pt-BR" sz="13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7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370" spc="-1" strike="noStrike">
                <a:solidFill>
                  <a:srgbClr val="071a4a"/>
                </a:solidFill>
                <a:latin typeface="DejaVu Sans Mono"/>
              </a:rPr>
              <a:t>print(valor_sensor)</a:t>
            </a:r>
            <a:endParaRPr b="0" lang="pt-BR" sz="1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Rounded Rectangle 14"/>
          <p:cNvSpPr/>
          <p:nvPr/>
        </p:nvSpPr>
        <p:spPr>
          <a:xfrm>
            <a:off x="896040" y="4500000"/>
            <a:ext cx="5896080" cy="125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82" name="TextBox 15"/>
          <p:cNvSpPr/>
          <p:nvPr/>
        </p:nvSpPr>
        <p:spPr>
          <a:xfrm>
            <a:off x="1260000" y="4612320"/>
            <a:ext cx="3729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5b6b86"/>
                </a:solidFill>
                <a:latin typeface="Lato"/>
              </a:rPr>
              <a:t>SAÍDA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TextBox 16"/>
          <p:cNvSpPr/>
          <p:nvPr/>
        </p:nvSpPr>
        <p:spPr>
          <a:xfrm>
            <a:off x="2182320" y="4611240"/>
            <a:ext cx="23724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18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31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45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70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82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Rounded Rectangle 17"/>
          <p:cNvSpPr/>
          <p:nvPr/>
        </p:nvSpPr>
        <p:spPr>
          <a:xfrm>
            <a:off x="7150680" y="1920240"/>
            <a:ext cx="4187880" cy="2219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785" name="TextBox 18"/>
          <p:cNvSpPr/>
          <p:nvPr/>
        </p:nvSpPr>
        <p:spPr>
          <a:xfrm>
            <a:off x="8147520" y="2053440"/>
            <a:ext cx="19317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100" spc="-1" strike="noStrike">
                <a:solidFill>
                  <a:srgbClr val="10b9f3"/>
                </a:solidFill>
                <a:latin typeface="Lato"/>
              </a:rPr>
              <a:t>Por que usar dados sintéticos?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TextBox 19"/>
          <p:cNvSpPr/>
          <p:nvPr/>
        </p:nvSpPr>
        <p:spPr>
          <a:xfrm>
            <a:off x="7444080" y="2422800"/>
            <a:ext cx="16092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450" spc="-1" strike="noStrike">
                <a:solidFill>
                  <a:srgbClr val="10b9f3"/>
                </a:solidFill>
                <a:latin typeface="Lato"/>
              </a:rPr>
              <a:t>•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TextBox 20"/>
          <p:cNvSpPr/>
          <p:nvPr/>
        </p:nvSpPr>
        <p:spPr>
          <a:xfrm>
            <a:off x="7748640" y="2422800"/>
            <a:ext cx="198684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Lato"/>
              </a:rPr>
              <a:t>praticar sem dados pessoais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TextBox 21"/>
          <p:cNvSpPr/>
          <p:nvPr/>
        </p:nvSpPr>
        <p:spPr>
          <a:xfrm>
            <a:off x="7444080" y="2843640"/>
            <a:ext cx="16092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450" spc="-1" strike="noStrike">
                <a:solidFill>
                  <a:srgbClr val="10b9f3"/>
                </a:solidFill>
                <a:latin typeface="Lato"/>
              </a:rPr>
              <a:t>•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TextBox 22"/>
          <p:cNvSpPr/>
          <p:nvPr/>
        </p:nvSpPr>
        <p:spPr>
          <a:xfrm>
            <a:off x="7774200" y="2843640"/>
            <a:ext cx="188460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Lato"/>
              </a:rPr>
              <a:t>repetir testes rapidamente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TextBox 23"/>
          <p:cNvSpPr/>
          <p:nvPr/>
        </p:nvSpPr>
        <p:spPr>
          <a:xfrm>
            <a:off x="7444080" y="3264120"/>
            <a:ext cx="16092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450" spc="-1" strike="noStrike">
                <a:solidFill>
                  <a:srgbClr val="10b9f3"/>
                </a:solidFill>
                <a:latin typeface="Lato"/>
              </a:rPr>
              <a:t>•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TextBox 24"/>
          <p:cNvSpPr/>
          <p:nvPr/>
        </p:nvSpPr>
        <p:spPr>
          <a:xfrm>
            <a:off x="7781400" y="3264120"/>
            <a:ext cx="139716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Lato"/>
              </a:rPr>
              <a:t>criar casos variados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TextBox 25"/>
          <p:cNvSpPr/>
          <p:nvPr/>
        </p:nvSpPr>
        <p:spPr>
          <a:xfrm>
            <a:off x="7444080" y="3684600"/>
            <a:ext cx="16092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450" spc="-1" strike="noStrike">
                <a:solidFill>
                  <a:srgbClr val="10b9f3"/>
                </a:solidFill>
                <a:latin typeface="Lato"/>
              </a:rPr>
              <a:t>•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TextBox 26"/>
          <p:cNvSpPr/>
          <p:nvPr/>
        </p:nvSpPr>
        <p:spPr>
          <a:xfrm>
            <a:off x="7779600" y="3657960"/>
            <a:ext cx="31633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Lato"/>
              </a:rPr>
              <a:t>separar programação de interpretação clínica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"/>
          <p:cNvSpPr/>
          <p:nvPr/>
        </p:nvSpPr>
        <p:spPr>
          <a:xfrm>
            <a:off x="7200000" y="4320000"/>
            <a:ext cx="4139280" cy="171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370" spc="-1" strike="noStrike">
                <a:solidFill>
                  <a:srgbClr val="071a4a"/>
                </a:solidFill>
                <a:latin typeface="DejaVu Sans Mono"/>
              </a:rPr>
              <a:t>O </a:t>
            </a:r>
            <a:r>
              <a:rPr b="0" lang="pt-BR" sz="1370" spc="-1" strike="noStrike">
                <a:solidFill>
                  <a:srgbClr val="ff0000"/>
                </a:solidFill>
                <a:latin typeface="DejaVu Sans Mono"/>
              </a:rPr>
              <a:t>range</a:t>
            </a:r>
            <a:r>
              <a:rPr b="0" lang="pt-BR" sz="1370" spc="-1" strike="noStrike">
                <a:solidFill>
                  <a:srgbClr val="071a4a"/>
                </a:solidFill>
                <a:latin typeface="DejaVu Sans Mono"/>
              </a:rPr>
              <a:t> gera uma lista com valores de 1 até 5.</a:t>
            </a:r>
            <a:endParaRPr b="0" lang="pt-BR" sz="13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3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70" spc="-1" strike="noStrike">
                <a:solidFill>
                  <a:srgbClr val="071a4a"/>
                </a:solidFill>
                <a:latin typeface="DejaVu Sans Mono"/>
              </a:rPr>
              <a:t>O </a:t>
            </a:r>
            <a:r>
              <a:rPr b="0" lang="pt-BR" sz="1370" spc="-1" strike="noStrike">
                <a:solidFill>
                  <a:srgbClr val="ff0000"/>
                </a:solidFill>
                <a:latin typeface="DejaVu Sans Mono"/>
              </a:rPr>
              <a:t>for</a:t>
            </a:r>
            <a:r>
              <a:rPr b="0" lang="pt-BR" sz="1370" spc="-1" strike="noStrike">
                <a:solidFill>
                  <a:srgbClr val="071a4a"/>
                </a:solidFill>
                <a:latin typeface="DejaVu Sans Mono"/>
              </a:rPr>
              <a:t> percorre a lista mas não guarda o valor (observe uso do _)</a:t>
            </a:r>
            <a:endParaRPr b="0" lang="pt-BR" sz="13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3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70" spc="-1" strike="noStrike">
                <a:solidFill>
                  <a:srgbClr val="071a4a"/>
                </a:solidFill>
                <a:latin typeface="DejaVu Sans Mono"/>
              </a:rPr>
              <a:t>O </a:t>
            </a:r>
            <a:r>
              <a:rPr b="0" lang="pt-BR" sz="1370" spc="-1" strike="noStrike">
                <a:solidFill>
                  <a:srgbClr val="ff0000"/>
                </a:solidFill>
                <a:latin typeface="DejaVu Sans Mono"/>
              </a:rPr>
              <a:t>randint</a:t>
            </a:r>
            <a:r>
              <a:rPr b="0" lang="pt-BR" sz="1370" spc="-1" strike="noStrike">
                <a:solidFill>
                  <a:srgbClr val="071a4a"/>
                </a:solidFill>
                <a:latin typeface="DejaVu Sans Mono"/>
              </a:rPr>
              <a:t> gera um número inteiro pseudoaleatório entre 0 e 100.</a:t>
            </a:r>
            <a:endParaRPr b="0" lang="pt-BR" sz="13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96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797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798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799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800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801" name="TextBox 7"/>
          <p:cNvSpPr/>
          <p:nvPr/>
        </p:nvSpPr>
        <p:spPr>
          <a:xfrm>
            <a:off x="3217680" y="768240"/>
            <a:ext cx="51933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Funções: dar nome a uma tarefa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TextBox 8"/>
          <p:cNvSpPr/>
          <p:nvPr/>
        </p:nvSpPr>
        <p:spPr>
          <a:xfrm>
            <a:off x="2908440" y="1307520"/>
            <a:ext cx="5757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Uma função recebe dados, executa uma tarefa e pode devolver um resultado.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29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Rounded Rectangle 11"/>
          <p:cNvSpPr/>
          <p:nvPr/>
        </p:nvSpPr>
        <p:spPr>
          <a:xfrm>
            <a:off x="896040" y="2030040"/>
            <a:ext cx="2558520" cy="1900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06" name="TextBox 12"/>
          <p:cNvSpPr/>
          <p:nvPr/>
        </p:nvSpPr>
        <p:spPr>
          <a:xfrm>
            <a:off x="1864800" y="2148840"/>
            <a:ext cx="621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10b9f3"/>
                </a:solidFill>
                <a:latin typeface="Lato"/>
              </a:rPr>
              <a:t>ENTRADA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TextBox 13"/>
          <p:cNvSpPr/>
          <p:nvPr/>
        </p:nvSpPr>
        <p:spPr>
          <a:xfrm>
            <a:off x="1887480" y="2982600"/>
            <a:ext cx="5756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900" spc="-1" strike="noStrike">
                <a:solidFill>
                  <a:srgbClr val="071a4a"/>
                </a:solidFill>
                <a:latin typeface="Lato"/>
              </a:rPr>
              <a:t>valor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08" name="Connector 14"/>
          <p:cNvCxnSpPr/>
          <p:nvPr/>
        </p:nvCxnSpPr>
        <p:spPr>
          <a:xfrm>
            <a:off x="3520440" y="2971800"/>
            <a:ext cx="522720" cy="1800"/>
          </a:xfrm>
          <a:prstGeom prst="straightConnector1">
            <a:avLst/>
          </a:prstGeom>
          <a:ln w="22860">
            <a:solidFill>
              <a:srgbClr val="91a0b6"/>
            </a:solidFill>
            <a:round/>
          </a:ln>
        </p:spPr>
      </p:cxnSp>
      <p:sp>
        <p:nvSpPr>
          <p:cNvPr id="809" name="Rounded Rectangle 15"/>
          <p:cNvSpPr/>
          <p:nvPr/>
        </p:nvSpPr>
        <p:spPr>
          <a:xfrm>
            <a:off x="4078080" y="1938600"/>
            <a:ext cx="3893400" cy="208296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905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10" name="TextBox 16"/>
          <p:cNvSpPr/>
          <p:nvPr/>
        </p:nvSpPr>
        <p:spPr>
          <a:xfrm>
            <a:off x="4768560" y="2432520"/>
            <a:ext cx="25308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071a4a"/>
                </a:solidFill>
                <a:latin typeface="DejaVu Sans Mono"/>
              </a:rPr>
              <a:t>classificar(valor)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TextBox 17"/>
          <p:cNvSpPr/>
          <p:nvPr/>
        </p:nvSpPr>
        <p:spPr>
          <a:xfrm>
            <a:off x="5123880" y="3028320"/>
            <a:ext cx="182052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0" lang="pt-BR" sz="1300" spc="-1" strike="noStrike">
                <a:solidFill>
                  <a:srgbClr val="5b6b86"/>
                </a:solidFill>
                <a:latin typeface="Lato"/>
              </a:rPr>
              <a:t>aplica as regras A / B / C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12" name="Connector 18"/>
          <p:cNvCxnSpPr/>
          <p:nvPr/>
        </p:nvCxnSpPr>
        <p:spPr>
          <a:xfrm>
            <a:off x="8010000" y="2971800"/>
            <a:ext cx="541440" cy="1800"/>
          </a:xfrm>
          <a:prstGeom prst="straightConnector1">
            <a:avLst/>
          </a:prstGeom>
          <a:ln w="22860">
            <a:solidFill>
              <a:srgbClr val="91a0b6"/>
            </a:solidFill>
            <a:round/>
          </a:ln>
        </p:spPr>
      </p:cxnSp>
      <p:sp>
        <p:nvSpPr>
          <p:cNvPr id="813" name="Rounded Rectangle 19"/>
          <p:cNvSpPr/>
          <p:nvPr/>
        </p:nvSpPr>
        <p:spPr>
          <a:xfrm>
            <a:off x="8613720" y="2030040"/>
            <a:ext cx="2403000" cy="1900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14" name="TextBox 20"/>
          <p:cNvSpPr/>
          <p:nvPr/>
        </p:nvSpPr>
        <p:spPr>
          <a:xfrm>
            <a:off x="9497520" y="2148840"/>
            <a:ext cx="6350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725ac1"/>
                </a:solidFill>
                <a:latin typeface="Lato"/>
              </a:rPr>
              <a:t>RETORNO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TextBox 21"/>
          <p:cNvSpPr/>
          <p:nvPr/>
        </p:nvSpPr>
        <p:spPr>
          <a:xfrm>
            <a:off x="9088920" y="2990160"/>
            <a:ext cx="1451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71a4a"/>
                </a:solidFill>
                <a:latin typeface="Lato"/>
              </a:rPr>
              <a:t>"A", "B" ou "C"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TextBox 22"/>
          <p:cNvSpPr/>
          <p:nvPr/>
        </p:nvSpPr>
        <p:spPr>
          <a:xfrm>
            <a:off x="4265640" y="4733640"/>
            <a:ext cx="367380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600" spc="-1" strike="noStrike">
                <a:solidFill>
                  <a:srgbClr val="5b6b86"/>
                </a:solidFill>
                <a:latin typeface="Lato"/>
              </a:rPr>
              <a:t>Vantagens: clareza · reuso · teste isolado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18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819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820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821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822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823" name="TextBox 7"/>
          <p:cNvSpPr/>
          <p:nvPr/>
        </p:nvSpPr>
        <p:spPr>
          <a:xfrm>
            <a:off x="3299400" y="768240"/>
            <a:ext cx="503028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Nossa função classificar(valor)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TextBox 8"/>
          <p:cNvSpPr/>
          <p:nvPr/>
        </p:nvSpPr>
        <p:spPr>
          <a:xfrm>
            <a:off x="4039920" y="1307520"/>
            <a:ext cx="34941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Extraímos a decisão para um bloco reutilizável.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30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Rounded Rectangle 11"/>
          <p:cNvSpPr/>
          <p:nvPr/>
        </p:nvSpPr>
        <p:spPr>
          <a:xfrm>
            <a:off x="896040" y="1810440"/>
            <a:ext cx="6490440" cy="304884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28" name="TextBox 12"/>
          <p:cNvSpPr/>
          <p:nvPr/>
        </p:nvSpPr>
        <p:spPr>
          <a:xfrm>
            <a:off x="3590640" y="1920240"/>
            <a:ext cx="11012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FUNÇÃO + TESTES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TextBox 13"/>
          <p:cNvSpPr/>
          <p:nvPr/>
        </p:nvSpPr>
        <p:spPr>
          <a:xfrm>
            <a:off x="2880000" y="2520000"/>
            <a:ext cx="2256840" cy="19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280" spc="-1" strike="noStrike">
                <a:solidFill>
                  <a:srgbClr val="ff0000"/>
                </a:solidFill>
                <a:latin typeface="DejaVu Sans Mono"/>
              </a:rPr>
              <a:t>def</a:t>
            </a:r>
            <a:r>
              <a:rPr b="0" lang="pt-BR" sz="1280" spc="-1" strike="noStrike">
                <a:solidFill>
                  <a:srgbClr val="071a4a"/>
                </a:solidFill>
                <a:latin typeface="DejaVu Sans Mono"/>
              </a:rPr>
              <a:t> classificar(valor):</a:t>
            </a:r>
            <a:endParaRPr b="0" lang="pt-BR" sz="12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8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280" spc="-1" strike="noStrike">
                <a:solidFill>
                  <a:srgbClr val="071a4a"/>
                </a:solidFill>
                <a:latin typeface="DejaVu Sans Mono"/>
              </a:rPr>
              <a:t>if valor &lt; 30:</a:t>
            </a:r>
            <a:endParaRPr b="0" lang="pt-BR" sz="12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80" spc="-1" strike="noStrike">
                <a:solidFill>
                  <a:srgbClr val="071a4a"/>
                </a:solidFill>
                <a:latin typeface="DejaVu Sans Mono"/>
              </a:rPr>
              <a:t>        </a:t>
            </a:r>
            <a:r>
              <a:rPr b="0" lang="pt-BR" sz="1280" spc="-1" strike="noStrike">
                <a:solidFill>
                  <a:srgbClr val="ff0000"/>
                </a:solidFill>
                <a:latin typeface="DejaVu Sans Mono"/>
              </a:rPr>
              <a:t>return</a:t>
            </a:r>
            <a:r>
              <a:rPr b="0" lang="pt-BR" sz="1280" spc="-1" strike="noStrike">
                <a:solidFill>
                  <a:srgbClr val="071a4a"/>
                </a:solidFill>
                <a:latin typeface="DejaVu Sans Mono"/>
              </a:rPr>
              <a:t> "A"</a:t>
            </a:r>
            <a:endParaRPr b="0" lang="pt-BR" sz="12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8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280" spc="-1" strike="noStrike">
                <a:solidFill>
                  <a:srgbClr val="071a4a"/>
                </a:solidFill>
                <a:latin typeface="DejaVu Sans Mono"/>
              </a:rPr>
              <a:t>elif valor &lt;= 70:</a:t>
            </a:r>
            <a:endParaRPr b="0" lang="pt-BR" sz="12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80" spc="-1" strike="noStrike">
                <a:solidFill>
                  <a:srgbClr val="071a4a"/>
                </a:solidFill>
                <a:latin typeface="DejaVu Sans Mono"/>
              </a:rPr>
              <a:t>        </a:t>
            </a:r>
            <a:r>
              <a:rPr b="0" lang="pt-BR" sz="1280" spc="-1" strike="noStrike">
                <a:solidFill>
                  <a:srgbClr val="ff0000"/>
                </a:solidFill>
                <a:latin typeface="DejaVu Sans Mono"/>
              </a:rPr>
              <a:t>return</a:t>
            </a:r>
            <a:r>
              <a:rPr b="0" lang="pt-BR" sz="1280" spc="-1" strike="noStrike">
                <a:solidFill>
                  <a:srgbClr val="071a4a"/>
                </a:solidFill>
                <a:latin typeface="DejaVu Sans Mono"/>
              </a:rPr>
              <a:t> "B"</a:t>
            </a:r>
            <a:endParaRPr b="0" lang="pt-BR" sz="12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8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280" spc="-1" strike="noStrike">
                <a:solidFill>
                  <a:srgbClr val="ff0000"/>
                </a:solidFill>
                <a:latin typeface="DejaVu Sans Mono"/>
              </a:rPr>
              <a:t>return</a:t>
            </a:r>
            <a:r>
              <a:rPr b="0" lang="pt-BR" sz="1280" spc="-1" strike="noStrike">
                <a:solidFill>
                  <a:srgbClr val="071a4a"/>
                </a:solidFill>
                <a:latin typeface="DejaVu Sans Mono"/>
              </a:rPr>
              <a:t> "C"</a:t>
            </a:r>
            <a:endParaRPr b="0" lang="pt-BR" sz="12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80" spc="-1" strike="noStrike">
                <a:solidFill>
                  <a:srgbClr val="071a4a"/>
                </a:solidFill>
                <a:latin typeface="DejaVu Sans Mono"/>
              </a:rPr>
              <a:t>print(classificar(29))</a:t>
            </a:r>
            <a:endParaRPr b="0" lang="pt-BR" sz="12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80" spc="-1" strike="noStrike">
                <a:solidFill>
                  <a:srgbClr val="071a4a"/>
                </a:solidFill>
                <a:latin typeface="DejaVu Sans Mono"/>
              </a:rPr>
              <a:t>print(classificar(30))</a:t>
            </a:r>
            <a:endParaRPr b="0" lang="pt-BR" sz="12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80" spc="-1" strike="noStrike">
                <a:solidFill>
                  <a:srgbClr val="071a4a"/>
                </a:solidFill>
                <a:latin typeface="DejaVu Sans Mono"/>
              </a:rPr>
              <a:t>print(classificar(71))</a:t>
            </a:r>
            <a:endParaRPr b="0" lang="pt-BR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Rounded Rectangle 14"/>
          <p:cNvSpPr/>
          <p:nvPr/>
        </p:nvSpPr>
        <p:spPr>
          <a:xfrm>
            <a:off x="896040" y="5220000"/>
            <a:ext cx="6490440" cy="720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31" name="TextBox 15"/>
          <p:cNvSpPr/>
          <p:nvPr/>
        </p:nvSpPr>
        <p:spPr>
          <a:xfrm>
            <a:off x="1179720" y="5293080"/>
            <a:ext cx="3729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5b6b86"/>
                </a:solidFill>
                <a:latin typeface="Lato"/>
              </a:rPr>
              <a:t>SAÍDA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TextBox 16"/>
          <p:cNvSpPr/>
          <p:nvPr/>
        </p:nvSpPr>
        <p:spPr>
          <a:xfrm>
            <a:off x="4429440" y="5274720"/>
            <a:ext cx="145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B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C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Rounded Rectangle 17"/>
          <p:cNvSpPr/>
          <p:nvPr/>
        </p:nvSpPr>
        <p:spPr>
          <a:xfrm>
            <a:off x="7772400" y="1883520"/>
            <a:ext cx="3134520" cy="107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34" name="TextBox 18"/>
          <p:cNvSpPr/>
          <p:nvPr/>
        </p:nvSpPr>
        <p:spPr>
          <a:xfrm>
            <a:off x="9198000" y="2002680"/>
            <a:ext cx="2829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10b9f3"/>
                </a:solidFill>
                <a:latin typeface="Lato"/>
              </a:rPr>
              <a:t>DEF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TextBox 19"/>
          <p:cNvSpPr/>
          <p:nvPr/>
        </p:nvSpPr>
        <p:spPr>
          <a:xfrm>
            <a:off x="8736120" y="2467080"/>
            <a:ext cx="12063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350" spc="-1" strike="noStrike">
                <a:solidFill>
                  <a:srgbClr val="071a4a"/>
                </a:solidFill>
                <a:latin typeface="Lato"/>
              </a:rPr>
              <a:t>define a função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Rounded Rectangle 20"/>
          <p:cNvSpPr/>
          <p:nvPr/>
        </p:nvSpPr>
        <p:spPr>
          <a:xfrm>
            <a:off x="7772400" y="3182040"/>
            <a:ext cx="3134520" cy="107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37" name="TextBox 21"/>
          <p:cNvSpPr/>
          <p:nvPr/>
        </p:nvSpPr>
        <p:spPr>
          <a:xfrm>
            <a:off x="9115560" y="3300840"/>
            <a:ext cx="4474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f36b21"/>
                </a:solidFill>
                <a:latin typeface="Lato"/>
              </a:rPr>
              <a:t>VALOR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TextBox 22"/>
          <p:cNvSpPr/>
          <p:nvPr/>
        </p:nvSpPr>
        <p:spPr>
          <a:xfrm>
            <a:off x="8503560" y="3765240"/>
            <a:ext cx="16714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350" spc="-1" strike="noStrike">
                <a:solidFill>
                  <a:srgbClr val="071a4a"/>
                </a:solidFill>
                <a:latin typeface="Lato"/>
              </a:rPr>
              <a:t>parâmetro de entrada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Rounded Rectangle 23"/>
          <p:cNvSpPr/>
          <p:nvPr/>
        </p:nvSpPr>
        <p:spPr>
          <a:xfrm>
            <a:off x="7772400" y="4480560"/>
            <a:ext cx="3134520" cy="107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40" name="TextBox 24"/>
          <p:cNvSpPr/>
          <p:nvPr/>
        </p:nvSpPr>
        <p:spPr>
          <a:xfrm>
            <a:off x="9073800" y="4599360"/>
            <a:ext cx="531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725ac1"/>
                </a:solidFill>
                <a:latin typeface="Lato"/>
              </a:rPr>
              <a:t>RETURN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TextBox 25"/>
          <p:cNvSpPr/>
          <p:nvPr/>
        </p:nvSpPr>
        <p:spPr>
          <a:xfrm>
            <a:off x="8580600" y="5063760"/>
            <a:ext cx="1517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350" spc="-1" strike="noStrike">
                <a:solidFill>
                  <a:srgbClr val="071a4a"/>
                </a:solidFill>
                <a:latin typeface="Lato"/>
              </a:rPr>
              <a:t>devolve o resultado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43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844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845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846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847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848" name="TextBox 7"/>
          <p:cNvSpPr/>
          <p:nvPr/>
        </p:nvSpPr>
        <p:spPr>
          <a:xfrm>
            <a:off x="2828520" y="768240"/>
            <a:ext cx="59720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return não é a mesma coisa que print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TextBox 8"/>
          <p:cNvSpPr/>
          <p:nvPr/>
        </p:nvSpPr>
        <p:spPr>
          <a:xfrm>
            <a:off x="2821680" y="1307520"/>
            <a:ext cx="59310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Mostrar um valor na tela é diferente de devolvê-lo para o restante do programa.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31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Rounded Rectangle 11"/>
          <p:cNvSpPr/>
          <p:nvPr/>
        </p:nvSpPr>
        <p:spPr>
          <a:xfrm>
            <a:off x="896040" y="1920240"/>
            <a:ext cx="4798800" cy="287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53" name="TextBox 12"/>
          <p:cNvSpPr/>
          <p:nvPr/>
        </p:nvSpPr>
        <p:spPr>
          <a:xfrm>
            <a:off x="2947320" y="2240640"/>
            <a:ext cx="695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10b9f3"/>
                </a:solidFill>
                <a:latin typeface="DejaVu Sans Mono"/>
              </a:rPr>
              <a:t>print()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TextBox 13"/>
          <p:cNvSpPr/>
          <p:nvPr/>
        </p:nvSpPr>
        <p:spPr>
          <a:xfrm>
            <a:off x="1603080" y="2778480"/>
            <a:ext cx="338436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700" spc="-1" strike="noStrike">
                <a:solidFill>
                  <a:srgbClr val="071a4a"/>
                </a:solidFill>
                <a:latin typeface="Inter Display"/>
              </a:rPr>
              <a:t>mostra informação para a pessoa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Rounded Rectangle 14"/>
          <p:cNvSpPr/>
          <p:nvPr/>
        </p:nvSpPr>
        <p:spPr>
          <a:xfrm>
            <a:off x="1170360" y="3355920"/>
            <a:ext cx="4158720" cy="107712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56" name="TextBox 15"/>
          <p:cNvSpPr/>
          <p:nvPr/>
        </p:nvSpPr>
        <p:spPr>
          <a:xfrm>
            <a:off x="2215800" y="3520440"/>
            <a:ext cx="20678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170" spc="-1" strike="noStrike">
                <a:solidFill>
                  <a:srgbClr val="071a4a"/>
                </a:solidFill>
                <a:latin typeface="DejaVu Sans Mono"/>
              </a:rPr>
              <a:t>def mostrar(valor):</a:t>
            </a:r>
            <a:endParaRPr b="0" lang="pt-BR" sz="11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7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170" spc="-1" strike="noStrike">
                <a:solidFill>
                  <a:srgbClr val="071a4a"/>
                </a:solidFill>
                <a:latin typeface="DejaVu Sans Mono"/>
              </a:rPr>
              <a:t>print(valor)</a:t>
            </a:r>
            <a:endParaRPr b="0" lang="pt-BR" sz="11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1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70" spc="-1" strike="noStrike">
                <a:solidFill>
                  <a:srgbClr val="071a4a"/>
                </a:solidFill>
                <a:latin typeface="DejaVu Sans Mono"/>
              </a:rPr>
              <a:t>resultado = mostrar(52)</a:t>
            </a:r>
            <a:endParaRPr b="0" lang="pt-BR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Rounded Rectangle 16"/>
          <p:cNvSpPr/>
          <p:nvPr/>
        </p:nvSpPr>
        <p:spPr>
          <a:xfrm>
            <a:off x="6153840" y="1920240"/>
            <a:ext cx="4798800" cy="287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58" name="TextBox 17"/>
          <p:cNvSpPr/>
          <p:nvPr/>
        </p:nvSpPr>
        <p:spPr>
          <a:xfrm>
            <a:off x="8250840" y="2240640"/>
            <a:ext cx="6044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725ac1"/>
                </a:solidFill>
                <a:latin typeface="DejaVu Sans Mono"/>
              </a:rPr>
              <a:t>return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TextBox 18"/>
          <p:cNvSpPr/>
          <p:nvPr/>
        </p:nvSpPr>
        <p:spPr>
          <a:xfrm>
            <a:off x="7028640" y="2778480"/>
            <a:ext cx="304920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700" spc="-1" strike="noStrike">
                <a:solidFill>
                  <a:srgbClr val="071a4a"/>
                </a:solidFill>
                <a:latin typeface="Inter Display"/>
              </a:rPr>
              <a:t>entrega um valor ao programa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Rounded Rectangle 19"/>
          <p:cNvSpPr/>
          <p:nvPr/>
        </p:nvSpPr>
        <p:spPr>
          <a:xfrm>
            <a:off x="6428160" y="3355920"/>
            <a:ext cx="4158720" cy="107712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61" name="TextBox 20"/>
          <p:cNvSpPr/>
          <p:nvPr/>
        </p:nvSpPr>
        <p:spPr>
          <a:xfrm>
            <a:off x="7428600" y="3520440"/>
            <a:ext cx="21574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170" spc="-1" strike="noStrike">
                <a:solidFill>
                  <a:srgbClr val="071a4a"/>
                </a:solidFill>
                <a:latin typeface="DejaVu Sans Mono"/>
              </a:rPr>
              <a:t>def devolver(valor):</a:t>
            </a:r>
            <a:endParaRPr b="0" lang="pt-BR" sz="11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7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170" spc="-1" strike="noStrike">
                <a:solidFill>
                  <a:srgbClr val="071a4a"/>
                </a:solidFill>
                <a:latin typeface="DejaVu Sans Mono"/>
              </a:rPr>
              <a:t>return valor</a:t>
            </a:r>
            <a:endParaRPr b="0" lang="pt-BR" sz="11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1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70" spc="-1" strike="noStrike">
                <a:solidFill>
                  <a:srgbClr val="071a4a"/>
                </a:solidFill>
                <a:latin typeface="DejaVu Sans Mono"/>
              </a:rPr>
              <a:t>resultado = devolver(52)</a:t>
            </a:r>
            <a:endParaRPr b="0" lang="pt-BR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Rounded Rectangle 21"/>
          <p:cNvSpPr/>
          <p:nvPr/>
        </p:nvSpPr>
        <p:spPr>
          <a:xfrm>
            <a:off x="1828800" y="5157360"/>
            <a:ext cx="8319240" cy="510120"/>
          </a:xfrm>
          <a:prstGeom prst="roundRect">
            <a:avLst>
              <a:gd name="adj" fmla="val 16667"/>
            </a:avLst>
          </a:prstGeom>
          <a:solidFill>
            <a:srgbClr val="fff5e8"/>
          </a:solidFill>
          <a:ln w="12700">
            <a:solidFill>
              <a:srgbClr val="f5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63" name="TextBox 22"/>
          <p:cNvSpPr/>
          <p:nvPr/>
        </p:nvSpPr>
        <p:spPr>
          <a:xfrm>
            <a:off x="3854880" y="5308200"/>
            <a:ext cx="4266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40" spc="-1" strike="noStrike">
                <a:solidFill>
                  <a:srgbClr val="8a4a0a"/>
                </a:solidFill>
                <a:latin typeface="Lato"/>
              </a:rPr>
              <a:t>Para montar registros, precisamos do valor retornado pela função.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65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866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867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868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869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870" name="TextBox 7"/>
          <p:cNvSpPr/>
          <p:nvPr/>
        </p:nvSpPr>
        <p:spPr>
          <a:xfrm>
            <a:off x="1916280" y="768240"/>
            <a:ext cx="77961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Dicionários: um registro com campos nomeados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TextBox 8"/>
          <p:cNvSpPr/>
          <p:nvPr/>
        </p:nvSpPr>
        <p:spPr>
          <a:xfrm>
            <a:off x="2570040" y="1307520"/>
            <a:ext cx="64339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Eles ajudam a representar uma leitura como um conjunto de informações relacionadas.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32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Rounded Rectangle 11"/>
          <p:cNvSpPr/>
          <p:nvPr/>
        </p:nvSpPr>
        <p:spPr>
          <a:xfrm>
            <a:off x="896040" y="1847160"/>
            <a:ext cx="6124680" cy="338148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75" name="TextBox 12"/>
          <p:cNvSpPr/>
          <p:nvPr/>
        </p:nvSpPr>
        <p:spPr>
          <a:xfrm>
            <a:off x="3525840" y="1956960"/>
            <a:ext cx="8650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UM REGISTRO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TextBox 13"/>
          <p:cNvSpPr/>
          <p:nvPr/>
        </p:nvSpPr>
        <p:spPr>
          <a:xfrm>
            <a:off x="2160000" y="2540880"/>
            <a:ext cx="3462120" cy="14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registro = {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"valor_sensor": 52,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"estado_didatico": "B",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"qualidade": "OK"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}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071a4a"/>
                </a:solidFill>
                <a:latin typeface="DejaVu Sans Mono"/>
              </a:rPr>
              <a:t>print(registro["estado_didatico"])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Rounded Rectangle 14"/>
          <p:cNvSpPr/>
          <p:nvPr/>
        </p:nvSpPr>
        <p:spPr>
          <a:xfrm>
            <a:off x="896040" y="5340240"/>
            <a:ext cx="6124680" cy="41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78" name="TextBox 15"/>
          <p:cNvSpPr/>
          <p:nvPr/>
        </p:nvSpPr>
        <p:spPr>
          <a:xfrm>
            <a:off x="1179720" y="5413320"/>
            <a:ext cx="3729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5b6b86"/>
                </a:solidFill>
                <a:latin typeface="Lato"/>
              </a:rPr>
              <a:t>SAÍDA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TextBox 16"/>
          <p:cNvSpPr/>
          <p:nvPr/>
        </p:nvSpPr>
        <p:spPr>
          <a:xfrm>
            <a:off x="4246560" y="5394960"/>
            <a:ext cx="145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71a4a"/>
                </a:solidFill>
                <a:latin typeface="DejaVu Sans Mono"/>
              </a:rPr>
              <a:t>B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Rounded Rectangle 17"/>
          <p:cNvSpPr/>
          <p:nvPr/>
        </p:nvSpPr>
        <p:spPr>
          <a:xfrm>
            <a:off x="7388280" y="1901880"/>
            <a:ext cx="3610080" cy="323532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81" name="TextBox 18"/>
          <p:cNvSpPr/>
          <p:nvPr/>
        </p:nvSpPr>
        <p:spPr>
          <a:xfrm>
            <a:off x="8589960" y="2261880"/>
            <a:ext cx="119736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400" spc="-1" strike="noStrike">
                <a:solidFill>
                  <a:srgbClr val="10b9f3"/>
                </a:solidFill>
                <a:latin typeface="Inter Display"/>
              </a:rPr>
              <a:t>chave → valor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TextBox 19"/>
          <p:cNvSpPr/>
          <p:nvPr/>
        </p:nvSpPr>
        <p:spPr>
          <a:xfrm>
            <a:off x="7920000" y="3060000"/>
            <a:ext cx="252324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"valor_sensor" → 52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"estado_didatico" → "B"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DejaVu Sans Mono"/>
              </a:rPr>
              <a:t>"qualidade" → "OK"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84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885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886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887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888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889" name="TextBox 7"/>
          <p:cNvSpPr/>
          <p:nvPr/>
        </p:nvSpPr>
        <p:spPr>
          <a:xfrm>
            <a:off x="4033800" y="768240"/>
            <a:ext cx="356112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De leituras a registros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TextBox 8"/>
          <p:cNvSpPr/>
          <p:nvPr/>
        </p:nvSpPr>
        <p:spPr>
          <a:xfrm>
            <a:off x="3530160" y="1307520"/>
            <a:ext cx="4513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Lista + função + dicionário formam o núcleo do projeto final.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33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Rounded Rectangle 11"/>
          <p:cNvSpPr/>
          <p:nvPr/>
        </p:nvSpPr>
        <p:spPr>
          <a:xfrm>
            <a:off x="720000" y="1800000"/>
            <a:ext cx="6810480" cy="290520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94" name="TextBox 12"/>
          <p:cNvSpPr/>
          <p:nvPr/>
        </p:nvSpPr>
        <p:spPr>
          <a:xfrm>
            <a:off x="3004560" y="1883520"/>
            <a:ext cx="23007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MONTANDO UMA LISTA DE REGISTROS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TextBox 13"/>
          <p:cNvSpPr/>
          <p:nvPr/>
        </p:nvSpPr>
        <p:spPr>
          <a:xfrm>
            <a:off x="2124000" y="2323080"/>
            <a:ext cx="4175280" cy="21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190" spc="-1" strike="noStrike">
                <a:solidFill>
                  <a:srgbClr val="071a4a"/>
                </a:solidFill>
                <a:latin typeface="DejaVu Sans Mono"/>
              </a:rPr>
              <a:t>leituras = [18, 31, 45, 70, 82]</a:t>
            </a:r>
            <a:endParaRPr b="0" lang="pt-BR" sz="119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90" spc="-1" strike="noStrike">
                <a:solidFill>
                  <a:srgbClr val="071a4a"/>
                </a:solidFill>
                <a:latin typeface="DejaVu Sans Mono"/>
              </a:rPr>
              <a:t>registros = []</a:t>
            </a:r>
            <a:endParaRPr b="0" lang="pt-BR" sz="119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19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90" spc="-1" strike="noStrike">
                <a:solidFill>
                  <a:srgbClr val="071a4a"/>
                </a:solidFill>
                <a:latin typeface="DejaVu Sans Mono"/>
              </a:rPr>
              <a:t>for valor in leituras:</a:t>
            </a:r>
            <a:endParaRPr b="0" lang="pt-BR" sz="119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9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190" spc="-1" strike="noStrike">
                <a:solidFill>
                  <a:srgbClr val="071a4a"/>
                </a:solidFill>
                <a:latin typeface="DejaVu Sans Mono"/>
              </a:rPr>
              <a:t>registro = {</a:t>
            </a:r>
            <a:endParaRPr b="0" lang="pt-BR" sz="119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90" spc="-1" strike="noStrike">
                <a:solidFill>
                  <a:srgbClr val="071a4a"/>
                </a:solidFill>
                <a:latin typeface="DejaVu Sans Mono"/>
              </a:rPr>
              <a:t>        </a:t>
            </a:r>
            <a:r>
              <a:rPr b="0" lang="pt-BR" sz="1190" spc="-1" strike="noStrike">
                <a:solidFill>
                  <a:srgbClr val="071a4a"/>
                </a:solidFill>
                <a:latin typeface="DejaVu Sans Mono"/>
              </a:rPr>
              <a:t>"valor_sensor": valor,</a:t>
            </a:r>
            <a:endParaRPr b="0" lang="pt-BR" sz="119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90" spc="-1" strike="noStrike">
                <a:solidFill>
                  <a:srgbClr val="071a4a"/>
                </a:solidFill>
                <a:latin typeface="DejaVu Sans Mono"/>
              </a:rPr>
              <a:t>        </a:t>
            </a:r>
            <a:r>
              <a:rPr b="0" lang="pt-BR" sz="1190" spc="-1" strike="noStrike">
                <a:solidFill>
                  <a:srgbClr val="071a4a"/>
                </a:solidFill>
                <a:latin typeface="DejaVu Sans Mono"/>
              </a:rPr>
              <a:t>"estado_didatico": classificar(valor),</a:t>
            </a:r>
            <a:endParaRPr b="0" lang="pt-BR" sz="119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90" spc="-1" strike="noStrike">
                <a:solidFill>
                  <a:srgbClr val="071a4a"/>
                </a:solidFill>
                <a:latin typeface="DejaVu Sans Mono"/>
              </a:rPr>
              <a:t>        </a:t>
            </a:r>
            <a:r>
              <a:rPr b="0" lang="pt-BR" sz="1190" spc="-1" strike="noStrike">
                <a:solidFill>
                  <a:srgbClr val="071a4a"/>
                </a:solidFill>
                <a:latin typeface="DejaVu Sans Mono"/>
              </a:rPr>
              <a:t>"qualidade": "OK"</a:t>
            </a:r>
            <a:endParaRPr b="0" lang="pt-BR" sz="119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9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190" spc="-1" strike="noStrike">
                <a:solidFill>
                  <a:srgbClr val="071a4a"/>
                </a:solidFill>
                <a:latin typeface="DejaVu Sans Mono"/>
              </a:rPr>
              <a:t>}</a:t>
            </a:r>
            <a:endParaRPr b="0" lang="pt-BR" sz="119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9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190" spc="-1" strike="noStrike">
                <a:solidFill>
                  <a:srgbClr val="071a4a"/>
                </a:solidFill>
                <a:latin typeface="DejaVu Sans Mono"/>
              </a:rPr>
              <a:t>registros.append(registro)</a:t>
            </a:r>
            <a:endParaRPr b="0" lang="pt-BR" sz="119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19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Rounded Rectangle 14"/>
          <p:cNvSpPr/>
          <p:nvPr/>
        </p:nvSpPr>
        <p:spPr>
          <a:xfrm>
            <a:off x="7882200" y="1901880"/>
            <a:ext cx="3125520" cy="354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97" name="TextBox 15"/>
          <p:cNvSpPr/>
          <p:nvPr/>
        </p:nvSpPr>
        <p:spPr>
          <a:xfrm>
            <a:off x="9246960" y="2211480"/>
            <a:ext cx="3956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00" spc="-1" strike="noStrike">
                <a:solidFill>
                  <a:srgbClr val="f36b21"/>
                </a:solidFill>
                <a:latin typeface="Lato"/>
              </a:rPr>
              <a:t>Fluxo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Rounded Rectangle 16"/>
          <p:cNvSpPr/>
          <p:nvPr/>
        </p:nvSpPr>
        <p:spPr>
          <a:xfrm>
            <a:off x="8275320" y="2670120"/>
            <a:ext cx="2329920" cy="345600"/>
          </a:xfrm>
          <a:prstGeom prst="roundRect">
            <a:avLst>
              <a:gd name="adj" fmla="val 16667"/>
            </a:avLst>
          </a:prstGeom>
          <a:solidFill>
            <a:srgbClr val="10b9f3"/>
          </a:solidFill>
          <a:ln w="1270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899" name="TextBox 17"/>
          <p:cNvSpPr/>
          <p:nvPr/>
        </p:nvSpPr>
        <p:spPr>
          <a:xfrm>
            <a:off x="8989920" y="2740320"/>
            <a:ext cx="90036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lista de leituras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0" name="Connector 18"/>
          <p:cNvCxnSpPr/>
          <p:nvPr/>
        </p:nvCxnSpPr>
        <p:spPr>
          <a:xfrm>
            <a:off x="9445680" y="3017520"/>
            <a:ext cx="1800" cy="120600"/>
          </a:xfrm>
          <a:prstGeom prst="straightConnector1">
            <a:avLst/>
          </a:prstGeom>
          <a:ln w="15240">
            <a:solidFill>
              <a:srgbClr val="91a0b6"/>
            </a:solidFill>
            <a:round/>
          </a:ln>
        </p:spPr>
      </p:cxnSp>
      <p:sp>
        <p:nvSpPr>
          <p:cNvPr id="901" name="Rounded Rectangle 19"/>
          <p:cNvSpPr/>
          <p:nvPr/>
        </p:nvSpPr>
        <p:spPr>
          <a:xfrm>
            <a:off x="8275320" y="3182040"/>
            <a:ext cx="2329920" cy="345600"/>
          </a:xfrm>
          <a:prstGeom prst="roundRect">
            <a:avLst>
              <a:gd name="adj" fmla="val 16667"/>
            </a:avLst>
          </a:prstGeom>
          <a:solidFill>
            <a:srgbClr val="f36b21"/>
          </a:solidFill>
          <a:ln w="1270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02" name="TextBox 20"/>
          <p:cNvSpPr/>
          <p:nvPr/>
        </p:nvSpPr>
        <p:spPr>
          <a:xfrm>
            <a:off x="9331560" y="3252240"/>
            <a:ext cx="2174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for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3" name="Connector 21"/>
          <p:cNvCxnSpPr/>
          <p:nvPr/>
        </p:nvCxnSpPr>
        <p:spPr>
          <a:xfrm>
            <a:off x="9445680" y="3529440"/>
            <a:ext cx="1800" cy="120600"/>
          </a:xfrm>
          <a:prstGeom prst="straightConnector1">
            <a:avLst/>
          </a:prstGeom>
          <a:ln w="15240">
            <a:solidFill>
              <a:srgbClr val="91a0b6"/>
            </a:solidFill>
            <a:round/>
          </a:ln>
        </p:spPr>
      </p:cxnSp>
      <p:sp>
        <p:nvSpPr>
          <p:cNvPr id="904" name="Rounded Rectangle 22"/>
          <p:cNvSpPr/>
          <p:nvPr/>
        </p:nvSpPr>
        <p:spPr>
          <a:xfrm>
            <a:off x="8275320" y="3694320"/>
            <a:ext cx="2329920" cy="345600"/>
          </a:xfrm>
          <a:prstGeom prst="roundRect">
            <a:avLst>
              <a:gd name="adj" fmla="val 16667"/>
            </a:avLst>
          </a:prstGeom>
          <a:solidFill>
            <a:srgbClr val="f72585"/>
          </a:solidFill>
          <a:ln w="12700">
            <a:solidFill>
              <a:srgbClr val="f72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05" name="TextBox 23"/>
          <p:cNvSpPr/>
          <p:nvPr/>
        </p:nvSpPr>
        <p:spPr>
          <a:xfrm>
            <a:off x="8966520" y="3764520"/>
            <a:ext cx="94752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classificar(valor)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6" name="Connector 24"/>
          <p:cNvCxnSpPr/>
          <p:nvPr/>
        </p:nvCxnSpPr>
        <p:spPr>
          <a:xfrm>
            <a:off x="9445680" y="4041360"/>
            <a:ext cx="1800" cy="120960"/>
          </a:xfrm>
          <a:prstGeom prst="straightConnector1">
            <a:avLst/>
          </a:prstGeom>
          <a:ln w="15240">
            <a:solidFill>
              <a:srgbClr val="91a0b6"/>
            </a:solidFill>
            <a:round/>
          </a:ln>
        </p:spPr>
      </p:cxnSp>
      <p:sp>
        <p:nvSpPr>
          <p:cNvPr id="907" name="Rounded Rectangle 25"/>
          <p:cNvSpPr/>
          <p:nvPr/>
        </p:nvSpPr>
        <p:spPr>
          <a:xfrm>
            <a:off x="8275320" y="4206240"/>
            <a:ext cx="2329920" cy="345600"/>
          </a:xfrm>
          <a:prstGeom prst="roundRect">
            <a:avLst>
              <a:gd name="adj" fmla="val 16667"/>
            </a:avLst>
          </a:prstGeom>
          <a:solidFill>
            <a:srgbClr val="725ac1"/>
          </a:solidFill>
          <a:ln w="1270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08" name="TextBox 26"/>
          <p:cNvSpPr/>
          <p:nvPr/>
        </p:nvSpPr>
        <p:spPr>
          <a:xfrm>
            <a:off x="9135000" y="4276440"/>
            <a:ext cx="61056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dicionário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9" name="Connector 27"/>
          <p:cNvCxnSpPr/>
          <p:nvPr/>
        </p:nvCxnSpPr>
        <p:spPr>
          <a:xfrm>
            <a:off x="9445680" y="4553640"/>
            <a:ext cx="1800" cy="120600"/>
          </a:xfrm>
          <a:prstGeom prst="straightConnector1">
            <a:avLst/>
          </a:prstGeom>
          <a:ln w="15240">
            <a:solidFill>
              <a:srgbClr val="91a0b6"/>
            </a:solidFill>
            <a:round/>
          </a:ln>
        </p:spPr>
      </p:cxnSp>
      <p:sp>
        <p:nvSpPr>
          <p:cNvPr id="910" name="Rounded Rectangle 28"/>
          <p:cNvSpPr/>
          <p:nvPr/>
        </p:nvSpPr>
        <p:spPr>
          <a:xfrm>
            <a:off x="8275320" y="4718160"/>
            <a:ext cx="2329920" cy="345600"/>
          </a:xfrm>
          <a:prstGeom prst="roundRect">
            <a:avLst>
              <a:gd name="adj" fmla="val 16667"/>
            </a:avLst>
          </a:prstGeom>
          <a:solidFill>
            <a:srgbClr val="2fb886"/>
          </a:solidFill>
          <a:ln w="12700">
            <a:solidFill>
              <a:srgbClr val="2f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11" name="TextBox 29"/>
          <p:cNvSpPr/>
          <p:nvPr/>
        </p:nvSpPr>
        <p:spPr>
          <a:xfrm>
            <a:off x="9169200" y="4788360"/>
            <a:ext cx="54216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append()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Hexagon 1"/>
          <p:cNvSpPr/>
          <p:nvPr/>
        </p:nvSpPr>
        <p:spPr>
          <a:xfrm>
            <a:off x="10012680" y="219600"/>
            <a:ext cx="958320" cy="839520"/>
          </a:xfrm>
          <a:prstGeom prst="hexagon">
            <a:avLst>
              <a:gd name="adj" fmla="val 25000"/>
              <a:gd name="vf" fmla="val 115470"/>
            </a:avLst>
          </a:prstGeom>
          <a:noFill/>
          <a:ln w="2540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13" name="Hexagon 2"/>
          <p:cNvSpPr/>
          <p:nvPr/>
        </p:nvSpPr>
        <p:spPr>
          <a:xfrm>
            <a:off x="109800" y="5376600"/>
            <a:ext cx="930960" cy="802800"/>
          </a:xfrm>
          <a:prstGeom prst="hexagon">
            <a:avLst>
              <a:gd name="adj" fmla="val 25000"/>
              <a:gd name="vf" fmla="val 115470"/>
            </a:avLst>
          </a:prstGeom>
          <a:noFill/>
          <a:ln w="2540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pic>
        <p:nvPicPr>
          <p:cNvPr id="914" name="Picture 3" descr="image.png"/>
          <p:cNvPicPr/>
          <p:nvPr/>
        </p:nvPicPr>
        <p:blipFill>
          <a:blip r:embed="rId1"/>
          <a:stretch/>
        </p:blipFill>
        <p:spPr>
          <a:xfrm>
            <a:off x="9948600" y="228600"/>
            <a:ext cx="1168560" cy="308880"/>
          </a:xfrm>
          <a:prstGeom prst="rect">
            <a:avLst/>
          </a:prstGeom>
          <a:ln w="0">
            <a:noFill/>
          </a:ln>
        </p:spPr>
      </p:pic>
      <p:sp>
        <p:nvSpPr>
          <p:cNvPr id="915" name="TextBox 4"/>
          <p:cNvSpPr/>
          <p:nvPr/>
        </p:nvSpPr>
        <p:spPr>
          <a:xfrm>
            <a:off x="2539080" y="1260720"/>
            <a:ext cx="20890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100" spc="-1" strike="noStrike">
                <a:solidFill>
                  <a:srgbClr val="10b9f3"/>
                </a:solidFill>
                <a:latin typeface="Lato"/>
              </a:rPr>
              <a:t>DESAFIO INTEGRADO · 15 MIN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6" name="TextBox 5"/>
          <p:cNvSpPr/>
          <p:nvPr/>
        </p:nvSpPr>
        <p:spPr>
          <a:xfrm>
            <a:off x="2212200" y="1876320"/>
            <a:ext cx="5120280" cy="5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3100" spc="-1" strike="noStrike">
                <a:solidFill>
                  <a:srgbClr val="ffffff"/>
                </a:solidFill>
                <a:latin typeface="Inter Display"/>
              </a:rPr>
              <a:t>Construa o monitor didático</a:t>
            </a:r>
            <a:endParaRPr b="0" lang="pt-BR" sz="3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7" name="TextBox 6"/>
          <p:cNvSpPr/>
          <p:nvPr/>
        </p:nvSpPr>
        <p:spPr>
          <a:xfrm>
            <a:off x="720000" y="2746440"/>
            <a:ext cx="1076976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700" spc="-1" strike="noStrike">
                <a:solidFill>
                  <a:srgbClr val="d5e0f1"/>
                </a:solidFill>
                <a:latin typeface="Lato"/>
              </a:rPr>
              <a:t>A partir de uma lista de leituras sintéticas, gere uma lista de registros com valor, faixa didática e qualidade técnica.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8" name="Rounded Rectangle 7"/>
          <p:cNvSpPr/>
          <p:nvPr/>
        </p:nvSpPr>
        <p:spPr>
          <a:xfrm>
            <a:off x="768240" y="4041720"/>
            <a:ext cx="1168560" cy="345600"/>
          </a:xfrm>
          <a:prstGeom prst="roundRect">
            <a:avLst>
              <a:gd name="adj" fmla="val 16667"/>
            </a:avLst>
          </a:prstGeom>
          <a:solidFill>
            <a:srgbClr val="10b9f3"/>
          </a:solidFill>
          <a:ln w="1270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19" name="TextBox 8"/>
          <p:cNvSpPr/>
          <p:nvPr/>
        </p:nvSpPr>
        <p:spPr>
          <a:xfrm>
            <a:off x="1210320" y="4111920"/>
            <a:ext cx="28440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071a4a"/>
                </a:solidFill>
                <a:latin typeface="Lato"/>
              </a:rPr>
              <a:t>lista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0" name="Rounded Rectangle 9"/>
          <p:cNvSpPr/>
          <p:nvPr/>
        </p:nvSpPr>
        <p:spPr>
          <a:xfrm>
            <a:off x="2057400" y="4041720"/>
            <a:ext cx="1296720" cy="345600"/>
          </a:xfrm>
          <a:prstGeom prst="roundRect">
            <a:avLst>
              <a:gd name="adj" fmla="val 16667"/>
            </a:avLst>
          </a:prstGeom>
          <a:solidFill>
            <a:srgbClr val="f36b21"/>
          </a:solidFill>
          <a:ln w="1270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21" name="TextBox 10"/>
          <p:cNvSpPr/>
          <p:nvPr/>
        </p:nvSpPr>
        <p:spPr>
          <a:xfrm>
            <a:off x="2485800" y="4111920"/>
            <a:ext cx="43992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função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2" name="Rounded Rectangle 11"/>
          <p:cNvSpPr/>
          <p:nvPr/>
        </p:nvSpPr>
        <p:spPr>
          <a:xfrm>
            <a:off x="3493080" y="4041720"/>
            <a:ext cx="958320" cy="345600"/>
          </a:xfrm>
          <a:prstGeom prst="roundRect">
            <a:avLst>
              <a:gd name="adj" fmla="val 16667"/>
            </a:avLst>
          </a:prstGeom>
          <a:solidFill>
            <a:srgbClr val="f72585"/>
          </a:solidFill>
          <a:ln w="12700">
            <a:solidFill>
              <a:srgbClr val="f72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23" name="TextBox 12"/>
          <p:cNvSpPr/>
          <p:nvPr/>
        </p:nvSpPr>
        <p:spPr>
          <a:xfrm>
            <a:off x="3863520" y="4111920"/>
            <a:ext cx="2174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for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4" name="Rounded Rectangle 13"/>
          <p:cNvSpPr/>
          <p:nvPr/>
        </p:nvSpPr>
        <p:spPr>
          <a:xfrm>
            <a:off x="4590360" y="4041720"/>
            <a:ext cx="1607400" cy="345600"/>
          </a:xfrm>
          <a:prstGeom prst="roundRect">
            <a:avLst>
              <a:gd name="adj" fmla="val 16667"/>
            </a:avLst>
          </a:prstGeom>
          <a:solidFill>
            <a:srgbClr val="725ac1"/>
          </a:solidFill>
          <a:ln w="1270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25" name="TextBox 14"/>
          <p:cNvSpPr/>
          <p:nvPr/>
        </p:nvSpPr>
        <p:spPr>
          <a:xfrm>
            <a:off x="5088600" y="4111920"/>
            <a:ext cx="61056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dicionário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6" name="Rounded Rectangle 15"/>
          <p:cNvSpPr/>
          <p:nvPr/>
        </p:nvSpPr>
        <p:spPr>
          <a:xfrm>
            <a:off x="6346080" y="4041720"/>
            <a:ext cx="1168560" cy="345600"/>
          </a:xfrm>
          <a:prstGeom prst="roundRect">
            <a:avLst>
              <a:gd name="adj" fmla="val 16667"/>
            </a:avLst>
          </a:prstGeom>
          <a:solidFill>
            <a:srgbClr val="2fb886"/>
          </a:solidFill>
          <a:ln w="12700">
            <a:solidFill>
              <a:srgbClr val="2f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27" name="TextBox 16"/>
          <p:cNvSpPr/>
          <p:nvPr/>
        </p:nvSpPr>
        <p:spPr>
          <a:xfrm>
            <a:off x="6733800" y="4111920"/>
            <a:ext cx="39276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</a:rPr>
              <a:t>testes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8" name="Rounded Rectangle 17"/>
          <p:cNvSpPr/>
          <p:nvPr/>
        </p:nvSpPr>
        <p:spPr>
          <a:xfrm>
            <a:off x="1170360" y="5010840"/>
            <a:ext cx="9233640" cy="583560"/>
          </a:xfrm>
          <a:prstGeom prst="roundRect">
            <a:avLst>
              <a:gd name="adj" fmla="val 16667"/>
            </a:avLst>
          </a:prstGeom>
          <a:solidFill>
            <a:srgbClr val="fff5e8"/>
          </a:solidFill>
          <a:ln w="12700">
            <a:solidFill>
              <a:srgbClr val="f5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29" name="TextBox 18"/>
          <p:cNvSpPr/>
          <p:nvPr/>
        </p:nvSpPr>
        <p:spPr>
          <a:xfrm>
            <a:off x="2981520" y="5198760"/>
            <a:ext cx="56109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40" spc="-1" strike="noStrike">
                <a:solidFill>
                  <a:srgbClr val="8a4a0a"/>
                </a:solidFill>
                <a:latin typeface="Lato"/>
              </a:rPr>
              <a:t>Critério mínimo: o notebook executa do início ao fim e passa nos casos 29, 30, 70 e 71.</a:t>
            </a:r>
            <a:endParaRPr b="0" lang="pt-BR" sz="11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0" name="TextBox 1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ca9be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1" name="TextBox 2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ca9be"/>
                </a:solidFill>
                <a:latin typeface="Lato"/>
              </a:rPr>
              <a:t>34</a:t>
            </a:r>
            <a:endParaRPr b="0" lang="pt-BR" sz="7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33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934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935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936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937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938" name="TextBox 7"/>
          <p:cNvSpPr/>
          <p:nvPr/>
        </p:nvSpPr>
        <p:spPr>
          <a:xfrm>
            <a:off x="4288320" y="768240"/>
            <a:ext cx="305208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Estrutura sugerida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TextBox 8"/>
          <p:cNvSpPr/>
          <p:nvPr/>
        </p:nvSpPr>
        <p:spPr>
          <a:xfrm>
            <a:off x="3612600" y="1307520"/>
            <a:ext cx="43491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Complete as partes marcadas sem copiar a solução inteira.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35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Rounded Rectangle 11"/>
          <p:cNvSpPr/>
          <p:nvPr/>
        </p:nvSpPr>
        <p:spPr>
          <a:xfrm>
            <a:off x="804600" y="1737360"/>
            <a:ext cx="6581880" cy="366192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143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43" name="TextBox 12"/>
          <p:cNvSpPr/>
          <p:nvPr/>
        </p:nvSpPr>
        <p:spPr>
          <a:xfrm>
            <a:off x="3723840" y="1847160"/>
            <a:ext cx="7430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5b6b86"/>
                </a:solidFill>
                <a:latin typeface="Lato"/>
              </a:rPr>
              <a:t>ESQUELETO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TextBox 13"/>
          <p:cNvSpPr/>
          <p:nvPr/>
        </p:nvSpPr>
        <p:spPr>
          <a:xfrm>
            <a:off x="2068200" y="2409840"/>
            <a:ext cx="4050360" cy="262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leituras = [18, 31, 45, 70, 82]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def classificar(valor):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# TODO: retornar A, B ou C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...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registros = []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for valor in leituras: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registros.append({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        </a:t>
            </a: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"valor_sensor": valor,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        </a:t>
            </a: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"estado_didatico": classificar(valor),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        </a:t>
            </a: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"qualidade": "OK"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    </a:t>
            </a: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})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071a4a"/>
                </a:solidFill>
                <a:latin typeface="DejaVu Sans Mono"/>
              </a:rPr>
              <a:t>print(registros)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Rounded Rectangle 14"/>
          <p:cNvSpPr/>
          <p:nvPr/>
        </p:nvSpPr>
        <p:spPr>
          <a:xfrm>
            <a:off x="7754040" y="1828800"/>
            <a:ext cx="3271680" cy="3210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46" name="TextBox 15"/>
          <p:cNvSpPr/>
          <p:nvPr/>
        </p:nvSpPr>
        <p:spPr>
          <a:xfrm>
            <a:off x="9094320" y="2147400"/>
            <a:ext cx="6274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100" spc="-1" strike="noStrike">
                <a:solidFill>
                  <a:srgbClr val="10b9f3"/>
                </a:solidFill>
                <a:latin typeface="Lato"/>
              </a:rPr>
              <a:t>Checklist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TextBox 16"/>
          <p:cNvSpPr/>
          <p:nvPr/>
        </p:nvSpPr>
        <p:spPr>
          <a:xfrm>
            <a:off x="8047440" y="2633400"/>
            <a:ext cx="16092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450" spc="-1" strike="noStrike">
                <a:solidFill>
                  <a:srgbClr val="10b9f3"/>
                </a:solidFill>
                <a:latin typeface="Lato"/>
              </a:rPr>
              <a:t>•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TextBox 17"/>
          <p:cNvSpPr/>
          <p:nvPr/>
        </p:nvSpPr>
        <p:spPr>
          <a:xfrm>
            <a:off x="8247960" y="2633400"/>
            <a:ext cx="183888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Lato"/>
              </a:rPr>
              <a:t>a função retorna um valor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TextBox 18"/>
          <p:cNvSpPr/>
          <p:nvPr/>
        </p:nvSpPr>
        <p:spPr>
          <a:xfrm>
            <a:off x="8047440" y="3090600"/>
            <a:ext cx="16092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450" spc="-1" strike="noStrike">
                <a:solidFill>
                  <a:srgbClr val="10b9f3"/>
                </a:solidFill>
                <a:latin typeface="Lato"/>
              </a:rPr>
              <a:t>•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TextBox 19"/>
          <p:cNvSpPr/>
          <p:nvPr/>
        </p:nvSpPr>
        <p:spPr>
          <a:xfrm>
            <a:off x="8247960" y="3090600"/>
            <a:ext cx="218808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Lato"/>
              </a:rPr>
              <a:t>o for processa todas as leituras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TextBox 20"/>
          <p:cNvSpPr/>
          <p:nvPr/>
        </p:nvSpPr>
        <p:spPr>
          <a:xfrm>
            <a:off x="8047440" y="3547800"/>
            <a:ext cx="16092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450" spc="-1" strike="noStrike">
                <a:solidFill>
                  <a:srgbClr val="10b9f3"/>
                </a:solidFill>
                <a:latin typeface="Lato"/>
              </a:rPr>
              <a:t>•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TextBox 21"/>
          <p:cNvSpPr/>
          <p:nvPr/>
        </p:nvSpPr>
        <p:spPr>
          <a:xfrm>
            <a:off x="8247960" y="3547800"/>
            <a:ext cx="18313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Lato"/>
              </a:rPr>
              <a:t>cada item é um dicionário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TextBox 22"/>
          <p:cNvSpPr/>
          <p:nvPr/>
        </p:nvSpPr>
        <p:spPr>
          <a:xfrm>
            <a:off x="8047440" y="4005000"/>
            <a:ext cx="16092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450" spc="-1" strike="noStrike">
                <a:solidFill>
                  <a:srgbClr val="10b9f3"/>
                </a:solidFill>
                <a:latin typeface="Lato"/>
              </a:rPr>
              <a:t>•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TextBox 23"/>
          <p:cNvSpPr/>
          <p:nvPr/>
        </p:nvSpPr>
        <p:spPr>
          <a:xfrm>
            <a:off x="8247960" y="4005000"/>
            <a:ext cx="254016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Lato"/>
              </a:rPr>
              <a:t>os quatro casos de fronteira passam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TextBox 24"/>
          <p:cNvSpPr/>
          <p:nvPr/>
        </p:nvSpPr>
        <p:spPr>
          <a:xfrm>
            <a:off x="8047440" y="4462200"/>
            <a:ext cx="16092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450" spc="-1" strike="noStrike">
                <a:solidFill>
                  <a:srgbClr val="10b9f3"/>
                </a:solidFill>
                <a:latin typeface="Lato"/>
              </a:rPr>
              <a:t>•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TextBox 25"/>
          <p:cNvSpPr/>
          <p:nvPr/>
        </p:nvSpPr>
        <p:spPr>
          <a:xfrm>
            <a:off x="8247960" y="4462200"/>
            <a:ext cx="217440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071a4a"/>
                </a:solidFill>
                <a:latin typeface="Lato"/>
              </a:rPr>
              <a:t>você consegue explicar o fluxo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58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959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960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961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962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963" name="TextBox 7"/>
          <p:cNvSpPr/>
          <p:nvPr/>
        </p:nvSpPr>
        <p:spPr>
          <a:xfrm>
            <a:off x="2890080" y="768240"/>
            <a:ext cx="58485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Terminou antes? Aumente o desafio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TextBox 8"/>
          <p:cNvSpPr/>
          <p:nvPr/>
        </p:nvSpPr>
        <p:spPr>
          <a:xfrm>
            <a:off x="3415320" y="1307520"/>
            <a:ext cx="4743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As extensões são opcionais — primeiro valide a solução mínima.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36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Rounded Rectangle 11"/>
          <p:cNvSpPr/>
          <p:nvPr/>
        </p:nvSpPr>
        <p:spPr>
          <a:xfrm>
            <a:off x="877680" y="1956960"/>
            <a:ext cx="2412360" cy="21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68" name="TextBox 12"/>
          <p:cNvSpPr/>
          <p:nvPr/>
        </p:nvSpPr>
        <p:spPr>
          <a:xfrm>
            <a:off x="1568160" y="2075760"/>
            <a:ext cx="10314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10b9f3"/>
                </a:solidFill>
                <a:latin typeface="Lato"/>
              </a:rPr>
              <a:t>1 · CONTADORES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TextBox 13"/>
          <p:cNvSpPr/>
          <p:nvPr/>
        </p:nvSpPr>
        <p:spPr>
          <a:xfrm>
            <a:off x="1239480" y="2700000"/>
            <a:ext cx="181908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Lato"/>
              </a:rPr>
              <a:t>conte quantas leituras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Lato"/>
              </a:rPr>
              <a:t>caem em A, B e C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Rounded Rectangle 14"/>
          <p:cNvSpPr/>
          <p:nvPr/>
        </p:nvSpPr>
        <p:spPr>
          <a:xfrm>
            <a:off x="3456360" y="1956960"/>
            <a:ext cx="2412360" cy="21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71" name="TextBox 15"/>
          <p:cNvSpPr/>
          <p:nvPr/>
        </p:nvSpPr>
        <p:spPr>
          <a:xfrm>
            <a:off x="4277160" y="2075760"/>
            <a:ext cx="7707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f36b21"/>
                </a:solidFill>
                <a:latin typeface="Lato"/>
              </a:rPr>
              <a:t>2 · RANDOM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TextBox 16"/>
          <p:cNvSpPr/>
          <p:nvPr/>
        </p:nvSpPr>
        <p:spPr>
          <a:xfrm>
            <a:off x="3780000" y="2700000"/>
            <a:ext cx="184212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Lato"/>
              </a:rPr>
              <a:t>gere uma nova lista de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Lato"/>
              </a:rPr>
              <a:t>leituras sintéticas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Rounded Rectangle 17"/>
          <p:cNvSpPr/>
          <p:nvPr/>
        </p:nvSpPr>
        <p:spPr>
          <a:xfrm>
            <a:off x="6035040" y="1956960"/>
            <a:ext cx="2412360" cy="21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74" name="TextBox 18"/>
          <p:cNvSpPr/>
          <p:nvPr/>
        </p:nvSpPr>
        <p:spPr>
          <a:xfrm>
            <a:off x="6668280" y="2075760"/>
            <a:ext cx="11455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f72585"/>
                </a:solidFill>
                <a:latin typeface="Lato"/>
              </a:rPr>
              <a:t>3 · IDENTIFICADOR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TextBox 19"/>
          <p:cNvSpPr/>
          <p:nvPr/>
        </p:nvSpPr>
        <p:spPr>
          <a:xfrm>
            <a:off x="6300000" y="2700000"/>
            <a:ext cx="186480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Lato"/>
              </a:rPr>
              <a:t>adicione id_dispositivo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Lato"/>
              </a:rPr>
              <a:t>a cada registro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Rounded Rectangle 20"/>
          <p:cNvSpPr/>
          <p:nvPr/>
        </p:nvSpPr>
        <p:spPr>
          <a:xfrm>
            <a:off x="8613720" y="1956960"/>
            <a:ext cx="2412360" cy="21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77" name="TextBox 21"/>
          <p:cNvSpPr/>
          <p:nvPr/>
        </p:nvSpPr>
        <p:spPr>
          <a:xfrm>
            <a:off x="9371160" y="2075760"/>
            <a:ext cx="8971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725ac1"/>
                </a:solidFill>
                <a:latin typeface="Lato"/>
              </a:rPr>
              <a:t>4 · VALIDAÇÃO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TextBox 22"/>
          <p:cNvSpPr/>
          <p:nvPr/>
        </p:nvSpPr>
        <p:spPr>
          <a:xfrm>
            <a:off x="9180000" y="2700000"/>
            <a:ext cx="12063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Lato"/>
              </a:rPr>
              <a:t>recuse valores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71a4a"/>
                </a:solidFill>
                <a:latin typeface="Lato"/>
              </a:rPr>
              <a:t>fora de 0–100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Rounded Rectangle 23"/>
          <p:cNvSpPr/>
          <p:nvPr/>
        </p:nvSpPr>
        <p:spPr>
          <a:xfrm>
            <a:off x="1225440" y="4791600"/>
            <a:ext cx="9599400" cy="565200"/>
          </a:xfrm>
          <a:prstGeom prst="roundRect">
            <a:avLst>
              <a:gd name="adj" fmla="val 16667"/>
            </a:avLst>
          </a:prstGeom>
          <a:solidFill>
            <a:srgbClr val="fff5e8"/>
          </a:solidFill>
          <a:ln w="12700">
            <a:solidFill>
              <a:srgbClr val="f5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80" name="TextBox 24"/>
          <p:cNvSpPr/>
          <p:nvPr/>
        </p:nvSpPr>
        <p:spPr>
          <a:xfrm>
            <a:off x="3150720" y="4969800"/>
            <a:ext cx="5748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40" spc="-1" strike="noStrike">
                <a:solidFill>
                  <a:srgbClr val="8a4a0a"/>
                </a:solidFill>
                <a:latin typeface="Lato"/>
              </a:rPr>
              <a:t>Regra: extensão só depois de a versão básica funcionar e os testes de fronteira passarem.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82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983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984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985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986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987" name="TextBox 7"/>
          <p:cNvSpPr/>
          <p:nvPr/>
        </p:nvSpPr>
        <p:spPr>
          <a:xfrm>
            <a:off x="4164840" y="768240"/>
            <a:ext cx="32990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Depurar é investigar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TextBox 8"/>
          <p:cNvSpPr/>
          <p:nvPr/>
        </p:nvSpPr>
        <p:spPr>
          <a:xfrm>
            <a:off x="2988360" y="1307520"/>
            <a:ext cx="55972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Quando o resultado não é o esperado, procure o erro de forma sistemática.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37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Rounded Rectangle 11"/>
          <p:cNvSpPr/>
          <p:nvPr/>
        </p:nvSpPr>
        <p:spPr>
          <a:xfrm>
            <a:off x="841320" y="1847160"/>
            <a:ext cx="5073120" cy="1031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92" name="TextBox 12"/>
          <p:cNvSpPr/>
          <p:nvPr/>
        </p:nvSpPr>
        <p:spPr>
          <a:xfrm>
            <a:off x="1260000" y="2176920"/>
            <a:ext cx="7768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100" spc="-1" strike="noStrike">
                <a:solidFill>
                  <a:srgbClr val="10b9f3"/>
                </a:solidFill>
                <a:latin typeface="Lato"/>
              </a:rPr>
              <a:t>Tipo errado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TextBox 13"/>
          <p:cNvSpPr/>
          <p:nvPr/>
        </p:nvSpPr>
        <p:spPr>
          <a:xfrm>
            <a:off x="2574000" y="2160000"/>
            <a:ext cx="127656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250" spc="-1" strike="noStrike">
                <a:solidFill>
                  <a:srgbClr val="071a4a"/>
                </a:solidFill>
                <a:latin typeface="Lato"/>
              </a:rPr>
              <a:t>input() ainda é str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TextBox 14"/>
          <p:cNvSpPr/>
          <p:nvPr/>
        </p:nvSpPr>
        <p:spPr>
          <a:xfrm>
            <a:off x="4206240" y="2160000"/>
            <a:ext cx="15433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130" spc="-1" strike="noStrike">
                <a:solidFill>
                  <a:srgbClr val="5b6b86"/>
                </a:solidFill>
                <a:latin typeface="Lato"/>
              </a:rPr>
              <a:t>→ </a:t>
            </a:r>
            <a:r>
              <a:rPr b="0" lang="pt-BR" sz="1130" spc="-1" strike="noStrike">
                <a:solidFill>
                  <a:srgbClr val="5b6b86"/>
                </a:solidFill>
                <a:latin typeface="Lato"/>
              </a:rPr>
              <a:t>use type() e converta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Rounded Rectangle 15"/>
          <p:cNvSpPr/>
          <p:nvPr/>
        </p:nvSpPr>
        <p:spPr>
          <a:xfrm>
            <a:off x="6373440" y="1847160"/>
            <a:ext cx="5073120" cy="1031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96" name="TextBox 16"/>
          <p:cNvSpPr/>
          <p:nvPr/>
        </p:nvSpPr>
        <p:spPr>
          <a:xfrm>
            <a:off x="6660000" y="2176920"/>
            <a:ext cx="7477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100" spc="-1" strike="noStrike">
                <a:solidFill>
                  <a:srgbClr val="f36b21"/>
                </a:solidFill>
                <a:latin typeface="Lato"/>
              </a:rPr>
              <a:t>Indentação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TextBox 17"/>
          <p:cNvSpPr/>
          <p:nvPr/>
        </p:nvSpPr>
        <p:spPr>
          <a:xfrm>
            <a:off x="7904880" y="2160000"/>
            <a:ext cx="13849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250" spc="-1" strike="noStrike">
                <a:solidFill>
                  <a:srgbClr val="071a4a"/>
                </a:solidFill>
                <a:latin typeface="Lato"/>
              </a:rPr>
              <a:t>bloco saiu do if/for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TextBox 18"/>
          <p:cNvSpPr/>
          <p:nvPr/>
        </p:nvSpPr>
        <p:spPr>
          <a:xfrm>
            <a:off x="9510840" y="2160000"/>
            <a:ext cx="17049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130" spc="-1" strike="noStrike">
                <a:solidFill>
                  <a:srgbClr val="5b6b86"/>
                </a:solidFill>
                <a:latin typeface="Lato"/>
              </a:rPr>
              <a:t>→ </a:t>
            </a:r>
            <a:r>
              <a:rPr b="0" lang="pt-BR" sz="1130" spc="-1" strike="noStrike">
                <a:solidFill>
                  <a:srgbClr val="5b6b86"/>
                </a:solidFill>
                <a:latin typeface="Lato"/>
              </a:rPr>
              <a:t>compare o alinhamento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Rounded Rectangle 19"/>
          <p:cNvSpPr/>
          <p:nvPr/>
        </p:nvSpPr>
        <p:spPr>
          <a:xfrm>
            <a:off x="841320" y="3511440"/>
            <a:ext cx="5073120" cy="80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000" name="TextBox 20"/>
          <p:cNvSpPr/>
          <p:nvPr/>
        </p:nvSpPr>
        <p:spPr>
          <a:xfrm>
            <a:off x="1325160" y="3674520"/>
            <a:ext cx="6397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100" spc="-1" strike="noStrike">
                <a:solidFill>
                  <a:srgbClr val="f72585"/>
                </a:solidFill>
                <a:latin typeface="Lato"/>
              </a:rPr>
              <a:t>Condição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TextBox 21"/>
          <p:cNvSpPr/>
          <p:nvPr/>
        </p:nvSpPr>
        <p:spPr>
          <a:xfrm>
            <a:off x="2507760" y="3657600"/>
            <a:ext cx="140148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250" spc="-1" strike="noStrike">
                <a:solidFill>
                  <a:srgbClr val="071a4a"/>
                </a:solidFill>
                <a:latin typeface="Lato"/>
              </a:rPr>
              <a:t>= em vez de ==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50" spc="-1" strike="noStrike">
                <a:solidFill>
                  <a:srgbClr val="071a4a"/>
                </a:solidFill>
                <a:latin typeface="Lato"/>
              </a:rPr>
              <a:t>ou ordem incorreta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TextBox 22"/>
          <p:cNvSpPr/>
          <p:nvPr/>
        </p:nvSpPr>
        <p:spPr>
          <a:xfrm>
            <a:off x="4251240" y="3657600"/>
            <a:ext cx="14443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130" spc="-1" strike="noStrike">
                <a:solidFill>
                  <a:srgbClr val="5b6b86"/>
                </a:solidFill>
                <a:latin typeface="Lato"/>
              </a:rPr>
              <a:t>→ </a:t>
            </a:r>
            <a:r>
              <a:rPr b="0" lang="pt-BR" sz="1130" spc="-1" strike="noStrike">
                <a:solidFill>
                  <a:srgbClr val="5b6b86"/>
                </a:solidFill>
                <a:latin typeface="Lato"/>
              </a:rPr>
              <a:t>teste 29/30/70/71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Rounded Rectangle 23"/>
          <p:cNvSpPr/>
          <p:nvPr/>
        </p:nvSpPr>
        <p:spPr>
          <a:xfrm>
            <a:off x="6373440" y="3511440"/>
            <a:ext cx="5073120" cy="80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004" name="TextBox 24"/>
          <p:cNvSpPr/>
          <p:nvPr/>
        </p:nvSpPr>
        <p:spPr>
          <a:xfrm>
            <a:off x="6660000" y="3674520"/>
            <a:ext cx="3636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1100" spc="-1" strike="noStrike">
                <a:solidFill>
                  <a:srgbClr val="725ac1"/>
                </a:solidFill>
                <a:latin typeface="Lato"/>
              </a:rPr>
              <a:t>Loop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TextBox 25"/>
          <p:cNvSpPr/>
          <p:nvPr/>
        </p:nvSpPr>
        <p:spPr>
          <a:xfrm>
            <a:off x="7515720" y="3657600"/>
            <a:ext cx="177948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1250" spc="-1" strike="noStrike">
                <a:solidFill>
                  <a:srgbClr val="071a4a"/>
                </a:solidFill>
                <a:latin typeface="Lato"/>
              </a:rPr>
              <a:t>só parte da lógica repete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TextBox 26"/>
          <p:cNvSpPr/>
          <p:nvPr/>
        </p:nvSpPr>
        <p:spPr>
          <a:xfrm>
            <a:off x="9540000" y="3600000"/>
            <a:ext cx="18619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130" spc="-1" strike="noStrike">
                <a:solidFill>
                  <a:srgbClr val="5b6b86"/>
                </a:solidFill>
                <a:latin typeface="Lato"/>
              </a:rPr>
              <a:t>→ </a:t>
            </a:r>
            <a:r>
              <a:rPr b="0" lang="pt-BR" sz="1130" spc="-1" strike="noStrike">
                <a:solidFill>
                  <a:srgbClr val="5b6b86"/>
                </a:solidFill>
                <a:latin typeface="Lato"/>
              </a:rPr>
              <a:t>coloque o fluxo completo 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30" spc="-1" strike="noStrike">
                <a:solidFill>
                  <a:srgbClr val="5b6b86"/>
                </a:solidFill>
                <a:latin typeface="Lato"/>
              </a:rPr>
              <a:t>     </a:t>
            </a:r>
            <a:r>
              <a:rPr b="0" lang="pt-BR" sz="1130" spc="-1" strike="noStrike">
                <a:solidFill>
                  <a:srgbClr val="5b6b86"/>
                </a:solidFill>
                <a:latin typeface="Lato"/>
              </a:rPr>
              <a:t>dentro do laço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Rounded Rectangle 27"/>
          <p:cNvSpPr/>
          <p:nvPr/>
        </p:nvSpPr>
        <p:spPr>
          <a:xfrm>
            <a:off x="1097280" y="5193720"/>
            <a:ext cx="9800640" cy="565200"/>
          </a:xfrm>
          <a:prstGeom prst="roundRect">
            <a:avLst>
              <a:gd name="adj" fmla="val 16667"/>
            </a:avLst>
          </a:prstGeom>
          <a:solidFill>
            <a:srgbClr val="fff5e8"/>
          </a:solidFill>
          <a:ln w="12700">
            <a:solidFill>
              <a:srgbClr val="f5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008" name="TextBox 28"/>
          <p:cNvSpPr/>
          <p:nvPr/>
        </p:nvSpPr>
        <p:spPr>
          <a:xfrm>
            <a:off x="2325600" y="5372280"/>
            <a:ext cx="73436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40" spc="-1" strike="noStrike">
                <a:solidFill>
                  <a:srgbClr val="8a4a0a"/>
                </a:solidFill>
                <a:latin typeface="Lato"/>
              </a:rPr>
              <a:t>Pergunte sempre: qual valor está na variável? qual condição está sendo testada? quantas vezes esta linha executa?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TextBox 77"/>
          <p:cNvSpPr/>
          <p:nvPr/>
        </p:nvSpPr>
        <p:spPr>
          <a:xfrm>
            <a:off x="676800" y="164520"/>
            <a:ext cx="731448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pt-BR" sz="1000" spc="-1" strike="noStrike">
                <a:solidFill>
                  <a:srgbClr val="0090a1"/>
                </a:solidFill>
                <a:latin typeface="Aptos"/>
              </a:rPr>
              <a:t>RESIDÊNCIA EM TIC 53 · TRILHA PROGRAMAÇÃO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TextBox 78"/>
          <p:cNvSpPr/>
          <p:nvPr/>
        </p:nvSpPr>
        <p:spPr>
          <a:xfrm>
            <a:off x="694800" y="713160"/>
            <a:ext cx="1078920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pt-BR" sz="2900" spc="-1" strike="noStrike">
                <a:solidFill>
                  <a:srgbClr val="142848"/>
                </a:solidFill>
                <a:latin typeface="Aptos"/>
              </a:rPr>
              <a:t>Desafio: monitor simulado de três variáveis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TextBox 79"/>
          <p:cNvSpPr/>
          <p:nvPr/>
        </p:nvSpPr>
        <p:spPr>
          <a:xfrm>
            <a:off x="713160" y="1325880"/>
            <a:ext cx="106977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1700" spc="-1" strike="noStrike">
                <a:solidFill>
                  <a:srgbClr val="5c6f83"/>
                </a:solidFill>
                <a:latin typeface="Aptos"/>
              </a:rPr>
              <a:t>Dez medições por ciclo, com intervalo de 3 segundos entre leituras.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TextBox 80"/>
          <p:cNvSpPr/>
          <p:nvPr/>
        </p:nvSpPr>
        <p:spPr>
          <a:xfrm>
            <a:off x="676800" y="6437520"/>
            <a:ext cx="9143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900" spc="-1" strike="noStrike">
                <a:solidFill>
                  <a:srgbClr val="5c6f83"/>
                </a:solidFill>
                <a:latin typeface="Aptos"/>
              </a:rPr>
              <a:t>PR-02 · Aprendendo a Programar em Python para Saúde Digital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Rounded Rectangle 5"/>
          <p:cNvSpPr/>
          <p:nvPr/>
        </p:nvSpPr>
        <p:spPr>
          <a:xfrm>
            <a:off x="786240" y="2212920"/>
            <a:ext cx="3181320" cy="1855800"/>
          </a:xfrm>
          <a:prstGeom prst="roundRect">
            <a:avLst>
              <a:gd name="adj" fmla="val 16667"/>
            </a:avLst>
          </a:prstGeom>
          <a:solidFill>
            <a:srgbClr val="eb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014" name="TextBox 81"/>
          <p:cNvSpPr/>
          <p:nvPr/>
        </p:nvSpPr>
        <p:spPr>
          <a:xfrm>
            <a:off x="951120" y="2404800"/>
            <a:ext cx="2833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pt-BR" sz="1500" spc="-1" strike="noStrike">
                <a:solidFill>
                  <a:srgbClr val="0090a1"/>
                </a:solidFill>
                <a:latin typeface="Aptos"/>
              </a:rPr>
              <a:t>1 · GERAR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TextBox 82"/>
          <p:cNvSpPr/>
          <p:nvPr/>
        </p:nvSpPr>
        <p:spPr>
          <a:xfrm>
            <a:off x="991440" y="2675160"/>
            <a:ext cx="2788200" cy="12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1000" spc="-1" strike="noStrike">
                <a:solidFill>
                  <a:srgbClr val="142848"/>
                </a:solidFill>
                <a:latin typeface="Aptos"/>
              </a:rPr>
              <a:t>FC:</a:t>
            </a:r>
            <a:r>
              <a:rPr b="0" lang="pt-BR" sz="1000" spc="-1" strike="noStrike">
                <a:solidFill>
                  <a:srgbClr val="142848"/>
                </a:solidFill>
                <a:latin typeface="Aptos"/>
              </a:rPr>
              <a:t> Frequência cardíaca, quantidade de batimentos do coração por minuto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000" spc="-1" strike="noStrike">
                <a:solidFill>
                  <a:srgbClr val="142848"/>
                </a:solidFill>
                <a:latin typeface="Aptos"/>
              </a:rPr>
              <a:t>Temperatura: </a:t>
            </a:r>
            <a:r>
              <a:rPr b="0" lang="pt-BR" sz="1000" spc="-1" strike="noStrike">
                <a:solidFill>
                  <a:srgbClr val="142848"/>
                </a:solidFill>
                <a:latin typeface="Aptos"/>
              </a:rPr>
              <a:t>Temperatura corporal do paciente.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000" spc="-1" strike="noStrike">
                <a:solidFill>
                  <a:srgbClr val="142848"/>
                </a:solidFill>
                <a:latin typeface="Aptos"/>
              </a:rPr>
              <a:t>SpO₂ : </a:t>
            </a:r>
            <a:r>
              <a:rPr b="0" lang="pt-BR" sz="1000" spc="-1" strike="noStrike">
                <a:solidFill>
                  <a:srgbClr val="142848"/>
                </a:solidFill>
                <a:latin typeface="Aptos"/>
              </a:rPr>
              <a:t>Saturação periférica de oxigênio: estimativa da porcentagem de hemoglobina oxigenada no sangue, medida por oxímetro.sintéticas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Rounded Rectangle 6"/>
          <p:cNvSpPr/>
          <p:nvPr/>
        </p:nvSpPr>
        <p:spPr>
          <a:xfrm>
            <a:off x="4526280" y="2212920"/>
            <a:ext cx="3181320" cy="1746720"/>
          </a:xfrm>
          <a:prstGeom prst="roundRect">
            <a:avLst>
              <a:gd name="adj" fmla="val 16667"/>
            </a:avLst>
          </a:prstGeom>
          <a:solidFill>
            <a:srgbClr val="eb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017" name="TextBox 83"/>
          <p:cNvSpPr/>
          <p:nvPr/>
        </p:nvSpPr>
        <p:spPr>
          <a:xfrm>
            <a:off x="4690800" y="2404800"/>
            <a:ext cx="2833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pt-BR" sz="1500" spc="-1" strike="noStrike">
                <a:solidFill>
                  <a:srgbClr val="0090a1"/>
                </a:solidFill>
                <a:latin typeface="Aptos"/>
              </a:rPr>
              <a:t>2 · CALCULAR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TextBox 84"/>
          <p:cNvSpPr/>
          <p:nvPr/>
        </p:nvSpPr>
        <p:spPr>
          <a:xfrm>
            <a:off x="4690800" y="2853000"/>
            <a:ext cx="278820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1700" spc="-1" strike="noStrike">
                <a:solidFill>
                  <a:srgbClr val="142848"/>
                </a:solidFill>
                <a:latin typeface="Aptos"/>
              </a:rPr>
              <a:t>10 leituras → médias com for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Rounded Rectangle 8"/>
          <p:cNvSpPr/>
          <p:nvPr/>
        </p:nvSpPr>
        <p:spPr>
          <a:xfrm>
            <a:off x="8266320" y="2212920"/>
            <a:ext cx="3181320" cy="1746720"/>
          </a:xfrm>
          <a:prstGeom prst="roundRect">
            <a:avLst>
              <a:gd name="adj" fmla="val 16667"/>
            </a:avLst>
          </a:prstGeom>
          <a:solidFill>
            <a:srgbClr val="eb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020" name="TextBox 85"/>
          <p:cNvSpPr/>
          <p:nvPr/>
        </p:nvSpPr>
        <p:spPr>
          <a:xfrm>
            <a:off x="8430840" y="2404800"/>
            <a:ext cx="2833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pt-BR" sz="1500" spc="-1" strike="noStrike">
                <a:solidFill>
                  <a:srgbClr val="0090a1"/>
                </a:solidFill>
                <a:latin typeface="Aptos"/>
              </a:rPr>
              <a:t>3 · AVALIAR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TextBox 86"/>
          <p:cNvSpPr/>
          <p:nvPr/>
        </p:nvSpPr>
        <p:spPr>
          <a:xfrm>
            <a:off x="8430840" y="2853000"/>
            <a:ext cx="278820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1700" spc="-1" strike="noStrike">
                <a:solidFill>
                  <a:srgbClr val="142848"/>
                </a:solidFill>
                <a:latin typeface="Aptos"/>
              </a:rPr>
              <a:t>if → registro → repetir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Rounded Rectangle 38"/>
          <p:cNvSpPr/>
          <p:nvPr/>
        </p:nvSpPr>
        <p:spPr>
          <a:xfrm>
            <a:off x="954720" y="4680000"/>
            <a:ext cx="10103400" cy="1023480"/>
          </a:xfrm>
          <a:prstGeom prst="roundRect">
            <a:avLst>
              <a:gd name="adj" fmla="val 16667"/>
            </a:avLst>
          </a:prstGeom>
          <a:solidFill>
            <a:srgbClr val="eb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023" name="TextBox 87"/>
          <p:cNvSpPr/>
          <p:nvPr/>
        </p:nvSpPr>
        <p:spPr>
          <a:xfrm>
            <a:off x="1247400" y="4908600"/>
            <a:ext cx="950904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pt-BR" sz="1800" spc="-1" strike="noStrike">
                <a:solidFill>
                  <a:srgbClr val="142848"/>
                </a:solidFill>
                <a:latin typeface="Aptos Mono"/>
              </a:rPr>
              <a:t>while True   →   10 leituras   →   3 médias   →   if/else   →   registros.append(...)   ↺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TextBox 88"/>
          <p:cNvSpPr/>
          <p:nvPr/>
        </p:nvSpPr>
        <p:spPr>
          <a:xfrm>
            <a:off x="900000" y="5941800"/>
            <a:ext cx="10514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1500" spc="-1" strike="noStrike">
                <a:solidFill>
                  <a:srgbClr val="5c6f83"/>
                </a:solidFill>
                <a:latin typeface="Aptos"/>
              </a:rPr>
              <a:t>Faixas usadas apenas para exercitar Python. Valores e resultados NÃO servem para avaliar pacientes reais.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TextBox 89"/>
          <p:cNvSpPr/>
          <p:nvPr/>
        </p:nvSpPr>
        <p:spPr>
          <a:xfrm>
            <a:off x="1110996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900" spc="-1" strike="noStrike">
                <a:solidFill>
                  <a:srgbClr val="5c6f83"/>
                </a:solidFill>
                <a:latin typeface="Aptos"/>
              </a:rPr>
              <a:t>39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Box 90"/>
          <p:cNvSpPr/>
          <p:nvPr/>
        </p:nvSpPr>
        <p:spPr>
          <a:xfrm>
            <a:off x="676800" y="164520"/>
            <a:ext cx="731448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pt-BR" sz="1000" spc="-1" strike="noStrike">
                <a:solidFill>
                  <a:srgbClr val="0090a1"/>
                </a:solidFill>
                <a:latin typeface="Aptos"/>
              </a:rPr>
              <a:t>RESIDÊNCIA EM TIC 53 · TRILHA PROGRAMAÇÃO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TextBox 91"/>
          <p:cNvSpPr/>
          <p:nvPr/>
        </p:nvSpPr>
        <p:spPr>
          <a:xfrm>
            <a:off x="694800" y="713160"/>
            <a:ext cx="1078920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pt-BR" sz="2900" spc="-1" strike="noStrike">
                <a:solidFill>
                  <a:srgbClr val="142848"/>
                </a:solidFill>
                <a:latin typeface="Aptos"/>
              </a:rPr>
              <a:t>Código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TextBox 92"/>
          <p:cNvSpPr/>
          <p:nvPr/>
        </p:nvSpPr>
        <p:spPr>
          <a:xfrm>
            <a:off x="713160" y="1325880"/>
            <a:ext cx="106977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1700" spc="-1" strike="noStrike">
                <a:solidFill>
                  <a:srgbClr val="5c6f83"/>
                </a:solidFill>
                <a:latin typeface="Aptos"/>
              </a:rPr>
              <a:t>O laço for recebe dez leituras; outro for calcula as médias das três listas.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TextBox 93"/>
          <p:cNvSpPr/>
          <p:nvPr/>
        </p:nvSpPr>
        <p:spPr>
          <a:xfrm>
            <a:off x="676800" y="6437520"/>
            <a:ext cx="9143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900" spc="-1" strike="noStrike">
                <a:solidFill>
                  <a:srgbClr val="5c6f83"/>
                </a:solidFill>
                <a:latin typeface="Aptos"/>
              </a:rPr>
              <a:t>PR-02 · Aprendendo a Programar em Python para Saúde Digital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Rounded Rectangle 39"/>
          <p:cNvSpPr/>
          <p:nvPr/>
        </p:nvSpPr>
        <p:spPr>
          <a:xfrm>
            <a:off x="540000" y="1737000"/>
            <a:ext cx="6119640" cy="4742640"/>
          </a:xfrm>
          <a:prstGeom prst="roundRect">
            <a:avLst>
              <a:gd name="adj" fmla="val 16667"/>
            </a:avLst>
          </a:prstGeom>
          <a:solidFill>
            <a:srgbClr val="f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031" name="TextBox 94"/>
          <p:cNvSpPr/>
          <p:nvPr/>
        </p:nvSpPr>
        <p:spPr>
          <a:xfrm>
            <a:off x="1042920" y="1806840"/>
            <a:ext cx="5616720" cy="49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import random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import time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registros = []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while True: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soma_fc = 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soma_temp = 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soma_spo2 = 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# Gerar 10 medições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for i in range(10):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fc = random.randint(50, 120)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temp = random.randint(360, 390) / 10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spo2 = random.randint(90, 100)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soma_fc = soma_fc + fc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soma_temp = soma_temp + temp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soma_spo2 = soma_spo2 + spo2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print("Medição", i + 1, ":", fc, "bpm,", temp, "°C,", spo2, "%")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time.sleep(3)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# Calcular as médias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media_fc = soma_fc / 10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media_temp = soma_temp / 10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media_spo2 = soma_spo2 / 10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TextBox 95"/>
          <p:cNvSpPr/>
          <p:nvPr/>
        </p:nvSpPr>
        <p:spPr>
          <a:xfrm>
            <a:off x="1110996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900" spc="-1" strike="noStrike">
                <a:solidFill>
                  <a:srgbClr val="5c6f83"/>
                </a:solidFill>
                <a:latin typeface="Aptos"/>
              </a:rPr>
              <a:t>40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Rounded Rectangle 40"/>
          <p:cNvSpPr/>
          <p:nvPr/>
        </p:nvSpPr>
        <p:spPr>
          <a:xfrm>
            <a:off x="6743520" y="1820880"/>
            <a:ext cx="5219640" cy="4742640"/>
          </a:xfrm>
          <a:prstGeom prst="roundRect">
            <a:avLst>
              <a:gd name="adj" fmla="val 16667"/>
            </a:avLst>
          </a:prstGeom>
          <a:solidFill>
            <a:srgbClr val="f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034" name="TextBox 96"/>
          <p:cNvSpPr/>
          <p:nvPr/>
        </p:nvSpPr>
        <p:spPr>
          <a:xfrm>
            <a:off x="7200000" y="1944360"/>
            <a:ext cx="4319640" cy="37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# Classificação didática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if media_fc &lt; 60 or media_fc &gt; 100: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estado = "ATENÇÃO"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elif media_temp &lt; 36 or media_temp &gt; 37.5: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estado = "ATENÇÃO"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elif media_spo2 &lt; 95: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estado = "ATENÇÃO"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else: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estado = "NORMAL"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# Registrar resultado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registro =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"FC": media_fc,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"Temperatura": media_temp,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"SpO2": media_spo2,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"Estado": estado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registros.append(registro)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print("\nMédias:", media_fc, media_temp, media_spo2)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print("Classificação:", estado)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print("Total de registros:", len(registros))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print("-----------------------------")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TextBox 97"/>
          <p:cNvSpPr/>
          <p:nvPr/>
        </p:nvSpPr>
        <p:spPr>
          <a:xfrm>
            <a:off x="676800" y="164520"/>
            <a:ext cx="731448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pt-BR" sz="1000" spc="-1" strike="noStrike">
                <a:solidFill>
                  <a:srgbClr val="0090a1"/>
                </a:solidFill>
                <a:latin typeface="Aptos"/>
              </a:rPr>
              <a:t>RESIDÊNCIA EM TIC 53 · TRILHA PROGRAMAÇÃO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TextBox 98"/>
          <p:cNvSpPr/>
          <p:nvPr/>
        </p:nvSpPr>
        <p:spPr>
          <a:xfrm>
            <a:off x="694800" y="713160"/>
            <a:ext cx="1078920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pt-BR" sz="2900" spc="-1" strike="noStrike">
                <a:solidFill>
                  <a:srgbClr val="142848"/>
                </a:solidFill>
                <a:latin typeface="Aptos"/>
              </a:rPr>
              <a:t>Execução contínua: como parar e analisar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TextBox 99"/>
          <p:cNvSpPr/>
          <p:nvPr/>
        </p:nvSpPr>
        <p:spPr>
          <a:xfrm>
            <a:off x="713160" y="1325880"/>
            <a:ext cx="106977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1700" spc="-1" strike="noStrike">
                <a:solidFill>
                  <a:srgbClr val="5c6f83"/>
                </a:solidFill>
                <a:latin typeface="Aptos"/>
              </a:rPr>
              <a:t>No Colab, use o botão Interromper execução (■) ou Ctrl+C no terminal.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TextBox 100"/>
          <p:cNvSpPr/>
          <p:nvPr/>
        </p:nvSpPr>
        <p:spPr>
          <a:xfrm>
            <a:off x="676800" y="6437520"/>
            <a:ext cx="9143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900" spc="-1" strike="noStrike">
                <a:solidFill>
                  <a:srgbClr val="5c6f83"/>
                </a:solidFill>
                <a:latin typeface="Aptos"/>
              </a:rPr>
              <a:t>PR-02 · Aprendendo a Programar em Python para Saúde Digital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Rounded Rectangle 42"/>
          <p:cNvSpPr/>
          <p:nvPr/>
        </p:nvSpPr>
        <p:spPr>
          <a:xfrm>
            <a:off x="822960" y="1874520"/>
            <a:ext cx="6903000" cy="2605320"/>
          </a:xfrm>
          <a:prstGeom prst="roundRect">
            <a:avLst>
              <a:gd name="adj" fmla="val 16667"/>
            </a:avLst>
          </a:prstGeom>
          <a:solidFill>
            <a:srgbClr val="eb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040" name="TextBox 101"/>
          <p:cNvSpPr/>
          <p:nvPr/>
        </p:nvSpPr>
        <p:spPr>
          <a:xfrm>
            <a:off x="1051560" y="2075760"/>
            <a:ext cx="649152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pt-BR" sz="1300" spc="-1" strike="noStrike">
                <a:solidFill>
                  <a:srgbClr val="0090a1"/>
                </a:solidFill>
                <a:latin typeface="Aptos"/>
              </a:rPr>
              <a:t>EXEMPLO DE REGISTRO (VALORES ILUSTRATIVOS)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TextBox 102"/>
          <p:cNvSpPr/>
          <p:nvPr/>
        </p:nvSpPr>
        <p:spPr>
          <a:xfrm>
            <a:off x="1051560" y="2541960"/>
            <a:ext cx="6400080" cy="11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1700" spc="-1" strike="noStrike">
                <a:solidFill>
                  <a:srgbClr val="142848"/>
                </a:solidFill>
                <a:latin typeface="DejaVu Sans Mono"/>
              </a:rPr>
              <a:t>{"fc_media": 82.4,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1700" spc="-1" strike="noStrike">
                <a:solidFill>
                  <a:srgbClr val="142848"/>
                </a:solidFill>
                <a:latin typeface="DejaVu Sans Mono"/>
              </a:rPr>
              <a:t> </a:t>
            </a:r>
            <a:r>
              <a:rPr b="0" lang="pt-BR" sz="1700" spc="-1" strike="noStrike">
                <a:solidFill>
                  <a:srgbClr val="142848"/>
                </a:solidFill>
                <a:latin typeface="DejaVu Sans Mono"/>
              </a:rPr>
              <a:t>"temp_media": 36.7,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1700" spc="-1" strike="noStrike">
                <a:solidFill>
                  <a:srgbClr val="142848"/>
                </a:solidFill>
                <a:latin typeface="DejaVu Sans Mono"/>
              </a:rPr>
              <a:t> </a:t>
            </a:r>
            <a:r>
              <a:rPr b="0" lang="pt-BR" sz="1700" spc="-1" strike="noStrike">
                <a:solidFill>
                  <a:srgbClr val="142848"/>
                </a:solidFill>
                <a:latin typeface="DejaVu Sans Mono"/>
              </a:rPr>
              <a:t>"spo2_media": 97.1,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1700" spc="-1" strike="noStrike">
                <a:solidFill>
                  <a:srgbClr val="142848"/>
                </a:solidFill>
                <a:latin typeface="DejaVu Sans Mono"/>
              </a:rPr>
              <a:t> </a:t>
            </a:r>
            <a:r>
              <a:rPr b="0" lang="pt-BR" sz="1700" spc="-1" strike="noStrike">
                <a:solidFill>
                  <a:srgbClr val="142848"/>
                </a:solidFill>
                <a:latin typeface="DejaVu Sans Mono"/>
              </a:rPr>
              <a:t>"estado": "Dentro das faixas didáticas"}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Rounded Rectangle 43"/>
          <p:cNvSpPr/>
          <p:nvPr/>
        </p:nvSpPr>
        <p:spPr>
          <a:xfrm>
            <a:off x="7992000" y="1874520"/>
            <a:ext cx="3336840" cy="2605320"/>
          </a:xfrm>
          <a:prstGeom prst="roundRect">
            <a:avLst>
              <a:gd name="adj" fmla="val 16667"/>
            </a:avLst>
          </a:prstGeom>
          <a:solidFill>
            <a:srgbClr val="eb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043" name="TextBox 103"/>
          <p:cNvSpPr/>
          <p:nvPr/>
        </p:nvSpPr>
        <p:spPr>
          <a:xfrm>
            <a:off x="8229600" y="2121480"/>
            <a:ext cx="285228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pt-BR" sz="1600" spc="-1" strike="noStrike">
                <a:solidFill>
                  <a:srgbClr val="0090a1"/>
                </a:solidFill>
                <a:latin typeface="Aptos"/>
              </a:rPr>
              <a:t>CHECKLIST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TextBox 104"/>
          <p:cNvSpPr/>
          <p:nvPr/>
        </p:nvSpPr>
        <p:spPr>
          <a:xfrm>
            <a:off x="8229600" y="2578680"/>
            <a:ext cx="2861280" cy="14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1400" spc="-1" strike="noStrike">
                <a:solidFill>
                  <a:srgbClr val="142848"/>
                </a:solidFill>
                <a:latin typeface="Aptos"/>
              </a:rPr>
              <a:t>✓ </a:t>
            </a:r>
            <a:r>
              <a:rPr b="0" lang="pt-BR" sz="1400" spc="-1" strike="noStrike">
                <a:solidFill>
                  <a:srgbClr val="142848"/>
                </a:solidFill>
                <a:latin typeface="Aptos"/>
              </a:rPr>
              <a:t>10 amostras / ciclo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1400" spc="-1" strike="noStrike">
                <a:solidFill>
                  <a:srgbClr val="142848"/>
                </a:solidFill>
                <a:latin typeface="Aptos"/>
              </a:rPr>
              <a:t>✓ </a:t>
            </a:r>
            <a:r>
              <a:rPr b="0" lang="pt-BR" sz="1400" spc="-1" strike="noStrike">
                <a:solidFill>
                  <a:srgbClr val="142848"/>
                </a:solidFill>
                <a:latin typeface="Aptos"/>
              </a:rPr>
              <a:t>3 segundos / leitura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1400" spc="-1" strike="noStrike">
                <a:solidFill>
                  <a:srgbClr val="142848"/>
                </a:solidFill>
                <a:latin typeface="Aptos"/>
              </a:rPr>
              <a:t>✓ </a:t>
            </a:r>
            <a:r>
              <a:rPr b="0" lang="pt-BR" sz="1400" spc="-1" strike="noStrike">
                <a:solidFill>
                  <a:srgbClr val="142848"/>
                </a:solidFill>
                <a:latin typeface="Aptos"/>
              </a:rPr>
              <a:t>médias calculadas com for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1400" spc="-1" strike="noStrike">
                <a:solidFill>
                  <a:srgbClr val="142848"/>
                </a:solidFill>
                <a:latin typeface="Aptos"/>
              </a:rPr>
              <a:t>✓ </a:t>
            </a:r>
            <a:r>
              <a:rPr b="0" lang="pt-BR" sz="1400" spc="-1" strike="noStrike">
                <a:solidFill>
                  <a:srgbClr val="142848"/>
                </a:solidFill>
                <a:latin typeface="Aptos"/>
              </a:rPr>
              <a:t>if/else classifica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1400" spc="-1" strike="noStrike">
                <a:solidFill>
                  <a:srgbClr val="142848"/>
                </a:solidFill>
                <a:latin typeface="Aptos"/>
              </a:rPr>
              <a:t>✓ </a:t>
            </a:r>
            <a:r>
              <a:rPr b="0" lang="pt-BR" sz="1400" spc="-1" strike="noStrike">
                <a:solidFill>
                  <a:srgbClr val="142848"/>
                </a:solidFill>
                <a:latin typeface="Aptos"/>
              </a:rPr>
              <a:t>histórico em registros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1400" spc="-1" strike="noStrike">
                <a:solidFill>
                  <a:srgbClr val="142848"/>
                </a:solidFill>
                <a:latin typeface="Aptos"/>
              </a:rPr>
              <a:t>✓ </a:t>
            </a:r>
            <a:r>
              <a:rPr b="0" lang="pt-BR" sz="1400" spc="-1" strike="noStrike">
                <a:solidFill>
                  <a:srgbClr val="142848"/>
                </a:solidFill>
                <a:latin typeface="Aptos"/>
              </a:rPr>
              <a:t>while repete até parar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Rounded Rectangle 44"/>
          <p:cNvSpPr/>
          <p:nvPr/>
        </p:nvSpPr>
        <p:spPr>
          <a:xfrm>
            <a:off x="822960" y="4800600"/>
            <a:ext cx="10514880" cy="867960"/>
          </a:xfrm>
          <a:prstGeom prst="roundRect">
            <a:avLst>
              <a:gd name="adj" fmla="val 16667"/>
            </a:avLst>
          </a:prstGeom>
          <a:solidFill>
            <a:srgbClr val="eb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046" name="TextBox 105"/>
          <p:cNvSpPr/>
          <p:nvPr/>
        </p:nvSpPr>
        <p:spPr>
          <a:xfrm>
            <a:off x="1060560" y="5029200"/>
            <a:ext cx="100119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pt-BR" sz="1700" spc="-1" strike="noStrike">
                <a:solidFill>
                  <a:srgbClr val="142848"/>
                </a:solidFill>
                <a:latin typeface="Aptos"/>
              </a:rPr>
              <a:t>Cada ciclo dura aproximadamente 30 segundos, além do tempo de processamento.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TextBox 106"/>
          <p:cNvSpPr/>
          <p:nvPr/>
        </p:nvSpPr>
        <p:spPr>
          <a:xfrm>
            <a:off x="1110996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pt-BR" sz="900" spc="-1" strike="noStrike">
                <a:solidFill>
                  <a:srgbClr val="5c6f83"/>
                </a:solidFill>
                <a:latin typeface="Aptos"/>
              </a:rPr>
              <a:t>42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TextBox 1"/>
          <p:cNvSpPr/>
          <p:nvPr/>
        </p:nvSpPr>
        <p:spPr>
          <a:xfrm>
            <a:off x="1785600" y="175320"/>
            <a:ext cx="2444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pt-BR" sz="820" spc="-1" strike="noStrike">
                <a:solidFill>
                  <a:srgbClr val="91a0b6"/>
                </a:solidFill>
                <a:latin typeface="Lato"/>
              </a:rPr>
              <a:t>RESIDÊNCIA EM TIC 53 · TRILHA PROGRAMAÇÃO</a:t>
            </a:r>
            <a:endParaRPr b="0" lang="pt-BR" sz="8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49" name="Connector 2"/>
          <p:cNvCxnSpPr/>
          <p:nvPr/>
        </p:nvCxnSpPr>
        <p:spPr>
          <a:xfrm>
            <a:off x="676440" y="484560"/>
            <a:ext cx="2388600" cy="1800"/>
          </a:xfrm>
          <a:prstGeom prst="straightConnector1">
            <a:avLst/>
          </a:prstGeom>
          <a:ln w="25400">
            <a:solidFill>
              <a:srgbClr val="f72585"/>
            </a:solidFill>
            <a:round/>
          </a:ln>
        </p:spPr>
      </p:cxnSp>
      <p:cxnSp>
        <p:nvCxnSpPr>
          <p:cNvPr id="1050" name="Connector 3"/>
          <p:cNvCxnSpPr/>
          <p:nvPr/>
        </p:nvCxnSpPr>
        <p:spPr>
          <a:xfrm>
            <a:off x="3063240" y="484560"/>
            <a:ext cx="1739160" cy="1800"/>
          </a:xfrm>
          <a:prstGeom prst="straightConnector1">
            <a:avLst/>
          </a:prstGeom>
          <a:ln w="25400">
            <a:solidFill>
              <a:srgbClr val="f36b21"/>
            </a:solidFill>
            <a:round/>
          </a:ln>
        </p:spPr>
      </p:cxnSp>
      <p:cxnSp>
        <p:nvCxnSpPr>
          <p:cNvPr id="1051" name="Connector 4"/>
          <p:cNvCxnSpPr/>
          <p:nvPr/>
        </p:nvCxnSpPr>
        <p:spPr>
          <a:xfrm>
            <a:off x="4800600" y="484560"/>
            <a:ext cx="2196360" cy="1800"/>
          </a:xfrm>
          <a:prstGeom prst="straightConnector1">
            <a:avLst/>
          </a:prstGeom>
          <a:ln w="25400">
            <a:solidFill>
              <a:srgbClr val="10b9f3"/>
            </a:solidFill>
            <a:round/>
          </a:ln>
        </p:spPr>
      </p:cxnSp>
      <p:cxnSp>
        <p:nvCxnSpPr>
          <p:cNvPr id="1052" name="Connector 5"/>
          <p:cNvCxnSpPr/>
          <p:nvPr/>
        </p:nvCxnSpPr>
        <p:spPr>
          <a:xfrm>
            <a:off x="6995160" y="484560"/>
            <a:ext cx="3567960" cy="1800"/>
          </a:xfrm>
          <a:prstGeom prst="straightConnector1">
            <a:avLst/>
          </a:prstGeom>
          <a:ln w="0">
            <a:solidFill>
              <a:srgbClr val="d6deea"/>
            </a:solidFill>
          </a:ln>
        </p:spPr>
      </p:cxnSp>
      <p:pic>
        <p:nvPicPr>
          <p:cNvPr id="1053" name="Picture 6" descr="image.png"/>
          <p:cNvPicPr/>
          <p:nvPr/>
        </p:nvPicPr>
        <p:blipFill>
          <a:blip r:embed="rId1"/>
          <a:stretch/>
        </p:blipFill>
        <p:spPr>
          <a:xfrm>
            <a:off x="10113120" y="128160"/>
            <a:ext cx="1141200" cy="301320"/>
          </a:xfrm>
          <a:prstGeom prst="rect">
            <a:avLst/>
          </a:prstGeom>
          <a:ln w="0">
            <a:noFill/>
          </a:ln>
        </p:spPr>
      </p:pic>
      <p:sp>
        <p:nvSpPr>
          <p:cNvPr id="1054" name="TextBox 7"/>
          <p:cNvSpPr/>
          <p:nvPr/>
        </p:nvSpPr>
        <p:spPr>
          <a:xfrm>
            <a:off x="3249720" y="768240"/>
            <a:ext cx="512928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</a:rPr>
              <a:t>Do Python aos próximos cursos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TextBox 8"/>
          <p:cNvSpPr/>
          <p:nvPr/>
        </p:nvSpPr>
        <p:spPr>
          <a:xfrm>
            <a:off x="3899160" y="1307520"/>
            <a:ext cx="3776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pt-BR" sz="1330" spc="-1" strike="noStrike">
                <a:solidFill>
                  <a:srgbClr val="5b6b86"/>
                </a:solidFill>
                <a:latin typeface="Lato"/>
              </a:rPr>
              <a:t>Você já tem o núcleo que será reutilizado na trilha.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TextBox 9"/>
          <p:cNvSpPr/>
          <p:nvPr/>
        </p:nvSpPr>
        <p:spPr>
          <a:xfrm>
            <a:off x="3406320" y="6419160"/>
            <a:ext cx="2585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PR-02 · Aprendendo a Programar em Python para Saúde Digital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TextBox 10"/>
          <p:cNvSpPr/>
          <p:nvPr/>
        </p:nvSpPr>
        <p:spPr>
          <a:xfrm>
            <a:off x="11189160" y="6419160"/>
            <a:ext cx="159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0" lang="pt-BR" sz="720" spc="-1" strike="noStrike">
                <a:solidFill>
                  <a:srgbClr val="91a0b6"/>
                </a:solidFill>
                <a:latin typeface="Lato"/>
              </a:rPr>
              <a:t>38</a:t>
            </a:r>
            <a:endParaRPr b="0" lang="pt-BR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Rounded Rectangle 11"/>
          <p:cNvSpPr/>
          <p:nvPr/>
        </p:nvSpPr>
        <p:spPr>
          <a:xfrm>
            <a:off x="900000" y="2340000"/>
            <a:ext cx="2394000" cy="166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059" name="TextBox 12"/>
          <p:cNvSpPr/>
          <p:nvPr/>
        </p:nvSpPr>
        <p:spPr>
          <a:xfrm>
            <a:off x="1482120" y="2654280"/>
            <a:ext cx="12294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400" spc="-1" strike="noStrike">
                <a:solidFill>
                  <a:srgbClr val="10b9f3"/>
                </a:solidFill>
                <a:latin typeface="Inter Display"/>
              </a:rPr>
              <a:t>Python básico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TextBox 13"/>
          <p:cNvSpPr/>
          <p:nvPr/>
        </p:nvSpPr>
        <p:spPr>
          <a:xfrm>
            <a:off x="1508040" y="3313440"/>
            <a:ext cx="117756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50" spc="-1" strike="noStrike">
                <a:solidFill>
                  <a:srgbClr val="5b6b86"/>
                </a:solidFill>
                <a:latin typeface="Lato"/>
              </a:rPr>
              <a:t>variáveis + regras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61" name="Connector 14"/>
          <p:cNvCxnSpPr/>
          <p:nvPr/>
        </p:nvCxnSpPr>
        <p:spPr>
          <a:xfrm>
            <a:off x="3322800" y="3162960"/>
            <a:ext cx="285480" cy="1800"/>
          </a:xfrm>
          <a:prstGeom prst="straightConnector1">
            <a:avLst/>
          </a:prstGeom>
          <a:ln w="19050">
            <a:solidFill>
              <a:srgbClr val="91a0b6"/>
            </a:solidFill>
            <a:round/>
          </a:ln>
        </p:spPr>
      </p:cxnSp>
      <p:sp>
        <p:nvSpPr>
          <p:cNvPr id="1062" name="Rounded Rectangle 15"/>
          <p:cNvSpPr/>
          <p:nvPr/>
        </p:nvSpPr>
        <p:spPr>
          <a:xfrm>
            <a:off x="3670560" y="2340000"/>
            <a:ext cx="2394000" cy="166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063" name="TextBox 16"/>
          <p:cNvSpPr/>
          <p:nvPr/>
        </p:nvSpPr>
        <p:spPr>
          <a:xfrm>
            <a:off x="4454640" y="2654280"/>
            <a:ext cx="82548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400" spc="-1" strike="noStrike">
                <a:solidFill>
                  <a:srgbClr val="f36b21"/>
                </a:solidFill>
                <a:latin typeface="Inter Display"/>
              </a:rPr>
              <a:t>Coleções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TextBox 17"/>
          <p:cNvSpPr/>
          <p:nvPr/>
        </p:nvSpPr>
        <p:spPr>
          <a:xfrm>
            <a:off x="4242960" y="3313440"/>
            <a:ext cx="124920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50" spc="-1" strike="noStrike">
                <a:solidFill>
                  <a:srgbClr val="5b6b86"/>
                </a:solidFill>
                <a:latin typeface="Lato"/>
              </a:rPr>
              <a:t>listas + dicionários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65" name="Connector 18"/>
          <p:cNvCxnSpPr/>
          <p:nvPr/>
        </p:nvCxnSpPr>
        <p:spPr>
          <a:xfrm>
            <a:off x="6093720" y="3162960"/>
            <a:ext cx="285120" cy="1800"/>
          </a:xfrm>
          <a:prstGeom prst="straightConnector1">
            <a:avLst/>
          </a:prstGeom>
          <a:ln w="19050">
            <a:solidFill>
              <a:srgbClr val="91a0b6"/>
            </a:solidFill>
            <a:round/>
          </a:ln>
        </p:spPr>
      </p:cxnSp>
      <p:sp>
        <p:nvSpPr>
          <p:cNvPr id="1066" name="Rounded Rectangle 19"/>
          <p:cNvSpPr/>
          <p:nvPr/>
        </p:nvSpPr>
        <p:spPr>
          <a:xfrm>
            <a:off x="6441120" y="2340000"/>
            <a:ext cx="2394000" cy="166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067" name="TextBox 20"/>
          <p:cNvSpPr/>
          <p:nvPr/>
        </p:nvSpPr>
        <p:spPr>
          <a:xfrm>
            <a:off x="7344000" y="2654280"/>
            <a:ext cx="58788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400" spc="-1" strike="noStrike">
                <a:solidFill>
                  <a:srgbClr val="725ac1"/>
                </a:solidFill>
                <a:latin typeface="Inter Display"/>
              </a:rPr>
              <a:t>PR-03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TextBox 21"/>
          <p:cNvSpPr/>
          <p:nvPr/>
        </p:nvSpPr>
        <p:spPr>
          <a:xfrm>
            <a:off x="7067520" y="3313440"/>
            <a:ext cx="11408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50" spc="-1" strike="noStrike">
                <a:solidFill>
                  <a:srgbClr val="5b6b86"/>
                </a:solidFill>
                <a:latin typeface="Lato"/>
              </a:rPr>
              <a:t>Pandas + tabelas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69" name="Connector 22"/>
          <p:cNvCxnSpPr/>
          <p:nvPr/>
        </p:nvCxnSpPr>
        <p:spPr>
          <a:xfrm>
            <a:off x="8864280" y="3162960"/>
            <a:ext cx="285120" cy="1800"/>
          </a:xfrm>
          <a:prstGeom prst="straightConnector1">
            <a:avLst/>
          </a:prstGeom>
          <a:ln w="19050">
            <a:solidFill>
              <a:srgbClr val="91a0b6"/>
            </a:solidFill>
            <a:round/>
          </a:ln>
        </p:spPr>
      </p:cxnSp>
      <p:sp>
        <p:nvSpPr>
          <p:cNvPr id="1070" name="Rounded Rectangle 23"/>
          <p:cNvSpPr/>
          <p:nvPr/>
        </p:nvSpPr>
        <p:spPr>
          <a:xfrm>
            <a:off x="9212040" y="2340000"/>
            <a:ext cx="2394000" cy="166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071" name="TextBox 24"/>
          <p:cNvSpPr/>
          <p:nvPr/>
        </p:nvSpPr>
        <p:spPr>
          <a:xfrm>
            <a:off x="10112040" y="2654280"/>
            <a:ext cx="5940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400" spc="-1" strike="noStrike">
                <a:solidFill>
                  <a:srgbClr val="f72585"/>
                </a:solidFill>
                <a:latin typeface="Inter Display"/>
              </a:rPr>
              <a:t>PR-04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TextBox 25"/>
          <p:cNvSpPr/>
          <p:nvPr/>
        </p:nvSpPr>
        <p:spPr>
          <a:xfrm>
            <a:off x="9702720" y="3313440"/>
            <a:ext cx="14122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150" spc="-1" strike="noStrike">
                <a:solidFill>
                  <a:srgbClr val="5b6b86"/>
                </a:solidFill>
                <a:latin typeface="Lato"/>
              </a:rPr>
              <a:t>dados em tempo real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Rounded Rectangle 28"/>
          <p:cNvSpPr/>
          <p:nvPr/>
        </p:nvSpPr>
        <p:spPr>
          <a:xfrm>
            <a:off x="2907720" y="5486400"/>
            <a:ext cx="6353280" cy="345600"/>
          </a:xfrm>
          <a:prstGeom prst="roundRect">
            <a:avLst>
              <a:gd name="adj" fmla="val 16667"/>
            </a:avLst>
          </a:prstGeom>
          <a:solidFill>
            <a:srgbClr val="10b9f3"/>
          </a:solidFill>
          <a:ln w="1270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074" name="TextBox 29"/>
          <p:cNvSpPr/>
          <p:nvPr/>
        </p:nvSpPr>
        <p:spPr>
          <a:xfrm>
            <a:off x="3912120" y="5556600"/>
            <a:ext cx="434448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071a4a"/>
                </a:solidFill>
                <a:latin typeface="Lato"/>
              </a:rPr>
              <a:t>Você não precisa memorizar tudo. Precisa saber reconhecer, testar e adaptar.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 pitchFamily="0" charset="1"/>
        <a:ea typeface=""/>
        <a:cs typeface=""/>
      </a:majorFont>
      <a:minorFont>
        <a:latin typeface="Lat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 pitchFamily="0" charset="1"/>
        <a:ea typeface=""/>
        <a:cs typeface=""/>
      </a:majorFont>
      <a:minorFont>
        <a:latin typeface="Lat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 pitchFamily="0" charset="1"/>
        <a:ea typeface=""/>
        <a:cs typeface=""/>
      </a:majorFont>
      <a:minorFont>
        <a:latin typeface="Lat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 pitchFamily="0" charset="1"/>
        <a:ea typeface=""/>
        <a:cs typeface=""/>
      </a:majorFont>
      <a:minorFont>
        <a:latin typeface="Lat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</TotalTime>
  <Application>LibreOffice/24.2.7.2$Linux_X86_64 LibreOffice_project/420$Build-2</Application>
  <AppVersion>15.0000</AppVersion>
  <Words>0</Words>
  <Paragraphs>0</Paragraphs>
  <Company>Projeto Ocean - Residência em TIC 53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2026-09-10T18:13:50Z</dcterms:created>
  <dc:creator>Prof. Dr. Guillermo Alvarez Bestard</dc:creator>
  <dc:description/>
  <dc:language>pt-BR</dc:language>
  <cp:lastModifiedBy/>
  <dcterms:modified xsi:type="dcterms:W3CDTF">2026-10-13T12:20:28Z</dcterms:modified>
  <cp:revision>37</cp:revision>
  <dc:subject>PR-01 - Lógica de Programação Aplicada à Saúde com Scratch</dc:subject>
  <dc:title>PR-01 - Lógica de Programação Aplicada à Saúde com Scratch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35</vt:i4>
  </property>
  <property fmtid="{D5CDD505-2E9C-101B-9397-08002B2CF9AE}" pid="3" name="PresentationFormat">
    <vt:lpwstr>On-screen Show (16:9)</vt:lpwstr>
  </property>
  <property fmtid="{D5CDD505-2E9C-101B-9397-08002B2CF9AE}" pid="4" name="Slides">
    <vt:i4>35</vt:i4>
  </property>
</Properties>
</file>