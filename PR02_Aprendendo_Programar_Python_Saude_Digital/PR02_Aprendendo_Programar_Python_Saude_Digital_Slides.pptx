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Conteúdo 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4DDA857-59E6-4DD7-BDDC-001D61129900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Destaque Escu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9C9028-5966-47A9-AC42-3F1E8560A073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formato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texto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10031040" y="182880"/>
            <a:ext cx="1415520" cy="372960"/>
          </a:xfrm>
          <a:prstGeom prst="rect">
            <a:avLst/>
          </a:prstGeom>
          <a:ln w="0">
            <a:noFill/>
          </a:ln>
        </p:spPr>
      </p:pic>
      <p:sp>
        <p:nvSpPr>
          <p:cNvPr id="3" name="Text 0"/>
          <p:cNvSpPr/>
          <p:nvPr/>
        </p:nvSpPr>
        <p:spPr>
          <a:xfrm>
            <a:off x="685800" y="228600"/>
            <a:ext cx="49359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8" strike="noStrike">
                <a:solidFill>
                  <a:srgbClr val="5b6b86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85800" y="658440"/>
            <a:ext cx="3537000" cy="2556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224600" y="658440"/>
            <a:ext cx="3546000" cy="25560"/>
          </a:xfrm>
          <a:prstGeom prst="rect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772400" y="658440"/>
            <a:ext cx="3500280" cy="2556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 4"/>
          <p:cNvSpPr/>
          <p:nvPr/>
        </p:nvSpPr>
        <p:spPr>
          <a:xfrm>
            <a:off x="685800" y="6492240"/>
            <a:ext cx="75877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PR-01 · Lógica de Programação Aplicada à Saúde com Scratch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sldNum" idx="1"/>
          </p:nvPr>
        </p:nvSpPr>
        <p:spPr>
          <a:xfrm>
            <a:off x="11283840" y="6446520"/>
            <a:ext cx="318240" cy="16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a879d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E3B426-FDD9-4DA7-BE3A-21E9672A533D}" type="slidenum"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/>
          <p:cNvSpPr/>
          <p:nvPr/>
        </p:nvSpPr>
        <p:spPr>
          <a:xfrm>
            <a:off x="594360" y="329040"/>
            <a:ext cx="1662480" cy="482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731520" y="420480"/>
            <a:ext cx="1324080" cy="345600"/>
          </a:xfrm>
          <a:prstGeom prst="rect">
            <a:avLst/>
          </a:prstGeom>
          <a:ln w="0">
            <a:noFill/>
          </a:ln>
        </p:spPr>
      </p:pic>
      <p:sp>
        <p:nvSpPr>
          <p:cNvPr id="11" name="Text 1"/>
          <p:cNvSpPr/>
          <p:nvPr/>
        </p:nvSpPr>
        <p:spPr>
          <a:xfrm>
            <a:off x="6510600" y="475560"/>
            <a:ext cx="49816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" strike="noStrike">
                <a:solidFill>
                  <a:srgbClr val="c2cee5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85800" y="6473880"/>
            <a:ext cx="3107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PR-01 · Projeto Ocean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sldNum" idx="2"/>
          </p:nvPr>
        </p:nvSpPr>
        <p:spPr>
          <a:xfrm>
            <a:off x="11283840" y="6446520"/>
            <a:ext cx="318240" cy="16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9fb0d0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89C30D-8E3E-4CF4-BB5F-52C10A41D5AB}" type="slidenum"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exagon 1"/>
          <p:cNvSpPr/>
          <p:nvPr/>
        </p:nvSpPr>
        <p:spPr>
          <a:xfrm>
            <a:off x="2834640" y="-164520"/>
            <a:ext cx="821880" cy="73044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5" name="Hexagon 2"/>
          <p:cNvSpPr/>
          <p:nvPr/>
        </p:nvSpPr>
        <p:spPr>
          <a:xfrm>
            <a:off x="8028360" y="-182880"/>
            <a:ext cx="913320" cy="77616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" name="Hexagon 3"/>
          <p:cNvSpPr/>
          <p:nvPr/>
        </p:nvSpPr>
        <p:spPr>
          <a:xfrm>
            <a:off x="-365760" y="1005840"/>
            <a:ext cx="1050480" cy="100476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" name="Hexagon 4"/>
          <p:cNvSpPr/>
          <p:nvPr/>
        </p:nvSpPr>
        <p:spPr>
          <a:xfrm>
            <a:off x="10835640" y="1609200"/>
            <a:ext cx="1050480" cy="100476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8" name="Hexagon 5"/>
          <p:cNvSpPr/>
          <p:nvPr/>
        </p:nvSpPr>
        <p:spPr>
          <a:xfrm>
            <a:off x="9921240" y="5166360"/>
            <a:ext cx="867600" cy="77616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" name="Hexagon 6"/>
          <p:cNvSpPr/>
          <p:nvPr/>
        </p:nvSpPr>
        <p:spPr>
          <a:xfrm>
            <a:off x="109800" y="5193720"/>
            <a:ext cx="867600" cy="77616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pic>
        <p:nvPicPr>
          <p:cNvPr id="20" name="Picture 7" descr="image.png"/>
          <p:cNvPicPr/>
          <p:nvPr/>
        </p:nvPicPr>
        <p:blipFill>
          <a:blip r:embed="rId1"/>
          <a:stretch/>
        </p:blipFill>
        <p:spPr>
          <a:xfrm>
            <a:off x="585360" y="320040"/>
            <a:ext cx="1590120" cy="421200"/>
          </a:xfrm>
          <a:prstGeom prst="rect">
            <a:avLst/>
          </a:prstGeom>
          <a:ln w="0">
            <a:noFill/>
          </a:ln>
        </p:spPr>
      </p:pic>
      <p:sp>
        <p:nvSpPr>
          <p:cNvPr id="21" name="TextBox 8"/>
          <p:cNvSpPr/>
          <p:nvPr/>
        </p:nvSpPr>
        <p:spPr>
          <a:xfrm>
            <a:off x="8251920" y="484200"/>
            <a:ext cx="2551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pt-BR" sz="850" spc="-1" strike="noStrike">
                <a:solidFill>
                  <a:srgbClr val="cfd9eb"/>
                </a:solidFill>
                <a:latin typeface="Lato"/>
              </a:rPr>
              <a:t>RESIDÊNCIA EM TIC 53 · TRILHA PROGRAMAÇÃO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Rounded Rectangle 9"/>
          <p:cNvSpPr/>
          <p:nvPr/>
        </p:nvSpPr>
        <p:spPr>
          <a:xfrm>
            <a:off x="713160" y="1188720"/>
            <a:ext cx="107784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" name="TextBox 10"/>
          <p:cNvSpPr/>
          <p:nvPr/>
        </p:nvSpPr>
        <p:spPr>
          <a:xfrm>
            <a:off x="1048320" y="1258920"/>
            <a:ext cx="4071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PR-02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Box 11"/>
          <p:cNvSpPr/>
          <p:nvPr/>
        </p:nvSpPr>
        <p:spPr>
          <a:xfrm>
            <a:off x="966240" y="1993320"/>
            <a:ext cx="667080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Aprendendo a Programar em Python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para Saúde Digital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12"/>
          <p:cNvSpPr/>
          <p:nvPr/>
        </p:nvSpPr>
        <p:spPr>
          <a:xfrm>
            <a:off x="900000" y="3780000"/>
            <a:ext cx="99115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d4deef"/>
                </a:solidFill>
                <a:latin typeface="Lato"/>
              </a:rPr>
              <a:t>Primeiros programas em Python no navegador, com exemplos de saúde digital e sem exigir experiência anterior.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ounded Rectangle 13"/>
          <p:cNvSpPr/>
          <p:nvPr/>
        </p:nvSpPr>
        <p:spPr>
          <a:xfrm>
            <a:off x="900000" y="4434120"/>
            <a:ext cx="84024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" name="TextBox 14"/>
          <p:cNvSpPr/>
          <p:nvPr/>
        </p:nvSpPr>
        <p:spPr>
          <a:xfrm>
            <a:off x="1204920" y="4504320"/>
            <a:ext cx="2304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3 h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ounded Rectangle 15"/>
          <p:cNvSpPr/>
          <p:nvPr/>
        </p:nvSpPr>
        <p:spPr>
          <a:xfrm>
            <a:off x="1869120" y="4434120"/>
            <a:ext cx="1882440" cy="346320"/>
          </a:xfrm>
          <a:prstGeom prst="roundRect">
            <a:avLst>
              <a:gd name="adj" fmla="val 16667"/>
            </a:avLst>
          </a:prstGeom>
          <a:solidFill>
            <a:srgbClr val="193b78"/>
          </a:solidFill>
          <a:ln w="12700">
            <a:solidFill>
              <a:srgbClr val="193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" name="TextBox 16"/>
          <p:cNvSpPr/>
          <p:nvPr/>
        </p:nvSpPr>
        <p:spPr>
          <a:xfrm>
            <a:off x="2261520" y="4504320"/>
            <a:ext cx="10976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sem pré-requisitos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Rounded Rectangle 17"/>
          <p:cNvSpPr/>
          <p:nvPr/>
        </p:nvSpPr>
        <p:spPr>
          <a:xfrm>
            <a:off x="3899160" y="4434120"/>
            <a:ext cx="1599120" cy="346320"/>
          </a:xfrm>
          <a:prstGeom prst="roundRect">
            <a:avLst>
              <a:gd name="adj" fmla="val 16667"/>
            </a:avLst>
          </a:prstGeom>
          <a:solidFill>
            <a:srgbClr val="193b78"/>
          </a:solidFill>
          <a:ln w="12700">
            <a:solidFill>
              <a:srgbClr val="193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1" name="TextBox 18"/>
          <p:cNvSpPr/>
          <p:nvPr/>
        </p:nvSpPr>
        <p:spPr>
          <a:xfrm>
            <a:off x="4293720" y="4504320"/>
            <a:ext cx="8096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Google Colab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Rounded Rectangle 19"/>
          <p:cNvSpPr/>
          <p:nvPr/>
        </p:nvSpPr>
        <p:spPr>
          <a:xfrm>
            <a:off x="8650080" y="1627560"/>
            <a:ext cx="1873440" cy="1964880"/>
          </a:xfrm>
          <a:prstGeom prst="roundRect">
            <a:avLst>
              <a:gd name="adj" fmla="val 16667"/>
            </a:avLst>
          </a:prstGeom>
          <a:solidFill>
            <a:srgbClr val="183a78"/>
          </a:solidFill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" name="TextBox 20"/>
          <p:cNvSpPr/>
          <p:nvPr/>
        </p:nvSpPr>
        <p:spPr>
          <a:xfrm>
            <a:off x="9100440" y="2185560"/>
            <a:ext cx="97236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000" spc="-1" strike="noStrike">
                <a:solidFill>
                  <a:srgbClr val="ffffff"/>
                </a:solidFill>
                <a:latin typeface="DejaVu Sans Mono"/>
              </a:rPr>
              <a:t>&gt;&gt;&gt;_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Box 21"/>
          <p:cNvSpPr/>
          <p:nvPr/>
        </p:nvSpPr>
        <p:spPr>
          <a:xfrm>
            <a:off x="2048400" y="5197680"/>
            <a:ext cx="250560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ffffff"/>
                </a:solidFill>
                <a:latin typeface="Lato"/>
              </a:rPr>
              <a:t>Prof. Dr. Guillermo Alvarez Bestard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Box 22"/>
          <p:cNvSpPr/>
          <p:nvPr/>
        </p:nvSpPr>
        <p:spPr>
          <a:xfrm>
            <a:off x="1980000" y="5538240"/>
            <a:ext cx="29340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100" spc="-1" strike="noStrike">
                <a:solidFill>
                  <a:srgbClr val="afc0da"/>
                </a:solidFill>
                <a:latin typeface="Lato"/>
              </a:rPr>
              <a:t>Projeto Ocean · Residência em TIC 53 - Brasília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Box 23"/>
          <p:cNvSpPr/>
          <p:nvPr/>
        </p:nvSpPr>
        <p:spPr>
          <a:xfrm>
            <a:off x="1114200" y="6419160"/>
            <a:ext cx="952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afc0da"/>
                </a:solidFill>
                <a:latin typeface="Lato"/>
              </a:rPr>
              <a:t>PR-02 · Projeto Ocean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Box 24"/>
          <p:cNvSpPr/>
          <p:nvPr/>
        </p:nvSpPr>
        <p:spPr>
          <a:xfrm>
            <a:off x="1115676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afc0da"/>
                </a:solidFill>
                <a:latin typeface="Lato"/>
              </a:rPr>
              <a:t>1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0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1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2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44" name="TextBox 7"/>
          <p:cNvSpPr/>
          <p:nvPr/>
        </p:nvSpPr>
        <p:spPr>
          <a:xfrm>
            <a:off x="3498120" y="768240"/>
            <a:ext cx="4633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Você pode começar por aqui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Box 8"/>
          <p:cNvSpPr/>
          <p:nvPr/>
        </p:nvSpPr>
        <p:spPr>
          <a:xfrm>
            <a:off x="3393000" y="1307520"/>
            <a:ext cx="4788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curso foi desenhado para quem nunca programou em Python.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ounded Rectangle 11"/>
          <p:cNvSpPr/>
          <p:nvPr/>
        </p:nvSpPr>
        <p:spPr>
          <a:xfrm>
            <a:off x="1080000" y="2030040"/>
            <a:ext cx="9899640" cy="282960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" name="TextBox 13"/>
          <p:cNvSpPr/>
          <p:nvPr/>
        </p:nvSpPr>
        <p:spPr>
          <a:xfrm>
            <a:off x="1620000" y="3240000"/>
            <a:ext cx="643176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Lato"/>
              </a:rPr>
              <a:t>Os conceitos essenciais de algoritmo, variável, decisão e repetição 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Lato"/>
              </a:rPr>
              <a:t>serão apresentados novamente antes de aparecerem em código.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Box 14"/>
          <p:cNvSpPr/>
          <p:nvPr/>
        </p:nvSpPr>
        <p:spPr>
          <a:xfrm>
            <a:off x="1620000" y="2398680"/>
            <a:ext cx="612720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Se você participou do curso com Scratch, algumas ideias parecerão familiares.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Se não participou, nada ficará faltando.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ounded Rectangle 15"/>
          <p:cNvSpPr/>
          <p:nvPr/>
        </p:nvSpPr>
        <p:spPr>
          <a:xfrm>
            <a:off x="6198840" y="4153320"/>
            <a:ext cx="190080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" name="TextBox 16"/>
          <p:cNvSpPr/>
          <p:nvPr/>
        </p:nvSpPr>
        <p:spPr>
          <a:xfrm>
            <a:off x="6407640" y="4223520"/>
            <a:ext cx="14832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COMEÇAMOS DO ZERO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Rounded Rectangle 17"/>
          <p:cNvSpPr/>
          <p:nvPr/>
        </p:nvSpPr>
        <p:spPr>
          <a:xfrm>
            <a:off x="1325880" y="5248080"/>
            <a:ext cx="941724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4" name="TextBox 18"/>
          <p:cNvSpPr/>
          <p:nvPr/>
        </p:nvSpPr>
        <p:spPr>
          <a:xfrm>
            <a:off x="3246840" y="5426640"/>
            <a:ext cx="5574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O objetivo é aprender a pensar e escrever pequenos programas — não decorar sintaxe.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61" name="TextBox 7"/>
          <p:cNvSpPr/>
          <p:nvPr/>
        </p:nvSpPr>
        <p:spPr>
          <a:xfrm>
            <a:off x="3392280" y="768240"/>
            <a:ext cx="48448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Onde este curso está na trilha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2959560" y="1307520"/>
            <a:ext cx="5655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PR-02 é independente, mas prepara o terreno para dados e monitoramento.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Rounded Rectangle 11"/>
          <p:cNvSpPr/>
          <p:nvPr/>
        </p:nvSpPr>
        <p:spPr>
          <a:xfrm>
            <a:off x="960120" y="2011680"/>
            <a:ext cx="1955880" cy="2211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6" name="Rounded Rectangle 12"/>
          <p:cNvSpPr/>
          <p:nvPr/>
        </p:nvSpPr>
        <p:spPr>
          <a:xfrm>
            <a:off x="1124640" y="2176200"/>
            <a:ext cx="1187640" cy="34632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1364040" y="2246400"/>
            <a:ext cx="708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OPCIONAL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1697760" y="2688480"/>
            <a:ext cx="4802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725ac1"/>
                </a:solidFill>
                <a:latin typeface="Lato"/>
              </a:rPr>
              <a:t>PR-01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1276200" y="2999160"/>
            <a:ext cx="132300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Lógica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com Scratch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ounded Rectangle 16"/>
          <p:cNvSpPr/>
          <p:nvPr/>
        </p:nvSpPr>
        <p:spPr>
          <a:xfrm>
            <a:off x="3749040" y="2011680"/>
            <a:ext cx="1955880" cy="2211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1" name="Rounded Rectangle 17"/>
          <p:cNvSpPr/>
          <p:nvPr/>
        </p:nvSpPr>
        <p:spPr>
          <a:xfrm>
            <a:off x="3913560" y="2176200"/>
            <a:ext cx="118764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2" name="TextBox 18"/>
          <p:cNvSpPr/>
          <p:nvPr/>
        </p:nvSpPr>
        <p:spPr>
          <a:xfrm>
            <a:off x="4318920" y="2246400"/>
            <a:ext cx="3765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HOJE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4486680" y="2688480"/>
            <a:ext cx="4802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10b9f3"/>
                </a:solidFill>
                <a:latin typeface="Lato"/>
              </a:rPr>
              <a:t>PR-02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20"/>
          <p:cNvSpPr/>
          <p:nvPr/>
        </p:nvSpPr>
        <p:spPr>
          <a:xfrm>
            <a:off x="4132080" y="2999160"/>
            <a:ext cx="118908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Python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para Saúde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ounded Rectangle 21"/>
          <p:cNvSpPr/>
          <p:nvPr/>
        </p:nvSpPr>
        <p:spPr>
          <a:xfrm>
            <a:off x="6537960" y="2011680"/>
            <a:ext cx="1955880" cy="2211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6" name="Rounded Rectangle 22"/>
          <p:cNvSpPr/>
          <p:nvPr/>
        </p:nvSpPr>
        <p:spPr>
          <a:xfrm>
            <a:off x="6702480" y="2176200"/>
            <a:ext cx="118764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7" name="TextBox 23"/>
          <p:cNvSpPr/>
          <p:nvPr/>
        </p:nvSpPr>
        <p:spPr>
          <a:xfrm>
            <a:off x="6968520" y="2246400"/>
            <a:ext cx="6555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PRÓXIMO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7275600" y="2688480"/>
            <a:ext cx="4802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f36b21"/>
                </a:solidFill>
                <a:latin typeface="Lato"/>
              </a:rPr>
              <a:t>PR-03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25"/>
          <p:cNvSpPr/>
          <p:nvPr/>
        </p:nvSpPr>
        <p:spPr>
          <a:xfrm>
            <a:off x="6643080" y="2999160"/>
            <a:ext cx="174600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Dados com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Python + Pandas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ounded Rectangle 26"/>
          <p:cNvSpPr/>
          <p:nvPr/>
        </p:nvSpPr>
        <p:spPr>
          <a:xfrm>
            <a:off x="9326880" y="2011680"/>
            <a:ext cx="1955880" cy="2211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" name="Rounded Rectangle 27"/>
          <p:cNvSpPr/>
          <p:nvPr/>
        </p:nvSpPr>
        <p:spPr>
          <a:xfrm>
            <a:off x="9491400" y="2176200"/>
            <a:ext cx="1187640" cy="34632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" name="TextBox 28"/>
          <p:cNvSpPr/>
          <p:nvPr/>
        </p:nvSpPr>
        <p:spPr>
          <a:xfrm>
            <a:off x="9703080" y="2246400"/>
            <a:ext cx="7639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APLICAÇÃO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29"/>
          <p:cNvSpPr/>
          <p:nvPr/>
        </p:nvSpPr>
        <p:spPr>
          <a:xfrm>
            <a:off x="10064520" y="2688480"/>
            <a:ext cx="4802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f72585"/>
                </a:solidFill>
                <a:latin typeface="Lato"/>
              </a:rPr>
              <a:t>PR-04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30"/>
          <p:cNvSpPr/>
          <p:nvPr/>
        </p:nvSpPr>
        <p:spPr>
          <a:xfrm>
            <a:off x="9504360" y="2999160"/>
            <a:ext cx="160056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Monitoramento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em tempo real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" name="Connector 31"/>
          <p:cNvCxnSpPr/>
          <p:nvPr/>
        </p:nvCxnSpPr>
        <p:spPr>
          <a:xfrm>
            <a:off x="3126960" y="3126960"/>
            <a:ext cx="47664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86" name="Connector 32"/>
          <p:cNvCxnSpPr/>
          <p:nvPr/>
        </p:nvCxnSpPr>
        <p:spPr>
          <a:xfrm>
            <a:off x="5915880" y="3126960"/>
            <a:ext cx="47664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87" name="Connector 33"/>
          <p:cNvCxnSpPr/>
          <p:nvPr/>
        </p:nvCxnSpPr>
        <p:spPr>
          <a:xfrm>
            <a:off x="8704800" y="3126960"/>
            <a:ext cx="47664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sp>
        <p:nvSpPr>
          <p:cNvPr id="88" name="TextBox 34"/>
          <p:cNvSpPr/>
          <p:nvPr/>
        </p:nvSpPr>
        <p:spPr>
          <a:xfrm>
            <a:off x="2326680" y="4866120"/>
            <a:ext cx="758052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600" spc="-1" strike="noStrike">
                <a:solidFill>
                  <a:srgbClr val="5b6b86"/>
                </a:solidFill>
                <a:latin typeface="Lato"/>
              </a:rPr>
              <a:t>O PR-02 entrega a base textual: dados → regras → repetição → funções → registros.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1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2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3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4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95" name="TextBox 7"/>
          <p:cNvSpPr/>
          <p:nvPr/>
        </p:nvSpPr>
        <p:spPr>
          <a:xfrm>
            <a:off x="2909880" y="768240"/>
            <a:ext cx="58096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 que você será capaz de fazer hoje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1069560" y="1980000"/>
            <a:ext cx="201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10b9f3"/>
                </a:solidFill>
                <a:latin typeface="Lato"/>
              </a:rPr>
              <a:t>01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11"/>
          <p:cNvSpPr/>
          <p:nvPr/>
        </p:nvSpPr>
        <p:spPr>
          <a:xfrm>
            <a:off x="1069560" y="2284200"/>
            <a:ext cx="147708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Executar Python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9560" y="2763360"/>
            <a:ext cx="17456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Criar células no Colab,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rodar código e interpretar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saídas e erros básicos.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3060000" y="1982520"/>
            <a:ext cx="201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02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4"/>
          <p:cNvSpPr/>
          <p:nvPr/>
        </p:nvSpPr>
        <p:spPr>
          <a:xfrm>
            <a:off x="3060000" y="2284200"/>
            <a:ext cx="182448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Trabalhar com dados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15"/>
          <p:cNvSpPr/>
          <p:nvPr/>
        </p:nvSpPr>
        <p:spPr>
          <a:xfrm>
            <a:off x="3060000" y="2763360"/>
            <a:ext cx="14072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Usar variáveis, tipos,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entrada, conversões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e operadores.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6"/>
          <p:cNvSpPr/>
          <p:nvPr/>
        </p:nvSpPr>
        <p:spPr>
          <a:xfrm>
            <a:off x="5324040" y="1982520"/>
            <a:ext cx="201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f72585"/>
                </a:solidFill>
                <a:latin typeface="Lato"/>
              </a:rPr>
              <a:t>03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7"/>
          <p:cNvSpPr/>
          <p:nvPr/>
        </p:nvSpPr>
        <p:spPr>
          <a:xfrm>
            <a:off x="5324040" y="2284200"/>
            <a:ext cx="145260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Decidir e repetir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8"/>
          <p:cNvSpPr/>
          <p:nvPr/>
        </p:nvSpPr>
        <p:spPr>
          <a:xfrm>
            <a:off x="5324040" y="2763360"/>
            <a:ext cx="166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Aplicar if/elif/else, listas,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for e compreender while.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19"/>
          <p:cNvSpPr/>
          <p:nvPr/>
        </p:nvSpPr>
        <p:spPr>
          <a:xfrm>
            <a:off x="7582320" y="1982520"/>
            <a:ext cx="201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725ac1"/>
                </a:solidFill>
                <a:latin typeface="Lato"/>
              </a:rPr>
              <a:t>04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0"/>
          <p:cNvSpPr/>
          <p:nvPr/>
        </p:nvSpPr>
        <p:spPr>
          <a:xfrm>
            <a:off x="7582320" y="2284200"/>
            <a:ext cx="16736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Organizar o código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21"/>
          <p:cNvSpPr/>
          <p:nvPr/>
        </p:nvSpPr>
        <p:spPr>
          <a:xfrm>
            <a:off x="7582320" y="2763360"/>
            <a:ext cx="17319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Criar funções pequenas e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representar leituras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com dicionários.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22"/>
          <p:cNvSpPr/>
          <p:nvPr/>
        </p:nvSpPr>
        <p:spPr>
          <a:xfrm>
            <a:off x="9776880" y="1982520"/>
            <a:ext cx="201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2fb886"/>
                </a:solidFill>
                <a:latin typeface="Lato"/>
              </a:rPr>
              <a:t>05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23"/>
          <p:cNvSpPr/>
          <p:nvPr/>
        </p:nvSpPr>
        <p:spPr>
          <a:xfrm>
            <a:off x="9776880" y="2284200"/>
            <a:ext cx="14450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Testar e explicar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24"/>
          <p:cNvSpPr/>
          <p:nvPr/>
        </p:nvSpPr>
        <p:spPr>
          <a:xfrm>
            <a:off x="9776880" y="2763360"/>
            <a:ext cx="1690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Usar casos de fronteira,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localizar erros e justificar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a lógica.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25"/>
          <p:cNvSpPr/>
          <p:nvPr/>
        </p:nvSpPr>
        <p:spPr>
          <a:xfrm>
            <a:off x="1051560" y="4754880"/>
            <a:ext cx="1001160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4" name="TextBox 26"/>
          <p:cNvSpPr/>
          <p:nvPr/>
        </p:nvSpPr>
        <p:spPr>
          <a:xfrm>
            <a:off x="2683800" y="4933440"/>
            <a:ext cx="6747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Meta: terminar com um notebook que executa do início ao fim e resolve um pequeno problema aplicado.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1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1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1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2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121" name="TextBox 7"/>
          <p:cNvSpPr/>
          <p:nvPr/>
        </p:nvSpPr>
        <p:spPr>
          <a:xfrm>
            <a:off x="3476160" y="768240"/>
            <a:ext cx="46774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Como vamos usar as 3 horas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3585240" y="1307520"/>
            <a:ext cx="44046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Explicação curta → demonstração → prática → integração.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768240" y="2249280"/>
            <a:ext cx="879120" cy="54756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110412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13"/>
          <p:cNvSpPr/>
          <p:nvPr/>
        </p:nvSpPr>
        <p:spPr>
          <a:xfrm>
            <a:off x="941040" y="2871360"/>
            <a:ext cx="533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Abertura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14"/>
          <p:cNvSpPr/>
          <p:nvPr/>
        </p:nvSpPr>
        <p:spPr>
          <a:xfrm>
            <a:off x="1648080" y="2249280"/>
            <a:ext cx="585720" cy="547560"/>
          </a:xfrm>
          <a:prstGeom prst="rect">
            <a:avLst/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29" name="TextBox 15"/>
          <p:cNvSpPr/>
          <p:nvPr/>
        </p:nvSpPr>
        <p:spPr>
          <a:xfrm>
            <a:off x="183708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16"/>
          <p:cNvSpPr/>
          <p:nvPr/>
        </p:nvSpPr>
        <p:spPr>
          <a:xfrm>
            <a:off x="1760040" y="2871360"/>
            <a:ext cx="361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Colab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ectangle 17"/>
          <p:cNvSpPr/>
          <p:nvPr/>
        </p:nvSpPr>
        <p:spPr>
          <a:xfrm>
            <a:off x="2234880" y="2249280"/>
            <a:ext cx="1759320" cy="54756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2" name="TextBox 18"/>
          <p:cNvSpPr/>
          <p:nvPr/>
        </p:nvSpPr>
        <p:spPr>
          <a:xfrm>
            <a:off x="301068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19"/>
          <p:cNvSpPr/>
          <p:nvPr/>
        </p:nvSpPr>
        <p:spPr>
          <a:xfrm>
            <a:off x="2647080" y="2871360"/>
            <a:ext cx="9345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Dados + 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20"/>
          <p:cNvSpPr/>
          <p:nvPr/>
        </p:nvSpPr>
        <p:spPr>
          <a:xfrm>
            <a:off x="3995280" y="2249280"/>
            <a:ext cx="879120" cy="54756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5" name="TextBox 21"/>
          <p:cNvSpPr/>
          <p:nvPr/>
        </p:nvSpPr>
        <p:spPr>
          <a:xfrm>
            <a:off x="433116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22"/>
          <p:cNvSpPr/>
          <p:nvPr/>
        </p:nvSpPr>
        <p:spPr>
          <a:xfrm>
            <a:off x="4091760" y="2871360"/>
            <a:ext cx="6861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Operadores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23"/>
          <p:cNvSpPr/>
          <p:nvPr/>
        </p:nvSpPr>
        <p:spPr>
          <a:xfrm>
            <a:off x="4875120" y="2249280"/>
            <a:ext cx="1172520" cy="54756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8" name="TextBox 24"/>
          <p:cNvSpPr/>
          <p:nvPr/>
        </p:nvSpPr>
        <p:spPr>
          <a:xfrm>
            <a:off x="535752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20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25"/>
          <p:cNvSpPr/>
          <p:nvPr/>
        </p:nvSpPr>
        <p:spPr>
          <a:xfrm>
            <a:off x="5193000" y="2871360"/>
            <a:ext cx="536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Decisões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6"/>
          <p:cNvSpPr/>
          <p:nvPr/>
        </p:nvSpPr>
        <p:spPr>
          <a:xfrm>
            <a:off x="6048720" y="2249280"/>
            <a:ext cx="1759320" cy="547560"/>
          </a:xfrm>
          <a:prstGeom prst="rect">
            <a:avLst/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1" name="TextBox 27"/>
          <p:cNvSpPr/>
          <p:nvPr/>
        </p:nvSpPr>
        <p:spPr>
          <a:xfrm>
            <a:off x="682452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28"/>
          <p:cNvSpPr/>
          <p:nvPr/>
        </p:nvSpPr>
        <p:spPr>
          <a:xfrm>
            <a:off x="6606000" y="2871360"/>
            <a:ext cx="644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Repetições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ectangle 29"/>
          <p:cNvSpPr/>
          <p:nvPr/>
        </p:nvSpPr>
        <p:spPr>
          <a:xfrm>
            <a:off x="7809120" y="2249280"/>
            <a:ext cx="2052360" cy="547560"/>
          </a:xfrm>
          <a:prstGeom prst="rect">
            <a:avLst/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4" name="TextBox 30"/>
          <p:cNvSpPr/>
          <p:nvPr/>
        </p:nvSpPr>
        <p:spPr>
          <a:xfrm>
            <a:off x="873144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31"/>
          <p:cNvSpPr/>
          <p:nvPr/>
        </p:nvSpPr>
        <p:spPr>
          <a:xfrm>
            <a:off x="8290440" y="2871360"/>
            <a:ext cx="1089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Funções + registros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32"/>
          <p:cNvSpPr/>
          <p:nvPr/>
        </p:nvSpPr>
        <p:spPr>
          <a:xfrm>
            <a:off x="9862560" y="2249280"/>
            <a:ext cx="1465920" cy="54756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7" name="TextBox 33"/>
          <p:cNvSpPr/>
          <p:nvPr/>
        </p:nvSpPr>
        <p:spPr>
          <a:xfrm>
            <a:off x="10491840" y="2258640"/>
            <a:ext cx="207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25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34"/>
          <p:cNvSpPr/>
          <p:nvPr/>
        </p:nvSpPr>
        <p:spPr>
          <a:xfrm>
            <a:off x="9980280" y="2871360"/>
            <a:ext cx="1230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Desafio + fechamento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ounded Rectangle 35"/>
          <p:cNvSpPr/>
          <p:nvPr/>
        </p:nvSpPr>
        <p:spPr>
          <a:xfrm>
            <a:off x="1280160" y="4718160"/>
            <a:ext cx="937152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50" name="TextBox 36"/>
          <p:cNvSpPr/>
          <p:nvPr/>
        </p:nvSpPr>
        <p:spPr>
          <a:xfrm>
            <a:off x="3313080" y="4896720"/>
            <a:ext cx="5305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Mais tempo será gasto escrevendo e testando código do que ouvindo explicações.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2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53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54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55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56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157" name="TextBox 7"/>
          <p:cNvSpPr/>
          <p:nvPr/>
        </p:nvSpPr>
        <p:spPr>
          <a:xfrm>
            <a:off x="1755720" y="768240"/>
            <a:ext cx="811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Projeto condutor: um </a:t>
            </a:r>
            <a:r>
              <a:rPr b="1" i="1" lang="pt-BR" sz="2750" spc="-1" strike="noStrike">
                <a:solidFill>
                  <a:srgbClr val="071a4a"/>
                </a:solidFill>
                <a:latin typeface="Inter Display"/>
              </a:rPr>
              <a:t>wearable</a:t>
            </a: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 (vestível) simulado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Rounded Rectangle 11"/>
          <p:cNvSpPr/>
          <p:nvPr/>
        </p:nvSpPr>
        <p:spPr>
          <a:xfrm>
            <a:off x="850320" y="2030040"/>
            <a:ext cx="2321640" cy="1937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1" name="TextBox 12"/>
          <p:cNvSpPr/>
          <p:nvPr/>
        </p:nvSpPr>
        <p:spPr>
          <a:xfrm>
            <a:off x="1619280" y="2148840"/>
            <a:ext cx="783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1 · 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1026000" y="2886480"/>
            <a:ext cx="197064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uma leitura sintética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de 0 a 100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14"/>
          <p:cNvSpPr/>
          <p:nvPr/>
        </p:nvSpPr>
        <p:spPr>
          <a:xfrm>
            <a:off x="3438000" y="2030040"/>
            <a:ext cx="2321640" cy="1937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4" name="TextBox 15"/>
          <p:cNvSpPr/>
          <p:nvPr/>
        </p:nvSpPr>
        <p:spPr>
          <a:xfrm>
            <a:off x="4294800" y="2148840"/>
            <a:ext cx="6084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 · REGRA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6"/>
          <p:cNvSpPr/>
          <p:nvPr/>
        </p:nvSpPr>
        <p:spPr>
          <a:xfrm>
            <a:off x="3942720" y="2886480"/>
            <a:ext cx="131256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classificar em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A / B / 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ounded Rectangle 17"/>
          <p:cNvSpPr/>
          <p:nvPr/>
        </p:nvSpPr>
        <p:spPr>
          <a:xfrm>
            <a:off x="6026040" y="2030040"/>
            <a:ext cx="2321640" cy="1937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7" name="TextBox 18"/>
          <p:cNvSpPr/>
          <p:nvPr/>
        </p:nvSpPr>
        <p:spPr>
          <a:xfrm>
            <a:off x="6750720" y="2148840"/>
            <a:ext cx="8719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3 · REPETIÇÃO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19"/>
          <p:cNvSpPr/>
          <p:nvPr/>
        </p:nvSpPr>
        <p:spPr>
          <a:xfrm>
            <a:off x="6408360" y="2886480"/>
            <a:ext cx="155628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processar várias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leituras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ounded Rectangle 20"/>
          <p:cNvSpPr/>
          <p:nvPr/>
        </p:nvSpPr>
        <p:spPr>
          <a:xfrm>
            <a:off x="8613720" y="2030040"/>
            <a:ext cx="2321640" cy="1937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0" name="TextBox 21"/>
          <p:cNvSpPr/>
          <p:nvPr/>
        </p:nvSpPr>
        <p:spPr>
          <a:xfrm>
            <a:off x="9376560" y="2148840"/>
            <a:ext cx="7956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4 · REGISTRO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22"/>
          <p:cNvSpPr/>
          <p:nvPr/>
        </p:nvSpPr>
        <p:spPr>
          <a:xfrm>
            <a:off x="8857440" y="2886480"/>
            <a:ext cx="183348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guardar valor,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estado e qualidade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2" name="Connector 23"/>
          <p:cNvCxnSpPr/>
          <p:nvPr/>
        </p:nvCxnSpPr>
        <p:spPr>
          <a:xfrm>
            <a:off x="3182040" y="2989800"/>
            <a:ext cx="23868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173" name="Connector 24"/>
          <p:cNvCxnSpPr/>
          <p:nvPr/>
        </p:nvCxnSpPr>
        <p:spPr>
          <a:xfrm>
            <a:off x="5769720" y="2989800"/>
            <a:ext cx="23868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174" name="Connector 25"/>
          <p:cNvCxnSpPr/>
          <p:nvPr/>
        </p:nvCxnSpPr>
        <p:spPr>
          <a:xfrm>
            <a:off x="8357400" y="2989800"/>
            <a:ext cx="239040" cy="108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sp>
        <p:nvSpPr>
          <p:cNvPr id="175" name="Rounded Rectangle 26"/>
          <p:cNvSpPr/>
          <p:nvPr/>
        </p:nvSpPr>
        <p:spPr>
          <a:xfrm>
            <a:off x="1080000" y="4860000"/>
            <a:ext cx="9783000" cy="593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6" name="TextBox 27"/>
          <p:cNvSpPr/>
          <p:nvPr/>
        </p:nvSpPr>
        <p:spPr>
          <a:xfrm>
            <a:off x="3015000" y="5052600"/>
            <a:ext cx="5914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Usaremos o mesmo problema durante todo o encontro, construindo o programa por etapas.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8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79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80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81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8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183" name="TextBox 7"/>
          <p:cNvSpPr/>
          <p:nvPr/>
        </p:nvSpPr>
        <p:spPr>
          <a:xfrm>
            <a:off x="3483720" y="768240"/>
            <a:ext cx="46620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Todo programa tem um fluxo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3436560" y="1307520"/>
            <a:ext cx="47016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Antes da sintaxe, enxergue entrada → processamento → saída.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ounded Rectangle 11"/>
          <p:cNvSpPr/>
          <p:nvPr/>
        </p:nvSpPr>
        <p:spPr>
          <a:xfrm>
            <a:off x="850320" y="1993320"/>
            <a:ext cx="2376360" cy="1973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727640" y="2112120"/>
            <a:ext cx="622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307880" y="2853000"/>
            <a:ext cx="14616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valor sintético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ex.: 52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14"/>
          <p:cNvSpPr/>
          <p:nvPr/>
        </p:nvSpPr>
        <p:spPr>
          <a:xfrm>
            <a:off x="3493080" y="1993320"/>
            <a:ext cx="2376360" cy="1973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4277160" y="2112120"/>
            <a:ext cx="807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ARMAZENAR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16"/>
          <p:cNvSpPr/>
          <p:nvPr/>
        </p:nvSpPr>
        <p:spPr>
          <a:xfrm>
            <a:off x="4024080" y="2990160"/>
            <a:ext cx="131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valor_sensor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ounded Rectangle 17"/>
          <p:cNvSpPr/>
          <p:nvPr/>
        </p:nvSpPr>
        <p:spPr>
          <a:xfrm>
            <a:off x="6135480" y="1993320"/>
            <a:ext cx="2376360" cy="1973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4" name="TextBox 18"/>
          <p:cNvSpPr/>
          <p:nvPr/>
        </p:nvSpPr>
        <p:spPr>
          <a:xfrm>
            <a:off x="6952680" y="2112120"/>
            <a:ext cx="7423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PROCESSAR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9"/>
          <p:cNvSpPr/>
          <p:nvPr/>
        </p:nvSpPr>
        <p:spPr>
          <a:xfrm>
            <a:off x="6585120" y="2853000"/>
            <a:ext cx="147708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comparar com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30 e 70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20"/>
          <p:cNvSpPr/>
          <p:nvPr/>
        </p:nvSpPr>
        <p:spPr>
          <a:xfrm>
            <a:off x="8778240" y="1993320"/>
            <a:ext cx="2376360" cy="1973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7" name="TextBox 21"/>
          <p:cNvSpPr/>
          <p:nvPr/>
        </p:nvSpPr>
        <p:spPr>
          <a:xfrm>
            <a:off x="9761040" y="2112120"/>
            <a:ext cx="410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SAÍDA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22"/>
          <p:cNvSpPr/>
          <p:nvPr/>
        </p:nvSpPr>
        <p:spPr>
          <a:xfrm>
            <a:off x="9253440" y="2997720"/>
            <a:ext cx="14252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Faixa A / B / 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9" name="Connector 23"/>
          <p:cNvCxnSpPr/>
          <p:nvPr/>
        </p:nvCxnSpPr>
        <p:spPr>
          <a:xfrm>
            <a:off x="3246120" y="2980800"/>
            <a:ext cx="220320" cy="108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cxnSp>
        <p:nvCxnSpPr>
          <p:cNvPr id="200" name="Connector 24"/>
          <p:cNvCxnSpPr/>
          <p:nvPr/>
        </p:nvCxnSpPr>
        <p:spPr>
          <a:xfrm>
            <a:off x="5888520" y="2980800"/>
            <a:ext cx="220680" cy="108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cxnSp>
        <p:nvCxnSpPr>
          <p:cNvPr id="201" name="Connector 25"/>
          <p:cNvCxnSpPr/>
          <p:nvPr/>
        </p:nvCxnSpPr>
        <p:spPr>
          <a:xfrm>
            <a:off x="8531280" y="2980800"/>
            <a:ext cx="220320" cy="108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sp>
        <p:nvSpPr>
          <p:cNvPr id="202" name="TextBox 26"/>
          <p:cNvSpPr/>
          <p:nvPr/>
        </p:nvSpPr>
        <p:spPr>
          <a:xfrm>
            <a:off x="1976760" y="4554720"/>
            <a:ext cx="792360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O mesmo raciocínio vale para sensores, formulários, APIs, arquivos ou qualquer outra fonte de dados.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ounded Rectangle 1"/>
          <p:cNvSpPr/>
          <p:nvPr/>
        </p:nvSpPr>
        <p:spPr>
          <a:xfrm>
            <a:off x="1080000" y="4986000"/>
            <a:ext cx="9783000" cy="593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4" name="TextBox 2"/>
          <p:cNvSpPr/>
          <p:nvPr/>
        </p:nvSpPr>
        <p:spPr>
          <a:xfrm>
            <a:off x="3122280" y="5178240"/>
            <a:ext cx="569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As faixas 30 e 70 existem apenas para ensinar programação. Não têm significado clínico.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0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0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0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1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211" name="TextBox 7"/>
          <p:cNvSpPr/>
          <p:nvPr/>
        </p:nvSpPr>
        <p:spPr>
          <a:xfrm>
            <a:off x="3665880" y="768240"/>
            <a:ext cx="4298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Algoritmo antes do código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8"/>
          <p:cNvSpPr/>
          <p:nvPr/>
        </p:nvSpPr>
        <p:spPr>
          <a:xfrm>
            <a:off x="3023640" y="1307520"/>
            <a:ext cx="5527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Escreva a ideia em passos claros. Depois transforme os passos em Python.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ounded Rectangle 11"/>
          <p:cNvSpPr/>
          <p:nvPr/>
        </p:nvSpPr>
        <p:spPr>
          <a:xfrm>
            <a:off x="896040" y="1938600"/>
            <a:ext cx="5028120" cy="29250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16" name="TextBox 12"/>
          <p:cNvSpPr/>
          <p:nvPr/>
        </p:nvSpPr>
        <p:spPr>
          <a:xfrm>
            <a:off x="2895480" y="2048400"/>
            <a:ext cx="10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PSEUDOCÓDIGO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13"/>
          <p:cNvSpPr/>
          <p:nvPr/>
        </p:nvSpPr>
        <p:spPr>
          <a:xfrm>
            <a:off x="1919160" y="2322720"/>
            <a:ext cx="29815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exibir mensagem </a:t>
            </a:r>
            <a:r>
              <a:rPr b="0" i="1" lang="pt-BR" sz="1500" spc="-1" strike="noStrike">
                <a:solidFill>
                  <a:srgbClr val="071a4a"/>
                </a:solidFill>
                <a:latin typeface="DejaVu Sans Mono"/>
              </a:rPr>
              <a:t>Olá!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receber um valor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guardar o valor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se valor &lt; 30 → 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senão, se valor ≤ 70 → B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senão → 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mostrar o resultado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71a4a"/>
              </a:buClr>
              <a:buFont typeface="OpenSymbol"/>
              <a:buAutoNum type="arabicParenR"/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terminar execução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Rounded Rectangle 14"/>
          <p:cNvSpPr/>
          <p:nvPr/>
        </p:nvSpPr>
        <p:spPr>
          <a:xfrm>
            <a:off x="6419160" y="1938600"/>
            <a:ext cx="4662360" cy="2925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19" name="TextBox 15"/>
          <p:cNvSpPr/>
          <p:nvPr/>
        </p:nvSpPr>
        <p:spPr>
          <a:xfrm>
            <a:off x="8017560" y="2238840"/>
            <a:ext cx="1437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Pergunta para a turma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17"/>
          <p:cNvSpPr/>
          <p:nvPr/>
        </p:nvSpPr>
        <p:spPr>
          <a:xfrm>
            <a:off x="6976080" y="3600360"/>
            <a:ext cx="37746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2) E qual passo precisará se repetir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quando houver várias leituras</a:t>
            </a:r>
            <a:r>
              <a:rPr b="1" lang="pt-BR" sz="1400" spc="-1" strike="noStrike">
                <a:solidFill>
                  <a:srgbClr val="5b6b86"/>
                </a:solidFill>
                <a:latin typeface="Lato"/>
              </a:rPr>
              <a:t>?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16"/>
          <p:cNvSpPr/>
          <p:nvPr/>
        </p:nvSpPr>
        <p:spPr>
          <a:xfrm>
            <a:off x="6913440" y="2637000"/>
            <a:ext cx="39297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1) Em qual passo o programa precisa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“</a:t>
            </a: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tomar uma decisão”?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35"/>
          <p:cNvSpPr/>
          <p:nvPr/>
        </p:nvSpPr>
        <p:spPr>
          <a:xfrm>
            <a:off x="1785600" y="175320"/>
            <a:ext cx="244548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3" name="Connector 9"/>
          <p:cNvCxnSpPr/>
          <p:nvPr/>
        </p:nvCxnSpPr>
        <p:spPr>
          <a:xfrm>
            <a:off x="676440" y="484560"/>
            <a:ext cx="2387160" cy="360"/>
          </a:xfrm>
          <a:prstGeom prst="straightConnector1">
            <a:avLst/>
          </a:prstGeom>
          <a:ln w="25400">
            <a:solidFill>
              <a:srgbClr val="f72585"/>
            </a:solidFill>
          </a:ln>
        </p:spPr>
      </p:cxnSp>
      <p:cxnSp>
        <p:nvCxnSpPr>
          <p:cNvPr id="224" name="Connector 10"/>
          <p:cNvCxnSpPr/>
          <p:nvPr/>
        </p:nvCxnSpPr>
        <p:spPr>
          <a:xfrm>
            <a:off x="3063240" y="484560"/>
            <a:ext cx="1737720" cy="360"/>
          </a:xfrm>
          <a:prstGeom prst="straightConnector1">
            <a:avLst/>
          </a:prstGeom>
          <a:ln w="25400">
            <a:solidFill>
              <a:srgbClr val="f36b21"/>
            </a:solidFill>
          </a:ln>
        </p:spPr>
      </p:cxnSp>
      <p:cxnSp>
        <p:nvCxnSpPr>
          <p:cNvPr id="225" name="Connector 11"/>
          <p:cNvCxnSpPr/>
          <p:nvPr/>
        </p:nvCxnSpPr>
        <p:spPr>
          <a:xfrm>
            <a:off x="4800600" y="484560"/>
            <a:ext cx="2194920" cy="360"/>
          </a:xfrm>
          <a:prstGeom prst="straightConnector1">
            <a:avLst/>
          </a:prstGeom>
          <a:ln w="25400">
            <a:solidFill>
              <a:srgbClr val="10b9f3"/>
            </a:solidFill>
          </a:ln>
        </p:spPr>
      </p:cxnSp>
      <p:cxnSp>
        <p:nvCxnSpPr>
          <p:cNvPr id="226" name="Connector 12"/>
          <p:cNvCxnSpPr/>
          <p:nvPr/>
        </p:nvCxnSpPr>
        <p:spPr>
          <a:xfrm>
            <a:off x="6995160" y="484560"/>
            <a:ext cx="3566520" cy="360"/>
          </a:xfrm>
          <a:prstGeom prst="straightConnector1">
            <a:avLst/>
          </a:prstGeom>
          <a:ln>
            <a:solidFill>
              <a:srgbClr val="d6deea"/>
            </a:solidFill>
          </a:ln>
        </p:spPr>
      </p:cxnSp>
      <p:sp>
        <p:nvSpPr>
          <p:cNvPr id="227" name="TextBox 44"/>
          <p:cNvSpPr/>
          <p:nvPr/>
        </p:nvSpPr>
        <p:spPr>
          <a:xfrm>
            <a:off x="4123080" y="768240"/>
            <a:ext cx="3384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Como começar no Google Colab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45"/>
          <p:cNvSpPr/>
          <p:nvPr/>
        </p:nvSpPr>
        <p:spPr>
          <a:xfrm>
            <a:off x="1636560" y="1307520"/>
            <a:ext cx="8302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Abra um notebook, escreva uma instrução e execute seu primeiro código Python.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6"/>
          <p:cNvSpPr/>
          <p:nvPr/>
        </p:nvSpPr>
        <p:spPr>
          <a:xfrm>
            <a:off x="3406320" y="6419160"/>
            <a:ext cx="2587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7"/>
          <p:cNvSpPr/>
          <p:nvPr/>
        </p:nvSpPr>
        <p:spPr>
          <a:xfrm>
            <a:off x="11215800" y="6419160"/>
            <a:ext cx="1076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24"/>
          <p:cNvSpPr/>
          <p:nvPr/>
        </p:nvSpPr>
        <p:spPr>
          <a:xfrm>
            <a:off x="850320" y="1883520"/>
            <a:ext cx="5184360" cy="1069560"/>
          </a:xfrm>
          <a:prstGeom prst="roundRect">
            <a:avLst>
              <a:gd name="adj" fmla="val 16667"/>
            </a:avLst>
          </a:prstGeom>
          <a:solidFill>
            <a:srgbClr val="e8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2" name="Rounded Rectangle 29"/>
          <p:cNvSpPr/>
          <p:nvPr/>
        </p:nvSpPr>
        <p:spPr>
          <a:xfrm>
            <a:off x="978480" y="206640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a6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3" name="TextBox 48"/>
          <p:cNvSpPr/>
          <p:nvPr/>
        </p:nvSpPr>
        <p:spPr>
          <a:xfrm>
            <a:off x="1060560" y="2112120"/>
            <a:ext cx="28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1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49"/>
          <p:cNvSpPr/>
          <p:nvPr/>
        </p:nvSpPr>
        <p:spPr>
          <a:xfrm>
            <a:off x="1545480" y="2002680"/>
            <a:ext cx="42516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800" spc="-1" strike="noStrike">
                <a:solidFill>
                  <a:srgbClr val="1b4669"/>
                </a:solidFill>
                <a:latin typeface="Aptos"/>
              </a:rPr>
              <a:t>Acesse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0"/>
          <p:cNvSpPr/>
          <p:nvPr/>
        </p:nvSpPr>
        <p:spPr>
          <a:xfrm>
            <a:off x="1545480" y="2359080"/>
            <a:ext cx="4251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300" spc="-1" strike="noStrike">
                <a:solidFill>
                  <a:srgbClr val="374e5f"/>
                </a:solidFill>
                <a:latin typeface="Aptos"/>
              </a:rPr>
              <a:t>https://</a:t>
            </a:r>
            <a:r>
              <a:rPr b="0" lang="pt-BR" sz="1300" spc="-1" strike="noStrike">
                <a:solidFill>
                  <a:srgbClr val="374e5f"/>
                </a:solidFill>
                <a:latin typeface="Aptos"/>
              </a:rPr>
              <a:t>colab.research.google.com/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ounded Rectangle 30"/>
          <p:cNvSpPr/>
          <p:nvPr/>
        </p:nvSpPr>
        <p:spPr>
          <a:xfrm>
            <a:off x="6336720" y="1883520"/>
            <a:ext cx="5184360" cy="1069560"/>
          </a:xfrm>
          <a:prstGeom prst="roundRect">
            <a:avLst>
              <a:gd name="adj" fmla="val 16667"/>
            </a:avLst>
          </a:prstGeom>
          <a:solidFill>
            <a:srgbClr val="e8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7" name="Rounded Rectangle 31"/>
          <p:cNvSpPr/>
          <p:nvPr/>
        </p:nvSpPr>
        <p:spPr>
          <a:xfrm>
            <a:off x="6464880" y="206640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a6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8" name="TextBox 51"/>
          <p:cNvSpPr/>
          <p:nvPr/>
        </p:nvSpPr>
        <p:spPr>
          <a:xfrm>
            <a:off x="6546960" y="2112120"/>
            <a:ext cx="28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2"/>
          <p:cNvSpPr/>
          <p:nvPr/>
        </p:nvSpPr>
        <p:spPr>
          <a:xfrm>
            <a:off x="7031880" y="2002680"/>
            <a:ext cx="42516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800" spc="-1" strike="noStrike">
                <a:solidFill>
                  <a:srgbClr val="1b4669"/>
                </a:solidFill>
                <a:latin typeface="Aptos"/>
              </a:rPr>
              <a:t>Entre com sua conta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3"/>
          <p:cNvSpPr/>
          <p:nvPr/>
        </p:nvSpPr>
        <p:spPr>
          <a:xfrm>
            <a:off x="7031880" y="2359080"/>
            <a:ext cx="4251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300" spc="-1" strike="noStrike">
                <a:solidFill>
                  <a:srgbClr val="374e5f"/>
                </a:solidFill>
                <a:latin typeface="Aptos"/>
              </a:rPr>
              <a:t>Faça login com uma conta Google.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32"/>
          <p:cNvSpPr/>
          <p:nvPr/>
        </p:nvSpPr>
        <p:spPr>
          <a:xfrm>
            <a:off x="850320" y="3117960"/>
            <a:ext cx="5184360" cy="1069560"/>
          </a:xfrm>
          <a:prstGeom prst="roundRect">
            <a:avLst>
              <a:gd name="adj" fmla="val 16667"/>
            </a:avLst>
          </a:prstGeom>
          <a:solidFill>
            <a:srgbClr val="e8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42" name="Rounded Rectangle 33"/>
          <p:cNvSpPr/>
          <p:nvPr/>
        </p:nvSpPr>
        <p:spPr>
          <a:xfrm>
            <a:off x="978480" y="330084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a6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43" name="TextBox 54"/>
          <p:cNvSpPr/>
          <p:nvPr/>
        </p:nvSpPr>
        <p:spPr>
          <a:xfrm>
            <a:off x="1060560" y="3346560"/>
            <a:ext cx="28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55"/>
          <p:cNvSpPr/>
          <p:nvPr/>
        </p:nvSpPr>
        <p:spPr>
          <a:xfrm>
            <a:off x="1545480" y="3237120"/>
            <a:ext cx="42516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800" spc="-1" strike="noStrike">
                <a:solidFill>
                  <a:srgbClr val="1b4669"/>
                </a:solidFill>
                <a:latin typeface="Aptos"/>
              </a:rPr>
              <a:t>Crie o notebook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56"/>
          <p:cNvSpPr/>
          <p:nvPr/>
        </p:nvSpPr>
        <p:spPr>
          <a:xfrm>
            <a:off x="1545480" y="3593520"/>
            <a:ext cx="425160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300" spc="-1" strike="noStrike">
                <a:solidFill>
                  <a:srgbClr val="374e5f"/>
                </a:solidFill>
                <a:latin typeface="Aptos"/>
              </a:rPr>
              <a:t>Clique em “Novo notebook” (ou Arquivo → Novo notebook).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ounded Rectangle 34"/>
          <p:cNvSpPr/>
          <p:nvPr/>
        </p:nvSpPr>
        <p:spPr>
          <a:xfrm>
            <a:off x="6336720" y="3117960"/>
            <a:ext cx="5184360" cy="1069560"/>
          </a:xfrm>
          <a:prstGeom prst="roundRect">
            <a:avLst>
              <a:gd name="adj" fmla="val 16667"/>
            </a:avLst>
          </a:prstGeom>
          <a:solidFill>
            <a:srgbClr val="e8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47" name="Rounded Rectangle 36"/>
          <p:cNvSpPr/>
          <p:nvPr/>
        </p:nvSpPr>
        <p:spPr>
          <a:xfrm>
            <a:off x="6464880" y="330084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a6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48" name="TextBox 57"/>
          <p:cNvSpPr/>
          <p:nvPr/>
        </p:nvSpPr>
        <p:spPr>
          <a:xfrm>
            <a:off x="6546960" y="3346560"/>
            <a:ext cx="2829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400" spc="-1" strike="noStrike">
                <a:solidFill>
                  <a:srgbClr val="ffffff"/>
                </a:solidFill>
                <a:latin typeface="Aptos"/>
              </a:rPr>
              <a:t>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8"/>
          <p:cNvSpPr/>
          <p:nvPr/>
        </p:nvSpPr>
        <p:spPr>
          <a:xfrm>
            <a:off x="7031880" y="3237120"/>
            <a:ext cx="42516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800" spc="-1" strike="noStrike">
                <a:solidFill>
                  <a:srgbClr val="1b4669"/>
                </a:solidFill>
                <a:latin typeface="Aptos"/>
              </a:rPr>
              <a:t>Digite e execute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59"/>
          <p:cNvSpPr/>
          <p:nvPr/>
        </p:nvSpPr>
        <p:spPr>
          <a:xfrm>
            <a:off x="7031880" y="3593520"/>
            <a:ext cx="425160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300" spc="-1" strike="noStrike">
                <a:solidFill>
                  <a:srgbClr val="374e5f"/>
                </a:solidFill>
                <a:latin typeface="Aptos"/>
              </a:rPr>
              <a:t>Na primeira célula, escreva o código e clique em ▶ ou use Shift + Enter.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37"/>
          <p:cNvSpPr/>
          <p:nvPr/>
        </p:nvSpPr>
        <p:spPr>
          <a:xfrm>
            <a:off x="859680" y="4498920"/>
            <a:ext cx="10643400" cy="987120"/>
          </a:xfrm>
          <a:prstGeom prst="roundRect">
            <a:avLst>
              <a:gd name="adj" fmla="val 16667"/>
            </a:avLst>
          </a:prstGeom>
          <a:solidFill>
            <a:srgbClr val="f1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52" name="TextBox 60"/>
          <p:cNvSpPr/>
          <p:nvPr/>
        </p:nvSpPr>
        <p:spPr>
          <a:xfrm>
            <a:off x="1088280" y="4636080"/>
            <a:ext cx="384012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300" spc="-1" strike="noStrike">
                <a:solidFill>
                  <a:srgbClr val="1a6f9f"/>
                </a:solidFill>
                <a:latin typeface="Aptos"/>
              </a:rPr>
              <a:t>PRIMEIRO CÓDIGO PYTHON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61"/>
          <p:cNvSpPr/>
          <p:nvPr/>
        </p:nvSpPr>
        <p:spPr>
          <a:xfrm>
            <a:off x="1088280" y="4965120"/>
            <a:ext cx="5486040" cy="3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900" spc="-1" strike="noStrike">
                <a:solidFill>
                  <a:srgbClr val="1b4669"/>
                </a:solidFill>
                <a:latin typeface="Consolas"/>
              </a:rPr>
              <a:t>print("Olá, saúde digital!")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62"/>
          <p:cNvSpPr/>
          <p:nvPr/>
        </p:nvSpPr>
        <p:spPr>
          <a:xfrm>
            <a:off x="7369920" y="4709160"/>
            <a:ext cx="374868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pt-BR" sz="1200" spc="-1" strike="noStrike">
                <a:solidFill>
                  <a:srgbClr val="168273"/>
                </a:solidFill>
                <a:latin typeface="Aptos"/>
              </a:rPr>
              <a:t>SAÍDA ESPERADA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63"/>
          <p:cNvSpPr/>
          <p:nvPr/>
        </p:nvSpPr>
        <p:spPr>
          <a:xfrm>
            <a:off x="7369920" y="5020200"/>
            <a:ext cx="374868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600" spc="-1" strike="noStrike">
                <a:solidFill>
                  <a:srgbClr val="1b4669"/>
                </a:solidFill>
                <a:latin typeface="Aptos"/>
              </a:rPr>
              <a:t>Olá, saúde digital!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64"/>
          <p:cNvSpPr/>
          <p:nvPr/>
        </p:nvSpPr>
        <p:spPr>
          <a:xfrm>
            <a:off x="951120" y="5687640"/>
            <a:ext cx="104238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pt-BR" sz="1300" spc="-1" strike="noStrike">
                <a:solidFill>
                  <a:srgbClr val="495b66"/>
                </a:solidFill>
                <a:latin typeface="Aptos"/>
              </a:rPr>
              <a:t>Dica: renomeie o notebook no canto superior esquerdo (ex.: PR02_Primeiro_Programa).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58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59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60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61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6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263" name="TextBox 7"/>
          <p:cNvSpPr/>
          <p:nvPr/>
        </p:nvSpPr>
        <p:spPr>
          <a:xfrm>
            <a:off x="2907000" y="768240"/>
            <a:ext cx="5815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Google Colab: Python no navegador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"/>
          <p:cNvSpPr/>
          <p:nvPr/>
        </p:nvSpPr>
        <p:spPr>
          <a:xfrm>
            <a:off x="3677400" y="1307520"/>
            <a:ext cx="4220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Não precisamos instalar Python para acompanhar a aula.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10"/>
          <p:cNvSpPr/>
          <p:nvPr/>
        </p:nvSpPr>
        <p:spPr>
          <a:xfrm>
            <a:off x="11215800" y="6419160"/>
            <a:ext cx="106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ounded Rectangle 11"/>
          <p:cNvSpPr/>
          <p:nvPr/>
        </p:nvSpPr>
        <p:spPr>
          <a:xfrm>
            <a:off x="868680" y="1847160"/>
            <a:ext cx="6811200" cy="334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68" name="Rounded Rectangle 12"/>
          <p:cNvSpPr/>
          <p:nvPr/>
        </p:nvSpPr>
        <p:spPr>
          <a:xfrm>
            <a:off x="868680" y="1847160"/>
            <a:ext cx="6811200" cy="419400"/>
          </a:xfrm>
          <a:prstGeom prst="roundRect">
            <a:avLst>
              <a:gd name="adj" fmla="val 16667"/>
            </a:avLst>
          </a:prstGeom>
          <a:solidFill>
            <a:srgbClr val="eef3f9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69" name="Oval 13"/>
          <p:cNvSpPr/>
          <p:nvPr/>
        </p:nvSpPr>
        <p:spPr>
          <a:xfrm>
            <a:off x="1078920" y="1974960"/>
            <a:ext cx="90360" cy="9036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0" name="Oval 14"/>
          <p:cNvSpPr/>
          <p:nvPr/>
        </p:nvSpPr>
        <p:spPr>
          <a:xfrm>
            <a:off x="1316880" y="1974960"/>
            <a:ext cx="90360" cy="90360"/>
          </a:xfrm>
          <a:prstGeom prst="ellipse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1" name="Oval 15"/>
          <p:cNvSpPr/>
          <p:nvPr/>
        </p:nvSpPr>
        <p:spPr>
          <a:xfrm>
            <a:off x="1554480" y="1974960"/>
            <a:ext cx="90360" cy="90360"/>
          </a:xfrm>
          <a:prstGeom prst="ellipse">
            <a:avLst/>
          </a:prstGeom>
          <a:solidFill>
            <a:srgbClr val="2fb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2" name="TextBox 16"/>
          <p:cNvSpPr/>
          <p:nvPr/>
        </p:nvSpPr>
        <p:spPr>
          <a:xfrm>
            <a:off x="2665440" y="2592360"/>
            <a:ext cx="28062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▶  </a:t>
            </a: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print("Olá, Python!")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17"/>
          <p:cNvSpPr/>
          <p:nvPr/>
        </p:nvSpPr>
        <p:spPr>
          <a:xfrm>
            <a:off x="1078920" y="3127320"/>
            <a:ext cx="6354000" cy="10778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4" name="TextBox 18"/>
          <p:cNvSpPr/>
          <p:nvPr/>
        </p:nvSpPr>
        <p:spPr>
          <a:xfrm>
            <a:off x="3535560" y="3415680"/>
            <a:ext cx="1431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Olá, Python!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9"/>
          <p:cNvSpPr/>
          <p:nvPr/>
        </p:nvSpPr>
        <p:spPr>
          <a:xfrm>
            <a:off x="7133760" y="2583000"/>
            <a:ext cx="12384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900" spc="-1" strike="noStrike">
                <a:solidFill>
                  <a:srgbClr val="91a0b6"/>
                </a:solidFill>
                <a:latin typeface="DejaVu Sans Mono"/>
              </a:rPr>
              <a:t>1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20"/>
          <p:cNvSpPr/>
          <p:nvPr/>
        </p:nvSpPr>
        <p:spPr>
          <a:xfrm>
            <a:off x="8091720" y="1993320"/>
            <a:ext cx="164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21"/>
          <p:cNvSpPr/>
          <p:nvPr/>
        </p:nvSpPr>
        <p:spPr>
          <a:xfrm>
            <a:off x="8102520" y="1993320"/>
            <a:ext cx="2997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Cada célula pode conter código ou 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22"/>
          <p:cNvSpPr/>
          <p:nvPr/>
        </p:nvSpPr>
        <p:spPr>
          <a:xfrm>
            <a:off x="8091720" y="2633400"/>
            <a:ext cx="164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3"/>
          <p:cNvSpPr/>
          <p:nvPr/>
        </p:nvSpPr>
        <p:spPr>
          <a:xfrm>
            <a:off x="8662320" y="2633400"/>
            <a:ext cx="1876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▶ </a:t>
            </a: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executa a célula atual.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24"/>
          <p:cNvSpPr/>
          <p:nvPr/>
        </p:nvSpPr>
        <p:spPr>
          <a:xfrm>
            <a:off x="8091720" y="3273480"/>
            <a:ext cx="164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25"/>
          <p:cNvSpPr/>
          <p:nvPr/>
        </p:nvSpPr>
        <p:spPr>
          <a:xfrm>
            <a:off x="8563320" y="3273480"/>
            <a:ext cx="2074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A saída aparece logo abaixo.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6"/>
          <p:cNvSpPr/>
          <p:nvPr/>
        </p:nvSpPr>
        <p:spPr>
          <a:xfrm>
            <a:off x="8091720" y="3913560"/>
            <a:ext cx="164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27"/>
          <p:cNvSpPr/>
          <p:nvPr/>
        </p:nvSpPr>
        <p:spPr>
          <a:xfrm>
            <a:off x="8476560" y="3913560"/>
            <a:ext cx="22482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A ordem de execução importa.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Rounded Rectangle 28"/>
          <p:cNvSpPr/>
          <p:nvPr/>
        </p:nvSpPr>
        <p:spPr>
          <a:xfrm>
            <a:off x="8101440" y="4727520"/>
            <a:ext cx="260496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85" name="TextBox 29"/>
          <p:cNvSpPr/>
          <p:nvPr/>
        </p:nvSpPr>
        <p:spPr>
          <a:xfrm>
            <a:off x="8635680" y="4797720"/>
            <a:ext cx="1536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colab.research.google.com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8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8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9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9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292" name="TextBox 7"/>
          <p:cNvSpPr/>
          <p:nvPr/>
        </p:nvSpPr>
        <p:spPr>
          <a:xfrm>
            <a:off x="4286160" y="768240"/>
            <a:ext cx="30574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Primeiro programa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8"/>
          <p:cNvSpPr/>
          <p:nvPr/>
        </p:nvSpPr>
        <p:spPr>
          <a:xfrm>
            <a:off x="4244400" y="1307520"/>
            <a:ext cx="3086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print() envia uma mensagem para a saída.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ounded Rectangle 11"/>
          <p:cNvSpPr/>
          <p:nvPr/>
        </p:nvSpPr>
        <p:spPr>
          <a:xfrm>
            <a:off x="1005840" y="2422080"/>
            <a:ext cx="5485320" cy="21020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7" name="TextBox 12"/>
          <p:cNvSpPr/>
          <p:nvPr/>
        </p:nvSpPr>
        <p:spPr>
          <a:xfrm>
            <a:off x="3233880" y="2531880"/>
            <a:ext cx="10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CÉLULA PYTHON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3"/>
          <p:cNvSpPr/>
          <p:nvPr/>
        </p:nvSpPr>
        <p:spPr>
          <a:xfrm>
            <a:off x="1982880" y="3060000"/>
            <a:ext cx="341712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DejaVu Sans Mono"/>
              </a:rPr>
              <a:t>print("Olá, saúde digital!")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DejaVu Sans Mono"/>
              </a:rPr>
              <a:t>print(2 + 3)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ounded Rectangle 14"/>
          <p:cNvSpPr/>
          <p:nvPr/>
        </p:nvSpPr>
        <p:spPr>
          <a:xfrm>
            <a:off x="1005840" y="4635000"/>
            <a:ext cx="548532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00" name="TextBox 15"/>
          <p:cNvSpPr/>
          <p:nvPr/>
        </p:nvSpPr>
        <p:spPr>
          <a:xfrm>
            <a:off x="1289520" y="470808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6"/>
          <p:cNvSpPr/>
          <p:nvPr/>
        </p:nvSpPr>
        <p:spPr>
          <a:xfrm>
            <a:off x="3211200" y="4689720"/>
            <a:ext cx="1797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Olá, saúde digital!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17"/>
          <p:cNvSpPr/>
          <p:nvPr/>
        </p:nvSpPr>
        <p:spPr>
          <a:xfrm>
            <a:off x="6903720" y="2422080"/>
            <a:ext cx="4159440" cy="2723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8336520" y="2694960"/>
            <a:ext cx="1284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Experimento rápido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7164360" y="3135240"/>
            <a:ext cx="17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0"/>
          <p:cNvSpPr/>
          <p:nvPr/>
        </p:nvSpPr>
        <p:spPr>
          <a:xfrm>
            <a:off x="8178480" y="3135240"/>
            <a:ext cx="1655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Troque a mensagem.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1"/>
          <p:cNvSpPr/>
          <p:nvPr/>
        </p:nvSpPr>
        <p:spPr>
          <a:xfrm>
            <a:off x="7164360" y="3702240"/>
            <a:ext cx="17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2"/>
          <p:cNvSpPr/>
          <p:nvPr/>
        </p:nvSpPr>
        <p:spPr>
          <a:xfrm>
            <a:off x="7668000" y="3702240"/>
            <a:ext cx="26762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Mude 2 + 3 para outra expressão.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3"/>
          <p:cNvSpPr/>
          <p:nvPr/>
        </p:nvSpPr>
        <p:spPr>
          <a:xfrm>
            <a:off x="7164360" y="4269240"/>
            <a:ext cx="17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4"/>
          <p:cNvSpPr/>
          <p:nvPr/>
        </p:nvSpPr>
        <p:spPr>
          <a:xfrm>
            <a:off x="8186040" y="4269240"/>
            <a:ext cx="164016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Execute novamente.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5"/>
          <p:cNvSpPr/>
          <p:nvPr/>
        </p:nvSpPr>
        <p:spPr>
          <a:xfrm>
            <a:off x="7679520" y="4722120"/>
            <a:ext cx="25254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Código → execução → saída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3"/>
          <p:cNvSpPr/>
          <p:nvPr/>
        </p:nvSpPr>
        <p:spPr>
          <a:xfrm>
            <a:off x="1409760" y="1980000"/>
            <a:ext cx="48639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ff0000"/>
                </a:solidFill>
                <a:latin typeface="Lato"/>
              </a:rPr>
              <a:t>Adicione um novo bloco de código para cada exemplo.</a:t>
            </a:r>
            <a:endParaRPr b="0" lang="pt-BR" sz="1600" spc="-1" strike="noStrike">
              <a:solidFill>
                <a:srgbClr val="ff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3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14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15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16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1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318" name="TextBox 7"/>
          <p:cNvSpPr/>
          <p:nvPr/>
        </p:nvSpPr>
        <p:spPr>
          <a:xfrm>
            <a:off x="3144600" y="768240"/>
            <a:ext cx="5340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Comentários e erros fazem parte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3591360" y="1307520"/>
            <a:ext cx="43923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Ler a mensagem de erro é uma habilidade de programação.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ounded Rectangle 11"/>
          <p:cNvSpPr/>
          <p:nvPr/>
        </p:nvSpPr>
        <p:spPr>
          <a:xfrm>
            <a:off x="900000" y="2340000"/>
            <a:ext cx="5988240" cy="2467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3250800" y="2449800"/>
            <a:ext cx="1286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EXEMPLO COM ERRO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13"/>
          <p:cNvSpPr/>
          <p:nvPr/>
        </p:nvSpPr>
        <p:spPr>
          <a:xfrm>
            <a:off x="2537280" y="3139920"/>
            <a:ext cx="268272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# isto é um comentário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print("Leitura recebida")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print(valor_inexistente)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14"/>
          <p:cNvSpPr/>
          <p:nvPr/>
        </p:nvSpPr>
        <p:spPr>
          <a:xfrm>
            <a:off x="900000" y="4918680"/>
            <a:ext cx="598824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1183320" y="499176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1933920" y="4973400"/>
            <a:ext cx="4642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NameError: name 'valor_inexistente' is not defined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17"/>
          <p:cNvSpPr/>
          <p:nvPr/>
        </p:nvSpPr>
        <p:spPr>
          <a:xfrm>
            <a:off x="7218360" y="2340000"/>
            <a:ext cx="3821040" cy="1004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29" name="TextBox 18"/>
          <p:cNvSpPr/>
          <p:nvPr/>
        </p:nvSpPr>
        <p:spPr>
          <a:xfrm>
            <a:off x="9066600" y="2458800"/>
            <a:ext cx="123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19"/>
          <p:cNvSpPr/>
          <p:nvPr/>
        </p:nvSpPr>
        <p:spPr>
          <a:xfrm>
            <a:off x="8174520" y="2890080"/>
            <a:ext cx="19083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Leia a última linha do erro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ounded Rectangle 20"/>
          <p:cNvSpPr/>
          <p:nvPr/>
        </p:nvSpPr>
        <p:spPr>
          <a:xfrm>
            <a:off x="7218360" y="3510360"/>
            <a:ext cx="3821040" cy="1004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9066600" y="3629160"/>
            <a:ext cx="123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2"/>
          <p:cNvSpPr/>
          <p:nvPr/>
        </p:nvSpPr>
        <p:spPr>
          <a:xfrm>
            <a:off x="8241480" y="4060440"/>
            <a:ext cx="17740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Localize a linha indicada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ounded Rectangle 23"/>
          <p:cNvSpPr/>
          <p:nvPr/>
        </p:nvSpPr>
        <p:spPr>
          <a:xfrm>
            <a:off x="7218360" y="4680720"/>
            <a:ext cx="3821040" cy="1004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9066600" y="4799880"/>
            <a:ext cx="123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3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25"/>
          <p:cNvSpPr/>
          <p:nvPr/>
        </p:nvSpPr>
        <p:spPr>
          <a:xfrm>
            <a:off x="7956720" y="5132160"/>
            <a:ext cx="234504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Corrija uma coisa por vez</a:t>
            </a:r>
            <a:br>
              <a:rPr sz="1300"/>
            </a:b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(será corrigido no próximo slide)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37"/>
          <p:cNvSpPr/>
          <p:nvPr/>
        </p:nvSpPr>
        <p:spPr>
          <a:xfrm>
            <a:off x="2572200" y="1980000"/>
            <a:ext cx="25354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Adicione um novo bloco de código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39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40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41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42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4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344" name="TextBox 7"/>
          <p:cNvSpPr/>
          <p:nvPr/>
        </p:nvSpPr>
        <p:spPr>
          <a:xfrm>
            <a:off x="3403080" y="768240"/>
            <a:ext cx="4823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Variáveis: nomes para valores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3169800" y="1307520"/>
            <a:ext cx="52351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variável guarda um valor que pode ser consultado ou substituído.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Rounded Rectangle 11"/>
          <p:cNvSpPr/>
          <p:nvPr/>
        </p:nvSpPr>
        <p:spPr>
          <a:xfrm>
            <a:off x="967680" y="2419920"/>
            <a:ext cx="3930840" cy="239472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1230480" y="3666960"/>
            <a:ext cx="1431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DejaVu Sans Mono"/>
              </a:rPr>
              <a:t>valor_sensor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3495240" y="3477960"/>
            <a:ext cx="569520" cy="5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400" spc="-1" strike="noStrike">
                <a:solidFill>
                  <a:srgbClr val="071a4a"/>
                </a:solidFill>
                <a:latin typeface="Inter Display"/>
              </a:rPr>
              <a:t>52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14"/>
          <p:cNvSpPr/>
          <p:nvPr/>
        </p:nvSpPr>
        <p:spPr>
          <a:xfrm>
            <a:off x="1620000" y="3213360"/>
            <a:ext cx="3675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000" spc="-1" strike="noStrike">
                <a:solidFill>
                  <a:srgbClr val="5b6b86"/>
                </a:solidFill>
                <a:latin typeface="Lato"/>
              </a:rPr>
              <a:t>nome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15"/>
          <p:cNvSpPr/>
          <p:nvPr/>
        </p:nvSpPr>
        <p:spPr>
          <a:xfrm>
            <a:off x="3630600" y="3213360"/>
            <a:ext cx="3294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000" spc="-1" strike="noStrike">
                <a:solidFill>
                  <a:srgbClr val="5b6b86"/>
                </a:solidFill>
                <a:latin typeface="Lato"/>
              </a:rPr>
              <a:t>valor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16"/>
          <p:cNvSpPr/>
          <p:nvPr/>
        </p:nvSpPr>
        <p:spPr>
          <a:xfrm>
            <a:off x="5329440" y="2419920"/>
            <a:ext cx="5649840" cy="239472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7765560" y="2529720"/>
            <a:ext cx="7776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ATRIBUIÇÃO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18"/>
          <p:cNvSpPr/>
          <p:nvPr/>
        </p:nvSpPr>
        <p:spPr>
          <a:xfrm>
            <a:off x="7065360" y="2997360"/>
            <a:ext cx="21780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valor_sensor = 52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valor_sensor = 78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Rounded Rectangle 19"/>
          <p:cNvSpPr/>
          <p:nvPr/>
        </p:nvSpPr>
        <p:spPr>
          <a:xfrm>
            <a:off x="5329440" y="4925520"/>
            <a:ext cx="564984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5613120" y="499860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21"/>
          <p:cNvSpPr/>
          <p:nvPr/>
        </p:nvSpPr>
        <p:spPr>
          <a:xfrm>
            <a:off x="8396640" y="4980240"/>
            <a:ext cx="23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78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22"/>
          <p:cNvSpPr/>
          <p:nvPr/>
        </p:nvSpPr>
        <p:spPr>
          <a:xfrm>
            <a:off x="3260520" y="5760000"/>
            <a:ext cx="48387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O nome permanece. O valor pode mudar durante a execução.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61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62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63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64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6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366" name="TextBox 7"/>
          <p:cNvSpPr/>
          <p:nvPr/>
        </p:nvSpPr>
        <p:spPr>
          <a:xfrm>
            <a:off x="4675680" y="768240"/>
            <a:ext cx="2278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Tipos básicos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8"/>
          <p:cNvSpPr/>
          <p:nvPr/>
        </p:nvSpPr>
        <p:spPr>
          <a:xfrm>
            <a:off x="3599640" y="1307520"/>
            <a:ext cx="4375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tipo do valor influencia as operações que fazem sentido.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Rounded Rectangle 11"/>
          <p:cNvSpPr/>
          <p:nvPr/>
        </p:nvSpPr>
        <p:spPr>
          <a:xfrm>
            <a:off x="868680" y="1938600"/>
            <a:ext cx="2422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71" name="TextBox 12"/>
          <p:cNvSpPr/>
          <p:nvPr/>
        </p:nvSpPr>
        <p:spPr>
          <a:xfrm>
            <a:off x="1951920" y="2057400"/>
            <a:ext cx="254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INT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13"/>
          <p:cNvSpPr/>
          <p:nvPr/>
        </p:nvSpPr>
        <p:spPr>
          <a:xfrm>
            <a:off x="1314360" y="2885040"/>
            <a:ext cx="15303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52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número inteiro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14"/>
          <p:cNvSpPr/>
          <p:nvPr/>
        </p:nvSpPr>
        <p:spPr>
          <a:xfrm>
            <a:off x="3438000" y="1938600"/>
            <a:ext cx="2422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74" name="TextBox 15"/>
          <p:cNvSpPr/>
          <p:nvPr/>
        </p:nvSpPr>
        <p:spPr>
          <a:xfrm>
            <a:off x="4437360" y="2057400"/>
            <a:ext cx="423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FLOAT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16"/>
          <p:cNvSpPr/>
          <p:nvPr/>
        </p:nvSpPr>
        <p:spPr>
          <a:xfrm>
            <a:off x="3630240" y="2792880"/>
            <a:ext cx="203868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52.5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número decimal</a:t>
            </a:r>
            <a:br>
              <a:rPr sz="1800"/>
            </a:br>
            <a:r>
              <a:rPr b="0" lang="pt-BR" sz="1200" spc="-1" strike="noStrike">
                <a:solidFill>
                  <a:srgbClr val="071a4a"/>
                </a:solidFill>
                <a:latin typeface="Lato"/>
              </a:rPr>
              <a:t>(observe o separador decimal)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ounded Rectangle 17"/>
          <p:cNvSpPr/>
          <p:nvPr/>
        </p:nvSpPr>
        <p:spPr>
          <a:xfrm>
            <a:off x="6007680" y="1938600"/>
            <a:ext cx="2422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77" name="TextBox 18"/>
          <p:cNvSpPr/>
          <p:nvPr/>
        </p:nvSpPr>
        <p:spPr>
          <a:xfrm>
            <a:off x="7083360" y="2057400"/>
            <a:ext cx="2700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STR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19"/>
          <p:cNvSpPr/>
          <p:nvPr/>
        </p:nvSpPr>
        <p:spPr>
          <a:xfrm>
            <a:off x="6928920" y="2885040"/>
            <a:ext cx="579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"OK"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texto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20"/>
          <p:cNvSpPr/>
          <p:nvPr/>
        </p:nvSpPr>
        <p:spPr>
          <a:xfrm>
            <a:off x="8577000" y="1938600"/>
            <a:ext cx="2422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0" name="TextBox 21"/>
          <p:cNvSpPr/>
          <p:nvPr/>
        </p:nvSpPr>
        <p:spPr>
          <a:xfrm>
            <a:off x="9592920" y="2057400"/>
            <a:ext cx="390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BOOL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22"/>
          <p:cNvSpPr/>
          <p:nvPr/>
        </p:nvSpPr>
        <p:spPr>
          <a:xfrm>
            <a:off x="9180000" y="2885040"/>
            <a:ext cx="12164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True / False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lógico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ounded Rectangle 23"/>
          <p:cNvSpPr/>
          <p:nvPr/>
        </p:nvSpPr>
        <p:spPr>
          <a:xfrm>
            <a:off x="3383280" y="4572000"/>
            <a:ext cx="5256720" cy="8586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3" name="TextBox 24"/>
          <p:cNvSpPr/>
          <p:nvPr/>
        </p:nvSpPr>
        <p:spPr>
          <a:xfrm>
            <a:off x="5119920" y="4736520"/>
            <a:ext cx="1783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DejaVu Sans Mono"/>
              </a:rPr>
              <a:t>valor = 52.5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DejaVu Sans Mono"/>
              </a:rPr>
              <a:t>print(</a:t>
            </a:r>
            <a:r>
              <a:rPr b="1" lang="pt-BR" sz="1300" spc="-1" strike="noStrike">
                <a:solidFill>
                  <a:srgbClr val="bf0041"/>
                </a:solidFill>
                <a:latin typeface="DejaVu Sans Mono"/>
              </a:rPr>
              <a:t>type</a:t>
            </a:r>
            <a:r>
              <a:rPr b="0" lang="pt-BR" sz="1300" spc="-1" strike="noStrike">
                <a:solidFill>
                  <a:srgbClr val="071a4a"/>
                </a:solidFill>
                <a:latin typeface="DejaVu Sans Mono"/>
              </a:rPr>
              <a:t>(valor))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25"/>
          <p:cNvSpPr/>
          <p:nvPr/>
        </p:nvSpPr>
        <p:spPr>
          <a:xfrm>
            <a:off x="3383280" y="5541120"/>
            <a:ext cx="525672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5" name="TextBox 26"/>
          <p:cNvSpPr/>
          <p:nvPr/>
        </p:nvSpPr>
        <p:spPr>
          <a:xfrm>
            <a:off x="3666960" y="561456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27"/>
          <p:cNvSpPr/>
          <p:nvPr/>
        </p:nvSpPr>
        <p:spPr>
          <a:xfrm>
            <a:off x="5657040" y="5596200"/>
            <a:ext cx="1431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'float'&gt;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88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89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90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91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9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393" name="TextBox 7"/>
          <p:cNvSpPr/>
          <p:nvPr/>
        </p:nvSpPr>
        <p:spPr>
          <a:xfrm>
            <a:off x="4289760" y="768240"/>
            <a:ext cx="30499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type() e conversão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8"/>
          <p:cNvSpPr/>
          <p:nvPr/>
        </p:nvSpPr>
        <p:spPr>
          <a:xfrm>
            <a:off x="3607200" y="1307520"/>
            <a:ext cx="43603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Às vezes precisamos transformar um valor antes de usá-lo.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Rounded Rectangle 11"/>
          <p:cNvSpPr/>
          <p:nvPr/>
        </p:nvSpPr>
        <p:spPr>
          <a:xfrm>
            <a:off x="896040" y="1901880"/>
            <a:ext cx="5558400" cy="2656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98" name="TextBox 12"/>
          <p:cNvSpPr/>
          <p:nvPr/>
        </p:nvSpPr>
        <p:spPr>
          <a:xfrm>
            <a:off x="2522160" y="2011680"/>
            <a:ext cx="23061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CONVERSÃO DE TEXTO PARA NÚMERO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3"/>
          <p:cNvSpPr/>
          <p:nvPr/>
        </p:nvSpPr>
        <p:spPr>
          <a:xfrm>
            <a:off x="2533680" y="2210760"/>
            <a:ext cx="2146320" cy="23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texto = "52.5"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print(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texto)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print(type(texto))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valor = float(texto)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print(valor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print(type(valor))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print(valor+1)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ounded Rectangle 14"/>
          <p:cNvSpPr/>
          <p:nvPr/>
        </p:nvSpPr>
        <p:spPr>
          <a:xfrm>
            <a:off x="896040" y="4860000"/>
            <a:ext cx="5558400" cy="144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01" name="TextBox 15"/>
          <p:cNvSpPr/>
          <p:nvPr/>
        </p:nvSpPr>
        <p:spPr>
          <a:xfrm>
            <a:off x="1179720" y="501084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6"/>
          <p:cNvSpPr/>
          <p:nvPr/>
        </p:nvSpPr>
        <p:spPr>
          <a:xfrm>
            <a:off x="2741400" y="4860000"/>
            <a:ext cx="1273320" cy="11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pt-BR" sz="1000" spc="-1" strike="noStrike">
                <a:solidFill>
                  <a:srgbClr val="071a4a"/>
                </a:solidFill>
                <a:latin typeface="DejaVu Sans Mono"/>
              </a:rPr>
              <a:t>52.5 </a:t>
            </a:r>
            <a:endParaRPr b="0" lang="pt-BR" sz="10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pt-BR" sz="1000" spc="-1" strike="noStrike">
                <a:solidFill>
                  <a:srgbClr val="071a4a"/>
                </a:solidFill>
                <a:latin typeface="DejaVu Sans Mono"/>
              </a:rPr>
              <a:t>&lt;class 'str'&gt; </a:t>
            </a:r>
            <a:endParaRPr b="0" lang="pt-BR" sz="10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pt-BR" sz="1000" spc="-1" strike="noStrike">
                <a:solidFill>
                  <a:srgbClr val="071a4a"/>
                </a:solidFill>
                <a:latin typeface="DejaVu Sans Mono"/>
              </a:rPr>
              <a:t>52.5 </a:t>
            </a:r>
            <a:endParaRPr b="0" lang="pt-BR" sz="10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pt-BR" sz="1000" spc="-1" strike="noStrike">
                <a:solidFill>
                  <a:srgbClr val="071a4a"/>
                </a:solidFill>
                <a:latin typeface="DejaVu Sans Mono"/>
              </a:rPr>
              <a:t>&lt;class 'float'&gt; </a:t>
            </a:r>
            <a:endParaRPr b="0" lang="pt-BR" sz="10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pt-BR" sz="1000" spc="-1" strike="noStrike">
                <a:solidFill>
                  <a:srgbClr val="071a4a"/>
                </a:solidFill>
                <a:latin typeface="DejaVu Sans Mono"/>
              </a:rPr>
              <a:t>53.5</a:t>
            </a:r>
            <a:endParaRPr b="0" lang="pt-BR" sz="10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403" name="Rounded Rectangle 17"/>
          <p:cNvSpPr/>
          <p:nvPr/>
        </p:nvSpPr>
        <p:spPr>
          <a:xfrm>
            <a:off x="6903720" y="1901880"/>
            <a:ext cx="4159440" cy="2925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04" name="TextBox 18"/>
          <p:cNvSpPr/>
          <p:nvPr/>
        </p:nvSpPr>
        <p:spPr>
          <a:xfrm>
            <a:off x="8228880" y="2220480"/>
            <a:ext cx="1490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Conversões frequentes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19"/>
          <p:cNvSpPr/>
          <p:nvPr/>
        </p:nvSpPr>
        <p:spPr>
          <a:xfrm>
            <a:off x="7456320" y="2697480"/>
            <a:ext cx="303588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int("52")   → 52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float("52.5") → 52.5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str(52)     → "52"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bool(...)   → True / False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20"/>
          <p:cNvSpPr/>
          <p:nvPr/>
        </p:nvSpPr>
        <p:spPr>
          <a:xfrm>
            <a:off x="6801120" y="4943160"/>
            <a:ext cx="4358160" cy="4561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07" name="TextBox 21"/>
          <p:cNvSpPr/>
          <p:nvPr/>
        </p:nvSpPr>
        <p:spPr>
          <a:xfrm>
            <a:off x="6840000" y="5040000"/>
            <a:ext cx="421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Converter não “corrige” o dado. Apenas muda sua representação.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840000" y="5760000"/>
            <a:ext cx="4320000" cy="71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pt-BR" sz="1400" spc="-1" strike="noStrike">
                <a:solidFill>
                  <a:srgbClr val="000000"/>
                </a:solidFill>
                <a:latin typeface="DejaVu Sans Mono"/>
              </a:rPr>
              <a:t>Acrescente no final </a:t>
            </a:r>
            <a:r>
              <a:rPr b="0" lang="pt-BR" sz="1400" spc="-1" strike="noStrike">
                <a:solidFill>
                  <a:srgbClr val="bf0041"/>
                </a:solidFill>
                <a:latin typeface="DejaVu Sans Mono"/>
              </a:rPr>
              <a:t>print(texto+1)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0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11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12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13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14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415" name="TextBox 7"/>
          <p:cNvSpPr/>
          <p:nvPr/>
        </p:nvSpPr>
        <p:spPr>
          <a:xfrm>
            <a:off x="2892600" y="768240"/>
            <a:ext cx="58446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input(): recebendo dados do usuário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8"/>
          <p:cNvSpPr/>
          <p:nvPr/>
        </p:nvSpPr>
        <p:spPr>
          <a:xfrm>
            <a:off x="3177360" y="1307520"/>
            <a:ext cx="52200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input() sempre devolve texto — mesmo quando digitamos um número.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ounded Rectangle 11"/>
          <p:cNvSpPr/>
          <p:nvPr/>
        </p:nvSpPr>
        <p:spPr>
          <a:xfrm>
            <a:off x="859680" y="1865520"/>
            <a:ext cx="6564240" cy="30164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0" name="TextBox 12"/>
          <p:cNvSpPr/>
          <p:nvPr/>
        </p:nvSpPr>
        <p:spPr>
          <a:xfrm>
            <a:off x="3398040" y="1974960"/>
            <a:ext cx="1487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ENTRADA + CONVERSÃO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3"/>
          <p:cNvSpPr/>
          <p:nvPr/>
        </p:nvSpPr>
        <p:spPr>
          <a:xfrm>
            <a:off x="1544760" y="2766960"/>
            <a:ext cx="5194080" cy="10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valor_texto = input("Digite um valor de 0 a 100: ")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print(type(valor_texto))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valor_sensor = float(valor_texto)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14"/>
          <p:cNvSpPr/>
          <p:nvPr/>
        </p:nvSpPr>
        <p:spPr>
          <a:xfrm>
            <a:off x="859680" y="4992480"/>
            <a:ext cx="656424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3" name="TextBox 15"/>
          <p:cNvSpPr/>
          <p:nvPr/>
        </p:nvSpPr>
        <p:spPr>
          <a:xfrm>
            <a:off x="1143000" y="506592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6"/>
          <p:cNvSpPr/>
          <p:nvPr/>
        </p:nvSpPr>
        <p:spPr>
          <a:xfrm>
            <a:off x="3879360" y="5047560"/>
            <a:ext cx="1246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'str'&gt;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52.0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17"/>
          <p:cNvSpPr/>
          <p:nvPr/>
        </p:nvSpPr>
        <p:spPr>
          <a:xfrm>
            <a:off x="7818120" y="1938600"/>
            <a:ext cx="3236040" cy="11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6" name="TextBox 18"/>
          <p:cNvSpPr/>
          <p:nvPr/>
        </p:nvSpPr>
        <p:spPr>
          <a:xfrm>
            <a:off x="9168120" y="2057400"/>
            <a:ext cx="5353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PASSO 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19"/>
          <p:cNvSpPr/>
          <p:nvPr/>
        </p:nvSpPr>
        <p:spPr>
          <a:xfrm>
            <a:off x="8851320" y="2556000"/>
            <a:ext cx="11692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Lato"/>
              </a:rPr>
              <a:t>receber texto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ounded Rectangle 20"/>
          <p:cNvSpPr/>
          <p:nvPr/>
        </p:nvSpPr>
        <p:spPr>
          <a:xfrm>
            <a:off x="7818120" y="3291840"/>
            <a:ext cx="3236040" cy="11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9" name="TextBox 21"/>
          <p:cNvSpPr/>
          <p:nvPr/>
        </p:nvSpPr>
        <p:spPr>
          <a:xfrm>
            <a:off x="9168120" y="3410640"/>
            <a:ext cx="5353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PASSO 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22"/>
          <p:cNvSpPr/>
          <p:nvPr/>
        </p:nvSpPr>
        <p:spPr>
          <a:xfrm>
            <a:off x="8586000" y="3909240"/>
            <a:ext cx="16995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Lato"/>
              </a:rPr>
              <a:t>converter para float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3"/>
          <p:cNvSpPr/>
          <p:nvPr/>
        </p:nvSpPr>
        <p:spPr>
          <a:xfrm>
            <a:off x="2688840" y="5760000"/>
            <a:ext cx="6645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00" spc="-1" strike="noStrike">
                <a:solidFill>
                  <a:srgbClr val="5b6b86"/>
                </a:solidFill>
                <a:latin typeface="Lato"/>
              </a:rPr>
              <a:t>Pergunta: o que aconteceria se tentássemos comparar o texto diretamente com 30?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33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34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35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36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3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438" name="TextBox 7"/>
          <p:cNvSpPr/>
          <p:nvPr/>
        </p:nvSpPr>
        <p:spPr>
          <a:xfrm>
            <a:off x="2123640" y="768240"/>
            <a:ext cx="73825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CHECKPOINT · Receber e mostrar uma leitura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9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Rounded Rectangle 10"/>
          <p:cNvSpPr/>
          <p:nvPr/>
        </p:nvSpPr>
        <p:spPr>
          <a:xfrm>
            <a:off x="896040" y="1874520"/>
            <a:ext cx="10148760" cy="20836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42" name="TextBox 11"/>
          <p:cNvSpPr/>
          <p:nvPr/>
        </p:nvSpPr>
        <p:spPr>
          <a:xfrm>
            <a:off x="1946160" y="2183760"/>
            <a:ext cx="1281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Tarefa de 3 minutos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12"/>
          <p:cNvSpPr/>
          <p:nvPr/>
        </p:nvSpPr>
        <p:spPr>
          <a:xfrm>
            <a:off x="1606320" y="2615040"/>
            <a:ext cx="360756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1. Peça ao usuário uma leitura sintética.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2. Converta para float.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3. Mostre: “Leitura recebida: X”.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ounded Rectangle 13"/>
          <p:cNvSpPr/>
          <p:nvPr/>
        </p:nvSpPr>
        <p:spPr>
          <a:xfrm>
            <a:off x="6035040" y="2249280"/>
            <a:ext cx="4479480" cy="12333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45" name="TextBox 14"/>
          <p:cNvSpPr/>
          <p:nvPr/>
        </p:nvSpPr>
        <p:spPr>
          <a:xfrm>
            <a:off x="7894440" y="2359080"/>
            <a:ext cx="760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SUA CÉLULA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15"/>
          <p:cNvSpPr/>
          <p:nvPr/>
        </p:nvSpPr>
        <p:spPr>
          <a:xfrm>
            <a:off x="7472160" y="2633400"/>
            <a:ext cx="160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# escreva aqui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16"/>
          <p:cNvSpPr/>
          <p:nvPr/>
        </p:nvSpPr>
        <p:spPr>
          <a:xfrm>
            <a:off x="4661280" y="4569120"/>
            <a:ext cx="292932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Inter Display"/>
              </a:rPr>
              <a:t>Teste pelo menos com 30 e 70.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49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50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51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52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5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454" name="TextBox 7"/>
          <p:cNvSpPr/>
          <p:nvPr/>
        </p:nvSpPr>
        <p:spPr>
          <a:xfrm>
            <a:off x="3879360" y="768240"/>
            <a:ext cx="38710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aritméticos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8"/>
          <p:cNvSpPr/>
          <p:nvPr/>
        </p:nvSpPr>
        <p:spPr>
          <a:xfrm>
            <a:off x="4408200" y="1307520"/>
            <a:ext cx="27586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Expressões produzem novos valores.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11"/>
          <p:cNvSpPr/>
          <p:nvPr/>
        </p:nvSpPr>
        <p:spPr>
          <a:xfrm>
            <a:off x="914400" y="1938600"/>
            <a:ext cx="2211840" cy="1279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9" name="TextBox 12"/>
          <p:cNvSpPr/>
          <p:nvPr/>
        </p:nvSpPr>
        <p:spPr>
          <a:xfrm>
            <a:off x="1886040" y="2109240"/>
            <a:ext cx="2685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10b9f3"/>
                </a:solidFill>
                <a:latin typeface="DejaVu Sans Mono"/>
              </a:rPr>
              <a:t>+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13"/>
          <p:cNvSpPr/>
          <p:nvPr/>
        </p:nvSpPr>
        <p:spPr>
          <a:xfrm>
            <a:off x="1801440" y="2705400"/>
            <a:ext cx="437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somar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Rounded Rectangle 14"/>
          <p:cNvSpPr/>
          <p:nvPr/>
        </p:nvSpPr>
        <p:spPr>
          <a:xfrm>
            <a:off x="3493080" y="1938600"/>
            <a:ext cx="2211840" cy="1279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62" name="TextBox 15"/>
          <p:cNvSpPr/>
          <p:nvPr/>
        </p:nvSpPr>
        <p:spPr>
          <a:xfrm>
            <a:off x="4464720" y="2109240"/>
            <a:ext cx="2685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f36b21"/>
                </a:solidFill>
                <a:latin typeface="DejaVu Sans Mono"/>
              </a:rPr>
              <a:t>-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16"/>
          <p:cNvSpPr/>
          <p:nvPr/>
        </p:nvSpPr>
        <p:spPr>
          <a:xfrm>
            <a:off x="4330440" y="2705400"/>
            <a:ext cx="536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subtrair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ounded Rectangle 17"/>
          <p:cNvSpPr/>
          <p:nvPr/>
        </p:nvSpPr>
        <p:spPr>
          <a:xfrm>
            <a:off x="6071760" y="1938600"/>
            <a:ext cx="2211840" cy="1279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65" name="TextBox 18"/>
          <p:cNvSpPr/>
          <p:nvPr/>
        </p:nvSpPr>
        <p:spPr>
          <a:xfrm>
            <a:off x="7043400" y="2109240"/>
            <a:ext cx="2685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f72585"/>
                </a:solidFill>
                <a:latin typeface="DejaVu Sans Mono"/>
              </a:rPr>
              <a:t>*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19"/>
          <p:cNvSpPr/>
          <p:nvPr/>
        </p:nvSpPr>
        <p:spPr>
          <a:xfrm>
            <a:off x="6819480" y="2705400"/>
            <a:ext cx="7164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multiplicar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Rounded Rectangle 20"/>
          <p:cNvSpPr/>
          <p:nvPr/>
        </p:nvSpPr>
        <p:spPr>
          <a:xfrm>
            <a:off x="8650080" y="1938600"/>
            <a:ext cx="2211840" cy="1279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68" name="TextBox 21"/>
          <p:cNvSpPr/>
          <p:nvPr/>
        </p:nvSpPr>
        <p:spPr>
          <a:xfrm>
            <a:off x="9621720" y="2109240"/>
            <a:ext cx="2685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725ac1"/>
                </a:solidFill>
                <a:latin typeface="DejaVu Sans Mono"/>
              </a:rPr>
              <a:t>/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22"/>
          <p:cNvSpPr/>
          <p:nvPr/>
        </p:nvSpPr>
        <p:spPr>
          <a:xfrm>
            <a:off x="9532440" y="2705400"/>
            <a:ext cx="446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dividir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23"/>
          <p:cNvSpPr/>
          <p:nvPr/>
        </p:nvSpPr>
        <p:spPr>
          <a:xfrm>
            <a:off x="2697480" y="3684960"/>
            <a:ext cx="6783840" cy="15717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71" name="TextBox 24"/>
          <p:cNvSpPr/>
          <p:nvPr/>
        </p:nvSpPr>
        <p:spPr>
          <a:xfrm>
            <a:off x="4753080" y="3849480"/>
            <a:ext cx="26719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valor = 52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ajuste = 10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resultado = valor + ajuste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print(resultado)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ounded Rectangle 25"/>
          <p:cNvSpPr/>
          <p:nvPr/>
        </p:nvSpPr>
        <p:spPr>
          <a:xfrm>
            <a:off x="2697480" y="5367600"/>
            <a:ext cx="678384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73" name="TextBox 26"/>
          <p:cNvSpPr/>
          <p:nvPr/>
        </p:nvSpPr>
        <p:spPr>
          <a:xfrm>
            <a:off x="2981160" y="544068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27"/>
          <p:cNvSpPr/>
          <p:nvPr/>
        </p:nvSpPr>
        <p:spPr>
          <a:xfrm>
            <a:off x="6331680" y="5422320"/>
            <a:ext cx="237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62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7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7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7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7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8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481" name="TextBox 7"/>
          <p:cNvSpPr/>
          <p:nvPr/>
        </p:nvSpPr>
        <p:spPr>
          <a:xfrm>
            <a:off x="3923280" y="768240"/>
            <a:ext cx="37828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relacionais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8"/>
          <p:cNvSpPr/>
          <p:nvPr/>
        </p:nvSpPr>
        <p:spPr>
          <a:xfrm>
            <a:off x="4338720" y="1307520"/>
            <a:ext cx="2897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Comparações produzem True ou False.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ounded Rectangle 11"/>
          <p:cNvSpPr/>
          <p:nvPr/>
        </p:nvSpPr>
        <p:spPr>
          <a:xfrm>
            <a:off x="841320" y="1984320"/>
            <a:ext cx="2486160" cy="171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86" name="TextBox 12"/>
          <p:cNvSpPr/>
          <p:nvPr/>
        </p:nvSpPr>
        <p:spPr>
          <a:xfrm>
            <a:off x="1600920" y="2302920"/>
            <a:ext cx="96660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&lt; 30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ounded Rectangle 13"/>
          <p:cNvSpPr/>
          <p:nvPr/>
        </p:nvSpPr>
        <p:spPr>
          <a:xfrm>
            <a:off x="1499760" y="297180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88" name="TextBox 14"/>
          <p:cNvSpPr/>
          <p:nvPr/>
        </p:nvSpPr>
        <p:spPr>
          <a:xfrm>
            <a:off x="1916640" y="3042000"/>
            <a:ext cx="3355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False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ounded Rectangle 15"/>
          <p:cNvSpPr/>
          <p:nvPr/>
        </p:nvSpPr>
        <p:spPr>
          <a:xfrm>
            <a:off x="3602880" y="1984320"/>
            <a:ext cx="2486160" cy="171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0" name="TextBox 16"/>
          <p:cNvSpPr/>
          <p:nvPr/>
        </p:nvSpPr>
        <p:spPr>
          <a:xfrm>
            <a:off x="4297680" y="2302920"/>
            <a:ext cx="1095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&lt;= 70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7"/>
          <p:cNvSpPr/>
          <p:nvPr/>
        </p:nvSpPr>
        <p:spPr>
          <a:xfrm>
            <a:off x="4260960" y="297180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2" name="TextBox 18"/>
          <p:cNvSpPr/>
          <p:nvPr/>
        </p:nvSpPr>
        <p:spPr>
          <a:xfrm>
            <a:off x="4693680" y="3042000"/>
            <a:ext cx="303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Rounded Rectangle 19"/>
          <p:cNvSpPr/>
          <p:nvPr/>
        </p:nvSpPr>
        <p:spPr>
          <a:xfrm>
            <a:off x="6364080" y="1984320"/>
            <a:ext cx="2486160" cy="171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4" name="TextBox 20"/>
          <p:cNvSpPr/>
          <p:nvPr/>
        </p:nvSpPr>
        <p:spPr>
          <a:xfrm>
            <a:off x="7059240" y="2302920"/>
            <a:ext cx="1095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== 52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21"/>
          <p:cNvSpPr/>
          <p:nvPr/>
        </p:nvSpPr>
        <p:spPr>
          <a:xfrm>
            <a:off x="7022520" y="297180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6" name="TextBox 22"/>
          <p:cNvSpPr/>
          <p:nvPr/>
        </p:nvSpPr>
        <p:spPr>
          <a:xfrm>
            <a:off x="7455240" y="3042000"/>
            <a:ext cx="303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23"/>
          <p:cNvSpPr/>
          <p:nvPr/>
        </p:nvSpPr>
        <p:spPr>
          <a:xfrm>
            <a:off x="9125640" y="1984320"/>
            <a:ext cx="2486160" cy="171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8" name="TextBox 24"/>
          <p:cNvSpPr/>
          <p:nvPr/>
        </p:nvSpPr>
        <p:spPr>
          <a:xfrm>
            <a:off x="9820800" y="2302920"/>
            <a:ext cx="1095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!= 70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25"/>
          <p:cNvSpPr/>
          <p:nvPr/>
        </p:nvSpPr>
        <p:spPr>
          <a:xfrm>
            <a:off x="9784080" y="297180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0" name="TextBox 26"/>
          <p:cNvSpPr/>
          <p:nvPr/>
        </p:nvSpPr>
        <p:spPr>
          <a:xfrm>
            <a:off x="10216800" y="3042000"/>
            <a:ext cx="303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27"/>
          <p:cNvSpPr/>
          <p:nvPr/>
        </p:nvSpPr>
        <p:spPr>
          <a:xfrm>
            <a:off x="4421160" y="4174200"/>
            <a:ext cx="331812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f72585"/>
                </a:solidFill>
                <a:latin typeface="Inter Display"/>
              </a:rPr>
              <a:t>== compara valores.  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f72585"/>
                </a:solidFill>
                <a:latin typeface="Inter Display"/>
              </a:rPr>
              <a:t>= atribui um valor a uma variável.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03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04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05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06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0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508" name="TextBox 7"/>
          <p:cNvSpPr/>
          <p:nvPr/>
        </p:nvSpPr>
        <p:spPr>
          <a:xfrm>
            <a:off x="4218480" y="768240"/>
            <a:ext cx="3192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lógicos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8"/>
          <p:cNvSpPr/>
          <p:nvPr/>
        </p:nvSpPr>
        <p:spPr>
          <a:xfrm>
            <a:off x="4007160" y="1307520"/>
            <a:ext cx="35604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and, or e not combinam ou invertem condições.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11"/>
          <p:cNvSpPr/>
          <p:nvPr/>
        </p:nvSpPr>
        <p:spPr>
          <a:xfrm>
            <a:off x="896040" y="1974960"/>
            <a:ext cx="3062160" cy="2028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13" name="TextBox 12"/>
          <p:cNvSpPr/>
          <p:nvPr/>
        </p:nvSpPr>
        <p:spPr>
          <a:xfrm>
            <a:off x="2175480" y="2094120"/>
            <a:ext cx="5040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AND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13"/>
          <p:cNvSpPr/>
          <p:nvPr/>
        </p:nvSpPr>
        <p:spPr>
          <a:xfrm>
            <a:off x="1311480" y="2892960"/>
            <a:ext cx="223128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as duas condições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precisam ser verdadeiras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Rounded Rectangle 14"/>
          <p:cNvSpPr/>
          <p:nvPr/>
        </p:nvSpPr>
        <p:spPr>
          <a:xfrm>
            <a:off x="4105800" y="1974960"/>
            <a:ext cx="3062160" cy="2028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16" name="TextBox 15"/>
          <p:cNvSpPr/>
          <p:nvPr/>
        </p:nvSpPr>
        <p:spPr>
          <a:xfrm>
            <a:off x="5463360" y="2094120"/>
            <a:ext cx="347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OR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6"/>
          <p:cNvSpPr/>
          <p:nvPr/>
        </p:nvSpPr>
        <p:spPr>
          <a:xfrm>
            <a:off x="4730400" y="2892960"/>
            <a:ext cx="181224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basta uma condição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ser verdadeira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Rounded Rectangle 17"/>
          <p:cNvSpPr/>
          <p:nvPr/>
        </p:nvSpPr>
        <p:spPr>
          <a:xfrm>
            <a:off x="7315200" y="1974960"/>
            <a:ext cx="3062160" cy="2028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19" name="TextBox 18"/>
          <p:cNvSpPr/>
          <p:nvPr/>
        </p:nvSpPr>
        <p:spPr>
          <a:xfrm>
            <a:off x="8601480" y="2094120"/>
            <a:ext cx="4903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NOT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9"/>
          <p:cNvSpPr/>
          <p:nvPr/>
        </p:nvSpPr>
        <p:spPr>
          <a:xfrm>
            <a:off x="7914600" y="3015000"/>
            <a:ext cx="18626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inverte True ↔ False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Rounded Rectangle 20"/>
          <p:cNvSpPr/>
          <p:nvPr/>
        </p:nvSpPr>
        <p:spPr>
          <a:xfrm>
            <a:off x="2011680" y="4140000"/>
            <a:ext cx="8091360" cy="1189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2" name="TextBox 21"/>
          <p:cNvSpPr/>
          <p:nvPr/>
        </p:nvSpPr>
        <p:spPr>
          <a:xfrm>
            <a:off x="4500000" y="4168440"/>
            <a:ext cx="308196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valor = 52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qualidade_ok = True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print(valor &lt;= 70 and qualidade_ok)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print(valor &lt; 30 or valor &gt; 70)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print(not qualidade_ok)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ounded Rectangle 22"/>
          <p:cNvSpPr/>
          <p:nvPr/>
        </p:nvSpPr>
        <p:spPr>
          <a:xfrm>
            <a:off x="2011680" y="5580000"/>
            <a:ext cx="8091360" cy="71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4" name="TextBox 23"/>
          <p:cNvSpPr/>
          <p:nvPr/>
        </p:nvSpPr>
        <p:spPr>
          <a:xfrm>
            <a:off x="2340000" y="558000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4"/>
          <p:cNvSpPr/>
          <p:nvPr/>
        </p:nvSpPr>
        <p:spPr>
          <a:xfrm>
            <a:off x="4500000" y="5580000"/>
            <a:ext cx="5137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True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False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False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2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2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2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3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3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532" name="TextBox 7"/>
          <p:cNvSpPr/>
          <p:nvPr/>
        </p:nvSpPr>
        <p:spPr>
          <a:xfrm>
            <a:off x="3529440" y="768240"/>
            <a:ext cx="45705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Programas precisam decidir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8"/>
          <p:cNvSpPr/>
          <p:nvPr/>
        </p:nvSpPr>
        <p:spPr>
          <a:xfrm>
            <a:off x="3815280" y="1307520"/>
            <a:ext cx="3944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condição escolhe qual caminho será executado.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11"/>
          <p:cNvSpPr/>
          <p:nvPr/>
        </p:nvSpPr>
        <p:spPr>
          <a:xfrm>
            <a:off x="4918680" y="2013480"/>
            <a:ext cx="223128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900" spc="-1" strike="noStrike">
                <a:solidFill>
                  <a:srgbClr val="071a4a"/>
                </a:solidFill>
                <a:latin typeface="Inter Display"/>
              </a:rPr>
              <a:t>valor_sensor &lt; 30 ?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Diamond 12"/>
          <p:cNvSpPr/>
          <p:nvPr/>
        </p:nvSpPr>
        <p:spPr>
          <a:xfrm>
            <a:off x="5029200" y="2541960"/>
            <a:ext cx="1919160" cy="1370520"/>
          </a:xfrm>
          <a:prstGeom prst="diamond">
            <a:avLst/>
          </a:prstGeom>
          <a:solidFill>
            <a:srgbClr val="eef3f9"/>
          </a:solidFill>
          <a:ln w="2286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38" name="TextBox 13"/>
          <p:cNvSpPr/>
          <p:nvPr/>
        </p:nvSpPr>
        <p:spPr>
          <a:xfrm>
            <a:off x="5617440" y="2899080"/>
            <a:ext cx="742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DejaVu Sans Mono"/>
              </a:rPr>
              <a:t>&lt; 30?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39" name="Connector 14"/>
          <p:cNvCxnSpPr/>
          <p:nvPr/>
        </p:nvCxnSpPr>
        <p:spPr>
          <a:xfrm>
            <a:off x="5989320" y="3913560"/>
            <a:ext cx="1080" cy="403200"/>
          </a:xfrm>
          <a:prstGeom prst="straightConnector1">
            <a:avLst/>
          </a:prstGeom>
          <a:ln w="22860">
            <a:solidFill>
              <a:srgbClr val="071a4a"/>
            </a:solidFill>
            <a:round/>
          </a:ln>
        </p:spPr>
      </p:cxnSp>
      <p:sp>
        <p:nvSpPr>
          <p:cNvPr id="540" name="TextBox 15"/>
          <p:cNvSpPr/>
          <p:nvPr/>
        </p:nvSpPr>
        <p:spPr>
          <a:xfrm>
            <a:off x="6272280" y="4000320"/>
            <a:ext cx="31104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900" spc="-1" strike="noStrike">
                <a:solidFill>
                  <a:srgbClr val="5b6b86"/>
                </a:solidFill>
                <a:latin typeface="Lato"/>
              </a:rPr>
              <a:t>NÃO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41" name="Connector 16"/>
          <p:cNvCxnSpPr/>
          <p:nvPr/>
        </p:nvCxnSpPr>
        <p:spPr>
          <a:xfrm flipH="1">
            <a:off x="3886200" y="3227760"/>
            <a:ext cx="1144080" cy="1080"/>
          </a:xfrm>
          <a:prstGeom prst="straightConnector1">
            <a:avLst/>
          </a:prstGeom>
          <a:ln w="22860">
            <a:solidFill>
              <a:srgbClr val="071a4a"/>
            </a:solidFill>
            <a:round/>
          </a:ln>
        </p:spPr>
      </p:cxnSp>
      <p:sp>
        <p:nvSpPr>
          <p:cNvPr id="542" name="TextBox 17"/>
          <p:cNvSpPr/>
          <p:nvPr/>
        </p:nvSpPr>
        <p:spPr>
          <a:xfrm>
            <a:off x="4149360" y="3003480"/>
            <a:ext cx="25920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900" spc="-1" strike="noStrike">
                <a:solidFill>
                  <a:srgbClr val="5b6b86"/>
                </a:solidFill>
                <a:latin typeface="Lato"/>
              </a:rPr>
              <a:t>SIM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8"/>
          <p:cNvSpPr/>
          <p:nvPr/>
        </p:nvSpPr>
        <p:spPr>
          <a:xfrm>
            <a:off x="1920240" y="2761560"/>
            <a:ext cx="1937520" cy="986400"/>
          </a:xfrm>
          <a:prstGeom prst="roundRect">
            <a:avLst>
              <a:gd name="adj" fmla="val 16667"/>
            </a:avLst>
          </a:prstGeom>
          <a:solidFill>
            <a:srgbClr val="eaf9ff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44" name="TextBox 19"/>
          <p:cNvSpPr/>
          <p:nvPr/>
        </p:nvSpPr>
        <p:spPr>
          <a:xfrm>
            <a:off x="2496960" y="3034800"/>
            <a:ext cx="78372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Faixa 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ounded Rectangle 20"/>
          <p:cNvSpPr/>
          <p:nvPr/>
        </p:nvSpPr>
        <p:spPr>
          <a:xfrm>
            <a:off x="5020200" y="4334400"/>
            <a:ext cx="1937520" cy="986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46" name="TextBox 21"/>
          <p:cNvSpPr/>
          <p:nvPr/>
        </p:nvSpPr>
        <p:spPr>
          <a:xfrm>
            <a:off x="5363280" y="4622760"/>
            <a:ext cx="1251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outra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39"/>
          <p:cNvSpPr/>
          <p:nvPr/>
        </p:nvSpPr>
        <p:spPr>
          <a:xfrm>
            <a:off x="8695800" y="3060000"/>
            <a:ext cx="2061360" cy="10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if </a:t>
            </a:r>
            <a:r>
              <a:rPr b="0" lang="pt-BR" sz="1800" spc="-1" strike="noStrike">
                <a:solidFill>
                  <a:srgbClr val="ff0000"/>
                </a:solidFill>
                <a:latin typeface="DejaVu Sans Mono"/>
              </a:rPr>
              <a:t>CONDICÂO1</a:t>
            </a: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AÇÂO1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elif </a:t>
            </a:r>
            <a:r>
              <a:rPr b="0" lang="pt-BR" sz="1800" spc="-1" strike="noStrike">
                <a:solidFill>
                  <a:srgbClr val="ff0000"/>
                </a:solidFill>
                <a:latin typeface="DejaVu Sans Mono"/>
              </a:rPr>
              <a:t>CONDICÂO2</a:t>
            </a: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41"/>
          <p:cNvSpPr/>
          <p:nvPr/>
        </p:nvSpPr>
        <p:spPr>
          <a:xfrm>
            <a:off x="8695800" y="4680000"/>
            <a:ext cx="2061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if </a:t>
            </a:r>
            <a:r>
              <a:rPr b="0" lang="pt-BR" sz="1800" spc="-1" strike="noStrike">
                <a:solidFill>
                  <a:srgbClr val="ff0000"/>
                </a:solidFill>
                <a:latin typeface="DejaVu Sans Mono"/>
              </a:rPr>
              <a:t>CONDICÂO1</a:t>
            </a: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AÇÂO1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elif </a:t>
            </a:r>
            <a:r>
              <a:rPr b="0" lang="pt-BR" sz="1800" spc="-1" strike="noStrike">
                <a:solidFill>
                  <a:srgbClr val="ff0000"/>
                </a:solidFill>
                <a:latin typeface="DejaVu Sans Mono"/>
              </a:rPr>
              <a:t>CONDICÂO2</a:t>
            </a: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else: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AÇÂO3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43"/>
          <p:cNvSpPr/>
          <p:nvPr/>
        </p:nvSpPr>
        <p:spPr>
          <a:xfrm>
            <a:off x="8695800" y="1980000"/>
            <a:ext cx="178704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if </a:t>
            </a:r>
            <a:r>
              <a:rPr b="0" lang="pt-BR" sz="1800" spc="-1" strike="noStrike">
                <a:solidFill>
                  <a:srgbClr val="ff0000"/>
                </a:solidFill>
                <a:latin typeface="DejaVu Sans Mono"/>
              </a:rPr>
              <a:t>CONDICÂO1</a:t>
            </a: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800" spc="-1" strike="noStrike">
                <a:solidFill>
                  <a:srgbClr val="3faf46"/>
                </a:solidFill>
                <a:latin typeface="DejaVu Sans Mono"/>
              </a:rPr>
              <a:t>AÇÂO1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51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52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53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54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5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556" name="TextBox 7"/>
          <p:cNvSpPr/>
          <p:nvPr/>
        </p:nvSpPr>
        <p:spPr>
          <a:xfrm>
            <a:off x="3260520" y="768240"/>
            <a:ext cx="51087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Indentação faz parte da sintaxe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8"/>
          <p:cNvSpPr/>
          <p:nvPr/>
        </p:nvSpPr>
        <p:spPr>
          <a:xfrm>
            <a:off x="3299400" y="1307520"/>
            <a:ext cx="4975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Em Python, os espaços dizem </a:t>
            </a: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quais linhas pertencem a cada </a:t>
            </a: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bloco.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1"/>
          <p:cNvSpPr/>
          <p:nvPr/>
        </p:nvSpPr>
        <p:spPr>
          <a:xfrm>
            <a:off x="896040" y="1929240"/>
            <a:ext cx="5165280" cy="20300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1" name="TextBox 12"/>
          <p:cNvSpPr/>
          <p:nvPr/>
        </p:nvSpPr>
        <p:spPr>
          <a:xfrm>
            <a:off x="3168360" y="2039040"/>
            <a:ext cx="620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CORRETO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13"/>
          <p:cNvSpPr/>
          <p:nvPr/>
        </p:nvSpPr>
        <p:spPr>
          <a:xfrm>
            <a:off x="1923120" y="2532240"/>
            <a:ext cx="3111120" cy="10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print("abaixo do limite")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print("fim")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14"/>
          <p:cNvSpPr/>
          <p:nvPr/>
        </p:nvSpPr>
        <p:spPr>
          <a:xfrm>
            <a:off x="6327720" y="1929240"/>
            <a:ext cx="4680720" cy="20300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4" name="TextBox 15"/>
          <p:cNvSpPr/>
          <p:nvPr/>
        </p:nvSpPr>
        <p:spPr>
          <a:xfrm>
            <a:off x="7978680" y="2039040"/>
            <a:ext cx="1378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ERRO DE INDENTAÇÃO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16"/>
          <p:cNvSpPr/>
          <p:nvPr/>
        </p:nvSpPr>
        <p:spPr>
          <a:xfrm>
            <a:off x="7326360" y="2520000"/>
            <a:ext cx="268272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print("abaixo do limite")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7"/>
          <p:cNvSpPr/>
          <p:nvPr/>
        </p:nvSpPr>
        <p:spPr>
          <a:xfrm>
            <a:off x="3754080" y="4320000"/>
            <a:ext cx="452520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7" name="TextBox 18"/>
          <p:cNvSpPr/>
          <p:nvPr/>
        </p:nvSpPr>
        <p:spPr>
          <a:xfrm>
            <a:off x="4987800" y="4390200"/>
            <a:ext cx="20577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4 espaços é uma convenção comum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900000" y="5010840"/>
            <a:ext cx="10079280" cy="12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</a:pPr>
            <a:r>
              <a:rPr b="1" lang="pt-BR" sz="1400" spc="-1" strike="noStrike">
                <a:solidFill>
                  <a:srgbClr val="3faf46"/>
                </a:solidFill>
                <a:latin typeface="Arial"/>
              </a:rPr>
              <a:t>Origem na tipografia: 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Antigamente, quando os livros eram impressos com tipos de chumbo, a primeira linha de um parágrafo era deslocada para dentro. Historicamente, documentos oficiais também podiam ser recortados de forma ondulada ou "dentada" no topo para provar autenticidade.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</a:pPr>
            <a:br>
              <a:rPr sz="1400"/>
            </a:b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Vem do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latim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pt-BR" sz="1400" spc="-1" strike="noStrike">
                <a:solidFill>
                  <a:srgbClr val="000000"/>
                </a:solidFill>
                <a:latin typeface="Arial"/>
              </a:rPr>
              <a:t>dens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(que significa "dente"), passando pelo verbo latino </a:t>
            </a:r>
            <a:r>
              <a:rPr b="1" i="1" lang="pt-BR" sz="1400" spc="-1" strike="noStrike">
                <a:solidFill>
                  <a:srgbClr val="000000"/>
                </a:solidFill>
                <a:latin typeface="Arial"/>
              </a:rPr>
              <a:t>indentare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("colocar dentes" ou "recortar em forma de dentes"), e chegou ao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português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através do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inglês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indentation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no contexto da ciência da computação.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70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71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72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73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74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575" name="TextBox 7"/>
          <p:cNvSpPr/>
          <p:nvPr/>
        </p:nvSpPr>
        <p:spPr>
          <a:xfrm>
            <a:off x="4825800" y="768240"/>
            <a:ext cx="1978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if / elif / else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8"/>
          <p:cNvSpPr/>
          <p:nvPr/>
        </p:nvSpPr>
        <p:spPr>
          <a:xfrm>
            <a:off x="3755160" y="1307520"/>
            <a:ext cx="40647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Três faixas didáticas com uma única cadeia de decisão.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11"/>
          <p:cNvSpPr/>
          <p:nvPr/>
        </p:nvSpPr>
        <p:spPr>
          <a:xfrm>
            <a:off x="868680" y="1847160"/>
            <a:ext cx="6445440" cy="356508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0" name="TextBox 12"/>
          <p:cNvSpPr/>
          <p:nvPr/>
        </p:nvSpPr>
        <p:spPr>
          <a:xfrm>
            <a:off x="3605760" y="1956960"/>
            <a:ext cx="9709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CLASSIFICAÇÃO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3"/>
          <p:cNvSpPr/>
          <p:nvPr/>
        </p:nvSpPr>
        <p:spPr>
          <a:xfrm>
            <a:off x="2880000" y="2634840"/>
            <a:ext cx="2466360" cy="20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valor_sensor = 52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A"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elif valor_sensor &lt;= 70: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B"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else: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C"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print(estado)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ounded Rectangle 14"/>
          <p:cNvSpPr/>
          <p:nvPr/>
        </p:nvSpPr>
        <p:spPr>
          <a:xfrm>
            <a:off x="868680" y="5523120"/>
            <a:ext cx="6445440" cy="58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3" name="TextBox 15"/>
          <p:cNvSpPr/>
          <p:nvPr/>
        </p:nvSpPr>
        <p:spPr>
          <a:xfrm>
            <a:off x="1152360" y="559620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16"/>
          <p:cNvSpPr/>
          <p:nvPr/>
        </p:nvSpPr>
        <p:spPr>
          <a:xfrm>
            <a:off x="4104360" y="5577840"/>
            <a:ext cx="6966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Faixa 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Rounded Rectangle 17"/>
          <p:cNvSpPr/>
          <p:nvPr/>
        </p:nvSpPr>
        <p:spPr>
          <a:xfrm>
            <a:off x="7726680" y="1920240"/>
            <a:ext cx="3217680" cy="1023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6" name="TextBox 18"/>
          <p:cNvSpPr/>
          <p:nvPr/>
        </p:nvSpPr>
        <p:spPr>
          <a:xfrm>
            <a:off x="9221400" y="2039040"/>
            <a:ext cx="2282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IF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19"/>
          <p:cNvSpPr/>
          <p:nvPr/>
        </p:nvSpPr>
        <p:spPr>
          <a:xfrm>
            <a:off x="8613360" y="2472120"/>
            <a:ext cx="144360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primeira pergunta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20"/>
          <p:cNvSpPr/>
          <p:nvPr/>
        </p:nvSpPr>
        <p:spPr>
          <a:xfrm>
            <a:off x="7726680" y="3127320"/>
            <a:ext cx="3217680" cy="1023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9" name="TextBox 21"/>
          <p:cNvSpPr/>
          <p:nvPr/>
        </p:nvSpPr>
        <p:spPr>
          <a:xfrm>
            <a:off x="9110520" y="3246120"/>
            <a:ext cx="450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ELIF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2"/>
          <p:cNvSpPr/>
          <p:nvPr/>
        </p:nvSpPr>
        <p:spPr>
          <a:xfrm>
            <a:off x="8251560" y="3686760"/>
            <a:ext cx="21672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outra pergunta, se necessário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ounded Rectangle 23"/>
          <p:cNvSpPr/>
          <p:nvPr/>
        </p:nvSpPr>
        <p:spPr>
          <a:xfrm>
            <a:off x="7726680" y="4334400"/>
            <a:ext cx="3217680" cy="1023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92" name="TextBox 24"/>
          <p:cNvSpPr/>
          <p:nvPr/>
        </p:nvSpPr>
        <p:spPr>
          <a:xfrm>
            <a:off x="9084240" y="4453200"/>
            <a:ext cx="50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ELSE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25"/>
          <p:cNvSpPr/>
          <p:nvPr/>
        </p:nvSpPr>
        <p:spPr>
          <a:xfrm>
            <a:off x="8788680" y="4886280"/>
            <a:ext cx="10929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caso restante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95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96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97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98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99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600" name="TextBox 7"/>
          <p:cNvSpPr/>
          <p:nvPr/>
        </p:nvSpPr>
        <p:spPr>
          <a:xfrm>
            <a:off x="4231440" y="768240"/>
            <a:ext cx="31669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Testar as fronteiras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8"/>
          <p:cNvSpPr/>
          <p:nvPr/>
        </p:nvSpPr>
        <p:spPr>
          <a:xfrm>
            <a:off x="3521880" y="1307520"/>
            <a:ext cx="4530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Os casos próximos aos limites encontram erros rapidamente.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Rectangle 11"/>
          <p:cNvSpPr/>
          <p:nvPr/>
        </p:nvSpPr>
        <p:spPr>
          <a:xfrm>
            <a:off x="1710720" y="1772640"/>
            <a:ext cx="1507680" cy="45612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05" name="TextBox 12"/>
          <p:cNvSpPr/>
          <p:nvPr/>
        </p:nvSpPr>
        <p:spPr>
          <a:xfrm>
            <a:off x="2208960" y="1875600"/>
            <a:ext cx="5108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Entrada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ectangle 13"/>
          <p:cNvSpPr/>
          <p:nvPr/>
        </p:nvSpPr>
        <p:spPr>
          <a:xfrm>
            <a:off x="3219480" y="1772640"/>
            <a:ext cx="1964880" cy="45612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07" name="TextBox 14"/>
          <p:cNvSpPr/>
          <p:nvPr/>
        </p:nvSpPr>
        <p:spPr>
          <a:xfrm>
            <a:off x="3901320" y="1875600"/>
            <a:ext cx="6008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Esperado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ectangle 15"/>
          <p:cNvSpPr/>
          <p:nvPr/>
        </p:nvSpPr>
        <p:spPr>
          <a:xfrm>
            <a:off x="5185440" y="1772640"/>
            <a:ext cx="5073840" cy="45612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09" name="TextBox 16"/>
          <p:cNvSpPr/>
          <p:nvPr/>
        </p:nvSpPr>
        <p:spPr>
          <a:xfrm>
            <a:off x="7438680" y="1875600"/>
            <a:ext cx="56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Por quê?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ectangle 17"/>
          <p:cNvSpPr/>
          <p:nvPr/>
        </p:nvSpPr>
        <p:spPr>
          <a:xfrm>
            <a:off x="1710720" y="2229840"/>
            <a:ext cx="150768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1" name="TextBox 18"/>
          <p:cNvSpPr/>
          <p:nvPr/>
        </p:nvSpPr>
        <p:spPr>
          <a:xfrm>
            <a:off x="2346840" y="2392920"/>
            <a:ext cx="235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29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ectangle 19"/>
          <p:cNvSpPr/>
          <p:nvPr/>
        </p:nvSpPr>
        <p:spPr>
          <a:xfrm>
            <a:off x="3219480" y="2229840"/>
            <a:ext cx="196488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3" name="TextBox 20"/>
          <p:cNvSpPr/>
          <p:nvPr/>
        </p:nvSpPr>
        <p:spPr>
          <a:xfrm>
            <a:off x="4121640" y="2392920"/>
            <a:ext cx="160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ectangle 21"/>
          <p:cNvSpPr/>
          <p:nvPr/>
        </p:nvSpPr>
        <p:spPr>
          <a:xfrm>
            <a:off x="5185440" y="2229840"/>
            <a:ext cx="507384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5" name="TextBox 22"/>
          <p:cNvSpPr/>
          <p:nvPr/>
        </p:nvSpPr>
        <p:spPr>
          <a:xfrm>
            <a:off x="6854400" y="2392920"/>
            <a:ext cx="17359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abaixo do primeiro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Rectangle 23"/>
          <p:cNvSpPr/>
          <p:nvPr/>
        </p:nvSpPr>
        <p:spPr>
          <a:xfrm>
            <a:off x="1710720" y="2842560"/>
            <a:ext cx="150768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7" name="TextBox 24"/>
          <p:cNvSpPr/>
          <p:nvPr/>
        </p:nvSpPr>
        <p:spPr>
          <a:xfrm>
            <a:off x="2346840" y="3005640"/>
            <a:ext cx="235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30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ectangle 25"/>
          <p:cNvSpPr/>
          <p:nvPr/>
        </p:nvSpPr>
        <p:spPr>
          <a:xfrm>
            <a:off x="3219480" y="2842560"/>
            <a:ext cx="196488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9" name="TextBox 26"/>
          <p:cNvSpPr/>
          <p:nvPr/>
        </p:nvSpPr>
        <p:spPr>
          <a:xfrm>
            <a:off x="4124880" y="3005640"/>
            <a:ext cx="154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B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ectangle 27"/>
          <p:cNvSpPr/>
          <p:nvPr/>
        </p:nvSpPr>
        <p:spPr>
          <a:xfrm>
            <a:off x="5185440" y="2842560"/>
            <a:ext cx="507384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1" name="TextBox 28"/>
          <p:cNvSpPr/>
          <p:nvPr/>
        </p:nvSpPr>
        <p:spPr>
          <a:xfrm>
            <a:off x="7094880" y="3005640"/>
            <a:ext cx="12546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no primeiro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Rectangle 29"/>
          <p:cNvSpPr/>
          <p:nvPr/>
        </p:nvSpPr>
        <p:spPr>
          <a:xfrm>
            <a:off x="1710720" y="3454920"/>
            <a:ext cx="150768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3" name="TextBox 30"/>
          <p:cNvSpPr/>
          <p:nvPr/>
        </p:nvSpPr>
        <p:spPr>
          <a:xfrm>
            <a:off x="2346840" y="3618360"/>
            <a:ext cx="235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70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Rectangle 31"/>
          <p:cNvSpPr/>
          <p:nvPr/>
        </p:nvSpPr>
        <p:spPr>
          <a:xfrm>
            <a:off x="3219480" y="3454920"/>
            <a:ext cx="196488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5" name="TextBox 32"/>
          <p:cNvSpPr/>
          <p:nvPr/>
        </p:nvSpPr>
        <p:spPr>
          <a:xfrm>
            <a:off x="4124880" y="3618360"/>
            <a:ext cx="154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B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ectangle 33"/>
          <p:cNvSpPr/>
          <p:nvPr/>
        </p:nvSpPr>
        <p:spPr>
          <a:xfrm>
            <a:off x="5185440" y="3454920"/>
            <a:ext cx="5073840" cy="6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7" name="TextBox 34"/>
          <p:cNvSpPr/>
          <p:nvPr/>
        </p:nvSpPr>
        <p:spPr>
          <a:xfrm>
            <a:off x="7090560" y="3618360"/>
            <a:ext cx="12636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no segundo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Rectangle 35"/>
          <p:cNvSpPr/>
          <p:nvPr/>
        </p:nvSpPr>
        <p:spPr>
          <a:xfrm>
            <a:off x="1710720" y="4067640"/>
            <a:ext cx="150768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9" name="TextBox 36"/>
          <p:cNvSpPr/>
          <p:nvPr/>
        </p:nvSpPr>
        <p:spPr>
          <a:xfrm>
            <a:off x="2346840" y="4230720"/>
            <a:ext cx="2350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71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ectangle 37"/>
          <p:cNvSpPr/>
          <p:nvPr/>
        </p:nvSpPr>
        <p:spPr>
          <a:xfrm>
            <a:off x="3219480" y="4067640"/>
            <a:ext cx="196488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31" name="TextBox 38"/>
          <p:cNvSpPr/>
          <p:nvPr/>
        </p:nvSpPr>
        <p:spPr>
          <a:xfrm>
            <a:off x="4122360" y="4230720"/>
            <a:ext cx="1587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C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ectangle 39"/>
          <p:cNvSpPr/>
          <p:nvPr/>
        </p:nvSpPr>
        <p:spPr>
          <a:xfrm>
            <a:off x="5185440" y="4067640"/>
            <a:ext cx="5073840" cy="61164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33" name="TextBox 40"/>
          <p:cNvSpPr/>
          <p:nvPr/>
        </p:nvSpPr>
        <p:spPr>
          <a:xfrm>
            <a:off x="6873120" y="4230720"/>
            <a:ext cx="1698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acima do segundo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Rounded Rectangle 41"/>
          <p:cNvSpPr/>
          <p:nvPr/>
        </p:nvSpPr>
        <p:spPr>
          <a:xfrm>
            <a:off x="1398960" y="4992480"/>
            <a:ext cx="909720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35" name="TextBox 42"/>
          <p:cNvSpPr/>
          <p:nvPr/>
        </p:nvSpPr>
        <p:spPr>
          <a:xfrm>
            <a:off x="3272040" y="5171040"/>
            <a:ext cx="5351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Fronteiras são mais informativas do que testar apenas valores “no meio” das faixas.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3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3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3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4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4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642" name="TextBox 7"/>
          <p:cNvSpPr/>
          <p:nvPr/>
        </p:nvSpPr>
        <p:spPr>
          <a:xfrm>
            <a:off x="2743920" y="768240"/>
            <a:ext cx="61419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Listas: várias leituras em uma coleção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8"/>
          <p:cNvSpPr/>
          <p:nvPr/>
        </p:nvSpPr>
        <p:spPr>
          <a:xfrm>
            <a:off x="3169080" y="1307520"/>
            <a:ext cx="52365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lista mantém valores em ordem e permite acessá-los por posição.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11"/>
          <p:cNvSpPr/>
          <p:nvPr/>
        </p:nvSpPr>
        <p:spPr>
          <a:xfrm>
            <a:off x="896040" y="1901880"/>
            <a:ext cx="5896800" cy="2696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47" name="TextBox 12"/>
          <p:cNvSpPr/>
          <p:nvPr/>
        </p:nvSpPr>
        <p:spPr>
          <a:xfrm>
            <a:off x="3661200" y="2011680"/>
            <a:ext cx="366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LISTA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13"/>
          <p:cNvSpPr/>
          <p:nvPr/>
        </p:nvSpPr>
        <p:spPr>
          <a:xfrm>
            <a:off x="2252880" y="2700000"/>
            <a:ext cx="3327120" cy="12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print(leituras[0])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print(leituras[2])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print(len(leituras))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Rounded Rectangle 14"/>
          <p:cNvSpPr/>
          <p:nvPr/>
        </p:nvSpPr>
        <p:spPr>
          <a:xfrm>
            <a:off x="896040" y="4709160"/>
            <a:ext cx="5896800" cy="87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50" name="TextBox 15"/>
          <p:cNvSpPr/>
          <p:nvPr/>
        </p:nvSpPr>
        <p:spPr>
          <a:xfrm>
            <a:off x="1179720" y="478224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16"/>
          <p:cNvSpPr/>
          <p:nvPr/>
        </p:nvSpPr>
        <p:spPr>
          <a:xfrm>
            <a:off x="3260520" y="4763880"/>
            <a:ext cx="18900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[22, 30, 45, 70, 90]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22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45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17"/>
          <p:cNvSpPr/>
          <p:nvPr/>
        </p:nvSpPr>
        <p:spPr>
          <a:xfrm>
            <a:off x="7178040" y="1938600"/>
            <a:ext cx="3766320" cy="2613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53" name="TextBox 18"/>
          <p:cNvSpPr/>
          <p:nvPr/>
        </p:nvSpPr>
        <p:spPr>
          <a:xfrm>
            <a:off x="8805600" y="2247840"/>
            <a:ext cx="492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Índices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19"/>
          <p:cNvSpPr/>
          <p:nvPr/>
        </p:nvSpPr>
        <p:spPr>
          <a:xfrm>
            <a:off x="7477560" y="2761560"/>
            <a:ext cx="316692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posição:   0   1   2   3   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valor:     22  30  45  70  90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20"/>
          <p:cNvSpPr/>
          <p:nvPr/>
        </p:nvSpPr>
        <p:spPr>
          <a:xfrm>
            <a:off x="7745040" y="3901320"/>
            <a:ext cx="2568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300" spc="-1" strike="noStrike">
                <a:solidFill>
                  <a:srgbClr val="5b6b86"/>
                </a:solidFill>
                <a:latin typeface="Lato"/>
              </a:rPr>
              <a:t>Em Python, a primeira posição é 0.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TextBox 65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57" name="Connector 1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58" name="Connector 6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59" name="Connector 7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60" name="Connector 8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61" name="Picture 1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662" name="TextBox 66"/>
          <p:cNvSpPr/>
          <p:nvPr/>
        </p:nvSpPr>
        <p:spPr>
          <a:xfrm>
            <a:off x="1924920" y="768240"/>
            <a:ext cx="77839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Listas: mudar e acrescentar valor a uma coleção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Box 67"/>
          <p:cNvSpPr/>
          <p:nvPr/>
        </p:nvSpPr>
        <p:spPr>
          <a:xfrm>
            <a:off x="3169080" y="1307520"/>
            <a:ext cx="52365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lista mantém valores em ordem e permite acessá-los por posição.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68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69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ounded Rectangle 2"/>
          <p:cNvSpPr/>
          <p:nvPr/>
        </p:nvSpPr>
        <p:spPr>
          <a:xfrm>
            <a:off x="896040" y="1901880"/>
            <a:ext cx="5896800" cy="2696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67" name="TextBox 70"/>
          <p:cNvSpPr/>
          <p:nvPr/>
        </p:nvSpPr>
        <p:spPr>
          <a:xfrm>
            <a:off x="3661200" y="2011680"/>
            <a:ext cx="366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LISTA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71"/>
          <p:cNvSpPr/>
          <p:nvPr/>
        </p:nvSpPr>
        <p:spPr>
          <a:xfrm>
            <a:off x="2394720" y="2465280"/>
            <a:ext cx="3219840" cy="177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ff0000"/>
                </a:solidFill>
                <a:latin typeface="DejaVu Sans Mono"/>
              </a:rPr>
              <a:t>Acrescentar no código </a:t>
            </a:r>
            <a:r>
              <a:rPr b="0" lang="pt-BR" sz="1400" spc="-1" strike="noStrike">
                <a:solidFill>
                  <a:srgbClr val="ff0000"/>
                </a:solidFill>
                <a:latin typeface="DejaVu Sans Mono"/>
              </a:rPr>
              <a:t>anterior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leituras[0] = 20</a:t>
            </a:r>
            <a:br>
              <a:rPr sz="1400"/>
            </a:br>
            <a:r>
              <a:rPr b="0" lang="pt-BR" sz="1400" spc="-1" strike="noStrike">
                <a:solidFill>
                  <a:srgbClr val="071a4a"/>
                </a:solidFill>
                <a:latin typeface="DejaVu Sans Mono"/>
                <a:ea typeface="Noto Sans CJK SC"/>
              </a:rPr>
              <a:t>leituras.append(100)</a:t>
            </a:r>
            <a:br>
              <a:rPr sz="1400"/>
            </a:b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print(len(leituras))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3"/>
          <p:cNvSpPr/>
          <p:nvPr/>
        </p:nvSpPr>
        <p:spPr>
          <a:xfrm>
            <a:off x="896040" y="4709160"/>
            <a:ext cx="5896800" cy="87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0" name="TextBox 72"/>
          <p:cNvSpPr/>
          <p:nvPr/>
        </p:nvSpPr>
        <p:spPr>
          <a:xfrm>
            <a:off x="1179720" y="478224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73"/>
          <p:cNvSpPr/>
          <p:nvPr/>
        </p:nvSpPr>
        <p:spPr>
          <a:xfrm>
            <a:off x="3031560" y="4763880"/>
            <a:ext cx="2347920" cy="4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[20, 30, 45, 70, 90, 100]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6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4"/>
          <p:cNvSpPr/>
          <p:nvPr/>
        </p:nvSpPr>
        <p:spPr>
          <a:xfrm>
            <a:off x="7178040" y="1938600"/>
            <a:ext cx="3981960" cy="2613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3" name="TextBox 74"/>
          <p:cNvSpPr/>
          <p:nvPr/>
        </p:nvSpPr>
        <p:spPr>
          <a:xfrm>
            <a:off x="8805600" y="2247840"/>
            <a:ext cx="492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Índices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75"/>
          <p:cNvSpPr/>
          <p:nvPr/>
        </p:nvSpPr>
        <p:spPr>
          <a:xfrm>
            <a:off x="7380000" y="2761560"/>
            <a:ext cx="370296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Posição:   0   1   2   3   4   5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Valor:     20  30  45  70  90  100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76"/>
          <p:cNvSpPr/>
          <p:nvPr/>
        </p:nvSpPr>
        <p:spPr>
          <a:xfrm>
            <a:off x="7745040" y="3901320"/>
            <a:ext cx="2568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300" spc="-1" strike="noStrike">
                <a:solidFill>
                  <a:srgbClr val="5b6b86"/>
                </a:solidFill>
                <a:latin typeface="Lato"/>
              </a:rPr>
              <a:t>Em Python, a primeira posição é 0.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7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7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7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8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8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682" name="TextBox 7"/>
          <p:cNvSpPr/>
          <p:nvPr/>
        </p:nvSpPr>
        <p:spPr>
          <a:xfrm>
            <a:off x="3514320" y="768240"/>
            <a:ext cx="46011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for: faça algo para cada item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8"/>
          <p:cNvSpPr/>
          <p:nvPr/>
        </p:nvSpPr>
        <p:spPr>
          <a:xfrm>
            <a:off x="3234600" y="1307520"/>
            <a:ext cx="5105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laço percorre a lista sem copiarmos o mesmo código muitas vezes.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Rounded Rectangle 11"/>
          <p:cNvSpPr/>
          <p:nvPr/>
        </p:nvSpPr>
        <p:spPr>
          <a:xfrm>
            <a:off x="896040" y="1920240"/>
            <a:ext cx="6289920" cy="2467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87" name="TextBox 12"/>
          <p:cNvSpPr/>
          <p:nvPr/>
        </p:nvSpPr>
        <p:spPr>
          <a:xfrm>
            <a:off x="3340440" y="2030040"/>
            <a:ext cx="14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PERCORRENDO A LISTA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13"/>
          <p:cNvSpPr/>
          <p:nvPr/>
        </p:nvSpPr>
        <p:spPr>
          <a:xfrm>
            <a:off x="2448000" y="2304360"/>
            <a:ext cx="318564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print("Leitura:", valor)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Rounded Rectangle 14"/>
          <p:cNvSpPr/>
          <p:nvPr/>
        </p:nvSpPr>
        <p:spPr>
          <a:xfrm>
            <a:off x="896040" y="4498920"/>
            <a:ext cx="6289920" cy="1260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90" name="TextBox 15"/>
          <p:cNvSpPr/>
          <p:nvPr/>
        </p:nvSpPr>
        <p:spPr>
          <a:xfrm>
            <a:off x="1179720" y="457200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16"/>
          <p:cNvSpPr/>
          <p:nvPr/>
        </p:nvSpPr>
        <p:spPr>
          <a:xfrm>
            <a:off x="3870360" y="4553640"/>
            <a:ext cx="106380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22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30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45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70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90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ounded Rectangle 17"/>
          <p:cNvSpPr/>
          <p:nvPr/>
        </p:nvSpPr>
        <p:spPr>
          <a:xfrm>
            <a:off x="7543800" y="1956960"/>
            <a:ext cx="3975480" cy="233964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93" name="TextBox 18"/>
          <p:cNvSpPr/>
          <p:nvPr/>
        </p:nvSpPr>
        <p:spPr>
          <a:xfrm>
            <a:off x="8715600" y="2247840"/>
            <a:ext cx="1092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A cada repetição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19"/>
          <p:cNvSpPr/>
          <p:nvPr/>
        </p:nvSpPr>
        <p:spPr>
          <a:xfrm>
            <a:off x="7920000" y="2700000"/>
            <a:ext cx="3407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valor recebe o próximo item da lista.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20"/>
          <p:cNvSpPr/>
          <p:nvPr/>
        </p:nvSpPr>
        <p:spPr>
          <a:xfrm>
            <a:off x="8156520" y="3355200"/>
            <a:ext cx="26427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Quando a lista termina, o for termina.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9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9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9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0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0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702" name="TextBox 7"/>
          <p:cNvSpPr/>
          <p:nvPr/>
        </p:nvSpPr>
        <p:spPr>
          <a:xfrm>
            <a:off x="3751200" y="768240"/>
            <a:ext cx="4127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Repetir a lógica completa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8"/>
          <p:cNvSpPr/>
          <p:nvPr/>
        </p:nvSpPr>
        <p:spPr>
          <a:xfrm>
            <a:off x="3366360" y="1307520"/>
            <a:ext cx="48420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Cada nova leitura precisa ser classificada — não apenas impressa.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Rounded Rectangle 11"/>
          <p:cNvSpPr/>
          <p:nvPr/>
        </p:nvSpPr>
        <p:spPr>
          <a:xfrm>
            <a:off x="804600" y="1810440"/>
            <a:ext cx="4954680" cy="26895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07" name="TextBox 12"/>
          <p:cNvSpPr/>
          <p:nvPr/>
        </p:nvSpPr>
        <p:spPr>
          <a:xfrm>
            <a:off x="2516400" y="1980000"/>
            <a:ext cx="1982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DECISÃO DENTRO DA REPETIÇÃO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13"/>
          <p:cNvSpPr/>
          <p:nvPr/>
        </p:nvSpPr>
        <p:spPr>
          <a:xfrm>
            <a:off x="1838160" y="2235960"/>
            <a:ext cx="3242880" cy="21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print(“Leituras e classificações”)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for </a:t>
            </a:r>
            <a:r>
              <a:rPr b="0" lang="pt-BR" sz="1250" spc="-1" strike="noStrike">
                <a:solidFill>
                  <a:srgbClr val="ff0000"/>
                </a:solidFill>
                <a:latin typeface="DejaVu Sans Mono"/>
              </a:rPr>
              <a:t>valor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in </a:t>
            </a:r>
            <a:r>
              <a:rPr b="0" lang="pt-BR" sz="1250" spc="-1" strike="noStrike">
                <a:solidFill>
                  <a:srgbClr val="ff0000"/>
                </a:solidFill>
                <a:latin typeface="DejaVu Sans Mono"/>
              </a:rPr>
              <a:t>leituras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if valor &lt; 30: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elif valor &lt;= 70: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"B"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else: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"C"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print(valor, estado)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print("Fim")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14"/>
          <p:cNvSpPr/>
          <p:nvPr/>
        </p:nvSpPr>
        <p:spPr>
          <a:xfrm>
            <a:off x="720000" y="4680720"/>
            <a:ext cx="4955400" cy="161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10" name="TextBox 15"/>
          <p:cNvSpPr/>
          <p:nvPr/>
        </p:nvSpPr>
        <p:spPr>
          <a:xfrm>
            <a:off x="1066320" y="486396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16"/>
          <p:cNvSpPr/>
          <p:nvPr/>
        </p:nvSpPr>
        <p:spPr>
          <a:xfrm>
            <a:off x="1851840" y="4860000"/>
            <a:ext cx="2439360" cy="13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Leituras e classificações</a:t>
            </a:r>
            <a:br>
              <a:rPr sz="1200"/>
            </a:b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22 A   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30 B  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45 B   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70 B   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90 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Fim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17"/>
          <p:cNvSpPr/>
          <p:nvPr/>
        </p:nvSpPr>
        <p:spPr>
          <a:xfrm>
            <a:off x="6396840" y="2191320"/>
            <a:ext cx="5303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Qual trecho precisa ficar indentado dentro do for?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Rounded Rectangle 18"/>
          <p:cNvSpPr/>
          <p:nvPr/>
        </p:nvSpPr>
        <p:spPr>
          <a:xfrm>
            <a:off x="7380000" y="3072960"/>
            <a:ext cx="290664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14" name="TextBox 19"/>
          <p:cNvSpPr/>
          <p:nvPr/>
        </p:nvSpPr>
        <p:spPr>
          <a:xfrm>
            <a:off x="7607880" y="3143160"/>
            <a:ext cx="24508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TODO O PROCESSAMENTO DA LEITURA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20"/>
          <p:cNvSpPr/>
          <p:nvPr/>
        </p:nvSpPr>
        <p:spPr>
          <a:xfrm>
            <a:off x="6480000" y="4140000"/>
            <a:ext cx="4693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5b6b86"/>
                </a:solidFill>
                <a:latin typeface="Lato"/>
              </a:rPr>
              <a:t>Esse erro — deixar a classificação fora do laço — é muito comum.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217200" y="5106600"/>
            <a:ext cx="5482800" cy="653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O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for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percorre a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variável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leituras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e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guarda cada valor na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variável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valor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18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19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20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21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2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723" name="TextBox 7"/>
          <p:cNvSpPr/>
          <p:nvPr/>
        </p:nvSpPr>
        <p:spPr>
          <a:xfrm>
            <a:off x="1597680" y="768240"/>
            <a:ext cx="84340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while: repetir enquanto uma condição for verdadeira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8"/>
          <p:cNvSpPr/>
          <p:nvPr/>
        </p:nvSpPr>
        <p:spPr>
          <a:xfrm>
            <a:off x="3280320" y="1307520"/>
            <a:ext cx="50140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Use quando a quantidade de repetições depende de uma condição.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Rounded Rectangle 11"/>
          <p:cNvSpPr/>
          <p:nvPr/>
        </p:nvSpPr>
        <p:spPr>
          <a:xfrm>
            <a:off x="896040" y="1901880"/>
            <a:ext cx="5583240" cy="30164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28" name="TextBox 12"/>
          <p:cNvSpPr/>
          <p:nvPr/>
        </p:nvSpPr>
        <p:spPr>
          <a:xfrm>
            <a:off x="3142440" y="2011680"/>
            <a:ext cx="1586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REPETIÇÃO CONDICIONAL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13"/>
          <p:cNvSpPr/>
          <p:nvPr/>
        </p:nvSpPr>
        <p:spPr>
          <a:xfrm>
            <a:off x="1980000" y="2550960"/>
            <a:ext cx="3632040" cy="14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contador = 0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while contador &lt; 3: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print("Tentativa", contador + 1)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contador += 1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print("fim")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14"/>
          <p:cNvSpPr/>
          <p:nvPr/>
        </p:nvSpPr>
        <p:spPr>
          <a:xfrm>
            <a:off x="896040" y="5040000"/>
            <a:ext cx="5583240" cy="109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31" name="TextBox 15"/>
          <p:cNvSpPr/>
          <p:nvPr/>
        </p:nvSpPr>
        <p:spPr>
          <a:xfrm>
            <a:off x="1179720" y="510228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Box 16"/>
          <p:cNvSpPr/>
          <p:nvPr/>
        </p:nvSpPr>
        <p:spPr>
          <a:xfrm>
            <a:off x="2340000" y="5220000"/>
            <a:ext cx="10638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3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fim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Rounded Rectangle 17"/>
          <p:cNvSpPr/>
          <p:nvPr/>
        </p:nvSpPr>
        <p:spPr>
          <a:xfrm>
            <a:off x="7360920" y="1938600"/>
            <a:ext cx="3492000" cy="122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34" name="TextBox 18"/>
          <p:cNvSpPr/>
          <p:nvPr/>
        </p:nvSpPr>
        <p:spPr>
          <a:xfrm>
            <a:off x="8876520" y="2057400"/>
            <a:ext cx="4611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FOR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19"/>
          <p:cNvSpPr/>
          <p:nvPr/>
        </p:nvSpPr>
        <p:spPr>
          <a:xfrm>
            <a:off x="7679160" y="2598480"/>
            <a:ext cx="28548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bom quando percorremos uma coleção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20"/>
          <p:cNvSpPr/>
          <p:nvPr/>
        </p:nvSpPr>
        <p:spPr>
          <a:xfrm>
            <a:off x="7360920" y="3364920"/>
            <a:ext cx="3492000" cy="122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37" name="TextBox 21"/>
          <p:cNvSpPr/>
          <p:nvPr/>
        </p:nvSpPr>
        <p:spPr>
          <a:xfrm>
            <a:off x="8754480" y="3483720"/>
            <a:ext cx="7052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WHILE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22"/>
          <p:cNvSpPr/>
          <p:nvPr/>
        </p:nvSpPr>
        <p:spPr>
          <a:xfrm>
            <a:off x="7687800" y="4024800"/>
            <a:ext cx="2837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bom quando repetimos até algo mudar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Rounded Rectangle 23"/>
          <p:cNvSpPr/>
          <p:nvPr/>
        </p:nvSpPr>
        <p:spPr>
          <a:xfrm>
            <a:off x="7388280" y="4800600"/>
            <a:ext cx="3455280" cy="51084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40" name="TextBox 24"/>
          <p:cNvSpPr/>
          <p:nvPr/>
        </p:nvSpPr>
        <p:spPr>
          <a:xfrm>
            <a:off x="7886880" y="4865040"/>
            <a:ext cx="2458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Cuidado: se a condição nunca mudar, 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o while pode não terminar.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42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43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44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45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46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747" name="TextBox 7"/>
          <p:cNvSpPr/>
          <p:nvPr/>
        </p:nvSpPr>
        <p:spPr>
          <a:xfrm>
            <a:off x="3627000" y="768240"/>
            <a:ext cx="4375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Gerando leituras sintéticas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Box 8"/>
          <p:cNvSpPr/>
          <p:nvPr/>
        </p:nvSpPr>
        <p:spPr>
          <a:xfrm>
            <a:off x="3027960" y="1307520"/>
            <a:ext cx="5518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 módulo pode fornecer funções que não fazem parte do núcleo básico.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1"/>
          <p:cNvSpPr/>
          <p:nvPr/>
        </p:nvSpPr>
        <p:spPr>
          <a:xfrm>
            <a:off x="896040" y="1920240"/>
            <a:ext cx="5896800" cy="20397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52" name="TextBox 12"/>
          <p:cNvSpPr/>
          <p:nvPr/>
        </p:nvSpPr>
        <p:spPr>
          <a:xfrm>
            <a:off x="3173040" y="2030040"/>
            <a:ext cx="13428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VALORES ALEATÓRIOS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Box 13"/>
          <p:cNvSpPr/>
          <p:nvPr/>
        </p:nvSpPr>
        <p:spPr>
          <a:xfrm>
            <a:off x="2066400" y="2555640"/>
            <a:ext cx="3555720" cy="10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from random import randint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for _ in range(5):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valor_sensor = randint(0, 100)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Rounded Rectangle 14"/>
          <p:cNvSpPr/>
          <p:nvPr/>
        </p:nvSpPr>
        <p:spPr>
          <a:xfrm>
            <a:off x="896040" y="4500000"/>
            <a:ext cx="589680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55" name="TextBox 15"/>
          <p:cNvSpPr/>
          <p:nvPr/>
        </p:nvSpPr>
        <p:spPr>
          <a:xfrm>
            <a:off x="1260000" y="461232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16"/>
          <p:cNvSpPr/>
          <p:nvPr/>
        </p:nvSpPr>
        <p:spPr>
          <a:xfrm>
            <a:off x="2182320" y="4611240"/>
            <a:ext cx="2379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18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31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45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70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82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Rounded Rectangle 17"/>
          <p:cNvSpPr/>
          <p:nvPr/>
        </p:nvSpPr>
        <p:spPr>
          <a:xfrm>
            <a:off x="7150680" y="1920240"/>
            <a:ext cx="4188600" cy="221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58" name="TextBox 18"/>
          <p:cNvSpPr/>
          <p:nvPr/>
        </p:nvSpPr>
        <p:spPr>
          <a:xfrm>
            <a:off x="8147520" y="2053440"/>
            <a:ext cx="1932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Por que usar dados sintéticos?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Box 19"/>
          <p:cNvSpPr/>
          <p:nvPr/>
        </p:nvSpPr>
        <p:spPr>
          <a:xfrm>
            <a:off x="7444080" y="24228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20"/>
          <p:cNvSpPr/>
          <p:nvPr/>
        </p:nvSpPr>
        <p:spPr>
          <a:xfrm>
            <a:off x="7748640" y="2422800"/>
            <a:ext cx="19875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praticar sem dados pessoais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21"/>
          <p:cNvSpPr/>
          <p:nvPr/>
        </p:nvSpPr>
        <p:spPr>
          <a:xfrm>
            <a:off x="7444080" y="284364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22"/>
          <p:cNvSpPr/>
          <p:nvPr/>
        </p:nvSpPr>
        <p:spPr>
          <a:xfrm>
            <a:off x="7774200" y="2843640"/>
            <a:ext cx="18853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repetir testes rapidamente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3"/>
          <p:cNvSpPr/>
          <p:nvPr/>
        </p:nvSpPr>
        <p:spPr>
          <a:xfrm>
            <a:off x="7444080" y="326412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24"/>
          <p:cNvSpPr/>
          <p:nvPr/>
        </p:nvSpPr>
        <p:spPr>
          <a:xfrm>
            <a:off x="7781400" y="3264120"/>
            <a:ext cx="13978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criar casos variados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25"/>
          <p:cNvSpPr/>
          <p:nvPr/>
        </p:nvSpPr>
        <p:spPr>
          <a:xfrm>
            <a:off x="7444080" y="36846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26"/>
          <p:cNvSpPr/>
          <p:nvPr/>
        </p:nvSpPr>
        <p:spPr>
          <a:xfrm>
            <a:off x="7779600" y="3657960"/>
            <a:ext cx="31640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separar programação de interpretação clínica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7200000" y="4320000"/>
            <a:ext cx="4140000" cy="171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O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range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gera uma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lista com valores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de 1 até 5.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O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for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percorre a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lista mas não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guarda o valor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(observe uso do _)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O </a:t>
            </a:r>
            <a:r>
              <a:rPr b="0" lang="pt-BR" sz="1370" spc="-1" strike="noStrike">
                <a:solidFill>
                  <a:srgbClr val="ff0000"/>
                </a:solidFill>
                <a:latin typeface="DejaVu Sans Mono"/>
              </a:rPr>
              <a:t>randint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gera um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número inteiro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pseudoaleatório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entre 0 e 100.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69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70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71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72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7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774" name="TextBox 7"/>
          <p:cNvSpPr/>
          <p:nvPr/>
        </p:nvSpPr>
        <p:spPr>
          <a:xfrm>
            <a:off x="3217680" y="768240"/>
            <a:ext cx="51940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Funções: dar nome a uma tarefa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8"/>
          <p:cNvSpPr/>
          <p:nvPr/>
        </p:nvSpPr>
        <p:spPr>
          <a:xfrm>
            <a:off x="2908440" y="1307520"/>
            <a:ext cx="5757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função recebe dados, executa uma tarefa e pode devolver um resultado.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ounded Rectangle 11"/>
          <p:cNvSpPr/>
          <p:nvPr/>
        </p:nvSpPr>
        <p:spPr>
          <a:xfrm>
            <a:off x="896040" y="2030040"/>
            <a:ext cx="2559240" cy="1900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79" name="TextBox 12"/>
          <p:cNvSpPr/>
          <p:nvPr/>
        </p:nvSpPr>
        <p:spPr>
          <a:xfrm>
            <a:off x="1864800" y="2148840"/>
            <a:ext cx="622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Box 13"/>
          <p:cNvSpPr/>
          <p:nvPr/>
        </p:nvSpPr>
        <p:spPr>
          <a:xfrm>
            <a:off x="1887480" y="2982600"/>
            <a:ext cx="5763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900" spc="-1" strike="noStrike">
                <a:solidFill>
                  <a:srgbClr val="071a4a"/>
                </a:solidFill>
                <a:latin typeface="Lato"/>
              </a:rPr>
              <a:t>valor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81" name="Connector 14"/>
          <p:cNvCxnSpPr/>
          <p:nvPr/>
        </p:nvCxnSpPr>
        <p:spPr>
          <a:xfrm>
            <a:off x="3520440" y="2971800"/>
            <a:ext cx="522000" cy="1080"/>
          </a:xfrm>
          <a:prstGeom prst="straightConnector1">
            <a:avLst/>
          </a:prstGeom>
          <a:ln w="22860">
            <a:solidFill>
              <a:srgbClr val="91a0b6"/>
            </a:solidFill>
            <a:round/>
          </a:ln>
        </p:spPr>
      </p:cxnSp>
      <p:sp>
        <p:nvSpPr>
          <p:cNvPr id="782" name="Rounded Rectangle 15"/>
          <p:cNvSpPr/>
          <p:nvPr/>
        </p:nvSpPr>
        <p:spPr>
          <a:xfrm>
            <a:off x="4078080" y="1938600"/>
            <a:ext cx="3894120" cy="20836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905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83" name="TextBox 16"/>
          <p:cNvSpPr/>
          <p:nvPr/>
        </p:nvSpPr>
        <p:spPr>
          <a:xfrm>
            <a:off x="4768560" y="2432520"/>
            <a:ext cx="2531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DejaVu Sans Mono"/>
              </a:rPr>
              <a:t>classificar(valor)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17"/>
          <p:cNvSpPr/>
          <p:nvPr/>
        </p:nvSpPr>
        <p:spPr>
          <a:xfrm>
            <a:off x="5123880" y="3028320"/>
            <a:ext cx="182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300" spc="-1" strike="noStrike">
                <a:solidFill>
                  <a:srgbClr val="5b6b86"/>
                </a:solidFill>
                <a:latin typeface="Lato"/>
              </a:rPr>
              <a:t>aplica as regras A / B / C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85" name="Connector 18"/>
          <p:cNvCxnSpPr/>
          <p:nvPr/>
        </p:nvCxnSpPr>
        <p:spPr>
          <a:xfrm>
            <a:off x="8010000" y="2971800"/>
            <a:ext cx="540720" cy="1080"/>
          </a:xfrm>
          <a:prstGeom prst="straightConnector1">
            <a:avLst/>
          </a:prstGeom>
          <a:ln w="22860">
            <a:solidFill>
              <a:srgbClr val="91a0b6"/>
            </a:solidFill>
            <a:round/>
          </a:ln>
        </p:spPr>
      </p:cxnSp>
      <p:sp>
        <p:nvSpPr>
          <p:cNvPr id="786" name="Rounded Rectangle 19"/>
          <p:cNvSpPr/>
          <p:nvPr/>
        </p:nvSpPr>
        <p:spPr>
          <a:xfrm>
            <a:off x="8613720" y="2030040"/>
            <a:ext cx="2403720" cy="1900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87" name="TextBox 20"/>
          <p:cNvSpPr/>
          <p:nvPr/>
        </p:nvSpPr>
        <p:spPr>
          <a:xfrm>
            <a:off x="9497520" y="2148840"/>
            <a:ext cx="635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RETORNO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21"/>
          <p:cNvSpPr/>
          <p:nvPr/>
        </p:nvSpPr>
        <p:spPr>
          <a:xfrm>
            <a:off x="9088920" y="2990160"/>
            <a:ext cx="14526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"A", "B" ou "C"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Box 22"/>
          <p:cNvSpPr/>
          <p:nvPr/>
        </p:nvSpPr>
        <p:spPr>
          <a:xfrm>
            <a:off x="4265640" y="4733640"/>
            <a:ext cx="367452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5b6b86"/>
                </a:solidFill>
                <a:latin typeface="Lato"/>
              </a:rPr>
              <a:t>Vantagens: clareza · reuso · teste isolado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91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92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93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94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9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796" name="TextBox 7"/>
          <p:cNvSpPr/>
          <p:nvPr/>
        </p:nvSpPr>
        <p:spPr>
          <a:xfrm>
            <a:off x="3299400" y="768240"/>
            <a:ext cx="50310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Nossa função classificar(valor)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8"/>
          <p:cNvSpPr/>
          <p:nvPr/>
        </p:nvSpPr>
        <p:spPr>
          <a:xfrm>
            <a:off x="4039920" y="1307520"/>
            <a:ext cx="34948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Extraímos a decisão para um bloco reutilizável.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1"/>
          <p:cNvSpPr/>
          <p:nvPr/>
        </p:nvSpPr>
        <p:spPr>
          <a:xfrm>
            <a:off x="896040" y="1810440"/>
            <a:ext cx="6491160" cy="30495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01" name="TextBox 12"/>
          <p:cNvSpPr/>
          <p:nvPr/>
        </p:nvSpPr>
        <p:spPr>
          <a:xfrm>
            <a:off x="3590640" y="1920240"/>
            <a:ext cx="1101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FUNÇÃO + TESTES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13"/>
          <p:cNvSpPr/>
          <p:nvPr/>
        </p:nvSpPr>
        <p:spPr>
          <a:xfrm>
            <a:off x="2880000" y="2520000"/>
            <a:ext cx="2257560" cy="19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ff0000"/>
                </a:solidFill>
                <a:latin typeface="DejaVu Sans Mono"/>
              </a:rPr>
              <a:t>def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classificar(valor):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if valor &lt; 30: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80" spc="-1" strike="noStrike">
                <a:solidFill>
                  <a:srgbClr val="ff0000"/>
                </a:solidFill>
                <a:latin typeface="DejaVu Sans Mono"/>
              </a:rPr>
              <a:t>return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"A"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elif valor &lt;= 70: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80" spc="-1" strike="noStrike">
                <a:solidFill>
                  <a:srgbClr val="ff0000"/>
                </a:solidFill>
                <a:latin typeface="DejaVu Sans Mono"/>
              </a:rPr>
              <a:t>return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"B"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ff0000"/>
                </a:solidFill>
                <a:latin typeface="DejaVu Sans Mono"/>
              </a:rPr>
              <a:t>return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"C"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print(classificar(29))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print(classificar(30))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print(classificar(71))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4"/>
          <p:cNvSpPr/>
          <p:nvPr/>
        </p:nvSpPr>
        <p:spPr>
          <a:xfrm>
            <a:off x="896040" y="5220000"/>
            <a:ext cx="6491160" cy="721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04" name="TextBox 15"/>
          <p:cNvSpPr/>
          <p:nvPr/>
        </p:nvSpPr>
        <p:spPr>
          <a:xfrm>
            <a:off x="1179720" y="529308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Box 16"/>
          <p:cNvSpPr/>
          <p:nvPr/>
        </p:nvSpPr>
        <p:spPr>
          <a:xfrm>
            <a:off x="4429440" y="5274720"/>
            <a:ext cx="146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Rounded Rectangle 17"/>
          <p:cNvSpPr/>
          <p:nvPr/>
        </p:nvSpPr>
        <p:spPr>
          <a:xfrm>
            <a:off x="7772400" y="1883520"/>
            <a:ext cx="3135240" cy="1077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07" name="TextBox 18"/>
          <p:cNvSpPr/>
          <p:nvPr/>
        </p:nvSpPr>
        <p:spPr>
          <a:xfrm>
            <a:off x="9198000" y="2002680"/>
            <a:ext cx="283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DEF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Box 19"/>
          <p:cNvSpPr/>
          <p:nvPr/>
        </p:nvSpPr>
        <p:spPr>
          <a:xfrm>
            <a:off x="8736120" y="2467080"/>
            <a:ext cx="12070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define a função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ounded Rectangle 20"/>
          <p:cNvSpPr/>
          <p:nvPr/>
        </p:nvSpPr>
        <p:spPr>
          <a:xfrm>
            <a:off x="7772400" y="3182040"/>
            <a:ext cx="3135240" cy="1077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0" name="TextBox 21"/>
          <p:cNvSpPr/>
          <p:nvPr/>
        </p:nvSpPr>
        <p:spPr>
          <a:xfrm>
            <a:off x="9115560" y="3300840"/>
            <a:ext cx="448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VALOR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22"/>
          <p:cNvSpPr/>
          <p:nvPr/>
        </p:nvSpPr>
        <p:spPr>
          <a:xfrm>
            <a:off x="8503560" y="3765240"/>
            <a:ext cx="1672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parâmetro de entrada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Rounded Rectangle 23"/>
          <p:cNvSpPr/>
          <p:nvPr/>
        </p:nvSpPr>
        <p:spPr>
          <a:xfrm>
            <a:off x="7772400" y="4480560"/>
            <a:ext cx="3135240" cy="1077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3" name="TextBox 24"/>
          <p:cNvSpPr/>
          <p:nvPr/>
        </p:nvSpPr>
        <p:spPr>
          <a:xfrm>
            <a:off x="9073800" y="4599360"/>
            <a:ext cx="532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RETURN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25"/>
          <p:cNvSpPr/>
          <p:nvPr/>
        </p:nvSpPr>
        <p:spPr>
          <a:xfrm>
            <a:off x="8580600" y="5063760"/>
            <a:ext cx="15181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devolve o resultado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1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1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1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2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821" name="TextBox 7"/>
          <p:cNvSpPr/>
          <p:nvPr/>
        </p:nvSpPr>
        <p:spPr>
          <a:xfrm>
            <a:off x="2828520" y="768240"/>
            <a:ext cx="59727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return não é a mesma coisa que print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8"/>
          <p:cNvSpPr/>
          <p:nvPr/>
        </p:nvSpPr>
        <p:spPr>
          <a:xfrm>
            <a:off x="2821680" y="1307520"/>
            <a:ext cx="5931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Mostrar um valor na tela é diferente de devolvê-lo para o restante do programa.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ounded Rectangle 11"/>
          <p:cNvSpPr/>
          <p:nvPr/>
        </p:nvSpPr>
        <p:spPr>
          <a:xfrm>
            <a:off x="896040" y="1920240"/>
            <a:ext cx="4799520" cy="287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6" name="TextBox 12"/>
          <p:cNvSpPr/>
          <p:nvPr/>
        </p:nvSpPr>
        <p:spPr>
          <a:xfrm>
            <a:off x="2947320" y="2240640"/>
            <a:ext cx="696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10b9f3"/>
                </a:solidFill>
                <a:latin typeface="DejaVu Sans Mono"/>
              </a:rPr>
              <a:t>print()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13"/>
          <p:cNvSpPr/>
          <p:nvPr/>
        </p:nvSpPr>
        <p:spPr>
          <a:xfrm>
            <a:off x="1603080" y="2778480"/>
            <a:ext cx="33850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mostra informação para a pessoa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Rounded Rectangle 14"/>
          <p:cNvSpPr/>
          <p:nvPr/>
        </p:nvSpPr>
        <p:spPr>
          <a:xfrm>
            <a:off x="1170360" y="3355920"/>
            <a:ext cx="4159440" cy="10778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9" name="TextBox 15"/>
          <p:cNvSpPr/>
          <p:nvPr/>
        </p:nvSpPr>
        <p:spPr>
          <a:xfrm>
            <a:off x="2215800" y="3520440"/>
            <a:ext cx="206856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def mostrar(valor):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print(valor)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resultado = mostrar(52)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16"/>
          <p:cNvSpPr/>
          <p:nvPr/>
        </p:nvSpPr>
        <p:spPr>
          <a:xfrm>
            <a:off x="6153840" y="1920240"/>
            <a:ext cx="4799520" cy="287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1" name="TextBox 17"/>
          <p:cNvSpPr/>
          <p:nvPr/>
        </p:nvSpPr>
        <p:spPr>
          <a:xfrm>
            <a:off x="8250840" y="2240640"/>
            <a:ext cx="6051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725ac1"/>
                </a:solidFill>
                <a:latin typeface="DejaVu Sans Mono"/>
              </a:rPr>
              <a:t>return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extBox 18"/>
          <p:cNvSpPr/>
          <p:nvPr/>
        </p:nvSpPr>
        <p:spPr>
          <a:xfrm>
            <a:off x="7028640" y="2778480"/>
            <a:ext cx="304992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entrega um valor ao programa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Rounded Rectangle 19"/>
          <p:cNvSpPr/>
          <p:nvPr/>
        </p:nvSpPr>
        <p:spPr>
          <a:xfrm>
            <a:off x="6428160" y="3355920"/>
            <a:ext cx="4159440" cy="10778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4" name="TextBox 20"/>
          <p:cNvSpPr/>
          <p:nvPr/>
        </p:nvSpPr>
        <p:spPr>
          <a:xfrm>
            <a:off x="7428600" y="3520440"/>
            <a:ext cx="21582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def devolver(valor):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return valor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resultado = devolver(52)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ounded Rectangle 21"/>
          <p:cNvSpPr/>
          <p:nvPr/>
        </p:nvSpPr>
        <p:spPr>
          <a:xfrm>
            <a:off x="1828800" y="5157360"/>
            <a:ext cx="8319960" cy="51084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6" name="TextBox 22"/>
          <p:cNvSpPr/>
          <p:nvPr/>
        </p:nvSpPr>
        <p:spPr>
          <a:xfrm>
            <a:off x="3854880" y="5308200"/>
            <a:ext cx="4267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Para montar registros, precisamos do valor retornado pela função.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38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39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40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41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4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843" name="TextBox 7"/>
          <p:cNvSpPr/>
          <p:nvPr/>
        </p:nvSpPr>
        <p:spPr>
          <a:xfrm>
            <a:off x="1916280" y="768240"/>
            <a:ext cx="77968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Dicionários: um registro com campos nomeados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8"/>
          <p:cNvSpPr/>
          <p:nvPr/>
        </p:nvSpPr>
        <p:spPr>
          <a:xfrm>
            <a:off x="2570040" y="1307520"/>
            <a:ext cx="6434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Eles ajudam a representar uma leitura como um conjunto de informações relacionadas.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Rounded Rectangle 11"/>
          <p:cNvSpPr/>
          <p:nvPr/>
        </p:nvSpPr>
        <p:spPr>
          <a:xfrm>
            <a:off x="896040" y="1847160"/>
            <a:ext cx="6125400" cy="33822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48" name="TextBox 12"/>
          <p:cNvSpPr/>
          <p:nvPr/>
        </p:nvSpPr>
        <p:spPr>
          <a:xfrm>
            <a:off x="3525840" y="1956960"/>
            <a:ext cx="8658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UM REGISTRO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13"/>
          <p:cNvSpPr/>
          <p:nvPr/>
        </p:nvSpPr>
        <p:spPr>
          <a:xfrm>
            <a:off x="2160000" y="2540880"/>
            <a:ext cx="3462840" cy="14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registro = {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"valor_sensor": 52,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"estado_didatico": "B",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}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print(registro["estado_didatico"])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Rounded Rectangle 14"/>
          <p:cNvSpPr/>
          <p:nvPr/>
        </p:nvSpPr>
        <p:spPr>
          <a:xfrm>
            <a:off x="896040" y="5340240"/>
            <a:ext cx="6125400" cy="419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51" name="TextBox 15"/>
          <p:cNvSpPr/>
          <p:nvPr/>
        </p:nvSpPr>
        <p:spPr>
          <a:xfrm>
            <a:off x="1179720" y="5413320"/>
            <a:ext cx="3736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TextBox 16"/>
          <p:cNvSpPr/>
          <p:nvPr/>
        </p:nvSpPr>
        <p:spPr>
          <a:xfrm>
            <a:off x="4246560" y="5394960"/>
            <a:ext cx="146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Rounded Rectangle 17"/>
          <p:cNvSpPr/>
          <p:nvPr/>
        </p:nvSpPr>
        <p:spPr>
          <a:xfrm>
            <a:off x="7388280" y="1901880"/>
            <a:ext cx="3610800" cy="323604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54" name="TextBox 18"/>
          <p:cNvSpPr/>
          <p:nvPr/>
        </p:nvSpPr>
        <p:spPr>
          <a:xfrm>
            <a:off x="8589960" y="2261880"/>
            <a:ext cx="119808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0b9f3"/>
                </a:solidFill>
                <a:latin typeface="Inter Display"/>
              </a:rPr>
              <a:t>chave → valor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19"/>
          <p:cNvSpPr/>
          <p:nvPr/>
        </p:nvSpPr>
        <p:spPr>
          <a:xfrm>
            <a:off x="7920000" y="3060000"/>
            <a:ext cx="252396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"valor_sensor" → 52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"estado_didatico" → "B"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"qualidade" → "OK"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7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58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59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60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6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862" name="TextBox 7"/>
          <p:cNvSpPr/>
          <p:nvPr/>
        </p:nvSpPr>
        <p:spPr>
          <a:xfrm>
            <a:off x="4033800" y="768240"/>
            <a:ext cx="3561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De leituras a registros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8"/>
          <p:cNvSpPr/>
          <p:nvPr/>
        </p:nvSpPr>
        <p:spPr>
          <a:xfrm>
            <a:off x="3530160" y="1307520"/>
            <a:ext cx="45144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Lista + função + dicionário formam o núcleo do projeto final.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ounded Rectangle 11"/>
          <p:cNvSpPr/>
          <p:nvPr/>
        </p:nvSpPr>
        <p:spPr>
          <a:xfrm>
            <a:off x="720000" y="1800000"/>
            <a:ext cx="6811200" cy="290592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67" name="TextBox 12"/>
          <p:cNvSpPr/>
          <p:nvPr/>
        </p:nvSpPr>
        <p:spPr>
          <a:xfrm>
            <a:off x="3004560" y="1883520"/>
            <a:ext cx="2301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MONTANDO UMA LISTA DE REGISTROS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TextBox 13"/>
          <p:cNvSpPr/>
          <p:nvPr/>
        </p:nvSpPr>
        <p:spPr>
          <a:xfrm>
            <a:off x="2124000" y="2323080"/>
            <a:ext cx="4176000" cy="21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leituras = [18, 31, 45, 70, 82]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registros = []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 = {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"valor_sensor": valor,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"estado_didatico": classificar(valor),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}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registros.append(registro)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Rounded Rectangle 14"/>
          <p:cNvSpPr/>
          <p:nvPr/>
        </p:nvSpPr>
        <p:spPr>
          <a:xfrm>
            <a:off x="7882200" y="1901880"/>
            <a:ext cx="3126240" cy="354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0" name="TextBox 15"/>
          <p:cNvSpPr/>
          <p:nvPr/>
        </p:nvSpPr>
        <p:spPr>
          <a:xfrm>
            <a:off x="9246960" y="2211480"/>
            <a:ext cx="3963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Fluxo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Rounded Rectangle 16"/>
          <p:cNvSpPr/>
          <p:nvPr/>
        </p:nvSpPr>
        <p:spPr>
          <a:xfrm>
            <a:off x="8275320" y="2670120"/>
            <a:ext cx="233064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2" name="TextBox 17"/>
          <p:cNvSpPr/>
          <p:nvPr/>
        </p:nvSpPr>
        <p:spPr>
          <a:xfrm>
            <a:off x="8989920" y="2740320"/>
            <a:ext cx="9010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lista de leituras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3" name="Connector 18"/>
          <p:cNvCxnSpPr/>
          <p:nvPr/>
        </p:nvCxnSpPr>
        <p:spPr>
          <a:xfrm>
            <a:off x="9445680" y="3017520"/>
            <a:ext cx="1080" cy="11988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74" name="Rounded Rectangle 19"/>
          <p:cNvSpPr/>
          <p:nvPr/>
        </p:nvSpPr>
        <p:spPr>
          <a:xfrm>
            <a:off x="8275320" y="3182040"/>
            <a:ext cx="233064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5" name="TextBox 20"/>
          <p:cNvSpPr/>
          <p:nvPr/>
        </p:nvSpPr>
        <p:spPr>
          <a:xfrm>
            <a:off x="9331560" y="3252240"/>
            <a:ext cx="2181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for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6" name="Connector 21"/>
          <p:cNvCxnSpPr/>
          <p:nvPr/>
        </p:nvCxnSpPr>
        <p:spPr>
          <a:xfrm>
            <a:off x="9445680" y="3529440"/>
            <a:ext cx="1080" cy="11988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77" name="Rounded Rectangle 22"/>
          <p:cNvSpPr/>
          <p:nvPr/>
        </p:nvSpPr>
        <p:spPr>
          <a:xfrm>
            <a:off x="8275320" y="3694320"/>
            <a:ext cx="2330640" cy="34632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8" name="TextBox 23"/>
          <p:cNvSpPr/>
          <p:nvPr/>
        </p:nvSpPr>
        <p:spPr>
          <a:xfrm>
            <a:off x="8966520" y="3764520"/>
            <a:ext cx="9482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classificar(valor)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9" name="Connector 24"/>
          <p:cNvCxnSpPr/>
          <p:nvPr/>
        </p:nvCxnSpPr>
        <p:spPr>
          <a:xfrm>
            <a:off x="9445680" y="4041360"/>
            <a:ext cx="1080" cy="12024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80" name="Rounded Rectangle 25"/>
          <p:cNvSpPr/>
          <p:nvPr/>
        </p:nvSpPr>
        <p:spPr>
          <a:xfrm>
            <a:off x="8275320" y="4206240"/>
            <a:ext cx="2330640" cy="34632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1" name="TextBox 26"/>
          <p:cNvSpPr/>
          <p:nvPr/>
        </p:nvSpPr>
        <p:spPr>
          <a:xfrm>
            <a:off x="9135000" y="4276440"/>
            <a:ext cx="6112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dicionário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82" name="Connector 27"/>
          <p:cNvCxnSpPr/>
          <p:nvPr/>
        </p:nvCxnSpPr>
        <p:spPr>
          <a:xfrm>
            <a:off x="9445680" y="4553640"/>
            <a:ext cx="1080" cy="11988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83" name="Rounded Rectangle 28"/>
          <p:cNvSpPr/>
          <p:nvPr/>
        </p:nvSpPr>
        <p:spPr>
          <a:xfrm>
            <a:off x="8275320" y="4718160"/>
            <a:ext cx="2330640" cy="346320"/>
          </a:xfrm>
          <a:prstGeom prst="roundRect">
            <a:avLst>
              <a:gd name="adj" fmla="val 16667"/>
            </a:avLst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4" name="TextBox 29"/>
          <p:cNvSpPr/>
          <p:nvPr/>
        </p:nvSpPr>
        <p:spPr>
          <a:xfrm>
            <a:off x="9169200" y="4788360"/>
            <a:ext cx="5428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append()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Hexagon 1"/>
          <p:cNvSpPr/>
          <p:nvPr/>
        </p:nvSpPr>
        <p:spPr>
          <a:xfrm>
            <a:off x="10012680" y="219600"/>
            <a:ext cx="959040" cy="84024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6" name="Hexagon 2"/>
          <p:cNvSpPr/>
          <p:nvPr/>
        </p:nvSpPr>
        <p:spPr>
          <a:xfrm>
            <a:off x="109800" y="5376600"/>
            <a:ext cx="931680" cy="8035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pic>
        <p:nvPicPr>
          <p:cNvPr id="887" name="Picture 3" descr="image.png"/>
          <p:cNvPicPr/>
          <p:nvPr/>
        </p:nvPicPr>
        <p:blipFill>
          <a:blip r:embed="rId1"/>
          <a:stretch/>
        </p:blipFill>
        <p:spPr>
          <a:xfrm>
            <a:off x="9948600" y="228600"/>
            <a:ext cx="1169280" cy="309600"/>
          </a:xfrm>
          <a:prstGeom prst="rect">
            <a:avLst/>
          </a:prstGeom>
          <a:ln w="0">
            <a:noFill/>
          </a:ln>
        </p:spPr>
      </p:pic>
      <p:sp>
        <p:nvSpPr>
          <p:cNvPr id="888" name="TextBox 4"/>
          <p:cNvSpPr/>
          <p:nvPr/>
        </p:nvSpPr>
        <p:spPr>
          <a:xfrm>
            <a:off x="2539080" y="1260720"/>
            <a:ext cx="2089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DESAFIO INTEGRADO · 15 MIN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Box 5"/>
          <p:cNvSpPr/>
          <p:nvPr/>
        </p:nvSpPr>
        <p:spPr>
          <a:xfrm>
            <a:off x="2212200" y="1876320"/>
            <a:ext cx="512100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Construa o monitor didático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Box 6"/>
          <p:cNvSpPr/>
          <p:nvPr/>
        </p:nvSpPr>
        <p:spPr>
          <a:xfrm>
            <a:off x="720000" y="2746440"/>
            <a:ext cx="10769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d5e0f1"/>
                </a:solidFill>
                <a:latin typeface="Lato"/>
              </a:rPr>
              <a:t>A partir de uma lista de leituras sintéticas, gere uma lista de registros com valor, faixa didática e qualidade técnica.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Rounded Rectangle 7"/>
          <p:cNvSpPr/>
          <p:nvPr/>
        </p:nvSpPr>
        <p:spPr>
          <a:xfrm>
            <a:off x="768240" y="404172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2" name="TextBox 8"/>
          <p:cNvSpPr/>
          <p:nvPr/>
        </p:nvSpPr>
        <p:spPr>
          <a:xfrm>
            <a:off x="1210320" y="4111920"/>
            <a:ext cx="2851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lista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Rounded Rectangle 9"/>
          <p:cNvSpPr/>
          <p:nvPr/>
        </p:nvSpPr>
        <p:spPr>
          <a:xfrm>
            <a:off x="2057400" y="4041720"/>
            <a:ext cx="1297440" cy="3463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4" name="TextBox 10"/>
          <p:cNvSpPr/>
          <p:nvPr/>
        </p:nvSpPr>
        <p:spPr>
          <a:xfrm>
            <a:off x="2485800" y="4111920"/>
            <a:ext cx="4406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função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Rounded Rectangle 11"/>
          <p:cNvSpPr/>
          <p:nvPr/>
        </p:nvSpPr>
        <p:spPr>
          <a:xfrm>
            <a:off x="3493080" y="4041720"/>
            <a:ext cx="959040" cy="34632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6" name="TextBox 12"/>
          <p:cNvSpPr/>
          <p:nvPr/>
        </p:nvSpPr>
        <p:spPr>
          <a:xfrm>
            <a:off x="3863520" y="4111920"/>
            <a:ext cx="2181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Rounded Rectangle 13"/>
          <p:cNvSpPr/>
          <p:nvPr/>
        </p:nvSpPr>
        <p:spPr>
          <a:xfrm>
            <a:off x="4590360" y="4041720"/>
            <a:ext cx="1608120" cy="34632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8" name="TextBox 14"/>
          <p:cNvSpPr/>
          <p:nvPr/>
        </p:nvSpPr>
        <p:spPr>
          <a:xfrm>
            <a:off x="5088600" y="4111920"/>
            <a:ext cx="6112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dicionário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Rounded Rectangle 15"/>
          <p:cNvSpPr/>
          <p:nvPr/>
        </p:nvSpPr>
        <p:spPr>
          <a:xfrm>
            <a:off x="6346080" y="4041720"/>
            <a:ext cx="1169280" cy="346320"/>
          </a:xfrm>
          <a:prstGeom prst="roundRect">
            <a:avLst>
              <a:gd name="adj" fmla="val 16667"/>
            </a:avLst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00" name="TextBox 16"/>
          <p:cNvSpPr/>
          <p:nvPr/>
        </p:nvSpPr>
        <p:spPr>
          <a:xfrm>
            <a:off x="6733800" y="4111920"/>
            <a:ext cx="393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testes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Rounded Rectangle 17"/>
          <p:cNvSpPr/>
          <p:nvPr/>
        </p:nvSpPr>
        <p:spPr>
          <a:xfrm>
            <a:off x="1170360" y="5010840"/>
            <a:ext cx="9234360" cy="584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02" name="TextBox 18"/>
          <p:cNvSpPr/>
          <p:nvPr/>
        </p:nvSpPr>
        <p:spPr>
          <a:xfrm>
            <a:off x="2981520" y="5198760"/>
            <a:ext cx="5611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Critério mínimo: o notebook executa do início ao fim e passa nos casos 29, 30, 70 e 71.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Box 1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ca9be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TextBox 2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ca9be"/>
                </a:solidFill>
                <a:latin typeface="Lato"/>
              </a:rPr>
              <a:t>34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6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07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08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09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1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911" name="TextBox 7"/>
          <p:cNvSpPr/>
          <p:nvPr/>
        </p:nvSpPr>
        <p:spPr>
          <a:xfrm>
            <a:off x="4288320" y="768240"/>
            <a:ext cx="3052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Estrutura sugerida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8"/>
          <p:cNvSpPr/>
          <p:nvPr/>
        </p:nvSpPr>
        <p:spPr>
          <a:xfrm>
            <a:off x="3612600" y="1307520"/>
            <a:ext cx="43498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Complete as partes marcadas sem copiar a solução inteira.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Rounded Rectangle 11"/>
          <p:cNvSpPr/>
          <p:nvPr/>
        </p:nvSpPr>
        <p:spPr>
          <a:xfrm>
            <a:off x="804600" y="1737360"/>
            <a:ext cx="6582600" cy="366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6" name="TextBox 12"/>
          <p:cNvSpPr/>
          <p:nvPr/>
        </p:nvSpPr>
        <p:spPr>
          <a:xfrm>
            <a:off x="3723840" y="1847160"/>
            <a:ext cx="743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ESQUELETO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13"/>
          <p:cNvSpPr/>
          <p:nvPr/>
        </p:nvSpPr>
        <p:spPr>
          <a:xfrm>
            <a:off x="2068200" y="2409840"/>
            <a:ext cx="4051080" cy="26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leituras = [18, 31, 45, 70, 82]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def classificar(valor):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# TODO: retornar A, B ou C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...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registros = []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registros.append({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"valor_sensor": valor,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"estado_didatico": classificar(valor),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})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print(registros)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14"/>
          <p:cNvSpPr/>
          <p:nvPr/>
        </p:nvSpPr>
        <p:spPr>
          <a:xfrm>
            <a:off x="7754040" y="1828800"/>
            <a:ext cx="3272400" cy="3211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9" name="TextBox 15"/>
          <p:cNvSpPr/>
          <p:nvPr/>
        </p:nvSpPr>
        <p:spPr>
          <a:xfrm>
            <a:off x="9094320" y="2147400"/>
            <a:ext cx="6282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Checklist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16"/>
          <p:cNvSpPr/>
          <p:nvPr/>
        </p:nvSpPr>
        <p:spPr>
          <a:xfrm>
            <a:off x="8047440" y="26334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17"/>
          <p:cNvSpPr/>
          <p:nvPr/>
        </p:nvSpPr>
        <p:spPr>
          <a:xfrm>
            <a:off x="8247960" y="2633400"/>
            <a:ext cx="18396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a função retorna um valor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18"/>
          <p:cNvSpPr/>
          <p:nvPr/>
        </p:nvSpPr>
        <p:spPr>
          <a:xfrm>
            <a:off x="8047440" y="30906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TextBox 19"/>
          <p:cNvSpPr/>
          <p:nvPr/>
        </p:nvSpPr>
        <p:spPr>
          <a:xfrm>
            <a:off x="8247960" y="3090600"/>
            <a:ext cx="21888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o for processa todas as leituras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Box 20"/>
          <p:cNvSpPr/>
          <p:nvPr/>
        </p:nvSpPr>
        <p:spPr>
          <a:xfrm>
            <a:off x="8047440" y="35478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21"/>
          <p:cNvSpPr/>
          <p:nvPr/>
        </p:nvSpPr>
        <p:spPr>
          <a:xfrm>
            <a:off x="8247960" y="3547800"/>
            <a:ext cx="18320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cada item é um dicionário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22"/>
          <p:cNvSpPr/>
          <p:nvPr/>
        </p:nvSpPr>
        <p:spPr>
          <a:xfrm>
            <a:off x="8047440" y="40050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23"/>
          <p:cNvSpPr/>
          <p:nvPr/>
        </p:nvSpPr>
        <p:spPr>
          <a:xfrm>
            <a:off x="8247960" y="4005000"/>
            <a:ext cx="25408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os quatro casos de fronteira passam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24"/>
          <p:cNvSpPr/>
          <p:nvPr/>
        </p:nvSpPr>
        <p:spPr>
          <a:xfrm>
            <a:off x="8047440" y="4462200"/>
            <a:ext cx="161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25"/>
          <p:cNvSpPr/>
          <p:nvPr/>
        </p:nvSpPr>
        <p:spPr>
          <a:xfrm>
            <a:off x="8247960" y="4462200"/>
            <a:ext cx="217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você consegue explicar o fluxo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1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32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33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34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3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936" name="TextBox 7"/>
          <p:cNvSpPr/>
          <p:nvPr/>
        </p:nvSpPr>
        <p:spPr>
          <a:xfrm>
            <a:off x="2890080" y="768240"/>
            <a:ext cx="58492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Terminou antes? Aumente o desafio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8"/>
          <p:cNvSpPr/>
          <p:nvPr/>
        </p:nvSpPr>
        <p:spPr>
          <a:xfrm>
            <a:off x="3415320" y="1307520"/>
            <a:ext cx="47444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As extensões são opcionais — primeiro valide a solução mínima.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11"/>
          <p:cNvSpPr/>
          <p:nvPr/>
        </p:nvSpPr>
        <p:spPr>
          <a:xfrm>
            <a:off x="877680" y="1956960"/>
            <a:ext cx="2413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41" name="TextBox 12"/>
          <p:cNvSpPr/>
          <p:nvPr/>
        </p:nvSpPr>
        <p:spPr>
          <a:xfrm>
            <a:off x="1568160" y="2075760"/>
            <a:ext cx="1032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1 · CONTADORES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13"/>
          <p:cNvSpPr/>
          <p:nvPr/>
        </p:nvSpPr>
        <p:spPr>
          <a:xfrm>
            <a:off x="1239480" y="2700000"/>
            <a:ext cx="18198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conte quantas leituras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caem em A, B e C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Rounded Rectangle 14"/>
          <p:cNvSpPr/>
          <p:nvPr/>
        </p:nvSpPr>
        <p:spPr>
          <a:xfrm>
            <a:off x="3456360" y="1956960"/>
            <a:ext cx="2413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44" name="TextBox 15"/>
          <p:cNvSpPr/>
          <p:nvPr/>
        </p:nvSpPr>
        <p:spPr>
          <a:xfrm>
            <a:off x="4277160" y="2075760"/>
            <a:ext cx="771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 · RANDOM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Box 16"/>
          <p:cNvSpPr/>
          <p:nvPr/>
        </p:nvSpPr>
        <p:spPr>
          <a:xfrm>
            <a:off x="3780000" y="2700000"/>
            <a:ext cx="184284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gere uma nova lista de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leituras sintéticas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Rounded Rectangle 17"/>
          <p:cNvSpPr/>
          <p:nvPr/>
        </p:nvSpPr>
        <p:spPr>
          <a:xfrm>
            <a:off x="6035040" y="1956960"/>
            <a:ext cx="2413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47" name="TextBox 18"/>
          <p:cNvSpPr/>
          <p:nvPr/>
        </p:nvSpPr>
        <p:spPr>
          <a:xfrm>
            <a:off x="6668280" y="2075760"/>
            <a:ext cx="1146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3 · IDENTIFICADOR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19"/>
          <p:cNvSpPr/>
          <p:nvPr/>
        </p:nvSpPr>
        <p:spPr>
          <a:xfrm>
            <a:off x="6300000" y="2700000"/>
            <a:ext cx="18655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adicione id_dispositivo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a cada registro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ounded Rectangle 20"/>
          <p:cNvSpPr/>
          <p:nvPr/>
        </p:nvSpPr>
        <p:spPr>
          <a:xfrm>
            <a:off x="8613720" y="1956960"/>
            <a:ext cx="2413080" cy="214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50" name="TextBox 21"/>
          <p:cNvSpPr/>
          <p:nvPr/>
        </p:nvSpPr>
        <p:spPr>
          <a:xfrm>
            <a:off x="9371160" y="2075760"/>
            <a:ext cx="897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4 · VALIDAÇÃO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22"/>
          <p:cNvSpPr/>
          <p:nvPr/>
        </p:nvSpPr>
        <p:spPr>
          <a:xfrm>
            <a:off x="9180000" y="2700000"/>
            <a:ext cx="120708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recuse valores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fora de 0–100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Rounded Rectangle 23"/>
          <p:cNvSpPr/>
          <p:nvPr/>
        </p:nvSpPr>
        <p:spPr>
          <a:xfrm>
            <a:off x="1225440" y="4791600"/>
            <a:ext cx="960012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53" name="TextBox 24"/>
          <p:cNvSpPr/>
          <p:nvPr/>
        </p:nvSpPr>
        <p:spPr>
          <a:xfrm>
            <a:off x="3150720" y="4969800"/>
            <a:ext cx="5748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Regra: extensão só depois de a versão básica funcionar e os testes de fronteira passarem.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55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56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57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58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59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960" name="TextBox 7"/>
          <p:cNvSpPr/>
          <p:nvPr/>
        </p:nvSpPr>
        <p:spPr>
          <a:xfrm>
            <a:off x="4164840" y="768240"/>
            <a:ext cx="32997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Depurar é investigar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Box 8"/>
          <p:cNvSpPr/>
          <p:nvPr/>
        </p:nvSpPr>
        <p:spPr>
          <a:xfrm>
            <a:off x="2988360" y="1307520"/>
            <a:ext cx="55980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Quando o resultado não é o esperado, procure o erro de forma sistemática.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11"/>
          <p:cNvSpPr/>
          <p:nvPr/>
        </p:nvSpPr>
        <p:spPr>
          <a:xfrm>
            <a:off x="841320" y="1847160"/>
            <a:ext cx="5073840" cy="103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65" name="TextBox 12"/>
          <p:cNvSpPr/>
          <p:nvPr/>
        </p:nvSpPr>
        <p:spPr>
          <a:xfrm>
            <a:off x="1260000" y="2176920"/>
            <a:ext cx="7776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Tipo errado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TextBox 13"/>
          <p:cNvSpPr/>
          <p:nvPr/>
        </p:nvSpPr>
        <p:spPr>
          <a:xfrm>
            <a:off x="2574000" y="2160000"/>
            <a:ext cx="12772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input() ainda é str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14"/>
          <p:cNvSpPr/>
          <p:nvPr/>
        </p:nvSpPr>
        <p:spPr>
          <a:xfrm>
            <a:off x="4206240" y="2160000"/>
            <a:ext cx="15433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use type() e converta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ounded Rectangle 15"/>
          <p:cNvSpPr/>
          <p:nvPr/>
        </p:nvSpPr>
        <p:spPr>
          <a:xfrm>
            <a:off x="6373440" y="1847160"/>
            <a:ext cx="5073840" cy="103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69" name="TextBox 16"/>
          <p:cNvSpPr/>
          <p:nvPr/>
        </p:nvSpPr>
        <p:spPr>
          <a:xfrm>
            <a:off x="6660000" y="2176920"/>
            <a:ext cx="7484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Indentação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17"/>
          <p:cNvSpPr/>
          <p:nvPr/>
        </p:nvSpPr>
        <p:spPr>
          <a:xfrm>
            <a:off x="7904880" y="2160000"/>
            <a:ext cx="1385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bloco saiu do if/for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8"/>
          <p:cNvSpPr/>
          <p:nvPr/>
        </p:nvSpPr>
        <p:spPr>
          <a:xfrm>
            <a:off x="9510840" y="2160000"/>
            <a:ext cx="1704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compare o alinhamento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Rounded Rectangle 19"/>
          <p:cNvSpPr/>
          <p:nvPr/>
        </p:nvSpPr>
        <p:spPr>
          <a:xfrm>
            <a:off x="841320" y="3511440"/>
            <a:ext cx="5073840" cy="807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73" name="TextBox 20"/>
          <p:cNvSpPr/>
          <p:nvPr/>
        </p:nvSpPr>
        <p:spPr>
          <a:xfrm>
            <a:off x="1325160" y="3674520"/>
            <a:ext cx="6404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72585"/>
                </a:solidFill>
                <a:latin typeface="Lato"/>
              </a:rPr>
              <a:t>Condição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21"/>
          <p:cNvSpPr/>
          <p:nvPr/>
        </p:nvSpPr>
        <p:spPr>
          <a:xfrm>
            <a:off x="2507760" y="3657600"/>
            <a:ext cx="140220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= em vez de ==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ou ordem incorreta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Box 22"/>
          <p:cNvSpPr/>
          <p:nvPr/>
        </p:nvSpPr>
        <p:spPr>
          <a:xfrm>
            <a:off x="4251240" y="3657600"/>
            <a:ext cx="1445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teste 29/30/70/71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Rounded Rectangle 23"/>
          <p:cNvSpPr/>
          <p:nvPr/>
        </p:nvSpPr>
        <p:spPr>
          <a:xfrm>
            <a:off x="6373440" y="3511440"/>
            <a:ext cx="5073840" cy="807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77" name="TextBox 24"/>
          <p:cNvSpPr/>
          <p:nvPr/>
        </p:nvSpPr>
        <p:spPr>
          <a:xfrm>
            <a:off x="6660000" y="3674520"/>
            <a:ext cx="364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725ac1"/>
                </a:solidFill>
                <a:latin typeface="Lato"/>
              </a:rPr>
              <a:t>Loop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25"/>
          <p:cNvSpPr/>
          <p:nvPr/>
        </p:nvSpPr>
        <p:spPr>
          <a:xfrm>
            <a:off x="7515720" y="3657600"/>
            <a:ext cx="17802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só parte da lógica repete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26"/>
          <p:cNvSpPr/>
          <p:nvPr/>
        </p:nvSpPr>
        <p:spPr>
          <a:xfrm>
            <a:off x="9540000" y="3600000"/>
            <a:ext cx="18626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coloque o fluxo completo 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    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dentro do laço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ounded Rectangle 27"/>
          <p:cNvSpPr/>
          <p:nvPr/>
        </p:nvSpPr>
        <p:spPr>
          <a:xfrm>
            <a:off x="1097280" y="5193720"/>
            <a:ext cx="9801360" cy="56592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81" name="TextBox 28"/>
          <p:cNvSpPr/>
          <p:nvPr/>
        </p:nvSpPr>
        <p:spPr>
          <a:xfrm>
            <a:off x="2325600" y="5372280"/>
            <a:ext cx="7344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Pergunte sempre: qual valor está na variável? qual condição está sendo testada? quantas vezes esta linha executa?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TextBox 1"/>
          <p:cNvSpPr/>
          <p:nvPr/>
        </p:nvSpPr>
        <p:spPr>
          <a:xfrm>
            <a:off x="1785600" y="175320"/>
            <a:ext cx="244476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83" name="Connector 2"/>
          <p:cNvCxnSpPr/>
          <p:nvPr/>
        </p:nvCxnSpPr>
        <p:spPr>
          <a:xfrm>
            <a:off x="676440" y="484560"/>
            <a:ext cx="2387880" cy="108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84" name="Connector 3"/>
          <p:cNvCxnSpPr/>
          <p:nvPr/>
        </p:nvCxnSpPr>
        <p:spPr>
          <a:xfrm>
            <a:off x="3063240" y="484560"/>
            <a:ext cx="1738440" cy="108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85" name="Connector 4"/>
          <p:cNvCxnSpPr/>
          <p:nvPr/>
        </p:nvCxnSpPr>
        <p:spPr>
          <a:xfrm>
            <a:off x="4800600" y="484560"/>
            <a:ext cx="2195640" cy="108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86" name="Connector 5"/>
          <p:cNvCxnSpPr/>
          <p:nvPr/>
        </p:nvCxnSpPr>
        <p:spPr>
          <a:xfrm>
            <a:off x="6995160" y="484560"/>
            <a:ext cx="3567240" cy="108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8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1920" cy="302040"/>
          </a:xfrm>
          <a:prstGeom prst="rect">
            <a:avLst/>
          </a:prstGeom>
          <a:ln w="0">
            <a:noFill/>
          </a:ln>
        </p:spPr>
      </p:pic>
      <p:sp>
        <p:nvSpPr>
          <p:cNvPr id="988" name="TextBox 7"/>
          <p:cNvSpPr/>
          <p:nvPr/>
        </p:nvSpPr>
        <p:spPr>
          <a:xfrm>
            <a:off x="3249720" y="768240"/>
            <a:ext cx="51300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Do Python aos próximos cursos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8"/>
          <p:cNvSpPr/>
          <p:nvPr/>
        </p:nvSpPr>
        <p:spPr>
          <a:xfrm>
            <a:off x="3899160" y="1307520"/>
            <a:ext cx="37767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Você já tem o núcleo que será reutilizado na trilha.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Box 9"/>
          <p:cNvSpPr/>
          <p:nvPr/>
        </p:nvSpPr>
        <p:spPr>
          <a:xfrm>
            <a:off x="3406320" y="6419160"/>
            <a:ext cx="258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10"/>
          <p:cNvSpPr/>
          <p:nvPr/>
        </p:nvSpPr>
        <p:spPr>
          <a:xfrm>
            <a:off x="11189160" y="6419160"/>
            <a:ext cx="160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Rounded Rectangle 11"/>
          <p:cNvSpPr/>
          <p:nvPr/>
        </p:nvSpPr>
        <p:spPr>
          <a:xfrm>
            <a:off x="900000" y="2340000"/>
            <a:ext cx="2394720" cy="166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93" name="TextBox 12"/>
          <p:cNvSpPr/>
          <p:nvPr/>
        </p:nvSpPr>
        <p:spPr>
          <a:xfrm>
            <a:off x="1482120" y="2654280"/>
            <a:ext cx="12301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0b9f3"/>
                </a:solidFill>
                <a:latin typeface="Inter Display"/>
              </a:rPr>
              <a:t>Python básico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13"/>
          <p:cNvSpPr/>
          <p:nvPr/>
        </p:nvSpPr>
        <p:spPr>
          <a:xfrm>
            <a:off x="1508040" y="3313440"/>
            <a:ext cx="11782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variáveis + regras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5" name="Connector 14"/>
          <p:cNvCxnSpPr/>
          <p:nvPr/>
        </p:nvCxnSpPr>
        <p:spPr>
          <a:xfrm>
            <a:off x="3322800" y="3162960"/>
            <a:ext cx="284760" cy="108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996" name="Rounded Rectangle 15"/>
          <p:cNvSpPr/>
          <p:nvPr/>
        </p:nvSpPr>
        <p:spPr>
          <a:xfrm>
            <a:off x="3670560" y="2340000"/>
            <a:ext cx="2394720" cy="166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97" name="TextBox 16"/>
          <p:cNvSpPr/>
          <p:nvPr/>
        </p:nvSpPr>
        <p:spPr>
          <a:xfrm>
            <a:off x="4454640" y="2654280"/>
            <a:ext cx="82620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f36b21"/>
                </a:solidFill>
                <a:latin typeface="Inter Display"/>
              </a:rPr>
              <a:t>Coleções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17"/>
          <p:cNvSpPr/>
          <p:nvPr/>
        </p:nvSpPr>
        <p:spPr>
          <a:xfrm>
            <a:off x="4242960" y="3313440"/>
            <a:ext cx="12499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listas + dicionários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9" name="Connector 18"/>
          <p:cNvCxnSpPr/>
          <p:nvPr/>
        </p:nvCxnSpPr>
        <p:spPr>
          <a:xfrm>
            <a:off x="6093720" y="3162960"/>
            <a:ext cx="284400" cy="108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1000" name="Rounded Rectangle 19"/>
          <p:cNvSpPr/>
          <p:nvPr/>
        </p:nvSpPr>
        <p:spPr>
          <a:xfrm>
            <a:off x="6441120" y="2340000"/>
            <a:ext cx="2394720" cy="166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01" name="TextBox 20"/>
          <p:cNvSpPr/>
          <p:nvPr/>
        </p:nvSpPr>
        <p:spPr>
          <a:xfrm>
            <a:off x="7344000" y="2654280"/>
            <a:ext cx="58860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725ac1"/>
                </a:solidFill>
                <a:latin typeface="Inter Display"/>
              </a:rPr>
              <a:t>PR-03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TextBox 21"/>
          <p:cNvSpPr/>
          <p:nvPr/>
        </p:nvSpPr>
        <p:spPr>
          <a:xfrm>
            <a:off x="7067520" y="3313440"/>
            <a:ext cx="11415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Pandas + tabelas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03" name="Connector 22"/>
          <p:cNvCxnSpPr/>
          <p:nvPr/>
        </p:nvCxnSpPr>
        <p:spPr>
          <a:xfrm>
            <a:off x="8864280" y="3162960"/>
            <a:ext cx="284400" cy="108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1004" name="Rounded Rectangle 23"/>
          <p:cNvSpPr/>
          <p:nvPr/>
        </p:nvSpPr>
        <p:spPr>
          <a:xfrm>
            <a:off x="9212040" y="2340000"/>
            <a:ext cx="2394720" cy="166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05" name="TextBox 24"/>
          <p:cNvSpPr/>
          <p:nvPr/>
        </p:nvSpPr>
        <p:spPr>
          <a:xfrm>
            <a:off x="10112040" y="2654280"/>
            <a:ext cx="5947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f72585"/>
                </a:solidFill>
                <a:latin typeface="Inter Display"/>
              </a:rPr>
              <a:t>PR-04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Box 25"/>
          <p:cNvSpPr/>
          <p:nvPr/>
        </p:nvSpPr>
        <p:spPr>
          <a:xfrm>
            <a:off x="9702720" y="3313440"/>
            <a:ext cx="141300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dados em tempo real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ounded Rectangle 28"/>
          <p:cNvSpPr/>
          <p:nvPr/>
        </p:nvSpPr>
        <p:spPr>
          <a:xfrm>
            <a:off x="2907720" y="5486400"/>
            <a:ext cx="6354000" cy="34632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08" name="TextBox 29"/>
          <p:cNvSpPr/>
          <p:nvPr/>
        </p:nvSpPr>
        <p:spPr>
          <a:xfrm>
            <a:off x="3912120" y="5556600"/>
            <a:ext cx="43452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Você não precisa memorizar tudo. Precisa saber reconhecer, testar e adaptar.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Application>LibreOffice/24.2.7.2$Linux_X86_64 LibreOffice_project/420$Build-2</Application>
  <AppVersion>15.0000</AppVersion>
  <Words>0</Words>
  <Paragraphs>0</Paragraphs>
  <Company>Projeto Ocean - Residência em TIC 53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2026-09-10T18:13:50Z</dcterms:created>
  <dc:creator>Prof. Dr. Guillermo Alvarez Bestard</dc:creator>
  <dc:description/>
  <dc:language>pt-BR</dc:language>
  <cp:lastModifiedBy/>
  <dcterms:modified xsi:type="dcterms:W3CDTF">2026-10-12T20:22:30Z</dcterms:modified>
  <cp:revision>33</cp:revision>
  <dc:subject>PR-01 - Lógica de Programação Aplicada à Saúde com Scratch</dc:subject>
  <dc:title>PR-01 - Lógica de Programação Aplicada à Saúde com Scratch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35</vt:i4>
  </property>
  <property fmtid="{D5CDD505-2E9C-101B-9397-08002B2CF9AE}" pid="3" name="PresentationFormat">
    <vt:lpwstr>On-screen Show (16:9)</vt:lpwstr>
  </property>
  <property fmtid="{D5CDD505-2E9C-101B-9397-08002B2CF9AE}" pid="4" name="Slides">
    <vt:i4>35</vt:i4>
  </property>
</Properties>
</file>