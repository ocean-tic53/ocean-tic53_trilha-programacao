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22.xml" ContentType="application/vnd.openxmlformats-officedocument.presentationml.slide+xml"/>
  <Override PartName="/ppt/slides/slide34.xml" ContentType="application/vnd.openxmlformats-officedocument.presentationml.slide+xml"/>
  <Override PartName="/ppt/slides/slide23.xml" ContentType="application/vnd.openxmlformats-officedocument.presentationml.slide+xml"/>
  <Override PartName="/ppt/slides/slide35.xml" ContentType="application/vnd.openxmlformats-officedocument.presentationml.slide+xml"/>
  <Override PartName="/ppt/slides/slide24.xml" ContentType="application/vnd.openxmlformats-officedocument.presentationml.slide+xml"/>
  <Override PartName="/ppt/slides/slide36.xml" ContentType="application/vnd.openxmlformats-officedocument.presentationml.slide+xml"/>
  <Override PartName="/ppt/slides/slide25.xml" ContentType="application/vnd.openxmlformats-officedocument.presentationml.slide+xml"/>
  <Override PartName="/ppt/slides/slide37.xml" ContentType="application/vnd.openxmlformats-officedocument.presentationml.slide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37.xml.rels" ContentType="application/vnd.openxmlformats-package.relationships+xml"/>
  <Override PartName="/ppt/slides/_rels/slide2.xml.rels" ContentType="application/vnd.openxmlformats-package.relationships+xml"/>
  <Override PartName="/ppt/slides/_rels/slide38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slide38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CEAN - Conteúdo Cl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5B2D078-8D8A-47C1-9315-DC24F52459C2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CEAN - Destaque Escu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F41FC9-8D5F-47A8-90E6-4A5CB5085EC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q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í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cean_assets/ocean_logo_color_transparent.png"/>
          <p:cNvPicPr/>
          <p:nvPr/>
        </p:nvPicPr>
        <p:blipFill>
          <a:blip r:embed="rId2"/>
          <a:stretch/>
        </p:blipFill>
        <p:spPr>
          <a:xfrm>
            <a:off x="10031040" y="182880"/>
            <a:ext cx="1415880" cy="373320"/>
          </a:xfrm>
          <a:prstGeom prst="rect">
            <a:avLst/>
          </a:prstGeom>
          <a:ln w="0">
            <a:noFill/>
          </a:ln>
        </p:spPr>
      </p:pic>
      <p:sp>
        <p:nvSpPr>
          <p:cNvPr id="3" name="Text 0"/>
          <p:cNvSpPr/>
          <p:nvPr/>
        </p:nvSpPr>
        <p:spPr>
          <a:xfrm>
            <a:off x="685800" y="22860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21" strike="noStrike">
                <a:solidFill>
                  <a:srgbClr val="5b6b86"/>
                </a:solidFill>
                <a:latin typeface="Lato"/>
                <a:ea typeface="Lato"/>
              </a:rPr>
              <a:t>RESIDÊNCIA EM TIC 53 · TRILHA PROGRAMAÇÃO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85800" y="658440"/>
            <a:ext cx="3537360" cy="25920"/>
          </a:xfrm>
          <a:prstGeom prst="rect">
            <a:avLst/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224600" y="658440"/>
            <a:ext cx="3546360" cy="25920"/>
          </a:xfrm>
          <a:prstGeom prst="rect">
            <a:avLst/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772400" y="658440"/>
            <a:ext cx="3500640" cy="25920"/>
          </a:xfrm>
          <a:prstGeom prst="rect">
            <a:avLst/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 4"/>
          <p:cNvSpPr/>
          <p:nvPr/>
        </p:nvSpPr>
        <p:spPr>
          <a:xfrm>
            <a:off x="685800" y="6492240"/>
            <a:ext cx="75880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a879d"/>
                </a:solidFill>
                <a:latin typeface="Lato"/>
                <a:ea typeface="Lato"/>
              </a:rPr>
              <a:t>PR-01 · Lógica de Programação Aplicada à Saúde com Scratch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sldNum" idx="1"/>
          </p:nvPr>
        </p:nvSpPr>
        <p:spPr>
          <a:xfrm>
            <a:off x="11283840" y="6446520"/>
            <a:ext cx="318600" cy="16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a879d"/>
                </a:solidFill>
                <a:latin typeface="Lato"/>
                <a:ea typeface="La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1277DE-75C4-4E23-9C1F-ED1D5DF35921}" type="slidenum">
              <a:rPr b="0" lang="en-US" sz="850" spc="-1" strike="noStrike">
                <a:solidFill>
                  <a:srgbClr val="7a879d"/>
                </a:solidFill>
                <a:latin typeface="Lato"/>
                <a:ea typeface="Lato"/>
              </a:rPr>
              <a:t>&lt;número&gt;</a:t>
            </a:fld>
            <a:endParaRPr b="0" lang="pt-BR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0"/>
          <p:cNvSpPr/>
          <p:nvPr/>
        </p:nvSpPr>
        <p:spPr>
          <a:xfrm>
            <a:off x="594360" y="329040"/>
            <a:ext cx="1662840" cy="48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" name="Image 0" descr="/mnt/data/ocean_assets/ocean_logo_color_transparent.png"/>
          <p:cNvPicPr/>
          <p:nvPr/>
        </p:nvPicPr>
        <p:blipFill>
          <a:blip r:embed="rId2"/>
          <a:stretch/>
        </p:blipFill>
        <p:spPr>
          <a:xfrm>
            <a:off x="731520" y="420480"/>
            <a:ext cx="1324440" cy="345960"/>
          </a:xfrm>
          <a:prstGeom prst="rect">
            <a:avLst/>
          </a:prstGeom>
          <a:ln w="0">
            <a:noFill/>
          </a:ln>
        </p:spPr>
      </p:pic>
      <p:sp>
        <p:nvSpPr>
          <p:cNvPr id="11" name="Text 1"/>
          <p:cNvSpPr/>
          <p:nvPr/>
        </p:nvSpPr>
        <p:spPr>
          <a:xfrm>
            <a:off x="6510600" y="475560"/>
            <a:ext cx="49820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5" strike="noStrike">
                <a:solidFill>
                  <a:srgbClr val="c2cee5"/>
                </a:solidFill>
                <a:latin typeface="Lato"/>
                <a:ea typeface="Lato"/>
              </a:rPr>
              <a:t>RESIDÊNCIA EM TIC 53 · TRILHA PROGRAMAÇÃO</a:t>
            </a:r>
            <a:endParaRPr b="0" lang="pt-B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85800" y="6473880"/>
            <a:ext cx="31075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fb0d0"/>
                </a:solidFill>
                <a:latin typeface="Lato"/>
                <a:ea typeface="Lato"/>
              </a:rPr>
              <a:t>PR-01 · Projeto Ocean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sldNum" idx="2"/>
          </p:nvPr>
        </p:nvSpPr>
        <p:spPr>
          <a:xfrm>
            <a:off x="11283840" y="6446520"/>
            <a:ext cx="318600" cy="16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9fb0d0"/>
                </a:solidFill>
                <a:latin typeface="Lato"/>
                <a:ea typeface="La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2B6FCC-AFA1-4E46-8122-2592211A0AC6}" type="slidenum">
              <a:rPr b="0" lang="en-US" sz="850" spc="-1" strike="noStrike">
                <a:solidFill>
                  <a:srgbClr val="9fb0d0"/>
                </a:solidFill>
                <a:latin typeface="Lato"/>
                <a:ea typeface="Lato"/>
              </a:rPr>
              <a:t>&lt;número&gt;</a:t>
            </a:fld>
            <a:endParaRPr b="0" lang="pt-BR" sz="85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exagon 1"/>
          <p:cNvSpPr/>
          <p:nvPr/>
        </p:nvSpPr>
        <p:spPr>
          <a:xfrm>
            <a:off x="2834640" y="-164520"/>
            <a:ext cx="822240" cy="73080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5" name="Hexagon 2"/>
          <p:cNvSpPr/>
          <p:nvPr/>
        </p:nvSpPr>
        <p:spPr>
          <a:xfrm>
            <a:off x="8028360" y="-182880"/>
            <a:ext cx="913680" cy="7765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6" name="Hexagon 3"/>
          <p:cNvSpPr/>
          <p:nvPr/>
        </p:nvSpPr>
        <p:spPr>
          <a:xfrm>
            <a:off x="-365760" y="1005840"/>
            <a:ext cx="1050840" cy="10051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7" name="Hexagon 4"/>
          <p:cNvSpPr/>
          <p:nvPr/>
        </p:nvSpPr>
        <p:spPr>
          <a:xfrm>
            <a:off x="10835640" y="1609200"/>
            <a:ext cx="1050840" cy="10051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8" name="Hexagon 5"/>
          <p:cNvSpPr/>
          <p:nvPr/>
        </p:nvSpPr>
        <p:spPr>
          <a:xfrm>
            <a:off x="9921240" y="5166360"/>
            <a:ext cx="867960" cy="7765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" name="Hexagon 6"/>
          <p:cNvSpPr/>
          <p:nvPr/>
        </p:nvSpPr>
        <p:spPr>
          <a:xfrm>
            <a:off x="109800" y="5193720"/>
            <a:ext cx="867960" cy="7765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pic>
        <p:nvPicPr>
          <p:cNvPr id="20" name="Picture 7" descr="image.png"/>
          <p:cNvPicPr/>
          <p:nvPr/>
        </p:nvPicPr>
        <p:blipFill>
          <a:blip r:embed="rId1"/>
          <a:stretch/>
        </p:blipFill>
        <p:spPr>
          <a:xfrm>
            <a:off x="585360" y="320040"/>
            <a:ext cx="1590480" cy="421560"/>
          </a:xfrm>
          <a:prstGeom prst="rect">
            <a:avLst/>
          </a:prstGeom>
          <a:ln w="0">
            <a:noFill/>
          </a:ln>
        </p:spPr>
      </p:pic>
      <p:sp>
        <p:nvSpPr>
          <p:cNvPr id="21" name="TextBox 8"/>
          <p:cNvSpPr/>
          <p:nvPr/>
        </p:nvSpPr>
        <p:spPr>
          <a:xfrm>
            <a:off x="8251920" y="484200"/>
            <a:ext cx="255168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pt-BR" sz="850" spc="-1" strike="noStrike">
                <a:solidFill>
                  <a:srgbClr val="cfd9eb"/>
                </a:solidFill>
                <a:latin typeface="Lato"/>
              </a:rPr>
              <a:t>RESIDÊNCIA EM TIC 53 · TRILHA PROGRAMAÇÃO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Rounded Rectangle 9"/>
          <p:cNvSpPr/>
          <p:nvPr/>
        </p:nvSpPr>
        <p:spPr>
          <a:xfrm>
            <a:off x="713160" y="1188720"/>
            <a:ext cx="107820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" name="TextBox 10"/>
          <p:cNvSpPr/>
          <p:nvPr/>
        </p:nvSpPr>
        <p:spPr>
          <a:xfrm>
            <a:off x="1048320" y="1258920"/>
            <a:ext cx="4075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PR-02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Box 11"/>
          <p:cNvSpPr/>
          <p:nvPr/>
        </p:nvSpPr>
        <p:spPr>
          <a:xfrm>
            <a:off x="966240" y="1993320"/>
            <a:ext cx="6671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3100" spc="-1" strike="noStrike">
                <a:solidFill>
                  <a:srgbClr val="ffffff"/>
                </a:solidFill>
                <a:latin typeface="Inter Display"/>
              </a:rPr>
              <a:t>Aprendendo a Programar em Python</a:t>
            </a:r>
            <a:endParaRPr b="0" lang="pt-BR" sz="3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3100" spc="-1" strike="noStrike">
                <a:solidFill>
                  <a:srgbClr val="ffffff"/>
                </a:solidFill>
                <a:latin typeface="Inter Display"/>
              </a:rPr>
              <a:t>para Saúde Digital</a:t>
            </a:r>
            <a:endParaRPr b="0" lang="pt-BR" sz="3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12"/>
          <p:cNvSpPr/>
          <p:nvPr/>
        </p:nvSpPr>
        <p:spPr>
          <a:xfrm>
            <a:off x="900000" y="3780000"/>
            <a:ext cx="99115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d4deef"/>
                </a:solidFill>
                <a:latin typeface="Lato"/>
              </a:rPr>
              <a:t>Primeiros programas em Python no navegador, com exemplos de saúde digital e sem exigir experiência anterior.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ounded Rectangle 13"/>
          <p:cNvSpPr/>
          <p:nvPr/>
        </p:nvSpPr>
        <p:spPr>
          <a:xfrm>
            <a:off x="900000" y="4434120"/>
            <a:ext cx="840600" cy="34668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7" name="TextBox 14"/>
          <p:cNvSpPr/>
          <p:nvPr/>
        </p:nvSpPr>
        <p:spPr>
          <a:xfrm>
            <a:off x="1204920" y="4504320"/>
            <a:ext cx="2307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3 h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ounded Rectangle 15"/>
          <p:cNvSpPr/>
          <p:nvPr/>
        </p:nvSpPr>
        <p:spPr>
          <a:xfrm>
            <a:off x="1869120" y="4434120"/>
            <a:ext cx="1882800" cy="346680"/>
          </a:xfrm>
          <a:prstGeom prst="roundRect">
            <a:avLst>
              <a:gd name="adj" fmla="val 16667"/>
            </a:avLst>
          </a:prstGeom>
          <a:solidFill>
            <a:srgbClr val="193b78"/>
          </a:solidFill>
          <a:ln w="12700">
            <a:solidFill>
              <a:srgbClr val="193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9" name="TextBox 16"/>
          <p:cNvSpPr/>
          <p:nvPr/>
        </p:nvSpPr>
        <p:spPr>
          <a:xfrm>
            <a:off x="2261520" y="4504320"/>
            <a:ext cx="10980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sem pré-requisitos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Rounded Rectangle 17"/>
          <p:cNvSpPr/>
          <p:nvPr/>
        </p:nvSpPr>
        <p:spPr>
          <a:xfrm>
            <a:off x="3899160" y="4434120"/>
            <a:ext cx="1599480" cy="346680"/>
          </a:xfrm>
          <a:prstGeom prst="roundRect">
            <a:avLst>
              <a:gd name="adj" fmla="val 16667"/>
            </a:avLst>
          </a:prstGeom>
          <a:solidFill>
            <a:srgbClr val="193b78"/>
          </a:solidFill>
          <a:ln w="12700">
            <a:solidFill>
              <a:srgbClr val="193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1" name="TextBox 18"/>
          <p:cNvSpPr/>
          <p:nvPr/>
        </p:nvSpPr>
        <p:spPr>
          <a:xfrm>
            <a:off x="4293720" y="4504320"/>
            <a:ext cx="8100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Google Colab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Rounded Rectangle 19"/>
          <p:cNvSpPr/>
          <p:nvPr/>
        </p:nvSpPr>
        <p:spPr>
          <a:xfrm>
            <a:off x="8650080" y="1627560"/>
            <a:ext cx="1873800" cy="1965240"/>
          </a:xfrm>
          <a:prstGeom prst="roundRect">
            <a:avLst>
              <a:gd name="adj" fmla="val 16667"/>
            </a:avLst>
          </a:prstGeom>
          <a:solidFill>
            <a:srgbClr val="183a78"/>
          </a:solidFill>
          <a:ln w="254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3" name="TextBox 20"/>
          <p:cNvSpPr/>
          <p:nvPr/>
        </p:nvSpPr>
        <p:spPr>
          <a:xfrm>
            <a:off x="9100440" y="2185560"/>
            <a:ext cx="97272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3000" spc="-1" strike="noStrike">
                <a:solidFill>
                  <a:srgbClr val="ffffff"/>
                </a:solidFill>
                <a:latin typeface="DejaVu Sans Mono"/>
              </a:rPr>
              <a:t>&gt;&gt;&gt;_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Box 21"/>
          <p:cNvSpPr/>
          <p:nvPr/>
        </p:nvSpPr>
        <p:spPr>
          <a:xfrm>
            <a:off x="2048400" y="5197680"/>
            <a:ext cx="25059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ffffff"/>
                </a:solidFill>
                <a:latin typeface="Lato"/>
              </a:rPr>
              <a:t>Prof. Dr. Guillermo Alvarez Bestard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Box 22"/>
          <p:cNvSpPr/>
          <p:nvPr/>
        </p:nvSpPr>
        <p:spPr>
          <a:xfrm>
            <a:off x="1980000" y="5538240"/>
            <a:ext cx="29343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100" spc="-1" strike="noStrike">
                <a:solidFill>
                  <a:srgbClr val="afc0da"/>
                </a:solidFill>
                <a:latin typeface="Lato"/>
              </a:rPr>
              <a:t>Projeto Ocean · Residência em TIC 53 - Brasília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Box 23"/>
          <p:cNvSpPr/>
          <p:nvPr/>
        </p:nvSpPr>
        <p:spPr>
          <a:xfrm>
            <a:off x="1114200" y="6419160"/>
            <a:ext cx="952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afc0da"/>
                </a:solidFill>
                <a:latin typeface="Lato"/>
              </a:rPr>
              <a:t>PR-02 · Projeto Ocean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Box 24"/>
          <p:cNvSpPr/>
          <p:nvPr/>
        </p:nvSpPr>
        <p:spPr>
          <a:xfrm>
            <a:off x="1115676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afc0da"/>
                </a:solidFill>
                <a:latin typeface="Lato"/>
              </a:rPr>
              <a:t>1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9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0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1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2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44" name="TextBox 7"/>
          <p:cNvSpPr/>
          <p:nvPr/>
        </p:nvSpPr>
        <p:spPr>
          <a:xfrm>
            <a:off x="3498120" y="768240"/>
            <a:ext cx="46335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Você pode começar por aqui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Box 8"/>
          <p:cNvSpPr/>
          <p:nvPr/>
        </p:nvSpPr>
        <p:spPr>
          <a:xfrm>
            <a:off x="3393000" y="1307520"/>
            <a:ext cx="47890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O curso foi desenhado para quem nunca programou em Python.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Box 10"/>
          <p:cNvSpPr/>
          <p:nvPr/>
        </p:nvSpPr>
        <p:spPr>
          <a:xfrm>
            <a:off x="1121580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Rounded Rectangle 11"/>
          <p:cNvSpPr/>
          <p:nvPr/>
        </p:nvSpPr>
        <p:spPr>
          <a:xfrm>
            <a:off x="1080000" y="2030040"/>
            <a:ext cx="9900000" cy="282996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9" name="TextBox 12"/>
          <p:cNvSpPr/>
          <p:nvPr/>
        </p:nvSpPr>
        <p:spPr>
          <a:xfrm>
            <a:off x="1577880" y="2295360"/>
            <a:ext cx="2887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10b9f3"/>
                </a:solidFill>
                <a:latin typeface="Lato"/>
              </a:rPr>
              <a:t>NÃO É NECESSÁRIO TER FEITO O PR-01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Box 13"/>
          <p:cNvSpPr/>
          <p:nvPr/>
        </p:nvSpPr>
        <p:spPr>
          <a:xfrm>
            <a:off x="1620000" y="3387240"/>
            <a:ext cx="643212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Lato"/>
              </a:rPr>
              <a:t>Os conceitos essenciais de algoritmo, variável, decisão e repetição 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Lato"/>
              </a:rPr>
              <a:t>serão apresentados novamente antes de aparecerem em código.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Box 14"/>
          <p:cNvSpPr/>
          <p:nvPr/>
        </p:nvSpPr>
        <p:spPr>
          <a:xfrm>
            <a:off x="1612440" y="2758680"/>
            <a:ext cx="612756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5b6b86"/>
                </a:solidFill>
                <a:latin typeface="Lato"/>
              </a:rPr>
              <a:t>Se você participou do curso com Scratch, algumas ideias parecerão familiares.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5b6b86"/>
                </a:solidFill>
                <a:latin typeface="Lato"/>
              </a:rPr>
              <a:t>Se não participou, nada ficará faltando.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Rounded Rectangle 15"/>
          <p:cNvSpPr/>
          <p:nvPr/>
        </p:nvSpPr>
        <p:spPr>
          <a:xfrm>
            <a:off x="6198840" y="4153320"/>
            <a:ext cx="1901160" cy="34668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3" name="TextBox 16"/>
          <p:cNvSpPr/>
          <p:nvPr/>
        </p:nvSpPr>
        <p:spPr>
          <a:xfrm>
            <a:off x="6407640" y="4223520"/>
            <a:ext cx="14835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COMEÇAMOS DO ZERO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Rounded Rectangle 17"/>
          <p:cNvSpPr/>
          <p:nvPr/>
        </p:nvSpPr>
        <p:spPr>
          <a:xfrm>
            <a:off x="1325880" y="5248080"/>
            <a:ext cx="9417600" cy="566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5" name="TextBox 18"/>
          <p:cNvSpPr/>
          <p:nvPr/>
        </p:nvSpPr>
        <p:spPr>
          <a:xfrm>
            <a:off x="3246840" y="5426640"/>
            <a:ext cx="5575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O objetivo é aprender a pensar e escrever pequenos programas — não decorar sintaxe.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7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8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9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0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62" name="TextBox 7"/>
          <p:cNvSpPr/>
          <p:nvPr/>
        </p:nvSpPr>
        <p:spPr>
          <a:xfrm>
            <a:off x="3392280" y="768240"/>
            <a:ext cx="48452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Onde este curso está na trilha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2959560" y="1307520"/>
            <a:ext cx="56563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PR-02 é independente, mas prepara o terreno para dados e monitoramento.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1121580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Rounded Rectangle 11"/>
          <p:cNvSpPr/>
          <p:nvPr/>
        </p:nvSpPr>
        <p:spPr>
          <a:xfrm>
            <a:off x="960120" y="2011680"/>
            <a:ext cx="1956240" cy="221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7" name="Rounded Rectangle 12"/>
          <p:cNvSpPr/>
          <p:nvPr/>
        </p:nvSpPr>
        <p:spPr>
          <a:xfrm>
            <a:off x="1124640" y="2176200"/>
            <a:ext cx="1188000" cy="34668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1364040" y="2246400"/>
            <a:ext cx="7092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OPCIONAL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Box 14"/>
          <p:cNvSpPr/>
          <p:nvPr/>
        </p:nvSpPr>
        <p:spPr>
          <a:xfrm>
            <a:off x="1697760" y="2688480"/>
            <a:ext cx="480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725ac1"/>
                </a:solidFill>
                <a:latin typeface="Lato"/>
              </a:rPr>
              <a:t>PR-01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15"/>
          <p:cNvSpPr/>
          <p:nvPr/>
        </p:nvSpPr>
        <p:spPr>
          <a:xfrm>
            <a:off x="1276200" y="2999160"/>
            <a:ext cx="132336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Lógica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com Scratch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ounded Rectangle 16"/>
          <p:cNvSpPr/>
          <p:nvPr/>
        </p:nvSpPr>
        <p:spPr>
          <a:xfrm>
            <a:off x="3749040" y="2011680"/>
            <a:ext cx="1956240" cy="221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2" name="Rounded Rectangle 17"/>
          <p:cNvSpPr/>
          <p:nvPr/>
        </p:nvSpPr>
        <p:spPr>
          <a:xfrm>
            <a:off x="3913560" y="2176200"/>
            <a:ext cx="118800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3" name="TextBox 18"/>
          <p:cNvSpPr/>
          <p:nvPr/>
        </p:nvSpPr>
        <p:spPr>
          <a:xfrm>
            <a:off x="4318920" y="2246400"/>
            <a:ext cx="3769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HOJE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4486680" y="2688480"/>
            <a:ext cx="480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10b9f3"/>
                </a:solidFill>
                <a:latin typeface="Lato"/>
              </a:rPr>
              <a:t>PR-02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4132080" y="2999160"/>
            <a:ext cx="118944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Python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para Saúde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21"/>
          <p:cNvSpPr/>
          <p:nvPr/>
        </p:nvSpPr>
        <p:spPr>
          <a:xfrm>
            <a:off x="6537960" y="2011680"/>
            <a:ext cx="1956240" cy="221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7" name="Rounded Rectangle 22"/>
          <p:cNvSpPr/>
          <p:nvPr/>
        </p:nvSpPr>
        <p:spPr>
          <a:xfrm>
            <a:off x="6702480" y="2176200"/>
            <a:ext cx="1188000" cy="34668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8" name="TextBox 23"/>
          <p:cNvSpPr/>
          <p:nvPr/>
        </p:nvSpPr>
        <p:spPr>
          <a:xfrm>
            <a:off x="6968520" y="2246400"/>
            <a:ext cx="6559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PRÓXIMO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24"/>
          <p:cNvSpPr/>
          <p:nvPr/>
        </p:nvSpPr>
        <p:spPr>
          <a:xfrm>
            <a:off x="7275600" y="2688480"/>
            <a:ext cx="480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f36b21"/>
                </a:solidFill>
                <a:latin typeface="Lato"/>
              </a:rPr>
              <a:t>PR-03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25"/>
          <p:cNvSpPr/>
          <p:nvPr/>
        </p:nvSpPr>
        <p:spPr>
          <a:xfrm>
            <a:off x="6643080" y="2999160"/>
            <a:ext cx="174600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Dados com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Python + Pandas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ounded Rectangle 26"/>
          <p:cNvSpPr/>
          <p:nvPr/>
        </p:nvSpPr>
        <p:spPr>
          <a:xfrm>
            <a:off x="9326880" y="2011680"/>
            <a:ext cx="1956240" cy="221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" name="Rounded Rectangle 27"/>
          <p:cNvSpPr/>
          <p:nvPr/>
        </p:nvSpPr>
        <p:spPr>
          <a:xfrm>
            <a:off x="9491400" y="2176200"/>
            <a:ext cx="1188000" cy="34668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" name="TextBox 28"/>
          <p:cNvSpPr/>
          <p:nvPr/>
        </p:nvSpPr>
        <p:spPr>
          <a:xfrm>
            <a:off x="9703080" y="2246400"/>
            <a:ext cx="7642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APLICAÇÃO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29"/>
          <p:cNvSpPr/>
          <p:nvPr/>
        </p:nvSpPr>
        <p:spPr>
          <a:xfrm>
            <a:off x="10064520" y="2688480"/>
            <a:ext cx="480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f72585"/>
                </a:solidFill>
                <a:latin typeface="Lato"/>
              </a:rPr>
              <a:t>PR-04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30"/>
          <p:cNvSpPr/>
          <p:nvPr/>
        </p:nvSpPr>
        <p:spPr>
          <a:xfrm>
            <a:off x="9504360" y="2999160"/>
            <a:ext cx="1600920" cy="5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Monitoramento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em tempo real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6" name="Connector 31"/>
          <p:cNvCxnSpPr/>
          <p:nvPr/>
        </p:nvCxnSpPr>
        <p:spPr>
          <a:xfrm>
            <a:off x="3126960" y="3126960"/>
            <a:ext cx="476280" cy="72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cxnSp>
        <p:nvCxnSpPr>
          <p:cNvPr id="87" name="Connector 32"/>
          <p:cNvCxnSpPr/>
          <p:nvPr/>
        </p:nvCxnSpPr>
        <p:spPr>
          <a:xfrm>
            <a:off x="5915880" y="3126960"/>
            <a:ext cx="476280" cy="72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cxnSp>
        <p:nvCxnSpPr>
          <p:cNvPr id="88" name="Connector 33"/>
          <p:cNvCxnSpPr/>
          <p:nvPr/>
        </p:nvCxnSpPr>
        <p:spPr>
          <a:xfrm>
            <a:off x="8704800" y="3126960"/>
            <a:ext cx="476280" cy="72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sp>
        <p:nvSpPr>
          <p:cNvPr id="89" name="TextBox 34"/>
          <p:cNvSpPr/>
          <p:nvPr/>
        </p:nvSpPr>
        <p:spPr>
          <a:xfrm>
            <a:off x="2326680" y="4866120"/>
            <a:ext cx="75808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600" spc="-1" strike="noStrike">
                <a:solidFill>
                  <a:srgbClr val="5b6b86"/>
                </a:solidFill>
                <a:latin typeface="Lato"/>
              </a:rPr>
              <a:t>O PR-02 entrega a base textual: dados → regras → repetição → funções → registros.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1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92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93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94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95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96" name="TextBox 7"/>
          <p:cNvSpPr/>
          <p:nvPr/>
        </p:nvSpPr>
        <p:spPr>
          <a:xfrm>
            <a:off x="2909880" y="768240"/>
            <a:ext cx="58100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 que você será capaz de fazer hoje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9"/>
          <p:cNvSpPr/>
          <p:nvPr/>
        </p:nvSpPr>
        <p:spPr>
          <a:xfrm>
            <a:off x="1121580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4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806760" y="1982520"/>
            <a:ext cx="2016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10b9f3"/>
                </a:solidFill>
                <a:latin typeface="Lato"/>
              </a:rPr>
              <a:t>01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1"/>
          <p:cNvSpPr/>
          <p:nvPr/>
        </p:nvSpPr>
        <p:spPr>
          <a:xfrm>
            <a:off x="1069560" y="2284200"/>
            <a:ext cx="147744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Executar Python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12"/>
          <p:cNvSpPr/>
          <p:nvPr/>
        </p:nvSpPr>
        <p:spPr>
          <a:xfrm>
            <a:off x="1080000" y="2763360"/>
            <a:ext cx="174600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Criar células no Colab,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rodar código e interpretar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saídas e erros básicos.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13"/>
          <p:cNvSpPr/>
          <p:nvPr/>
        </p:nvSpPr>
        <p:spPr>
          <a:xfrm>
            <a:off x="3065400" y="1982520"/>
            <a:ext cx="2016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f36b21"/>
                </a:solidFill>
                <a:latin typeface="Lato"/>
              </a:rPr>
              <a:t>02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14"/>
          <p:cNvSpPr/>
          <p:nvPr/>
        </p:nvSpPr>
        <p:spPr>
          <a:xfrm>
            <a:off x="3154680" y="2284200"/>
            <a:ext cx="182484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Trabalhar com dados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15"/>
          <p:cNvSpPr/>
          <p:nvPr/>
        </p:nvSpPr>
        <p:spPr>
          <a:xfrm>
            <a:off x="3240000" y="2808000"/>
            <a:ext cx="140760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Usar variáveis, tipos,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entrada, conversões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e operadores.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6"/>
          <p:cNvSpPr/>
          <p:nvPr/>
        </p:nvSpPr>
        <p:spPr>
          <a:xfrm>
            <a:off x="5324040" y="1982520"/>
            <a:ext cx="2016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f72585"/>
                </a:solidFill>
                <a:latin typeface="Lato"/>
              </a:rPr>
              <a:t>03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7"/>
          <p:cNvSpPr/>
          <p:nvPr/>
        </p:nvSpPr>
        <p:spPr>
          <a:xfrm>
            <a:off x="5567040" y="2340000"/>
            <a:ext cx="145296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Decidir e repetir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18"/>
          <p:cNvSpPr/>
          <p:nvPr/>
        </p:nvSpPr>
        <p:spPr>
          <a:xfrm>
            <a:off x="5580000" y="2835360"/>
            <a:ext cx="16682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Aplicar if/elif/else, listas,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for e compreender while.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9"/>
          <p:cNvSpPr/>
          <p:nvPr/>
        </p:nvSpPr>
        <p:spPr>
          <a:xfrm>
            <a:off x="7582320" y="1982520"/>
            <a:ext cx="2016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725ac1"/>
                </a:solidFill>
                <a:latin typeface="Lato"/>
              </a:rPr>
              <a:t>04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20"/>
          <p:cNvSpPr/>
          <p:nvPr/>
        </p:nvSpPr>
        <p:spPr>
          <a:xfrm>
            <a:off x="7746840" y="2284200"/>
            <a:ext cx="167400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Organizar o código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21"/>
          <p:cNvSpPr/>
          <p:nvPr/>
        </p:nvSpPr>
        <p:spPr>
          <a:xfrm>
            <a:off x="7740000" y="2835360"/>
            <a:ext cx="173232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Criar funções pequenas e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representar leituras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com dicionários.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22"/>
          <p:cNvSpPr/>
          <p:nvPr/>
        </p:nvSpPr>
        <p:spPr>
          <a:xfrm>
            <a:off x="9840960" y="1982520"/>
            <a:ext cx="2016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2fb886"/>
                </a:solidFill>
                <a:latin typeface="Lato"/>
              </a:rPr>
              <a:t>05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23"/>
          <p:cNvSpPr/>
          <p:nvPr/>
        </p:nvSpPr>
        <p:spPr>
          <a:xfrm>
            <a:off x="9776880" y="2284200"/>
            <a:ext cx="144540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20" spc="-1" strike="noStrike">
                <a:solidFill>
                  <a:srgbClr val="071a4a"/>
                </a:solidFill>
                <a:latin typeface="Lato"/>
              </a:rPr>
              <a:t>Testar e explicar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24"/>
          <p:cNvSpPr/>
          <p:nvPr/>
        </p:nvSpPr>
        <p:spPr>
          <a:xfrm>
            <a:off x="9829080" y="2808000"/>
            <a:ext cx="169092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Usar casos de fronteira,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localizar erros e justificar 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5b6b86"/>
                </a:solidFill>
                <a:latin typeface="Lato"/>
              </a:rPr>
              <a:t>a lógica.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ounded Rectangle 25"/>
          <p:cNvSpPr/>
          <p:nvPr/>
        </p:nvSpPr>
        <p:spPr>
          <a:xfrm>
            <a:off x="1051560" y="4754880"/>
            <a:ext cx="10011960" cy="566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15" name="TextBox 26"/>
          <p:cNvSpPr/>
          <p:nvPr/>
        </p:nvSpPr>
        <p:spPr>
          <a:xfrm>
            <a:off x="2683800" y="4933440"/>
            <a:ext cx="67474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Meta: terminar com um notebook que executa do início ao fim e resolve um pequeno problema aplicado.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7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118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119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120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12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122" name="TextBox 7"/>
          <p:cNvSpPr/>
          <p:nvPr/>
        </p:nvSpPr>
        <p:spPr>
          <a:xfrm>
            <a:off x="3476160" y="768240"/>
            <a:ext cx="46778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Como vamos usar as 3 horas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8"/>
          <p:cNvSpPr/>
          <p:nvPr/>
        </p:nvSpPr>
        <p:spPr>
          <a:xfrm>
            <a:off x="3585240" y="1307520"/>
            <a:ext cx="4404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Explicação curta → demonstração → prática → integração.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1121580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Rectangle 11"/>
          <p:cNvSpPr/>
          <p:nvPr/>
        </p:nvSpPr>
        <p:spPr>
          <a:xfrm>
            <a:off x="768240" y="2249280"/>
            <a:ext cx="879480" cy="547920"/>
          </a:xfrm>
          <a:prstGeom prst="rect">
            <a:avLst/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27" name="TextBox 12"/>
          <p:cNvSpPr/>
          <p:nvPr/>
        </p:nvSpPr>
        <p:spPr>
          <a:xfrm>
            <a:off x="1104120" y="2258640"/>
            <a:ext cx="207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15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13"/>
          <p:cNvSpPr/>
          <p:nvPr/>
        </p:nvSpPr>
        <p:spPr>
          <a:xfrm>
            <a:off x="941040" y="2871360"/>
            <a:ext cx="533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Abertura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ectangle 14"/>
          <p:cNvSpPr/>
          <p:nvPr/>
        </p:nvSpPr>
        <p:spPr>
          <a:xfrm>
            <a:off x="1648080" y="2249280"/>
            <a:ext cx="586080" cy="547920"/>
          </a:xfrm>
          <a:prstGeom prst="rect">
            <a:avLst/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30" name="TextBox 15"/>
          <p:cNvSpPr/>
          <p:nvPr/>
        </p:nvSpPr>
        <p:spPr>
          <a:xfrm>
            <a:off x="1837080" y="2258640"/>
            <a:ext cx="207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10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16"/>
          <p:cNvSpPr/>
          <p:nvPr/>
        </p:nvSpPr>
        <p:spPr>
          <a:xfrm>
            <a:off x="1760040" y="2871360"/>
            <a:ext cx="3618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Colab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17"/>
          <p:cNvSpPr/>
          <p:nvPr/>
        </p:nvSpPr>
        <p:spPr>
          <a:xfrm>
            <a:off x="2234880" y="2249280"/>
            <a:ext cx="1759680" cy="547920"/>
          </a:xfrm>
          <a:prstGeom prst="rect">
            <a:avLst/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33" name="TextBox 18"/>
          <p:cNvSpPr/>
          <p:nvPr/>
        </p:nvSpPr>
        <p:spPr>
          <a:xfrm>
            <a:off x="3010680" y="2258640"/>
            <a:ext cx="207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30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19"/>
          <p:cNvSpPr/>
          <p:nvPr/>
        </p:nvSpPr>
        <p:spPr>
          <a:xfrm>
            <a:off x="2647080" y="2871360"/>
            <a:ext cx="9349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Dados + 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Rectangle 20"/>
          <p:cNvSpPr/>
          <p:nvPr/>
        </p:nvSpPr>
        <p:spPr>
          <a:xfrm>
            <a:off x="3995280" y="2249280"/>
            <a:ext cx="879480" cy="54792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36" name="TextBox 21"/>
          <p:cNvSpPr/>
          <p:nvPr/>
        </p:nvSpPr>
        <p:spPr>
          <a:xfrm>
            <a:off x="4331160" y="2258640"/>
            <a:ext cx="207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15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22"/>
          <p:cNvSpPr/>
          <p:nvPr/>
        </p:nvSpPr>
        <p:spPr>
          <a:xfrm>
            <a:off x="4091760" y="2871360"/>
            <a:ext cx="6865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Operadores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ectangle 23"/>
          <p:cNvSpPr/>
          <p:nvPr/>
        </p:nvSpPr>
        <p:spPr>
          <a:xfrm>
            <a:off x="4875120" y="2249280"/>
            <a:ext cx="1172880" cy="547920"/>
          </a:xfrm>
          <a:prstGeom prst="rect">
            <a:avLst/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39" name="TextBox 24"/>
          <p:cNvSpPr/>
          <p:nvPr/>
        </p:nvSpPr>
        <p:spPr>
          <a:xfrm>
            <a:off x="5357520" y="2258640"/>
            <a:ext cx="207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20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25"/>
          <p:cNvSpPr/>
          <p:nvPr/>
        </p:nvSpPr>
        <p:spPr>
          <a:xfrm>
            <a:off x="5193000" y="2871360"/>
            <a:ext cx="537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Decisões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26"/>
          <p:cNvSpPr/>
          <p:nvPr/>
        </p:nvSpPr>
        <p:spPr>
          <a:xfrm>
            <a:off x="6048720" y="2249280"/>
            <a:ext cx="1759680" cy="547920"/>
          </a:xfrm>
          <a:prstGeom prst="rect">
            <a:avLst/>
          </a:prstGeom>
          <a:solidFill>
            <a:srgbClr val="2fb886"/>
          </a:solidFill>
          <a:ln w="12700">
            <a:solidFill>
              <a:srgbClr val="2fb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42" name="TextBox 27"/>
          <p:cNvSpPr/>
          <p:nvPr/>
        </p:nvSpPr>
        <p:spPr>
          <a:xfrm>
            <a:off x="6824520" y="2258640"/>
            <a:ext cx="207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30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28"/>
          <p:cNvSpPr/>
          <p:nvPr/>
        </p:nvSpPr>
        <p:spPr>
          <a:xfrm>
            <a:off x="6606000" y="2871360"/>
            <a:ext cx="645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Repetições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29"/>
          <p:cNvSpPr/>
          <p:nvPr/>
        </p:nvSpPr>
        <p:spPr>
          <a:xfrm>
            <a:off x="7809120" y="2249280"/>
            <a:ext cx="2052720" cy="547920"/>
          </a:xfrm>
          <a:prstGeom prst="rect">
            <a:avLst/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45" name="TextBox 30"/>
          <p:cNvSpPr/>
          <p:nvPr/>
        </p:nvSpPr>
        <p:spPr>
          <a:xfrm>
            <a:off x="8731440" y="2258640"/>
            <a:ext cx="207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35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31"/>
          <p:cNvSpPr/>
          <p:nvPr/>
        </p:nvSpPr>
        <p:spPr>
          <a:xfrm>
            <a:off x="8290440" y="2871360"/>
            <a:ext cx="10900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Funções + registros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32"/>
          <p:cNvSpPr/>
          <p:nvPr/>
        </p:nvSpPr>
        <p:spPr>
          <a:xfrm>
            <a:off x="9862560" y="2249280"/>
            <a:ext cx="1466280" cy="547920"/>
          </a:xfrm>
          <a:prstGeom prst="rect">
            <a:avLst/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48" name="TextBox 33"/>
          <p:cNvSpPr/>
          <p:nvPr/>
        </p:nvSpPr>
        <p:spPr>
          <a:xfrm>
            <a:off x="10491840" y="2258640"/>
            <a:ext cx="207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25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34"/>
          <p:cNvSpPr/>
          <p:nvPr/>
        </p:nvSpPr>
        <p:spPr>
          <a:xfrm>
            <a:off x="9980280" y="2871360"/>
            <a:ext cx="12304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</a:rPr>
              <a:t>Desafio + fechamento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35"/>
          <p:cNvSpPr/>
          <p:nvPr/>
        </p:nvSpPr>
        <p:spPr>
          <a:xfrm>
            <a:off x="1280160" y="4718160"/>
            <a:ext cx="9371880" cy="566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51" name="TextBox 36"/>
          <p:cNvSpPr/>
          <p:nvPr/>
        </p:nvSpPr>
        <p:spPr>
          <a:xfrm>
            <a:off x="3313080" y="4896720"/>
            <a:ext cx="5305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Mais tempo será gasto escrevendo e testando código do que ouvindo explicações.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3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154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155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156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15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158" name="TextBox 7"/>
          <p:cNvSpPr/>
          <p:nvPr/>
        </p:nvSpPr>
        <p:spPr>
          <a:xfrm>
            <a:off x="2545560" y="768240"/>
            <a:ext cx="65386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Projeto condutor: um wearable simulado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10"/>
          <p:cNvSpPr/>
          <p:nvPr/>
        </p:nvSpPr>
        <p:spPr>
          <a:xfrm>
            <a:off x="1121580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6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ounded Rectangle 11"/>
          <p:cNvSpPr/>
          <p:nvPr/>
        </p:nvSpPr>
        <p:spPr>
          <a:xfrm>
            <a:off x="850320" y="2030040"/>
            <a:ext cx="2322000" cy="1937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62" name="TextBox 12"/>
          <p:cNvSpPr/>
          <p:nvPr/>
        </p:nvSpPr>
        <p:spPr>
          <a:xfrm>
            <a:off x="1619280" y="2148840"/>
            <a:ext cx="7840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1 · 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3"/>
          <p:cNvSpPr/>
          <p:nvPr/>
        </p:nvSpPr>
        <p:spPr>
          <a:xfrm>
            <a:off x="1026000" y="2886480"/>
            <a:ext cx="197100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uma leitura sintética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de 0 a 100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14"/>
          <p:cNvSpPr/>
          <p:nvPr/>
        </p:nvSpPr>
        <p:spPr>
          <a:xfrm>
            <a:off x="3438000" y="2030040"/>
            <a:ext cx="2322000" cy="1937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65" name="TextBox 15"/>
          <p:cNvSpPr/>
          <p:nvPr/>
        </p:nvSpPr>
        <p:spPr>
          <a:xfrm>
            <a:off x="4294800" y="2148840"/>
            <a:ext cx="608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2 · REGRA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16"/>
          <p:cNvSpPr/>
          <p:nvPr/>
        </p:nvSpPr>
        <p:spPr>
          <a:xfrm>
            <a:off x="3942720" y="2886480"/>
            <a:ext cx="131292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classificar em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A / B / 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ounded Rectangle 17"/>
          <p:cNvSpPr/>
          <p:nvPr/>
        </p:nvSpPr>
        <p:spPr>
          <a:xfrm>
            <a:off x="6026040" y="2030040"/>
            <a:ext cx="2322000" cy="1937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68" name="TextBox 18"/>
          <p:cNvSpPr/>
          <p:nvPr/>
        </p:nvSpPr>
        <p:spPr>
          <a:xfrm>
            <a:off x="6750720" y="2148840"/>
            <a:ext cx="872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3 · REPETIÇÃO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19"/>
          <p:cNvSpPr/>
          <p:nvPr/>
        </p:nvSpPr>
        <p:spPr>
          <a:xfrm>
            <a:off x="6408360" y="2886480"/>
            <a:ext cx="155664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processar várias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leituras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ounded Rectangle 20"/>
          <p:cNvSpPr/>
          <p:nvPr/>
        </p:nvSpPr>
        <p:spPr>
          <a:xfrm>
            <a:off x="8613720" y="2030040"/>
            <a:ext cx="2322000" cy="1937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71" name="TextBox 21"/>
          <p:cNvSpPr/>
          <p:nvPr/>
        </p:nvSpPr>
        <p:spPr>
          <a:xfrm>
            <a:off x="9376560" y="2148840"/>
            <a:ext cx="795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4 · REGISTRO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22"/>
          <p:cNvSpPr/>
          <p:nvPr/>
        </p:nvSpPr>
        <p:spPr>
          <a:xfrm>
            <a:off x="8857440" y="2886480"/>
            <a:ext cx="183384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guardar valor,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estado e qualidade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3" name="Connector 23"/>
          <p:cNvCxnSpPr/>
          <p:nvPr/>
        </p:nvCxnSpPr>
        <p:spPr>
          <a:xfrm>
            <a:off x="3182040" y="2989800"/>
            <a:ext cx="238320" cy="72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cxnSp>
        <p:nvCxnSpPr>
          <p:cNvPr id="174" name="Connector 24"/>
          <p:cNvCxnSpPr/>
          <p:nvPr/>
        </p:nvCxnSpPr>
        <p:spPr>
          <a:xfrm>
            <a:off x="5769720" y="2989800"/>
            <a:ext cx="238320" cy="72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cxnSp>
        <p:nvCxnSpPr>
          <p:cNvPr id="175" name="Connector 25"/>
          <p:cNvCxnSpPr/>
          <p:nvPr/>
        </p:nvCxnSpPr>
        <p:spPr>
          <a:xfrm>
            <a:off x="8357400" y="2989800"/>
            <a:ext cx="238680" cy="720"/>
          </a:xfrm>
          <a:prstGeom prst="straightConnector1">
            <a:avLst/>
          </a:prstGeom>
          <a:ln w="21590">
            <a:solidFill>
              <a:srgbClr val="91a0b6"/>
            </a:solidFill>
            <a:round/>
          </a:ln>
        </p:spPr>
      </p:cxnSp>
      <p:sp>
        <p:nvSpPr>
          <p:cNvPr id="176" name="Rounded Rectangle 26"/>
          <p:cNvSpPr/>
          <p:nvPr/>
        </p:nvSpPr>
        <p:spPr>
          <a:xfrm>
            <a:off x="1080000" y="4860000"/>
            <a:ext cx="9783360" cy="59364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77" name="TextBox 27"/>
          <p:cNvSpPr/>
          <p:nvPr/>
        </p:nvSpPr>
        <p:spPr>
          <a:xfrm>
            <a:off x="3015000" y="5052600"/>
            <a:ext cx="59140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Usaremos o mesmo problema durante todo o encontro, construindo o programa por etapas.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9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180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181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182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18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184" name="TextBox 7"/>
          <p:cNvSpPr/>
          <p:nvPr/>
        </p:nvSpPr>
        <p:spPr>
          <a:xfrm>
            <a:off x="3483720" y="768240"/>
            <a:ext cx="46623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Todo programa tem um fluxo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3436560" y="1307520"/>
            <a:ext cx="4701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Antes da sintaxe, enxergue entrada → processamento → saída.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10"/>
          <p:cNvSpPr/>
          <p:nvPr/>
        </p:nvSpPr>
        <p:spPr>
          <a:xfrm>
            <a:off x="1121580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ounded Rectangle 11"/>
          <p:cNvSpPr/>
          <p:nvPr/>
        </p:nvSpPr>
        <p:spPr>
          <a:xfrm>
            <a:off x="850320" y="1993320"/>
            <a:ext cx="2376720" cy="197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89" name="TextBox 12"/>
          <p:cNvSpPr/>
          <p:nvPr/>
        </p:nvSpPr>
        <p:spPr>
          <a:xfrm>
            <a:off x="1727640" y="2112120"/>
            <a:ext cx="622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13"/>
          <p:cNvSpPr/>
          <p:nvPr/>
        </p:nvSpPr>
        <p:spPr>
          <a:xfrm>
            <a:off x="1307880" y="2853000"/>
            <a:ext cx="146196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valor sintético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ex.: 52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ounded Rectangle 14"/>
          <p:cNvSpPr/>
          <p:nvPr/>
        </p:nvSpPr>
        <p:spPr>
          <a:xfrm>
            <a:off x="3493080" y="1993320"/>
            <a:ext cx="2376720" cy="197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2" name="TextBox 15"/>
          <p:cNvSpPr/>
          <p:nvPr/>
        </p:nvSpPr>
        <p:spPr>
          <a:xfrm>
            <a:off x="4277160" y="2112120"/>
            <a:ext cx="8082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ARMAZENAR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6"/>
          <p:cNvSpPr/>
          <p:nvPr/>
        </p:nvSpPr>
        <p:spPr>
          <a:xfrm>
            <a:off x="4024080" y="2990160"/>
            <a:ext cx="1314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valor_sensor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ounded Rectangle 17"/>
          <p:cNvSpPr/>
          <p:nvPr/>
        </p:nvSpPr>
        <p:spPr>
          <a:xfrm>
            <a:off x="6135480" y="1993320"/>
            <a:ext cx="2376720" cy="197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5" name="TextBox 18"/>
          <p:cNvSpPr/>
          <p:nvPr/>
        </p:nvSpPr>
        <p:spPr>
          <a:xfrm>
            <a:off x="6952680" y="2112120"/>
            <a:ext cx="7426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PROCESSAR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19"/>
          <p:cNvSpPr/>
          <p:nvPr/>
        </p:nvSpPr>
        <p:spPr>
          <a:xfrm>
            <a:off x="6585120" y="2853000"/>
            <a:ext cx="14774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comparar com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30 e 70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ounded Rectangle 20"/>
          <p:cNvSpPr/>
          <p:nvPr/>
        </p:nvSpPr>
        <p:spPr>
          <a:xfrm>
            <a:off x="8778240" y="1993320"/>
            <a:ext cx="2376720" cy="197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8" name="TextBox 21"/>
          <p:cNvSpPr/>
          <p:nvPr/>
        </p:nvSpPr>
        <p:spPr>
          <a:xfrm>
            <a:off x="9761040" y="2112120"/>
            <a:ext cx="4104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SAÍDA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22"/>
          <p:cNvSpPr/>
          <p:nvPr/>
        </p:nvSpPr>
        <p:spPr>
          <a:xfrm>
            <a:off x="9253440" y="2997720"/>
            <a:ext cx="142560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071a4a"/>
                </a:solidFill>
                <a:latin typeface="Lato"/>
              </a:rPr>
              <a:t>Faixa A / B / 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0" name="Connector 23"/>
          <p:cNvCxnSpPr/>
          <p:nvPr/>
        </p:nvCxnSpPr>
        <p:spPr>
          <a:xfrm>
            <a:off x="3246120" y="2980800"/>
            <a:ext cx="219960" cy="720"/>
          </a:xfrm>
          <a:prstGeom prst="straightConnector1">
            <a:avLst/>
          </a:prstGeom>
          <a:ln w="25400">
            <a:solidFill>
              <a:srgbClr val="071a4a"/>
            </a:solidFill>
            <a:round/>
          </a:ln>
        </p:spPr>
      </p:cxnSp>
      <p:cxnSp>
        <p:nvCxnSpPr>
          <p:cNvPr id="201" name="Connector 24"/>
          <p:cNvCxnSpPr/>
          <p:nvPr/>
        </p:nvCxnSpPr>
        <p:spPr>
          <a:xfrm>
            <a:off x="5888520" y="2980800"/>
            <a:ext cx="220320" cy="720"/>
          </a:xfrm>
          <a:prstGeom prst="straightConnector1">
            <a:avLst/>
          </a:prstGeom>
          <a:ln w="25400">
            <a:solidFill>
              <a:srgbClr val="071a4a"/>
            </a:solidFill>
            <a:round/>
          </a:ln>
        </p:spPr>
      </p:cxnSp>
      <p:cxnSp>
        <p:nvCxnSpPr>
          <p:cNvPr id="202" name="Connector 25"/>
          <p:cNvCxnSpPr/>
          <p:nvPr/>
        </p:nvCxnSpPr>
        <p:spPr>
          <a:xfrm>
            <a:off x="8531280" y="2980800"/>
            <a:ext cx="219960" cy="720"/>
          </a:xfrm>
          <a:prstGeom prst="straightConnector1">
            <a:avLst/>
          </a:prstGeom>
          <a:ln w="25400">
            <a:solidFill>
              <a:srgbClr val="071a4a"/>
            </a:solidFill>
            <a:round/>
          </a:ln>
        </p:spPr>
      </p:cxnSp>
      <p:sp>
        <p:nvSpPr>
          <p:cNvPr id="203" name="TextBox 26"/>
          <p:cNvSpPr/>
          <p:nvPr/>
        </p:nvSpPr>
        <p:spPr>
          <a:xfrm>
            <a:off x="1976760" y="4554720"/>
            <a:ext cx="792396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400" spc="-1" strike="noStrike">
                <a:solidFill>
                  <a:srgbClr val="5b6b86"/>
                </a:solidFill>
                <a:latin typeface="Lato"/>
              </a:rPr>
              <a:t>O mesmo raciocínio vale para sensores, formulários, APIs, arquivos ou qualquer outra fonte de dados.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Rounded Rectangle 1"/>
          <p:cNvSpPr/>
          <p:nvPr/>
        </p:nvSpPr>
        <p:spPr>
          <a:xfrm>
            <a:off x="1080000" y="4986000"/>
            <a:ext cx="9783360" cy="59364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05" name="TextBox 2"/>
          <p:cNvSpPr/>
          <p:nvPr/>
        </p:nvSpPr>
        <p:spPr>
          <a:xfrm>
            <a:off x="3122280" y="5178240"/>
            <a:ext cx="569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As faixas 30 e 70 existem apenas para ensinar programação. Não têm significado clínico.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7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208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209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210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21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212" name="TextBox 7"/>
          <p:cNvSpPr/>
          <p:nvPr/>
        </p:nvSpPr>
        <p:spPr>
          <a:xfrm>
            <a:off x="3665880" y="768240"/>
            <a:ext cx="42984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Algoritmo antes do código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8"/>
          <p:cNvSpPr/>
          <p:nvPr/>
        </p:nvSpPr>
        <p:spPr>
          <a:xfrm>
            <a:off x="3023640" y="1307520"/>
            <a:ext cx="5528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Escreva a ideia em passos claros. Depois transforme os passos em Python.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10"/>
          <p:cNvSpPr/>
          <p:nvPr/>
        </p:nvSpPr>
        <p:spPr>
          <a:xfrm>
            <a:off x="1121580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11"/>
          <p:cNvSpPr/>
          <p:nvPr/>
        </p:nvSpPr>
        <p:spPr>
          <a:xfrm>
            <a:off x="896040" y="1938600"/>
            <a:ext cx="5028480" cy="29253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17" name="TextBox 12"/>
          <p:cNvSpPr/>
          <p:nvPr/>
        </p:nvSpPr>
        <p:spPr>
          <a:xfrm>
            <a:off x="2895480" y="2048400"/>
            <a:ext cx="1029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PSEUDOCÓDIGO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Box 13"/>
          <p:cNvSpPr/>
          <p:nvPr/>
        </p:nvSpPr>
        <p:spPr>
          <a:xfrm>
            <a:off x="1862280" y="2322720"/>
            <a:ext cx="3096000" cy="13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1. receber um valor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2. guardar o valor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3. se valor &lt; 30 → 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4. senão, se valor ≤ 70 → B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5. senão → C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6. mostrar o resultado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ounded Rectangle 14"/>
          <p:cNvSpPr/>
          <p:nvPr/>
        </p:nvSpPr>
        <p:spPr>
          <a:xfrm>
            <a:off x="6419160" y="1938600"/>
            <a:ext cx="4662720" cy="2925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20" name="TextBox 15"/>
          <p:cNvSpPr/>
          <p:nvPr/>
        </p:nvSpPr>
        <p:spPr>
          <a:xfrm>
            <a:off x="8017560" y="2238840"/>
            <a:ext cx="14378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Pergunta para a turma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17"/>
          <p:cNvSpPr/>
          <p:nvPr/>
        </p:nvSpPr>
        <p:spPr>
          <a:xfrm>
            <a:off x="6976080" y="3600360"/>
            <a:ext cx="37746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2) E qual passo precisará se repetir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quando houver várias leituras</a:t>
            </a:r>
            <a:r>
              <a:rPr b="1" lang="pt-BR" sz="1400" spc="-1" strike="noStrike">
                <a:solidFill>
                  <a:srgbClr val="5b6b86"/>
                </a:solidFill>
                <a:latin typeface="Lato"/>
              </a:rPr>
              <a:t>?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16"/>
          <p:cNvSpPr/>
          <p:nvPr/>
        </p:nvSpPr>
        <p:spPr>
          <a:xfrm>
            <a:off x="6913440" y="2637000"/>
            <a:ext cx="39297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1) Em qual passo o programa precisa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“</a:t>
            </a: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tomar uma decisão”?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24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225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226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227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228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229" name="TextBox 7"/>
          <p:cNvSpPr/>
          <p:nvPr/>
        </p:nvSpPr>
        <p:spPr>
          <a:xfrm>
            <a:off x="2907000" y="768240"/>
            <a:ext cx="58161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Google Colab: Python no navegador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8"/>
          <p:cNvSpPr/>
          <p:nvPr/>
        </p:nvSpPr>
        <p:spPr>
          <a:xfrm>
            <a:off x="3677400" y="1307520"/>
            <a:ext cx="4220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Não precisamos instalar Python para acompanhar a aula.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10"/>
          <p:cNvSpPr/>
          <p:nvPr/>
        </p:nvSpPr>
        <p:spPr>
          <a:xfrm>
            <a:off x="11215800" y="6419160"/>
            <a:ext cx="107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ounded Rectangle 11"/>
          <p:cNvSpPr/>
          <p:nvPr/>
        </p:nvSpPr>
        <p:spPr>
          <a:xfrm>
            <a:off x="868680" y="1847160"/>
            <a:ext cx="6811560" cy="3345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4" name="Rounded Rectangle 12"/>
          <p:cNvSpPr/>
          <p:nvPr/>
        </p:nvSpPr>
        <p:spPr>
          <a:xfrm>
            <a:off x="868680" y="1847160"/>
            <a:ext cx="6811560" cy="419760"/>
          </a:xfrm>
          <a:prstGeom prst="roundRect">
            <a:avLst>
              <a:gd name="adj" fmla="val 16667"/>
            </a:avLst>
          </a:prstGeom>
          <a:solidFill>
            <a:srgbClr val="eef3f9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5" name="Oval 13"/>
          <p:cNvSpPr/>
          <p:nvPr/>
        </p:nvSpPr>
        <p:spPr>
          <a:xfrm>
            <a:off x="1078920" y="1974960"/>
            <a:ext cx="90720" cy="90720"/>
          </a:xfrm>
          <a:prstGeom prst="ellipse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440" bIns="1944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6" name="Oval 14"/>
          <p:cNvSpPr/>
          <p:nvPr/>
        </p:nvSpPr>
        <p:spPr>
          <a:xfrm>
            <a:off x="1316880" y="1974960"/>
            <a:ext cx="90720" cy="90720"/>
          </a:xfrm>
          <a:prstGeom prst="ellipse">
            <a:avLst/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440" bIns="1944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7" name="Oval 15"/>
          <p:cNvSpPr/>
          <p:nvPr/>
        </p:nvSpPr>
        <p:spPr>
          <a:xfrm>
            <a:off x="1554480" y="1974960"/>
            <a:ext cx="90720" cy="90720"/>
          </a:xfrm>
          <a:prstGeom prst="ellipse">
            <a:avLst/>
          </a:prstGeom>
          <a:solidFill>
            <a:srgbClr val="2fb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440" bIns="1944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8" name="TextBox 16"/>
          <p:cNvSpPr/>
          <p:nvPr/>
        </p:nvSpPr>
        <p:spPr>
          <a:xfrm>
            <a:off x="2665440" y="2592360"/>
            <a:ext cx="28065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▶  </a:t>
            </a: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print("Olá, Python!")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ounded Rectangle 17"/>
          <p:cNvSpPr/>
          <p:nvPr/>
        </p:nvSpPr>
        <p:spPr>
          <a:xfrm>
            <a:off x="1078920" y="3127320"/>
            <a:ext cx="6354360" cy="10782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40" name="TextBox 18"/>
          <p:cNvSpPr/>
          <p:nvPr/>
        </p:nvSpPr>
        <p:spPr>
          <a:xfrm>
            <a:off x="3535560" y="3415680"/>
            <a:ext cx="14317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Olá, Python!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19"/>
          <p:cNvSpPr/>
          <p:nvPr/>
        </p:nvSpPr>
        <p:spPr>
          <a:xfrm>
            <a:off x="7133760" y="2583000"/>
            <a:ext cx="12420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900" spc="-1" strike="noStrike">
                <a:solidFill>
                  <a:srgbClr val="91a0b6"/>
                </a:solidFill>
                <a:latin typeface="DejaVu Sans Mono"/>
              </a:rPr>
              <a:t>1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20"/>
          <p:cNvSpPr/>
          <p:nvPr/>
        </p:nvSpPr>
        <p:spPr>
          <a:xfrm>
            <a:off x="8091720" y="1993320"/>
            <a:ext cx="1652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Box 21"/>
          <p:cNvSpPr/>
          <p:nvPr/>
        </p:nvSpPr>
        <p:spPr>
          <a:xfrm>
            <a:off x="8102520" y="1993320"/>
            <a:ext cx="29973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Cada célula pode conter código ou texto.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22"/>
          <p:cNvSpPr/>
          <p:nvPr/>
        </p:nvSpPr>
        <p:spPr>
          <a:xfrm>
            <a:off x="8091720" y="2633400"/>
            <a:ext cx="1652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23"/>
          <p:cNvSpPr/>
          <p:nvPr/>
        </p:nvSpPr>
        <p:spPr>
          <a:xfrm>
            <a:off x="8662320" y="2633400"/>
            <a:ext cx="18766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▶ </a:t>
            </a: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executa a célula atual.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24"/>
          <p:cNvSpPr/>
          <p:nvPr/>
        </p:nvSpPr>
        <p:spPr>
          <a:xfrm>
            <a:off x="8091720" y="3273480"/>
            <a:ext cx="1652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25"/>
          <p:cNvSpPr/>
          <p:nvPr/>
        </p:nvSpPr>
        <p:spPr>
          <a:xfrm>
            <a:off x="8563320" y="3273480"/>
            <a:ext cx="20746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A saída aparece logo abaixo.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26"/>
          <p:cNvSpPr/>
          <p:nvPr/>
        </p:nvSpPr>
        <p:spPr>
          <a:xfrm>
            <a:off x="8091720" y="3913560"/>
            <a:ext cx="1652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27"/>
          <p:cNvSpPr/>
          <p:nvPr/>
        </p:nvSpPr>
        <p:spPr>
          <a:xfrm>
            <a:off x="8476560" y="3913560"/>
            <a:ext cx="22485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A ordem de execução importa.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28"/>
          <p:cNvSpPr/>
          <p:nvPr/>
        </p:nvSpPr>
        <p:spPr>
          <a:xfrm>
            <a:off x="8101440" y="4727520"/>
            <a:ext cx="260532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51" name="TextBox 29"/>
          <p:cNvSpPr/>
          <p:nvPr/>
        </p:nvSpPr>
        <p:spPr>
          <a:xfrm>
            <a:off x="8635680" y="4797720"/>
            <a:ext cx="15368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colab.research.google.com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53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254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255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256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25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258" name="TextBox 7"/>
          <p:cNvSpPr/>
          <p:nvPr/>
        </p:nvSpPr>
        <p:spPr>
          <a:xfrm>
            <a:off x="4286160" y="768240"/>
            <a:ext cx="30578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Primeiro programa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8"/>
          <p:cNvSpPr/>
          <p:nvPr/>
        </p:nvSpPr>
        <p:spPr>
          <a:xfrm>
            <a:off x="4244400" y="1307520"/>
            <a:ext cx="3086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print() envia uma mensagem para a saída.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10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Rounded Rectangle 11"/>
          <p:cNvSpPr/>
          <p:nvPr/>
        </p:nvSpPr>
        <p:spPr>
          <a:xfrm>
            <a:off x="1005840" y="2422080"/>
            <a:ext cx="5485680" cy="21024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63" name="TextBox 12"/>
          <p:cNvSpPr/>
          <p:nvPr/>
        </p:nvSpPr>
        <p:spPr>
          <a:xfrm>
            <a:off x="3233880" y="2531880"/>
            <a:ext cx="1029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CÉLULA PYTHON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13"/>
          <p:cNvSpPr/>
          <p:nvPr/>
        </p:nvSpPr>
        <p:spPr>
          <a:xfrm>
            <a:off x="2039760" y="2806200"/>
            <a:ext cx="341748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DejaVu Sans Mono"/>
              </a:rPr>
              <a:t>print("Olá, saúde digital!")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DejaVu Sans Mono"/>
              </a:rPr>
              <a:t>print(2 + 3)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ounded Rectangle 14"/>
          <p:cNvSpPr/>
          <p:nvPr/>
        </p:nvSpPr>
        <p:spPr>
          <a:xfrm>
            <a:off x="1005840" y="4635000"/>
            <a:ext cx="5485680" cy="584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66" name="TextBox 15"/>
          <p:cNvSpPr/>
          <p:nvPr/>
        </p:nvSpPr>
        <p:spPr>
          <a:xfrm>
            <a:off x="1289520" y="470808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16"/>
          <p:cNvSpPr/>
          <p:nvPr/>
        </p:nvSpPr>
        <p:spPr>
          <a:xfrm>
            <a:off x="3211200" y="4689720"/>
            <a:ext cx="1797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Olá, saúde digital!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17"/>
          <p:cNvSpPr/>
          <p:nvPr/>
        </p:nvSpPr>
        <p:spPr>
          <a:xfrm>
            <a:off x="6903720" y="2422080"/>
            <a:ext cx="4159800" cy="2724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69" name="TextBox 18"/>
          <p:cNvSpPr/>
          <p:nvPr/>
        </p:nvSpPr>
        <p:spPr>
          <a:xfrm>
            <a:off x="8336520" y="2694960"/>
            <a:ext cx="12852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Experimento rápido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19"/>
          <p:cNvSpPr/>
          <p:nvPr/>
        </p:nvSpPr>
        <p:spPr>
          <a:xfrm>
            <a:off x="7164360" y="3135240"/>
            <a:ext cx="1728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•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20"/>
          <p:cNvSpPr/>
          <p:nvPr/>
        </p:nvSpPr>
        <p:spPr>
          <a:xfrm>
            <a:off x="8178480" y="3135240"/>
            <a:ext cx="165564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Troque a mensagem.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21"/>
          <p:cNvSpPr/>
          <p:nvPr/>
        </p:nvSpPr>
        <p:spPr>
          <a:xfrm>
            <a:off x="7164360" y="3702240"/>
            <a:ext cx="1728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•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22"/>
          <p:cNvSpPr/>
          <p:nvPr/>
        </p:nvSpPr>
        <p:spPr>
          <a:xfrm>
            <a:off x="7668000" y="3702240"/>
            <a:ext cx="26766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Mude 2 + 3 para outra expressão.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Box 23"/>
          <p:cNvSpPr/>
          <p:nvPr/>
        </p:nvSpPr>
        <p:spPr>
          <a:xfrm>
            <a:off x="7164360" y="4269240"/>
            <a:ext cx="1728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•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24"/>
          <p:cNvSpPr/>
          <p:nvPr/>
        </p:nvSpPr>
        <p:spPr>
          <a:xfrm>
            <a:off x="8186040" y="4269240"/>
            <a:ext cx="164052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Execute novamente.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25"/>
          <p:cNvSpPr/>
          <p:nvPr/>
        </p:nvSpPr>
        <p:spPr>
          <a:xfrm>
            <a:off x="7679520" y="4722120"/>
            <a:ext cx="2525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071a4a"/>
                </a:solidFill>
                <a:latin typeface="Inter Display"/>
              </a:rPr>
              <a:t>Código → execução → saída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8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279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280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281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282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283" name="TextBox 7"/>
          <p:cNvSpPr/>
          <p:nvPr/>
        </p:nvSpPr>
        <p:spPr>
          <a:xfrm>
            <a:off x="3144600" y="768240"/>
            <a:ext cx="53406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Comentários e erros fazem parte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8"/>
          <p:cNvSpPr/>
          <p:nvPr/>
        </p:nvSpPr>
        <p:spPr>
          <a:xfrm>
            <a:off x="3591360" y="1307520"/>
            <a:ext cx="4392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Ler a mensagem de erro é uma habilidade de programação.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11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Rounded Rectangle 11"/>
          <p:cNvSpPr/>
          <p:nvPr/>
        </p:nvSpPr>
        <p:spPr>
          <a:xfrm>
            <a:off x="900000" y="2340000"/>
            <a:ext cx="5988600" cy="24681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88" name="TextBox 12"/>
          <p:cNvSpPr/>
          <p:nvPr/>
        </p:nvSpPr>
        <p:spPr>
          <a:xfrm>
            <a:off x="3250800" y="2449800"/>
            <a:ext cx="12870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EXEMPLO COM ERRO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13"/>
          <p:cNvSpPr/>
          <p:nvPr/>
        </p:nvSpPr>
        <p:spPr>
          <a:xfrm>
            <a:off x="2552760" y="2724120"/>
            <a:ext cx="26830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# isto é um comentário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print("Leitura recebida")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print(valor_inexistente)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Rounded Rectangle 14"/>
          <p:cNvSpPr/>
          <p:nvPr/>
        </p:nvSpPr>
        <p:spPr>
          <a:xfrm>
            <a:off x="900000" y="4918680"/>
            <a:ext cx="5988600" cy="584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91" name="TextBox 15"/>
          <p:cNvSpPr/>
          <p:nvPr/>
        </p:nvSpPr>
        <p:spPr>
          <a:xfrm>
            <a:off x="1183320" y="499176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16"/>
          <p:cNvSpPr/>
          <p:nvPr/>
        </p:nvSpPr>
        <p:spPr>
          <a:xfrm>
            <a:off x="1933920" y="4973400"/>
            <a:ext cx="464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NameError: name 'valor_inexistente' is not defined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Rounded Rectangle 17"/>
          <p:cNvSpPr/>
          <p:nvPr/>
        </p:nvSpPr>
        <p:spPr>
          <a:xfrm>
            <a:off x="7218360" y="2340000"/>
            <a:ext cx="3821400" cy="1005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94" name="TextBox 18"/>
          <p:cNvSpPr/>
          <p:nvPr/>
        </p:nvSpPr>
        <p:spPr>
          <a:xfrm>
            <a:off x="9066600" y="2458800"/>
            <a:ext cx="1242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1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19"/>
          <p:cNvSpPr/>
          <p:nvPr/>
        </p:nvSpPr>
        <p:spPr>
          <a:xfrm>
            <a:off x="8174520" y="2890080"/>
            <a:ext cx="19087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Leia a última linha do erro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ounded Rectangle 20"/>
          <p:cNvSpPr/>
          <p:nvPr/>
        </p:nvSpPr>
        <p:spPr>
          <a:xfrm>
            <a:off x="7218360" y="3510360"/>
            <a:ext cx="3821400" cy="1005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97" name="TextBox 21"/>
          <p:cNvSpPr/>
          <p:nvPr/>
        </p:nvSpPr>
        <p:spPr>
          <a:xfrm>
            <a:off x="9066600" y="3629160"/>
            <a:ext cx="1242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2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22"/>
          <p:cNvSpPr/>
          <p:nvPr/>
        </p:nvSpPr>
        <p:spPr>
          <a:xfrm>
            <a:off x="8241480" y="4060440"/>
            <a:ext cx="1774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Localize a linha indicada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Rounded Rectangle 23"/>
          <p:cNvSpPr/>
          <p:nvPr/>
        </p:nvSpPr>
        <p:spPr>
          <a:xfrm>
            <a:off x="7218360" y="4680720"/>
            <a:ext cx="3821400" cy="1005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00" name="TextBox 24"/>
          <p:cNvSpPr/>
          <p:nvPr/>
        </p:nvSpPr>
        <p:spPr>
          <a:xfrm>
            <a:off x="9066600" y="4799880"/>
            <a:ext cx="1242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3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25"/>
          <p:cNvSpPr/>
          <p:nvPr/>
        </p:nvSpPr>
        <p:spPr>
          <a:xfrm>
            <a:off x="8199000" y="5231160"/>
            <a:ext cx="18597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Corrija uma coisa por vez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03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04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05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06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30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308" name="TextBox 7"/>
          <p:cNvSpPr/>
          <p:nvPr/>
        </p:nvSpPr>
        <p:spPr>
          <a:xfrm>
            <a:off x="3403080" y="768240"/>
            <a:ext cx="48240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Variáveis: nomes para valores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8"/>
          <p:cNvSpPr/>
          <p:nvPr/>
        </p:nvSpPr>
        <p:spPr>
          <a:xfrm>
            <a:off x="3169800" y="1307520"/>
            <a:ext cx="5235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variável guarda um valor que pode ser consultado ou substituído.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967680" y="2419920"/>
            <a:ext cx="3931200" cy="239508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2231280" y="2808720"/>
            <a:ext cx="14317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10b9f3"/>
                </a:solidFill>
                <a:latin typeface="DejaVu Sans Mono"/>
              </a:rPr>
              <a:t>valor_sensor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13"/>
          <p:cNvSpPr/>
          <p:nvPr/>
        </p:nvSpPr>
        <p:spPr>
          <a:xfrm>
            <a:off x="2661840" y="3377520"/>
            <a:ext cx="570600" cy="57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3400" spc="-1" strike="noStrike">
                <a:solidFill>
                  <a:srgbClr val="071a4a"/>
                </a:solidFill>
                <a:latin typeface="Inter Display"/>
              </a:rPr>
              <a:t>52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14"/>
          <p:cNvSpPr/>
          <p:nvPr/>
        </p:nvSpPr>
        <p:spPr>
          <a:xfrm>
            <a:off x="1716120" y="4373640"/>
            <a:ext cx="3679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000" spc="-1" strike="noStrike">
                <a:solidFill>
                  <a:srgbClr val="5b6b86"/>
                </a:solidFill>
                <a:latin typeface="Lato"/>
              </a:rPr>
              <a:t>nome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15"/>
          <p:cNvSpPr/>
          <p:nvPr/>
        </p:nvSpPr>
        <p:spPr>
          <a:xfrm>
            <a:off x="3609720" y="4373640"/>
            <a:ext cx="3297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000" spc="-1" strike="noStrike">
                <a:solidFill>
                  <a:srgbClr val="5b6b86"/>
                </a:solidFill>
                <a:latin typeface="Lato"/>
              </a:rPr>
              <a:t>valor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ounded Rectangle 16"/>
          <p:cNvSpPr/>
          <p:nvPr/>
        </p:nvSpPr>
        <p:spPr>
          <a:xfrm>
            <a:off x="5329440" y="2419920"/>
            <a:ext cx="5650200" cy="239508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18" name="TextBox 17"/>
          <p:cNvSpPr/>
          <p:nvPr/>
        </p:nvSpPr>
        <p:spPr>
          <a:xfrm>
            <a:off x="7765560" y="2529720"/>
            <a:ext cx="7779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ATRIBUIÇÃO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18"/>
          <p:cNvSpPr/>
          <p:nvPr/>
        </p:nvSpPr>
        <p:spPr>
          <a:xfrm>
            <a:off x="7065360" y="2804040"/>
            <a:ext cx="217836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valor_sensor = 52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print(valor_sensor)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valor_sensor = 78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print(valor_sensor)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19"/>
          <p:cNvSpPr/>
          <p:nvPr/>
        </p:nvSpPr>
        <p:spPr>
          <a:xfrm>
            <a:off x="5329440" y="4925520"/>
            <a:ext cx="5650200" cy="584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21" name="TextBox 20"/>
          <p:cNvSpPr/>
          <p:nvPr/>
        </p:nvSpPr>
        <p:spPr>
          <a:xfrm>
            <a:off x="5613120" y="499860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21"/>
          <p:cNvSpPr/>
          <p:nvPr/>
        </p:nvSpPr>
        <p:spPr>
          <a:xfrm>
            <a:off x="8396640" y="4980240"/>
            <a:ext cx="238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52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78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22"/>
          <p:cNvSpPr/>
          <p:nvPr/>
        </p:nvSpPr>
        <p:spPr>
          <a:xfrm>
            <a:off x="3260520" y="5760000"/>
            <a:ext cx="483912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400" spc="-1" strike="noStrike">
                <a:solidFill>
                  <a:srgbClr val="5b6b86"/>
                </a:solidFill>
                <a:latin typeface="Lato"/>
              </a:rPr>
              <a:t>O nome permanece. O valor pode mudar durante a execução.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25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26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27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28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329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330" name="TextBox 7"/>
          <p:cNvSpPr/>
          <p:nvPr/>
        </p:nvSpPr>
        <p:spPr>
          <a:xfrm>
            <a:off x="4675680" y="768240"/>
            <a:ext cx="22788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Tipos básicos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8"/>
          <p:cNvSpPr/>
          <p:nvPr/>
        </p:nvSpPr>
        <p:spPr>
          <a:xfrm>
            <a:off x="3599640" y="1307520"/>
            <a:ext cx="4376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O tipo do valor influencia as operações que fazem sentido.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Rounded Rectangle 11"/>
          <p:cNvSpPr/>
          <p:nvPr/>
        </p:nvSpPr>
        <p:spPr>
          <a:xfrm>
            <a:off x="868680" y="1938600"/>
            <a:ext cx="242244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35" name="TextBox 12"/>
          <p:cNvSpPr/>
          <p:nvPr/>
        </p:nvSpPr>
        <p:spPr>
          <a:xfrm>
            <a:off x="1951920" y="2057400"/>
            <a:ext cx="255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INT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13"/>
          <p:cNvSpPr/>
          <p:nvPr/>
        </p:nvSpPr>
        <p:spPr>
          <a:xfrm>
            <a:off x="1314360" y="2885040"/>
            <a:ext cx="15307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52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número inteiro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Rounded Rectangle 14"/>
          <p:cNvSpPr/>
          <p:nvPr/>
        </p:nvSpPr>
        <p:spPr>
          <a:xfrm>
            <a:off x="3438000" y="1938600"/>
            <a:ext cx="242244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38" name="TextBox 15"/>
          <p:cNvSpPr/>
          <p:nvPr/>
        </p:nvSpPr>
        <p:spPr>
          <a:xfrm>
            <a:off x="4437360" y="2057400"/>
            <a:ext cx="4240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FLOAT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16"/>
          <p:cNvSpPr/>
          <p:nvPr/>
        </p:nvSpPr>
        <p:spPr>
          <a:xfrm>
            <a:off x="3822120" y="2885040"/>
            <a:ext cx="16542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52.5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número decimal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ounded Rectangle 17"/>
          <p:cNvSpPr/>
          <p:nvPr/>
        </p:nvSpPr>
        <p:spPr>
          <a:xfrm>
            <a:off x="6007680" y="1938600"/>
            <a:ext cx="242244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41" name="TextBox 18"/>
          <p:cNvSpPr/>
          <p:nvPr/>
        </p:nvSpPr>
        <p:spPr>
          <a:xfrm>
            <a:off x="7083360" y="2057400"/>
            <a:ext cx="270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STR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9"/>
          <p:cNvSpPr/>
          <p:nvPr/>
        </p:nvSpPr>
        <p:spPr>
          <a:xfrm>
            <a:off x="6928920" y="2885040"/>
            <a:ext cx="5796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"OK"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texto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20"/>
          <p:cNvSpPr/>
          <p:nvPr/>
        </p:nvSpPr>
        <p:spPr>
          <a:xfrm>
            <a:off x="8577000" y="1938600"/>
            <a:ext cx="242244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44" name="TextBox 21"/>
          <p:cNvSpPr/>
          <p:nvPr/>
        </p:nvSpPr>
        <p:spPr>
          <a:xfrm>
            <a:off x="9592920" y="2057400"/>
            <a:ext cx="3906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BOOL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22"/>
          <p:cNvSpPr/>
          <p:nvPr/>
        </p:nvSpPr>
        <p:spPr>
          <a:xfrm>
            <a:off x="9180000" y="2885040"/>
            <a:ext cx="12168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True / False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lógico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23"/>
          <p:cNvSpPr/>
          <p:nvPr/>
        </p:nvSpPr>
        <p:spPr>
          <a:xfrm>
            <a:off x="3383280" y="4572000"/>
            <a:ext cx="5257080" cy="8589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47" name="TextBox 24"/>
          <p:cNvSpPr/>
          <p:nvPr/>
        </p:nvSpPr>
        <p:spPr>
          <a:xfrm>
            <a:off x="5119920" y="4736520"/>
            <a:ext cx="178380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DejaVu Sans Mono"/>
              </a:rPr>
              <a:t>valor = 52.5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DejaVu Sans Mono"/>
              </a:rPr>
              <a:t>print(type(valor))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Rounded Rectangle 25"/>
          <p:cNvSpPr/>
          <p:nvPr/>
        </p:nvSpPr>
        <p:spPr>
          <a:xfrm>
            <a:off x="3383280" y="5541120"/>
            <a:ext cx="5257080" cy="584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49" name="TextBox 26"/>
          <p:cNvSpPr/>
          <p:nvPr/>
        </p:nvSpPr>
        <p:spPr>
          <a:xfrm>
            <a:off x="3666960" y="561456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27"/>
          <p:cNvSpPr/>
          <p:nvPr/>
        </p:nvSpPr>
        <p:spPr>
          <a:xfrm>
            <a:off x="5657040" y="5596200"/>
            <a:ext cx="1431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&lt;class 'float'&gt;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52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53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54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55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356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357" name="TextBox 7"/>
          <p:cNvSpPr/>
          <p:nvPr/>
        </p:nvSpPr>
        <p:spPr>
          <a:xfrm>
            <a:off x="4289760" y="768240"/>
            <a:ext cx="30502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type() e conversão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8"/>
          <p:cNvSpPr/>
          <p:nvPr/>
        </p:nvSpPr>
        <p:spPr>
          <a:xfrm>
            <a:off x="3607200" y="1307520"/>
            <a:ext cx="43606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Às vezes precisamos transformar um valor antes de usá-lo.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14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11"/>
          <p:cNvSpPr/>
          <p:nvPr/>
        </p:nvSpPr>
        <p:spPr>
          <a:xfrm>
            <a:off x="896040" y="1901880"/>
            <a:ext cx="5558760" cy="29253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62" name="TextBox 12"/>
          <p:cNvSpPr/>
          <p:nvPr/>
        </p:nvSpPr>
        <p:spPr>
          <a:xfrm>
            <a:off x="2522160" y="2011680"/>
            <a:ext cx="23065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CONVERSÃO DE TEXTO PARA NÚMERO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13"/>
          <p:cNvSpPr/>
          <p:nvPr/>
        </p:nvSpPr>
        <p:spPr>
          <a:xfrm>
            <a:off x="2602080" y="2286000"/>
            <a:ext cx="2146680" cy="10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texto = "52.5"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print(type(texto))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valor = float(texto)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print(type(valor))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ounded Rectangle 14"/>
          <p:cNvSpPr/>
          <p:nvPr/>
        </p:nvSpPr>
        <p:spPr>
          <a:xfrm>
            <a:off x="896040" y="4937760"/>
            <a:ext cx="5558760" cy="584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65" name="TextBox 15"/>
          <p:cNvSpPr/>
          <p:nvPr/>
        </p:nvSpPr>
        <p:spPr>
          <a:xfrm>
            <a:off x="1179720" y="501084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16"/>
          <p:cNvSpPr/>
          <p:nvPr/>
        </p:nvSpPr>
        <p:spPr>
          <a:xfrm>
            <a:off x="3320640" y="4992480"/>
            <a:ext cx="14317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&lt;class 'str'&gt;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&lt;class 'float'&gt;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Rounded Rectangle 17"/>
          <p:cNvSpPr/>
          <p:nvPr/>
        </p:nvSpPr>
        <p:spPr>
          <a:xfrm>
            <a:off x="6903720" y="1901880"/>
            <a:ext cx="4159800" cy="2925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68" name="TextBox 18"/>
          <p:cNvSpPr/>
          <p:nvPr/>
        </p:nvSpPr>
        <p:spPr>
          <a:xfrm>
            <a:off x="8228880" y="2220480"/>
            <a:ext cx="14911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Conversões frequentes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19"/>
          <p:cNvSpPr/>
          <p:nvPr/>
        </p:nvSpPr>
        <p:spPr>
          <a:xfrm>
            <a:off x="7456320" y="2697480"/>
            <a:ext cx="303624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int("52")   → 52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float("52.5") → 52.5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str(52)     → "52"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bool(...)   → True / False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Rounded Rectangle 20"/>
          <p:cNvSpPr/>
          <p:nvPr/>
        </p:nvSpPr>
        <p:spPr>
          <a:xfrm>
            <a:off x="6801120" y="4943160"/>
            <a:ext cx="4358520" cy="4564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71" name="TextBox 21"/>
          <p:cNvSpPr/>
          <p:nvPr/>
        </p:nvSpPr>
        <p:spPr>
          <a:xfrm>
            <a:off x="6840000" y="5040000"/>
            <a:ext cx="421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Converter não “corrige” o dado. Apenas muda sua representação.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73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74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75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76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37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378" name="TextBox 7"/>
          <p:cNvSpPr/>
          <p:nvPr/>
        </p:nvSpPr>
        <p:spPr>
          <a:xfrm>
            <a:off x="2892600" y="768240"/>
            <a:ext cx="58449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input(): recebendo dados do usuário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8"/>
          <p:cNvSpPr/>
          <p:nvPr/>
        </p:nvSpPr>
        <p:spPr>
          <a:xfrm>
            <a:off x="3177360" y="1307520"/>
            <a:ext cx="52203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input() sempre devolve texto — mesmo quando digitamos um número.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859680" y="1865520"/>
            <a:ext cx="6564600" cy="3016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3398040" y="1974960"/>
            <a:ext cx="14878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ENTRADA + CONVERSÃO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1544760" y="2249280"/>
            <a:ext cx="5194440" cy="101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valor_texto = input("Digite um valor de 0 a 100: ")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print(type(valor_texto))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valor_sensor = float(valor_texto)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print(valor_sensor)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859680" y="4992480"/>
            <a:ext cx="6564600" cy="584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1143000" y="506592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3879360" y="5047560"/>
            <a:ext cx="1247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&lt;class 'str'&gt;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52.0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Rounded Rectangle 17"/>
          <p:cNvSpPr/>
          <p:nvPr/>
        </p:nvSpPr>
        <p:spPr>
          <a:xfrm>
            <a:off x="7818120" y="1938600"/>
            <a:ext cx="3236400" cy="116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89" name="TextBox 18"/>
          <p:cNvSpPr/>
          <p:nvPr/>
        </p:nvSpPr>
        <p:spPr>
          <a:xfrm>
            <a:off x="9168120" y="2057400"/>
            <a:ext cx="5356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PASSO 1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19"/>
          <p:cNvSpPr/>
          <p:nvPr/>
        </p:nvSpPr>
        <p:spPr>
          <a:xfrm>
            <a:off x="8851320" y="2556000"/>
            <a:ext cx="11696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Lato"/>
              </a:rPr>
              <a:t>receber texto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20"/>
          <p:cNvSpPr/>
          <p:nvPr/>
        </p:nvSpPr>
        <p:spPr>
          <a:xfrm>
            <a:off x="7818120" y="3291840"/>
            <a:ext cx="3236400" cy="116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92" name="TextBox 21"/>
          <p:cNvSpPr/>
          <p:nvPr/>
        </p:nvSpPr>
        <p:spPr>
          <a:xfrm>
            <a:off x="9168120" y="3410640"/>
            <a:ext cx="5356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PASSO 2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Box 22"/>
          <p:cNvSpPr/>
          <p:nvPr/>
        </p:nvSpPr>
        <p:spPr>
          <a:xfrm>
            <a:off x="8586000" y="3909240"/>
            <a:ext cx="16999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Lato"/>
              </a:rPr>
              <a:t>converter para float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3"/>
          <p:cNvSpPr/>
          <p:nvPr/>
        </p:nvSpPr>
        <p:spPr>
          <a:xfrm>
            <a:off x="2688840" y="5760000"/>
            <a:ext cx="66456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00" spc="-1" strike="noStrike">
                <a:solidFill>
                  <a:srgbClr val="5b6b86"/>
                </a:solidFill>
                <a:latin typeface="Lato"/>
              </a:rPr>
              <a:t>Pergunta: o que aconteceria se tentássemos comparar o texto diretamente com 30?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96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397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398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399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0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401" name="TextBox 7"/>
          <p:cNvSpPr/>
          <p:nvPr/>
        </p:nvSpPr>
        <p:spPr>
          <a:xfrm>
            <a:off x="2123640" y="768240"/>
            <a:ext cx="73828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CHECKPOINT · Receber e mostrar uma leitura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8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9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16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"/>
          <p:cNvSpPr/>
          <p:nvPr/>
        </p:nvSpPr>
        <p:spPr>
          <a:xfrm>
            <a:off x="896040" y="1874520"/>
            <a:ext cx="10149120" cy="208404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05" name="TextBox 11"/>
          <p:cNvSpPr/>
          <p:nvPr/>
        </p:nvSpPr>
        <p:spPr>
          <a:xfrm>
            <a:off x="1946160" y="2183760"/>
            <a:ext cx="1282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Tarefa de 3 minutos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Box 12"/>
          <p:cNvSpPr/>
          <p:nvPr/>
        </p:nvSpPr>
        <p:spPr>
          <a:xfrm>
            <a:off x="1606320" y="2615040"/>
            <a:ext cx="3607920" cy="7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Lato"/>
              </a:rPr>
              <a:t>1. Peça ao usuário uma leitura sintética.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Lato"/>
              </a:rPr>
              <a:t>2. Converta para float.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Lato"/>
              </a:rPr>
              <a:t>3. Mostre: “Leitura recebida: X”.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Rounded Rectangle 13"/>
          <p:cNvSpPr/>
          <p:nvPr/>
        </p:nvSpPr>
        <p:spPr>
          <a:xfrm>
            <a:off x="6035040" y="2249280"/>
            <a:ext cx="4479840" cy="123372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08" name="TextBox 14"/>
          <p:cNvSpPr/>
          <p:nvPr/>
        </p:nvSpPr>
        <p:spPr>
          <a:xfrm>
            <a:off x="7894440" y="2359080"/>
            <a:ext cx="7610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SUA CÉLULA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15"/>
          <p:cNvSpPr/>
          <p:nvPr/>
        </p:nvSpPr>
        <p:spPr>
          <a:xfrm>
            <a:off x="7472160" y="2633400"/>
            <a:ext cx="160560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071a4a"/>
                </a:solidFill>
                <a:latin typeface="DejaVu Sans Mono"/>
              </a:rPr>
              <a:t># escreva aqui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16"/>
          <p:cNvSpPr/>
          <p:nvPr/>
        </p:nvSpPr>
        <p:spPr>
          <a:xfrm>
            <a:off x="4661280" y="4569120"/>
            <a:ext cx="2929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10b9f3"/>
                </a:solidFill>
                <a:latin typeface="Inter Display"/>
              </a:rPr>
              <a:t>Teste pelo menos com 30 e 70.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2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13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14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15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16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417" name="TextBox 7"/>
          <p:cNvSpPr/>
          <p:nvPr/>
        </p:nvSpPr>
        <p:spPr>
          <a:xfrm>
            <a:off x="3879360" y="768240"/>
            <a:ext cx="3871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Operadores aritméticos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8"/>
          <p:cNvSpPr/>
          <p:nvPr/>
        </p:nvSpPr>
        <p:spPr>
          <a:xfrm>
            <a:off x="4408200" y="1307520"/>
            <a:ext cx="2759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Expressões produzem novos valores.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ounded Rectangle 11"/>
          <p:cNvSpPr/>
          <p:nvPr/>
        </p:nvSpPr>
        <p:spPr>
          <a:xfrm>
            <a:off x="914400" y="1938600"/>
            <a:ext cx="2212200" cy="1279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22" name="TextBox 12"/>
          <p:cNvSpPr/>
          <p:nvPr/>
        </p:nvSpPr>
        <p:spPr>
          <a:xfrm>
            <a:off x="1886040" y="2109240"/>
            <a:ext cx="268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800" spc="-1" strike="noStrike">
                <a:solidFill>
                  <a:srgbClr val="10b9f3"/>
                </a:solidFill>
                <a:latin typeface="DejaVu Sans Mono"/>
              </a:rPr>
              <a:t>+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13"/>
          <p:cNvSpPr/>
          <p:nvPr/>
        </p:nvSpPr>
        <p:spPr>
          <a:xfrm>
            <a:off x="1801440" y="2705400"/>
            <a:ext cx="4381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5b6b86"/>
                </a:solidFill>
                <a:latin typeface="Lato"/>
              </a:rPr>
              <a:t>somar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4"/>
          <p:cNvSpPr/>
          <p:nvPr/>
        </p:nvSpPr>
        <p:spPr>
          <a:xfrm>
            <a:off x="3493080" y="1938600"/>
            <a:ext cx="2212200" cy="1279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25" name="TextBox 15"/>
          <p:cNvSpPr/>
          <p:nvPr/>
        </p:nvSpPr>
        <p:spPr>
          <a:xfrm>
            <a:off x="4464720" y="2109240"/>
            <a:ext cx="268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800" spc="-1" strike="noStrike">
                <a:solidFill>
                  <a:srgbClr val="f36b21"/>
                </a:solidFill>
                <a:latin typeface="DejaVu Sans Mono"/>
              </a:rPr>
              <a:t>-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16"/>
          <p:cNvSpPr/>
          <p:nvPr/>
        </p:nvSpPr>
        <p:spPr>
          <a:xfrm>
            <a:off x="4330440" y="2705400"/>
            <a:ext cx="5371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5b6b86"/>
                </a:solidFill>
                <a:latin typeface="Lato"/>
              </a:rPr>
              <a:t>subtrair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Rounded Rectangle 17"/>
          <p:cNvSpPr/>
          <p:nvPr/>
        </p:nvSpPr>
        <p:spPr>
          <a:xfrm>
            <a:off x="6071760" y="1938600"/>
            <a:ext cx="2212200" cy="1279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28" name="TextBox 18"/>
          <p:cNvSpPr/>
          <p:nvPr/>
        </p:nvSpPr>
        <p:spPr>
          <a:xfrm>
            <a:off x="7043400" y="2109240"/>
            <a:ext cx="268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800" spc="-1" strike="noStrike">
                <a:solidFill>
                  <a:srgbClr val="f72585"/>
                </a:solidFill>
                <a:latin typeface="DejaVu Sans Mono"/>
              </a:rPr>
              <a:t>*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19"/>
          <p:cNvSpPr/>
          <p:nvPr/>
        </p:nvSpPr>
        <p:spPr>
          <a:xfrm>
            <a:off x="6819480" y="2705400"/>
            <a:ext cx="7167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5b6b86"/>
                </a:solidFill>
                <a:latin typeface="Lato"/>
              </a:rPr>
              <a:t>multiplicar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20"/>
          <p:cNvSpPr/>
          <p:nvPr/>
        </p:nvSpPr>
        <p:spPr>
          <a:xfrm>
            <a:off x="8650080" y="1938600"/>
            <a:ext cx="2212200" cy="1279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31" name="TextBox 21"/>
          <p:cNvSpPr/>
          <p:nvPr/>
        </p:nvSpPr>
        <p:spPr>
          <a:xfrm>
            <a:off x="9621720" y="2109240"/>
            <a:ext cx="268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800" spc="-1" strike="noStrike">
                <a:solidFill>
                  <a:srgbClr val="725ac1"/>
                </a:solidFill>
                <a:latin typeface="DejaVu Sans Mono"/>
              </a:rPr>
              <a:t>/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22"/>
          <p:cNvSpPr/>
          <p:nvPr/>
        </p:nvSpPr>
        <p:spPr>
          <a:xfrm>
            <a:off x="9532440" y="2705400"/>
            <a:ext cx="4471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5b6b86"/>
                </a:solidFill>
                <a:latin typeface="Lato"/>
              </a:rPr>
              <a:t>dividir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Rounded Rectangle 23"/>
          <p:cNvSpPr/>
          <p:nvPr/>
        </p:nvSpPr>
        <p:spPr>
          <a:xfrm>
            <a:off x="2697480" y="3684960"/>
            <a:ext cx="6784200" cy="157212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34" name="TextBox 24"/>
          <p:cNvSpPr/>
          <p:nvPr/>
        </p:nvSpPr>
        <p:spPr>
          <a:xfrm>
            <a:off x="4753080" y="3849480"/>
            <a:ext cx="26722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valor = 52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ajuste = 10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resultado = valor + ajuste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print(resultado)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Rounded Rectangle 25"/>
          <p:cNvSpPr/>
          <p:nvPr/>
        </p:nvSpPr>
        <p:spPr>
          <a:xfrm>
            <a:off x="2697480" y="5367600"/>
            <a:ext cx="6784200" cy="584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36" name="TextBox 26"/>
          <p:cNvSpPr/>
          <p:nvPr/>
        </p:nvSpPr>
        <p:spPr>
          <a:xfrm>
            <a:off x="2981160" y="544068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27"/>
          <p:cNvSpPr/>
          <p:nvPr/>
        </p:nvSpPr>
        <p:spPr>
          <a:xfrm>
            <a:off x="6331680" y="5422320"/>
            <a:ext cx="2383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62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39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40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41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42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4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444" name="TextBox 7"/>
          <p:cNvSpPr/>
          <p:nvPr/>
        </p:nvSpPr>
        <p:spPr>
          <a:xfrm>
            <a:off x="3923280" y="768240"/>
            <a:ext cx="37832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Operadores relacionais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8"/>
          <p:cNvSpPr/>
          <p:nvPr/>
        </p:nvSpPr>
        <p:spPr>
          <a:xfrm>
            <a:off x="4338720" y="1307520"/>
            <a:ext cx="2897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Comparações produzem True ou False.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Rounded Rectangle 11"/>
          <p:cNvSpPr/>
          <p:nvPr/>
        </p:nvSpPr>
        <p:spPr>
          <a:xfrm>
            <a:off x="841320" y="1984320"/>
            <a:ext cx="2486520" cy="171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49" name="TextBox 12"/>
          <p:cNvSpPr/>
          <p:nvPr/>
        </p:nvSpPr>
        <p:spPr>
          <a:xfrm>
            <a:off x="1600920" y="2302920"/>
            <a:ext cx="966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DejaVu Sans Mono"/>
              </a:rPr>
              <a:t>52 &lt; 30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3"/>
          <p:cNvSpPr/>
          <p:nvPr/>
        </p:nvSpPr>
        <p:spPr>
          <a:xfrm>
            <a:off x="1499760" y="2971800"/>
            <a:ext cx="1169640" cy="34668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51" name="TextBox 14"/>
          <p:cNvSpPr/>
          <p:nvPr/>
        </p:nvSpPr>
        <p:spPr>
          <a:xfrm>
            <a:off x="1916640" y="3042000"/>
            <a:ext cx="3358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False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Rounded Rectangle 15"/>
          <p:cNvSpPr/>
          <p:nvPr/>
        </p:nvSpPr>
        <p:spPr>
          <a:xfrm>
            <a:off x="3602880" y="1984320"/>
            <a:ext cx="2486520" cy="171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53" name="TextBox 16"/>
          <p:cNvSpPr/>
          <p:nvPr/>
        </p:nvSpPr>
        <p:spPr>
          <a:xfrm>
            <a:off x="4297680" y="2302920"/>
            <a:ext cx="109620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DejaVu Sans Mono"/>
              </a:rPr>
              <a:t>52 &lt;= 70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ounded Rectangle 17"/>
          <p:cNvSpPr/>
          <p:nvPr/>
        </p:nvSpPr>
        <p:spPr>
          <a:xfrm>
            <a:off x="4260960" y="2971800"/>
            <a:ext cx="116964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55" name="TextBox 18"/>
          <p:cNvSpPr/>
          <p:nvPr/>
        </p:nvSpPr>
        <p:spPr>
          <a:xfrm>
            <a:off x="4693680" y="3042000"/>
            <a:ext cx="3038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True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9"/>
          <p:cNvSpPr/>
          <p:nvPr/>
        </p:nvSpPr>
        <p:spPr>
          <a:xfrm>
            <a:off x="6364080" y="1984320"/>
            <a:ext cx="2486520" cy="171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57" name="TextBox 20"/>
          <p:cNvSpPr/>
          <p:nvPr/>
        </p:nvSpPr>
        <p:spPr>
          <a:xfrm>
            <a:off x="7059240" y="2302920"/>
            <a:ext cx="109620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DejaVu Sans Mono"/>
              </a:rPr>
              <a:t>52 == 52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21"/>
          <p:cNvSpPr/>
          <p:nvPr/>
        </p:nvSpPr>
        <p:spPr>
          <a:xfrm>
            <a:off x="7022520" y="2971800"/>
            <a:ext cx="116964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59" name="TextBox 22"/>
          <p:cNvSpPr/>
          <p:nvPr/>
        </p:nvSpPr>
        <p:spPr>
          <a:xfrm>
            <a:off x="7455240" y="3042000"/>
            <a:ext cx="3038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True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Rounded Rectangle 23"/>
          <p:cNvSpPr/>
          <p:nvPr/>
        </p:nvSpPr>
        <p:spPr>
          <a:xfrm>
            <a:off x="9125640" y="1984320"/>
            <a:ext cx="2486520" cy="171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61" name="TextBox 24"/>
          <p:cNvSpPr/>
          <p:nvPr/>
        </p:nvSpPr>
        <p:spPr>
          <a:xfrm>
            <a:off x="9820800" y="2302920"/>
            <a:ext cx="109620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DejaVu Sans Mono"/>
              </a:rPr>
              <a:t>52 != 70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25"/>
          <p:cNvSpPr/>
          <p:nvPr/>
        </p:nvSpPr>
        <p:spPr>
          <a:xfrm>
            <a:off x="9784080" y="2971800"/>
            <a:ext cx="116964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63" name="TextBox 26"/>
          <p:cNvSpPr/>
          <p:nvPr/>
        </p:nvSpPr>
        <p:spPr>
          <a:xfrm>
            <a:off x="10216800" y="3042000"/>
            <a:ext cx="3038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True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27"/>
          <p:cNvSpPr/>
          <p:nvPr/>
        </p:nvSpPr>
        <p:spPr>
          <a:xfrm>
            <a:off x="4421160" y="4174200"/>
            <a:ext cx="331848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f72585"/>
                </a:solidFill>
                <a:latin typeface="Inter Display"/>
              </a:rPr>
              <a:t>== compara valores.  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f72585"/>
                </a:solidFill>
                <a:latin typeface="Inter Display"/>
              </a:rPr>
              <a:t>= atribui um valor a uma variável.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66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67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68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69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7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471" name="TextBox 7"/>
          <p:cNvSpPr/>
          <p:nvPr/>
        </p:nvSpPr>
        <p:spPr>
          <a:xfrm>
            <a:off x="4218480" y="768240"/>
            <a:ext cx="31932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Operadores lógicos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8"/>
          <p:cNvSpPr/>
          <p:nvPr/>
        </p:nvSpPr>
        <p:spPr>
          <a:xfrm>
            <a:off x="4007160" y="1307520"/>
            <a:ext cx="35607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and, or e not combinam ou invertem condições.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Rounded Rectangle 11"/>
          <p:cNvSpPr/>
          <p:nvPr/>
        </p:nvSpPr>
        <p:spPr>
          <a:xfrm>
            <a:off x="896040" y="1974960"/>
            <a:ext cx="3062520" cy="202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76" name="TextBox 12"/>
          <p:cNvSpPr/>
          <p:nvPr/>
        </p:nvSpPr>
        <p:spPr>
          <a:xfrm>
            <a:off x="2175480" y="2094120"/>
            <a:ext cx="5040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10b9f3"/>
                </a:solidFill>
                <a:latin typeface="Lato"/>
              </a:rPr>
              <a:t>AND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13"/>
          <p:cNvSpPr/>
          <p:nvPr/>
        </p:nvSpPr>
        <p:spPr>
          <a:xfrm>
            <a:off x="1311480" y="2892960"/>
            <a:ext cx="2231640" cy="5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as duas condições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precisam ser verdadeiras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Rounded Rectangle 14"/>
          <p:cNvSpPr/>
          <p:nvPr/>
        </p:nvSpPr>
        <p:spPr>
          <a:xfrm>
            <a:off x="4105800" y="1974960"/>
            <a:ext cx="3062520" cy="202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79" name="TextBox 15"/>
          <p:cNvSpPr/>
          <p:nvPr/>
        </p:nvSpPr>
        <p:spPr>
          <a:xfrm>
            <a:off x="5463360" y="2094120"/>
            <a:ext cx="347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OR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16"/>
          <p:cNvSpPr/>
          <p:nvPr/>
        </p:nvSpPr>
        <p:spPr>
          <a:xfrm>
            <a:off x="4730400" y="2892960"/>
            <a:ext cx="1812600" cy="5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basta uma condição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ser verdadeira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Rounded Rectangle 17"/>
          <p:cNvSpPr/>
          <p:nvPr/>
        </p:nvSpPr>
        <p:spPr>
          <a:xfrm>
            <a:off x="7315200" y="1974960"/>
            <a:ext cx="3062520" cy="202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82" name="TextBox 18"/>
          <p:cNvSpPr/>
          <p:nvPr/>
        </p:nvSpPr>
        <p:spPr>
          <a:xfrm>
            <a:off x="8601480" y="2094120"/>
            <a:ext cx="4903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725ac1"/>
                </a:solidFill>
                <a:latin typeface="Lato"/>
              </a:rPr>
              <a:t>NOT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19"/>
          <p:cNvSpPr/>
          <p:nvPr/>
        </p:nvSpPr>
        <p:spPr>
          <a:xfrm>
            <a:off x="7914600" y="3015000"/>
            <a:ext cx="186300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071a4a"/>
                </a:solidFill>
                <a:latin typeface="Lato"/>
              </a:rPr>
              <a:t>inverte True ↔ False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Rounded Rectangle 20"/>
          <p:cNvSpPr/>
          <p:nvPr/>
        </p:nvSpPr>
        <p:spPr>
          <a:xfrm>
            <a:off x="2011680" y="4140000"/>
            <a:ext cx="8091720" cy="11901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85" name="TextBox 21"/>
          <p:cNvSpPr/>
          <p:nvPr/>
        </p:nvSpPr>
        <p:spPr>
          <a:xfrm>
            <a:off x="4500000" y="4168440"/>
            <a:ext cx="308232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valor = 52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qualidade_ok = True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print(valor &lt;= 70 and qualidade_ok)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print(valor &lt; 30 or valor &gt; 70)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print(not qualidade_ok)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Rounded Rectangle 22"/>
          <p:cNvSpPr/>
          <p:nvPr/>
        </p:nvSpPr>
        <p:spPr>
          <a:xfrm>
            <a:off x="2011680" y="5580000"/>
            <a:ext cx="8091720" cy="71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487" name="TextBox 23"/>
          <p:cNvSpPr/>
          <p:nvPr/>
        </p:nvSpPr>
        <p:spPr>
          <a:xfrm>
            <a:off x="2340000" y="558000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24"/>
          <p:cNvSpPr/>
          <p:nvPr/>
        </p:nvSpPr>
        <p:spPr>
          <a:xfrm>
            <a:off x="4500000" y="5580000"/>
            <a:ext cx="514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True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False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False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90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491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492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493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494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495" name="TextBox 7"/>
          <p:cNvSpPr/>
          <p:nvPr/>
        </p:nvSpPr>
        <p:spPr>
          <a:xfrm>
            <a:off x="3529440" y="768240"/>
            <a:ext cx="45709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Programas precisam decidir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Box 8"/>
          <p:cNvSpPr/>
          <p:nvPr/>
        </p:nvSpPr>
        <p:spPr>
          <a:xfrm>
            <a:off x="3815280" y="1307520"/>
            <a:ext cx="3944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condição escolhe qual caminho será executado.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20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11"/>
          <p:cNvSpPr/>
          <p:nvPr/>
        </p:nvSpPr>
        <p:spPr>
          <a:xfrm>
            <a:off x="4918680" y="2013480"/>
            <a:ext cx="223164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900" spc="-1" strike="noStrike">
                <a:solidFill>
                  <a:srgbClr val="071a4a"/>
                </a:solidFill>
                <a:latin typeface="Inter Display"/>
              </a:rPr>
              <a:t>valor_sensor &lt; 30 ?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Diamond 12"/>
          <p:cNvSpPr/>
          <p:nvPr/>
        </p:nvSpPr>
        <p:spPr>
          <a:xfrm>
            <a:off x="5029200" y="2541960"/>
            <a:ext cx="1919520" cy="1370880"/>
          </a:xfrm>
          <a:prstGeom prst="diamond">
            <a:avLst/>
          </a:prstGeom>
          <a:solidFill>
            <a:srgbClr val="eef3f9"/>
          </a:solidFill>
          <a:ln w="2286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01" name="TextBox 13"/>
          <p:cNvSpPr/>
          <p:nvPr/>
        </p:nvSpPr>
        <p:spPr>
          <a:xfrm>
            <a:off x="5617440" y="2899080"/>
            <a:ext cx="742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DejaVu Sans Mono"/>
              </a:rPr>
              <a:t>&lt; 30?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02" name="Connector 14"/>
          <p:cNvCxnSpPr/>
          <p:nvPr/>
        </p:nvCxnSpPr>
        <p:spPr>
          <a:xfrm>
            <a:off x="5989320" y="3913560"/>
            <a:ext cx="720" cy="402840"/>
          </a:xfrm>
          <a:prstGeom prst="straightConnector1">
            <a:avLst/>
          </a:prstGeom>
          <a:ln w="22860">
            <a:solidFill>
              <a:srgbClr val="071a4a"/>
            </a:solidFill>
            <a:round/>
          </a:ln>
        </p:spPr>
      </p:cxnSp>
      <p:sp>
        <p:nvSpPr>
          <p:cNvPr id="503" name="TextBox 15"/>
          <p:cNvSpPr/>
          <p:nvPr/>
        </p:nvSpPr>
        <p:spPr>
          <a:xfrm>
            <a:off x="6272280" y="4000320"/>
            <a:ext cx="31140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900" spc="-1" strike="noStrike">
                <a:solidFill>
                  <a:srgbClr val="5b6b86"/>
                </a:solidFill>
                <a:latin typeface="Lato"/>
              </a:rPr>
              <a:t>NÃO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04" name="Connector 16"/>
          <p:cNvCxnSpPr/>
          <p:nvPr/>
        </p:nvCxnSpPr>
        <p:spPr>
          <a:xfrm flipH="1">
            <a:off x="3886200" y="3227760"/>
            <a:ext cx="1143720" cy="720"/>
          </a:xfrm>
          <a:prstGeom prst="straightConnector1">
            <a:avLst/>
          </a:prstGeom>
          <a:ln w="22860">
            <a:solidFill>
              <a:srgbClr val="071a4a"/>
            </a:solidFill>
            <a:round/>
          </a:ln>
        </p:spPr>
      </p:cxnSp>
      <p:sp>
        <p:nvSpPr>
          <p:cNvPr id="505" name="TextBox 17"/>
          <p:cNvSpPr/>
          <p:nvPr/>
        </p:nvSpPr>
        <p:spPr>
          <a:xfrm>
            <a:off x="4149360" y="3003480"/>
            <a:ext cx="25956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900" spc="-1" strike="noStrike">
                <a:solidFill>
                  <a:srgbClr val="5b6b86"/>
                </a:solidFill>
                <a:latin typeface="Lato"/>
              </a:rPr>
              <a:t>SIM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Rounded Rectangle 18"/>
          <p:cNvSpPr/>
          <p:nvPr/>
        </p:nvSpPr>
        <p:spPr>
          <a:xfrm>
            <a:off x="1920240" y="2761560"/>
            <a:ext cx="1937880" cy="986760"/>
          </a:xfrm>
          <a:prstGeom prst="roundRect">
            <a:avLst>
              <a:gd name="adj" fmla="val 16667"/>
            </a:avLst>
          </a:prstGeom>
          <a:solidFill>
            <a:srgbClr val="eaf9ff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07" name="TextBox 19"/>
          <p:cNvSpPr/>
          <p:nvPr/>
        </p:nvSpPr>
        <p:spPr>
          <a:xfrm>
            <a:off x="2496960" y="3034800"/>
            <a:ext cx="7840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Faixa 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20"/>
          <p:cNvSpPr/>
          <p:nvPr/>
        </p:nvSpPr>
        <p:spPr>
          <a:xfrm>
            <a:off x="5020200" y="4334400"/>
            <a:ext cx="1937880" cy="986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09" name="TextBox 21"/>
          <p:cNvSpPr/>
          <p:nvPr/>
        </p:nvSpPr>
        <p:spPr>
          <a:xfrm>
            <a:off x="5363280" y="4622760"/>
            <a:ext cx="12517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071a4a"/>
                </a:solidFill>
                <a:latin typeface="Inter Display"/>
              </a:rPr>
              <a:t>outra decisão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11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12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13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14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515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516" name="TextBox 7"/>
          <p:cNvSpPr/>
          <p:nvPr/>
        </p:nvSpPr>
        <p:spPr>
          <a:xfrm>
            <a:off x="4825800" y="768240"/>
            <a:ext cx="19785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if / elif / else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8"/>
          <p:cNvSpPr/>
          <p:nvPr/>
        </p:nvSpPr>
        <p:spPr>
          <a:xfrm>
            <a:off x="3755160" y="1307520"/>
            <a:ext cx="40651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Três faixas didáticas com uma única cadeia de decisão.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21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Rounded Rectangle 11"/>
          <p:cNvSpPr/>
          <p:nvPr/>
        </p:nvSpPr>
        <p:spPr>
          <a:xfrm>
            <a:off x="868680" y="1847160"/>
            <a:ext cx="6445800" cy="35654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21" name="TextBox 12"/>
          <p:cNvSpPr/>
          <p:nvPr/>
        </p:nvSpPr>
        <p:spPr>
          <a:xfrm>
            <a:off x="3605760" y="1956960"/>
            <a:ext cx="9712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CLASSIFICAÇÃO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Box 13"/>
          <p:cNvSpPr/>
          <p:nvPr/>
        </p:nvSpPr>
        <p:spPr>
          <a:xfrm>
            <a:off x="2880000" y="2634840"/>
            <a:ext cx="2466720" cy="20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valor_sensor = 52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if valor_sensor &lt; 30: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estado = "Faixa A"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elif valor_sensor &lt;= 70: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estado = "Faixa B"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else: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estado = "Faixa C"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40" spc="-1" strike="noStrike">
                <a:solidFill>
                  <a:srgbClr val="071a4a"/>
                </a:solidFill>
                <a:latin typeface="DejaVu Sans Mono"/>
              </a:rPr>
              <a:t>print(estado)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Rounded Rectangle 14"/>
          <p:cNvSpPr/>
          <p:nvPr/>
        </p:nvSpPr>
        <p:spPr>
          <a:xfrm>
            <a:off x="868680" y="5523120"/>
            <a:ext cx="6445800" cy="584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24" name="TextBox 15"/>
          <p:cNvSpPr/>
          <p:nvPr/>
        </p:nvSpPr>
        <p:spPr>
          <a:xfrm>
            <a:off x="1152360" y="559620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16"/>
          <p:cNvSpPr/>
          <p:nvPr/>
        </p:nvSpPr>
        <p:spPr>
          <a:xfrm>
            <a:off x="4104360" y="5577840"/>
            <a:ext cx="696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Faixa B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Rounded Rectangle 17"/>
          <p:cNvSpPr/>
          <p:nvPr/>
        </p:nvSpPr>
        <p:spPr>
          <a:xfrm>
            <a:off x="7726680" y="1920240"/>
            <a:ext cx="3218040" cy="1023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27" name="TextBox 18"/>
          <p:cNvSpPr/>
          <p:nvPr/>
        </p:nvSpPr>
        <p:spPr>
          <a:xfrm>
            <a:off x="9221400" y="2039040"/>
            <a:ext cx="2282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10b9f3"/>
                </a:solidFill>
                <a:latin typeface="Lato"/>
              </a:rPr>
              <a:t>IF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19"/>
          <p:cNvSpPr/>
          <p:nvPr/>
        </p:nvSpPr>
        <p:spPr>
          <a:xfrm>
            <a:off x="8613360" y="2472120"/>
            <a:ext cx="144396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primeira pergunta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20"/>
          <p:cNvSpPr/>
          <p:nvPr/>
        </p:nvSpPr>
        <p:spPr>
          <a:xfrm>
            <a:off x="7726680" y="3127320"/>
            <a:ext cx="3218040" cy="1023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30" name="TextBox 21"/>
          <p:cNvSpPr/>
          <p:nvPr/>
        </p:nvSpPr>
        <p:spPr>
          <a:xfrm>
            <a:off x="9110520" y="3246120"/>
            <a:ext cx="450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f36b21"/>
                </a:solidFill>
                <a:latin typeface="Lato"/>
              </a:rPr>
              <a:t>ELIF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22"/>
          <p:cNvSpPr/>
          <p:nvPr/>
        </p:nvSpPr>
        <p:spPr>
          <a:xfrm>
            <a:off x="8251560" y="3686760"/>
            <a:ext cx="21675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outra pergunta, se necessário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Rounded Rectangle 23"/>
          <p:cNvSpPr/>
          <p:nvPr/>
        </p:nvSpPr>
        <p:spPr>
          <a:xfrm>
            <a:off x="7726680" y="4334400"/>
            <a:ext cx="3218040" cy="1023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33" name="TextBox 24"/>
          <p:cNvSpPr/>
          <p:nvPr/>
        </p:nvSpPr>
        <p:spPr>
          <a:xfrm>
            <a:off x="9084240" y="4453200"/>
            <a:ext cx="5025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725ac1"/>
                </a:solidFill>
                <a:latin typeface="Lato"/>
              </a:rPr>
              <a:t>ELSE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Box 25"/>
          <p:cNvSpPr/>
          <p:nvPr/>
        </p:nvSpPr>
        <p:spPr>
          <a:xfrm>
            <a:off x="8788680" y="4886280"/>
            <a:ext cx="109332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caso restante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36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37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38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39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54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541" name="TextBox 7"/>
          <p:cNvSpPr/>
          <p:nvPr/>
        </p:nvSpPr>
        <p:spPr>
          <a:xfrm>
            <a:off x="3260520" y="768240"/>
            <a:ext cx="51091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Indentação faz parte da sintaxe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8"/>
          <p:cNvSpPr/>
          <p:nvPr/>
        </p:nvSpPr>
        <p:spPr>
          <a:xfrm>
            <a:off x="3299400" y="1307520"/>
            <a:ext cx="49762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Em Python, os espaços dizem quais linhas pertencem a cada bloco.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Rounded Rectangle 11"/>
          <p:cNvSpPr/>
          <p:nvPr/>
        </p:nvSpPr>
        <p:spPr>
          <a:xfrm>
            <a:off x="896040" y="1929240"/>
            <a:ext cx="5165640" cy="20304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46" name="TextBox 12"/>
          <p:cNvSpPr/>
          <p:nvPr/>
        </p:nvSpPr>
        <p:spPr>
          <a:xfrm>
            <a:off x="3168360" y="2039040"/>
            <a:ext cx="6210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CORRETO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13"/>
          <p:cNvSpPr/>
          <p:nvPr/>
        </p:nvSpPr>
        <p:spPr>
          <a:xfrm>
            <a:off x="1923120" y="2532240"/>
            <a:ext cx="3111480" cy="10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if valor_sensor &lt; 30: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estado = "A"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print("abaixo do limite")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print("fim")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Rounded Rectangle 14"/>
          <p:cNvSpPr/>
          <p:nvPr/>
        </p:nvSpPr>
        <p:spPr>
          <a:xfrm>
            <a:off x="6327720" y="1929240"/>
            <a:ext cx="4681080" cy="20304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49" name="TextBox 15"/>
          <p:cNvSpPr/>
          <p:nvPr/>
        </p:nvSpPr>
        <p:spPr>
          <a:xfrm>
            <a:off x="7978680" y="2039040"/>
            <a:ext cx="1378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ERRO DE INDENTAÇÃO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16"/>
          <p:cNvSpPr/>
          <p:nvPr/>
        </p:nvSpPr>
        <p:spPr>
          <a:xfrm>
            <a:off x="7326360" y="2520000"/>
            <a:ext cx="26830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if valor_sensor &lt; 30: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estado = "A"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print("abaixo do limite")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17"/>
          <p:cNvSpPr/>
          <p:nvPr/>
        </p:nvSpPr>
        <p:spPr>
          <a:xfrm>
            <a:off x="3754080" y="4320000"/>
            <a:ext cx="452556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52" name="TextBox 18"/>
          <p:cNvSpPr/>
          <p:nvPr/>
        </p:nvSpPr>
        <p:spPr>
          <a:xfrm>
            <a:off x="4987800" y="4390200"/>
            <a:ext cx="20581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4 espaços é uma convenção comum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900000" y="5010840"/>
            <a:ext cx="10079640" cy="12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</a:pPr>
            <a:r>
              <a:rPr b="1" lang="pt-BR" sz="1400" spc="-1" strike="noStrike">
                <a:solidFill>
                  <a:srgbClr val="3faf46"/>
                </a:solidFill>
                <a:latin typeface="Arial"/>
              </a:rPr>
              <a:t>Origem na tipografia: 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Antigamente, quando os livros eram impressos com tipos de chumbo, a primeira linha de um parágrafo era deslocada para dentro. Historicamente, documentos oficiais também podiam ser recortados de forma ondulada ou "dentada" no topo para provar autenticidade.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</a:pPr>
            <a:br>
              <a:rPr sz="1400"/>
            </a:b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Vem do </a:t>
            </a:r>
            <a:r>
              <a:rPr b="0" lang="pt-BR" sz="1400" spc="-1" strike="noStrike" u="sng">
                <a:solidFill>
                  <a:srgbClr val="000000"/>
                </a:solidFill>
                <a:uFillTx/>
                <a:latin typeface="Arial"/>
              </a:rPr>
              <a:t>latim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pt-BR" sz="1400" spc="-1" strike="noStrike">
                <a:solidFill>
                  <a:srgbClr val="000000"/>
                </a:solidFill>
                <a:latin typeface="Arial"/>
              </a:rPr>
              <a:t>dens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(que significa "dente"), passando pelo verbo latino </a:t>
            </a:r>
            <a:r>
              <a:rPr b="1" i="1" lang="pt-BR" sz="1400" spc="-1" strike="noStrike">
                <a:solidFill>
                  <a:srgbClr val="000000"/>
                </a:solidFill>
                <a:latin typeface="Arial"/>
              </a:rPr>
              <a:t>indentare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("colocar dentes" ou "recortar em forma de dentes"), e chegou ao </a:t>
            </a:r>
            <a:r>
              <a:rPr b="0" lang="pt-BR" sz="1400" spc="-1" strike="noStrike" u="sng">
                <a:solidFill>
                  <a:srgbClr val="000000"/>
                </a:solidFill>
                <a:uFillTx/>
                <a:latin typeface="Arial"/>
              </a:rPr>
              <a:t>português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através do </a:t>
            </a:r>
            <a:r>
              <a:rPr b="0" lang="pt-BR" sz="1400" spc="-1" strike="noStrike" u="sng">
                <a:solidFill>
                  <a:srgbClr val="000000"/>
                </a:solidFill>
                <a:uFillTx/>
                <a:latin typeface="Arial"/>
              </a:rPr>
              <a:t>inglês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pt-BR" sz="1400" spc="-1" strike="noStrike" u="sng">
                <a:solidFill>
                  <a:srgbClr val="000000"/>
                </a:solidFill>
                <a:uFillTx/>
                <a:latin typeface="Arial"/>
              </a:rPr>
              <a:t>indentation</a:t>
            </a: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 no contexto da ciência da computação.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55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56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57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558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559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560" name="TextBox 7"/>
          <p:cNvSpPr/>
          <p:nvPr/>
        </p:nvSpPr>
        <p:spPr>
          <a:xfrm>
            <a:off x="4231440" y="768240"/>
            <a:ext cx="31672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Testar as fronteiras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8"/>
          <p:cNvSpPr/>
          <p:nvPr/>
        </p:nvSpPr>
        <p:spPr>
          <a:xfrm>
            <a:off x="3521880" y="1307520"/>
            <a:ext cx="45313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Os casos próximos aos limites encontram erros rapidamente.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Rectangle 11"/>
          <p:cNvSpPr/>
          <p:nvPr/>
        </p:nvSpPr>
        <p:spPr>
          <a:xfrm>
            <a:off x="1710720" y="1772640"/>
            <a:ext cx="1508040" cy="456480"/>
          </a:xfrm>
          <a:prstGeom prst="rect">
            <a:avLst/>
          </a:prstGeom>
          <a:solidFill>
            <a:srgbClr val="071a4a"/>
          </a:solidFill>
          <a:ln w="12700">
            <a:solidFill>
              <a:srgbClr val="071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65" name="TextBox 12"/>
          <p:cNvSpPr/>
          <p:nvPr/>
        </p:nvSpPr>
        <p:spPr>
          <a:xfrm>
            <a:off x="2208960" y="1875600"/>
            <a:ext cx="5112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Entrada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ectangle 13"/>
          <p:cNvSpPr/>
          <p:nvPr/>
        </p:nvSpPr>
        <p:spPr>
          <a:xfrm>
            <a:off x="3219480" y="1772640"/>
            <a:ext cx="1965240" cy="456480"/>
          </a:xfrm>
          <a:prstGeom prst="rect">
            <a:avLst/>
          </a:prstGeom>
          <a:solidFill>
            <a:srgbClr val="071a4a"/>
          </a:solidFill>
          <a:ln w="12700">
            <a:solidFill>
              <a:srgbClr val="071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67" name="TextBox 14"/>
          <p:cNvSpPr/>
          <p:nvPr/>
        </p:nvSpPr>
        <p:spPr>
          <a:xfrm>
            <a:off x="3901320" y="1875600"/>
            <a:ext cx="6012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Esperado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Rectangle 15"/>
          <p:cNvSpPr/>
          <p:nvPr/>
        </p:nvSpPr>
        <p:spPr>
          <a:xfrm>
            <a:off x="5185440" y="1772640"/>
            <a:ext cx="5074200" cy="456480"/>
          </a:xfrm>
          <a:prstGeom prst="rect">
            <a:avLst/>
          </a:prstGeom>
          <a:solidFill>
            <a:srgbClr val="071a4a"/>
          </a:solidFill>
          <a:ln w="12700">
            <a:solidFill>
              <a:srgbClr val="071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69" name="TextBox 16"/>
          <p:cNvSpPr/>
          <p:nvPr/>
        </p:nvSpPr>
        <p:spPr>
          <a:xfrm>
            <a:off x="7438680" y="1875600"/>
            <a:ext cx="5673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Por quê?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ectangle 17"/>
          <p:cNvSpPr/>
          <p:nvPr/>
        </p:nvSpPr>
        <p:spPr>
          <a:xfrm>
            <a:off x="1710720" y="2229840"/>
            <a:ext cx="150804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71" name="TextBox 18"/>
          <p:cNvSpPr/>
          <p:nvPr/>
        </p:nvSpPr>
        <p:spPr>
          <a:xfrm>
            <a:off x="2346840" y="2392920"/>
            <a:ext cx="23544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29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Rectangle 19"/>
          <p:cNvSpPr/>
          <p:nvPr/>
        </p:nvSpPr>
        <p:spPr>
          <a:xfrm>
            <a:off x="3219480" y="2229840"/>
            <a:ext cx="196524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73" name="TextBox 20"/>
          <p:cNvSpPr/>
          <p:nvPr/>
        </p:nvSpPr>
        <p:spPr>
          <a:xfrm>
            <a:off x="4121640" y="2392920"/>
            <a:ext cx="1605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A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Rectangle 21"/>
          <p:cNvSpPr/>
          <p:nvPr/>
        </p:nvSpPr>
        <p:spPr>
          <a:xfrm>
            <a:off x="5185440" y="2229840"/>
            <a:ext cx="507420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75" name="TextBox 22"/>
          <p:cNvSpPr/>
          <p:nvPr/>
        </p:nvSpPr>
        <p:spPr>
          <a:xfrm>
            <a:off x="6854400" y="2392920"/>
            <a:ext cx="17362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abaixo do primeiro limite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Rectangle 23"/>
          <p:cNvSpPr/>
          <p:nvPr/>
        </p:nvSpPr>
        <p:spPr>
          <a:xfrm>
            <a:off x="1710720" y="2842560"/>
            <a:ext cx="1508040" cy="612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77" name="TextBox 24"/>
          <p:cNvSpPr/>
          <p:nvPr/>
        </p:nvSpPr>
        <p:spPr>
          <a:xfrm>
            <a:off x="2346840" y="3005640"/>
            <a:ext cx="23544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30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Rectangle 25"/>
          <p:cNvSpPr/>
          <p:nvPr/>
        </p:nvSpPr>
        <p:spPr>
          <a:xfrm>
            <a:off x="3219480" y="2842560"/>
            <a:ext cx="1965240" cy="612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79" name="TextBox 26"/>
          <p:cNvSpPr/>
          <p:nvPr/>
        </p:nvSpPr>
        <p:spPr>
          <a:xfrm>
            <a:off x="4124880" y="3005640"/>
            <a:ext cx="15444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B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ectangle 27"/>
          <p:cNvSpPr/>
          <p:nvPr/>
        </p:nvSpPr>
        <p:spPr>
          <a:xfrm>
            <a:off x="5185440" y="2842560"/>
            <a:ext cx="5074200" cy="612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1" name="TextBox 28"/>
          <p:cNvSpPr/>
          <p:nvPr/>
        </p:nvSpPr>
        <p:spPr>
          <a:xfrm>
            <a:off x="7094880" y="3005640"/>
            <a:ext cx="1254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no primeiro limite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ectangle 29"/>
          <p:cNvSpPr/>
          <p:nvPr/>
        </p:nvSpPr>
        <p:spPr>
          <a:xfrm>
            <a:off x="1710720" y="3454920"/>
            <a:ext cx="150804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3" name="TextBox 30"/>
          <p:cNvSpPr/>
          <p:nvPr/>
        </p:nvSpPr>
        <p:spPr>
          <a:xfrm>
            <a:off x="2346840" y="3618360"/>
            <a:ext cx="23544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70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Rectangle 31"/>
          <p:cNvSpPr/>
          <p:nvPr/>
        </p:nvSpPr>
        <p:spPr>
          <a:xfrm>
            <a:off x="3219480" y="3454920"/>
            <a:ext cx="196524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5" name="TextBox 32"/>
          <p:cNvSpPr/>
          <p:nvPr/>
        </p:nvSpPr>
        <p:spPr>
          <a:xfrm>
            <a:off x="4124880" y="3618360"/>
            <a:ext cx="15444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B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ectangle 33"/>
          <p:cNvSpPr/>
          <p:nvPr/>
        </p:nvSpPr>
        <p:spPr>
          <a:xfrm>
            <a:off x="5185440" y="3454920"/>
            <a:ext cx="507420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7" name="TextBox 34"/>
          <p:cNvSpPr/>
          <p:nvPr/>
        </p:nvSpPr>
        <p:spPr>
          <a:xfrm>
            <a:off x="7090560" y="3618360"/>
            <a:ext cx="1263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no segundo limite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Rectangle 35"/>
          <p:cNvSpPr/>
          <p:nvPr/>
        </p:nvSpPr>
        <p:spPr>
          <a:xfrm>
            <a:off x="1710720" y="4067640"/>
            <a:ext cx="1508040" cy="612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89" name="TextBox 36"/>
          <p:cNvSpPr/>
          <p:nvPr/>
        </p:nvSpPr>
        <p:spPr>
          <a:xfrm>
            <a:off x="2346840" y="4230720"/>
            <a:ext cx="23544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71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ectangle 37"/>
          <p:cNvSpPr/>
          <p:nvPr/>
        </p:nvSpPr>
        <p:spPr>
          <a:xfrm>
            <a:off x="3219480" y="4067640"/>
            <a:ext cx="1965240" cy="612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91" name="TextBox 38"/>
          <p:cNvSpPr/>
          <p:nvPr/>
        </p:nvSpPr>
        <p:spPr>
          <a:xfrm>
            <a:off x="4122360" y="4230720"/>
            <a:ext cx="159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C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ectangle 39"/>
          <p:cNvSpPr/>
          <p:nvPr/>
        </p:nvSpPr>
        <p:spPr>
          <a:xfrm>
            <a:off x="5185440" y="4067640"/>
            <a:ext cx="5074200" cy="612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93" name="TextBox 40"/>
          <p:cNvSpPr/>
          <p:nvPr/>
        </p:nvSpPr>
        <p:spPr>
          <a:xfrm>
            <a:off x="6873120" y="4230720"/>
            <a:ext cx="16984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071a4a"/>
                </a:solidFill>
                <a:latin typeface="Lato"/>
              </a:rPr>
              <a:t>acima do segundo limite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ounded Rectangle 41"/>
          <p:cNvSpPr/>
          <p:nvPr/>
        </p:nvSpPr>
        <p:spPr>
          <a:xfrm>
            <a:off x="1398960" y="4992480"/>
            <a:ext cx="9097560" cy="566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95" name="TextBox 42"/>
          <p:cNvSpPr/>
          <p:nvPr/>
        </p:nvSpPr>
        <p:spPr>
          <a:xfrm>
            <a:off x="3272040" y="5171040"/>
            <a:ext cx="5351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Fronteiras são mais informativas do que testar apenas valores “no meio” das faixas.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97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598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599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00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0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602" name="TextBox 7"/>
          <p:cNvSpPr/>
          <p:nvPr/>
        </p:nvSpPr>
        <p:spPr>
          <a:xfrm>
            <a:off x="2743920" y="768240"/>
            <a:ext cx="61423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Listas: várias leituras em uma coleção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8"/>
          <p:cNvSpPr/>
          <p:nvPr/>
        </p:nvSpPr>
        <p:spPr>
          <a:xfrm>
            <a:off x="3169080" y="1307520"/>
            <a:ext cx="5236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lista mantém valores em ordem e permite acessá-los por posição.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24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1"/>
          <p:cNvSpPr/>
          <p:nvPr/>
        </p:nvSpPr>
        <p:spPr>
          <a:xfrm>
            <a:off x="896040" y="1901880"/>
            <a:ext cx="5897160" cy="26967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07" name="TextBox 12"/>
          <p:cNvSpPr/>
          <p:nvPr/>
        </p:nvSpPr>
        <p:spPr>
          <a:xfrm>
            <a:off x="3661200" y="2011680"/>
            <a:ext cx="3664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LISTA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13"/>
          <p:cNvSpPr/>
          <p:nvPr/>
        </p:nvSpPr>
        <p:spPr>
          <a:xfrm>
            <a:off x="2180880" y="2286000"/>
            <a:ext cx="3327480" cy="10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leituras = [22, 30, 45, 70, 90]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print(leituras)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print(leituras[0])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print(len(leituras))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Rounded Rectangle 14"/>
          <p:cNvSpPr/>
          <p:nvPr/>
        </p:nvSpPr>
        <p:spPr>
          <a:xfrm>
            <a:off x="896040" y="4709160"/>
            <a:ext cx="5897160" cy="870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10" name="TextBox 15"/>
          <p:cNvSpPr/>
          <p:nvPr/>
        </p:nvSpPr>
        <p:spPr>
          <a:xfrm>
            <a:off x="1179720" y="478224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16"/>
          <p:cNvSpPr/>
          <p:nvPr/>
        </p:nvSpPr>
        <p:spPr>
          <a:xfrm>
            <a:off x="3260520" y="4763880"/>
            <a:ext cx="18903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[22, 30, 45, 70, 90]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22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17"/>
          <p:cNvSpPr/>
          <p:nvPr/>
        </p:nvSpPr>
        <p:spPr>
          <a:xfrm>
            <a:off x="7178040" y="1938600"/>
            <a:ext cx="3766680" cy="261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13" name="TextBox 18"/>
          <p:cNvSpPr/>
          <p:nvPr/>
        </p:nvSpPr>
        <p:spPr>
          <a:xfrm>
            <a:off x="8805600" y="2247840"/>
            <a:ext cx="4928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Índices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19"/>
          <p:cNvSpPr/>
          <p:nvPr/>
        </p:nvSpPr>
        <p:spPr>
          <a:xfrm>
            <a:off x="7477560" y="2761560"/>
            <a:ext cx="316728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posição:   0   1   2   3   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valor:     22  30  45  70  90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20"/>
          <p:cNvSpPr/>
          <p:nvPr/>
        </p:nvSpPr>
        <p:spPr>
          <a:xfrm>
            <a:off x="7745040" y="3901320"/>
            <a:ext cx="25686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300" spc="-1" strike="noStrike">
                <a:solidFill>
                  <a:srgbClr val="5b6b86"/>
                </a:solidFill>
                <a:latin typeface="Lato"/>
              </a:rPr>
              <a:t>Em Python, a primeira posição é 0.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17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618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619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20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2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622" name="TextBox 7"/>
          <p:cNvSpPr/>
          <p:nvPr/>
        </p:nvSpPr>
        <p:spPr>
          <a:xfrm>
            <a:off x="3514320" y="768240"/>
            <a:ext cx="46015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for: faça algo para cada item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8"/>
          <p:cNvSpPr/>
          <p:nvPr/>
        </p:nvSpPr>
        <p:spPr>
          <a:xfrm>
            <a:off x="3234600" y="1307520"/>
            <a:ext cx="51058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O laço percorre a lista sem copiarmos o mesmo código muitas vezes.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11"/>
          <p:cNvSpPr/>
          <p:nvPr/>
        </p:nvSpPr>
        <p:spPr>
          <a:xfrm>
            <a:off x="896040" y="1920240"/>
            <a:ext cx="6290280" cy="24681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27" name="TextBox 12"/>
          <p:cNvSpPr/>
          <p:nvPr/>
        </p:nvSpPr>
        <p:spPr>
          <a:xfrm>
            <a:off x="3340440" y="2030040"/>
            <a:ext cx="1401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PERCORRENDO A LISTA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13"/>
          <p:cNvSpPr/>
          <p:nvPr/>
        </p:nvSpPr>
        <p:spPr>
          <a:xfrm>
            <a:off x="2448000" y="2304360"/>
            <a:ext cx="3186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leituras = [22, 30, 45, 70, 90]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for valor in leituras: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50" spc="-1" strike="noStrike">
                <a:solidFill>
                  <a:srgbClr val="071a4a"/>
                </a:solidFill>
                <a:latin typeface="DejaVu Sans Mono"/>
              </a:rPr>
              <a:t>print("Leitura:", valor)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Rounded Rectangle 14"/>
          <p:cNvSpPr/>
          <p:nvPr/>
        </p:nvSpPr>
        <p:spPr>
          <a:xfrm>
            <a:off x="896040" y="4498920"/>
            <a:ext cx="6290280" cy="1260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30" name="TextBox 15"/>
          <p:cNvSpPr/>
          <p:nvPr/>
        </p:nvSpPr>
        <p:spPr>
          <a:xfrm>
            <a:off x="1179720" y="457200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16"/>
          <p:cNvSpPr/>
          <p:nvPr/>
        </p:nvSpPr>
        <p:spPr>
          <a:xfrm>
            <a:off x="3870360" y="4553640"/>
            <a:ext cx="106416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22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30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45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70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Leitura: 90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7"/>
          <p:cNvSpPr/>
          <p:nvPr/>
        </p:nvSpPr>
        <p:spPr>
          <a:xfrm>
            <a:off x="7543800" y="1956960"/>
            <a:ext cx="3975840" cy="234000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33" name="TextBox 18"/>
          <p:cNvSpPr/>
          <p:nvPr/>
        </p:nvSpPr>
        <p:spPr>
          <a:xfrm>
            <a:off x="8715600" y="2247840"/>
            <a:ext cx="1093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A cada repetição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19"/>
          <p:cNvSpPr/>
          <p:nvPr/>
        </p:nvSpPr>
        <p:spPr>
          <a:xfrm>
            <a:off x="7920000" y="2700000"/>
            <a:ext cx="3407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valor recebe o próximo item da lista.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Box 20"/>
          <p:cNvSpPr/>
          <p:nvPr/>
        </p:nvSpPr>
        <p:spPr>
          <a:xfrm>
            <a:off x="8156520" y="3355200"/>
            <a:ext cx="2643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5b6b86"/>
                </a:solidFill>
                <a:latin typeface="Lato"/>
              </a:rPr>
              <a:t>Quando a lista termina, o for termina.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37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638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639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40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4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642" name="TextBox 7"/>
          <p:cNvSpPr/>
          <p:nvPr/>
        </p:nvSpPr>
        <p:spPr>
          <a:xfrm>
            <a:off x="3751200" y="768240"/>
            <a:ext cx="41274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Repetir a lógica completa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8"/>
          <p:cNvSpPr/>
          <p:nvPr/>
        </p:nvSpPr>
        <p:spPr>
          <a:xfrm>
            <a:off x="3366360" y="1307520"/>
            <a:ext cx="48423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Cada nova leitura precisa ser classificada — não apenas impressa.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26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Rounded Rectangle 11"/>
          <p:cNvSpPr/>
          <p:nvPr/>
        </p:nvSpPr>
        <p:spPr>
          <a:xfrm>
            <a:off x="804600" y="1810440"/>
            <a:ext cx="4955040" cy="38030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47" name="TextBox 12"/>
          <p:cNvSpPr/>
          <p:nvPr/>
        </p:nvSpPr>
        <p:spPr>
          <a:xfrm>
            <a:off x="2516400" y="1980000"/>
            <a:ext cx="1983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DECISÃO DENTRO DA REPETIÇÃO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Box 13"/>
          <p:cNvSpPr/>
          <p:nvPr/>
        </p:nvSpPr>
        <p:spPr>
          <a:xfrm>
            <a:off x="1900800" y="2700000"/>
            <a:ext cx="2958840" cy="19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leituras = [22, 30, 45, 70, 90]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for valor in leituras: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if valor &lt; 30: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estado = "A"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elif valor &lt;= 70: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estado = "B"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else: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estado = "C"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50" spc="-1" strike="noStrike">
                <a:solidFill>
                  <a:srgbClr val="071a4a"/>
                </a:solidFill>
                <a:latin typeface="DejaVu Sans Mono"/>
              </a:rPr>
              <a:t>print(valor, estado)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Rounded Rectangle 14"/>
          <p:cNvSpPr/>
          <p:nvPr/>
        </p:nvSpPr>
        <p:spPr>
          <a:xfrm>
            <a:off x="804600" y="5724000"/>
            <a:ext cx="6564600" cy="39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50" name="TextBox 15"/>
          <p:cNvSpPr/>
          <p:nvPr/>
        </p:nvSpPr>
        <p:spPr>
          <a:xfrm>
            <a:off x="1088280" y="579744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Box 16"/>
          <p:cNvSpPr/>
          <p:nvPr/>
        </p:nvSpPr>
        <p:spPr>
          <a:xfrm>
            <a:off x="2952720" y="5779080"/>
            <a:ext cx="2990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22 A   30 B   45 B   70 B   90 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TextBox 17"/>
          <p:cNvSpPr/>
          <p:nvPr/>
        </p:nvSpPr>
        <p:spPr>
          <a:xfrm>
            <a:off x="6396840" y="2191320"/>
            <a:ext cx="53031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Qual trecho precisa ficar indentado dentro do for?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Rounded Rectangle 18"/>
          <p:cNvSpPr/>
          <p:nvPr/>
        </p:nvSpPr>
        <p:spPr>
          <a:xfrm>
            <a:off x="7380000" y="3072960"/>
            <a:ext cx="2907000" cy="34668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54" name="TextBox 19"/>
          <p:cNvSpPr/>
          <p:nvPr/>
        </p:nvSpPr>
        <p:spPr>
          <a:xfrm>
            <a:off x="7607880" y="3143160"/>
            <a:ext cx="24512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TODO O PROCESSAMENTO DA LEITURA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Box 20"/>
          <p:cNvSpPr/>
          <p:nvPr/>
        </p:nvSpPr>
        <p:spPr>
          <a:xfrm>
            <a:off x="6480000" y="4140000"/>
            <a:ext cx="46933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5b6b86"/>
                </a:solidFill>
                <a:latin typeface="Lato"/>
              </a:rPr>
              <a:t>Esse erro — deixar a classificação fora do laço — é muito comum.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57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658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659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60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6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662" name="TextBox 7"/>
          <p:cNvSpPr/>
          <p:nvPr/>
        </p:nvSpPr>
        <p:spPr>
          <a:xfrm>
            <a:off x="1597680" y="768240"/>
            <a:ext cx="8434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while: repetir enquanto uma condição for verdadeira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Box 8"/>
          <p:cNvSpPr/>
          <p:nvPr/>
        </p:nvSpPr>
        <p:spPr>
          <a:xfrm>
            <a:off x="3280320" y="1307520"/>
            <a:ext cx="50144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Use quando a quantidade de repetições depende de uma condição.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Rounded Rectangle 11"/>
          <p:cNvSpPr/>
          <p:nvPr/>
        </p:nvSpPr>
        <p:spPr>
          <a:xfrm>
            <a:off x="896040" y="1901880"/>
            <a:ext cx="5583600" cy="3016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67" name="TextBox 12"/>
          <p:cNvSpPr/>
          <p:nvPr/>
        </p:nvSpPr>
        <p:spPr>
          <a:xfrm>
            <a:off x="3142440" y="2011680"/>
            <a:ext cx="1587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REPETIÇÃO CONDICIONAL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Box 13"/>
          <p:cNvSpPr/>
          <p:nvPr/>
        </p:nvSpPr>
        <p:spPr>
          <a:xfrm>
            <a:off x="1980000" y="2550960"/>
            <a:ext cx="3632400" cy="140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contador = 0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while contador &lt; 3: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print("Tentativa", contador + 1)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contador += 1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071a4a"/>
                </a:solidFill>
                <a:latin typeface="DejaVu Sans Mono"/>
              </a:rPr>
              <a:t>print("fim")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Rounded Rectangle 14"/>
          <p:cNvSpPr/>
          <p:nvPr/>
        </p:nvSpPr>
        <p:spPr>
          <a:xfrm>
            <a:off x="896040" y="5040000"/>
            <a:ext cx="5583600" cy="1090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70" name="TextBox 15"/>
          <p:cNvSpPr/>
          <p:nvPr/>
        </p:nvSpPr>
        <p:spPr>
          <a:xfrm>
            <a:off x="1179720" y="510228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Box 16"/>
          <p:cNvSpPr/>
          <p:nvPr/>
        </p:nvSpPr>
        <p:spPr>
          <a:xfrm>
            <a:off x="2340000" y="5220000"/>
            <a:ext cx="106416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Tentativa 1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Tentativa 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Tentativa 3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fim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Rounded Rectangle 17"/>
          <p:cNvSpPr/>
          <p:nvPr/>
        </p:nvSpPr>
        <p:spPr>
          <a:xfrm>
            <a:off x="7360920" y="1938600"/>
            <a:ext cx="3492360" cy="1224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73" name="TextBox 18"/>
          <p:cNvSpPr/>
          <p:nvPr/>
        </p:nvSpPr>
        <p:spPr>
          <a:xfrm>
            <a:off x="8876520" y="2057400"/>
            <a:ext cx="4611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10b9f3"/>
                </a:solidFill>
                <a:latin typeface="Lato"/>
              </a:rPr>
              <a:t>FOR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19"/>
          <p:cNvSpPr/>
          <p:nvPr/>
        </p:nvSpPr>
        <p:spPr>
          <a:xfrm>
            <a:off x="7679160" y="2598480"/>
            <a:ext cx="2855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bom quando percorremos uma coleção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Rounded Rectangle 20"/>
          <p:cNvSpPr/>
          <p:nvPr/>
        </p:nvSpPr>
        <p:spPr>
          <a:xfrm>
            <a:off x="7360920" y="3364920"/>
            <a:ext cx="3492360" cy="1224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76" name="TextBox 21"/>
          <p:cNvSpPr/>
          <p:nvPr/>
        </p:nvSpPr>
        <p:spPr>
          <a:xfrm>
            <a:off x="8754480" y="3483720"/>
            <a:ext cx="7052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725ac1"/>
                </a:solidFill>
                <a:latin typeface="Lato"/>
              </a:rPr>
              <a:t>WHILE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22"/>
          <p:cNvSpPr/>
          <p:nvPr/>
        </p:nvSpPr>
        <p:spPr>
          <a:xfrm>
            <a:off x="7687800" y="4024800"/>
            <a:ext cx="2838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071a4a"/>
                </a:solidFill>
                <a:latin typeface="Lato"/>
              </a:rPr>
              <a:t>bom quando repetimos até algo mudar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Rounded Rectangle 23"/>
          <p:cNvSpPr/>
          <p:nvPr/>
        </p:nvSpPr>
        <p:spPr>
          <a:xfrm>
            <a:off x="7388280" y="4800600"/>
            <a:ext cx="3455640" cy="51120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79" name="TextBox 24"/>
          <p:cNvSpPr/>
          <p:nvPr/>
        </p:nvSpPr>
        <p:spPr>
          <a:xfrm>
            <a:off x="7886880" y="4865040"/>
            <a:ext cx="2458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Cuidado: se a condição nunca mudar, 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o while pode não terminar.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81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682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683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684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685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686" name="TextBox 7"/>
          <p:cNvSpPr/>
          <p:nvPr/>
        </p:nvSpPr>
        <p:spPr>
          <a:xfrm>
            <a:off x="3627000" y="768240"/>
            <a:ext cx="43761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Gerando leituras sintéticas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Box 8"/>
          <p:cNvSpPr/>
          <p:nvPr/>
        </p:nvSpPr>
        <p:spPr>
          <a:xfrm>
            <a:off x="3027960" y="1307520"/>
            <a:ext cx="5519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 módulo pode fornecer funções que não fazem parte do núcleo básico.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Rounded Rectangle 11"/>
          <p:cNvSpPr/>
          <p:nvPr/>
        </p:nvSpPr>
        <p:spPr>
          <a:xfrm>
            <a:off x="896040" y="1920240"/>
            <a:ext cx="5897160" cy="25794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91" name="TextBox 12"/>
          <p:cNvSpPr/>
          <p:nvPr/>
        </p:nvSpPr>
        <p:spPr>
          <a:xfrm>
            <a:off x="3173040" y="2030040"/>
            <a:ext cx="13431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VALORES ALEATÓRIOS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13"/>
          <p:cNvSpPr/>
          <p:nvPr/>
        </p:nvSpPr>
        <p:spPr>
          <a:xfrm>
            <a:off x="2066400" y="2555640"/>
            <a:ext cx="3556080" cy="10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from random import randint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for _ in range(5):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valor_sensor = randint(0, 100)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70" spc="-1" strike="noStrike">
                <a:solidFill>
                  <a:srgbClr val="071a4a"/>
                </a:solidFill>
                <a:latin typeface="DejaVu Sans Mono"/>
              </a:rPr>
              <a:t>print(valor_sensor)</a:t>
            </a:r>
            <a:endParaRPr b="0" lang="pt-BR" sz="13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Rounded Rectangle 14"/>
          <p:cNvSpPr/>
          <p:nvPr/>
        </p:nvSpPr>
        <p:spPr>
          <a:xfrm>
            <a:off x="896040" y="4718160"/>
            <a:ext cx="5897160" cy="104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94" name="TextBox 15"/>
          <p:cNvSpPr/>
          <p:nvPr/>
        </p:nvSpPr>
        <p:spPr>
          <a:xfrm>
            <a:off x="1179720" y="479160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16"/>
          <p:cNvSpPr/>
          <p:nvPr/>
        </p:nvSpPr>
        <p:spPr>
          <a:xfrm>
            <a:off x="4086720" y="4773240"/>
            <a:ext cx="23832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18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31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45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70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82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"/>
          <p:cNvSpPr/>
          <p:nvPr/>
        </p:nvSpPr>
        <p:spPr>
          <a:xfrm>
            <a:off x="7150680" y="1920240"/>
            <a:ext cx="4188960" cy="2579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697" name="TextBox 18"/>
          <p:cNvSpPr/>
          <p:nvPr/>
        </p:nvSpPr>
        <p:spPr>
          <a:xfrm>
            <a:off x="8076600" y="2275200"/>
            <a:ext cx="19328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Por que usar dados sintéticos?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19"/>
          <p:cNvSpPr/>
          <p:nvPr/>
        </p:nvSpPr>
        <p:spPr>
          <a:xfrm>
            <a:off x="7444080" y="272484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20"/>
          <p:cNvSpPr/>
          <p:nvPr/>
        </p:nvSpPr>
        <p:spPr>
          <a:xfrm>
            <a:off x="7748640" y="2724840"/>
            <a:ext cx="1987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praticar sem dados pessoais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21"/>
          <p:cNvSpPr/>
          <p:nvPr/>
        </p:nvSpPr>
        <p:spPr>
          <a:xfrm>
            <a:off x="7444080" y="314568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22"/>
          <p:cNvSpPr/>
          <p:nvPr/>
        </p:nvSpPr>
        <p:spPr>
          <a:xfrm>
            <a:off x="7774200" y="3145680"/>
            <a:ext cx="188568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repetir testes rapidamente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23"/>
          <p:cNvSpPr/>
          <p:nvPr/>
        </p:nvSpPr>
        <p:spPr>
          <a:xfrm>
            <a:off x="7444080" y="356616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24"/>
          <p:cNvSpPr/>
          <p:nvPr/>
        </p:nvSpPr>
        <p:spPr>
          <a:xfrm>
            <a:off x="7781400" y="3566160"/>
            <a:ext cx="13982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criar casos variados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25"/>
          <p:cNvSpPr/>
          <p:nvPr/>
        </p:nvSpPr>
        <p:spPr>
          <a:xfrm>
            <a:off x="7444080" y="398664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26"/>
          <p:cNvSpPr/>
          <p:nvPr/>
        </p:nvSpPr>
        <p:spPr>
          <a:xfrm>
            <a:off x="7779600" y="3960000"/>
            <a:ext cx="316440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separar programação de interpretação clínica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07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08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09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10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11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712" name="TextBox 7"/>
          <p:cNvSpPr/>
          <p:nvPr/>
        </p:nvSpPr>
        <p:spPr>
          <a:xfrm>
            <a:off x="3217680" y="768240"/>
            <a:ext cx="5194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Funções: dar nome a uma tarefa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Box 8"/>
          <p:cNvSpPr/>
          <p:nvPr/>
        </p:nvSpPr>
        <p:spPr>
          <a:xfrm>
            <a:off x="2908440" y="1307520"/>
            <a:ext cx="57582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Uma função recebe dados, executa uma tarefa e pode devolver um resultado.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Rounded Rectangle 11"/>
          <p:cNvSpPr/>
          <p:nvPr/>
        </p:nvSpPr>
        <p:spPr>
          <a:xfrm>
            <a:off x="896040" y="2030040"/>
            <a:ext cx="2559600" cy="190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17" name="TextBox 12"/>
          <p:cNvSpPr/>
          <p:nvPr/>
        </p:nvSpPr>
        <p:spPr>
          <a:xfrm>
            <a:off x="1864800" y="2148840"/>
            <a:ext cx="622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13"/>
          <p:cNvSpPr/>
          <p:nvPr/>
        </p:nvSpPr>
        <p:spPr>
          <a:xfrm>
            <a:off x="1887480" y="2982600"/>
            <a:ext cx="5767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900" spc="-1" strike="noStrike">
                <a:solidFill>
                  <a:srgbClr val="071a4a"/>
                </a:solidFill>
                <a:latin typeface="Lato"/>
              </a:rPr>
              <a:t>valor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19" name="Connector 14"/>
          <p:cNvCxnSpPr/>
          <p:nvPr/>
        </p:nvCxnSpPr>
        <p:spPr>
          <a:xfrm>
            <a:off x="3520440" y="2971800"/>
            <a:ext cx="521640" cy="720"/>
          </a:xfrm>
          <a:prstGeom prst="straightConnector1">
            <a:avLst/>
          </a:prstGeom>
          <a:ln w="22860">
            <a:solidFill>
              <a:srgbClr val="91a0b6"/>
            </a:solidFill>
            <a:round/>
          </a:ln>
        </p:spPr>
      </p:cxnSp>
      <p:sp>
        <p:nvSpPr>
          <p:cNvPr id="720" name="Rounded Rectangle 15"/>
          <p:cNvSpPr/>
          <p:nvPr/>
        </p:nvSpPr>
        <p:spPr>
          <a:xfrm>
            <a:off x="4078080" y="1938600"/>
            <a:ext cx="3894480" cy="208404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905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21" name="TextBox 16"/>
          <p:cNvSpPr/>
          <p:nvPr/>
        </p:nvSpPr>
        <p:spPr>
          <a:xfrm>
            <a:off x="4768560" y="2432520"/>
            <a:ext cx="25318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DejaVu Sans Mono"/>
              </a:rPr>
              <a:t>classificar(valor)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Box 17"/>
          <p:cNvSpPr/>
          <p:nvPr/>
        </p:nvSpPr>
        <p:spPr>
          <a:xfrm>
            <a:off x="5123880" y="3028320"/>
            <a:ext cx="18216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0" lang="pt-BR" sz="1300" spc="-1" strike="noStrike">
                <a:solidFill>
                  <a:srgbClr val="5b6b86"/>
                </a:solidFill>
                <a:latin typeface="Lato"/>
              </a:rPr>
              <a:t>aplica as regras A / B / C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23" name="Connector 18"/>
          <p:cNvCxnSpPr/>
          <p:nvPr/>
        </p:nvCxnSpPr>
        <p:spPr>
          <a:xfrm>
            <a:off x="8010000" y="2971800"/>
            <a:ext cx="540360" cy="720"/>
          </a:xfrm>
          <a:prstGeom prst="straightConnector1">
            <a:avLst/>
          </a:prstGeom>
          <a:ln w="22860">
            <a:solidFill>
              <a:srgbClr val="91a0b6"/>
            </a:solidFill>
            <a:round/>
          </a:ln>
        </p:spPr>
      </p:cxnSp>
      <p:sp>
        <p:nvSpPr>
          <p:cNvPr id="724" name="Rounded Rectangle 19"/>
          <p:cNvSpPr/>
          <p:nvPr/>
        </p:nvSpPr>
        <p:spPr>
          <a:xfrm>
            <a:off x="8613720" y="2030040"/>
            <a:ext cx="2404080" cy="190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25" name="TextBox 20"/>
          <p:cNvSpPr/>
          <p:nvPr/>
        </p:nvSpPr>
        <p:spPr>
          <a:xfrm>
            <a:off x="9497520" y="2148840"/>
            <a:ext cx="636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RETORNO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TextBox 21"/>
          <p:cNvSpPr/>
          <p:nvPr/>
        </p:nvSpPr>
        <p:spPr>
          <a:xfrm>
            <a:off x="9088920" y="2990160"/>
            <a:ext cx="14529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71a4a"/>
                </a:solidFill>
                <a:latin typeface="Lato"/>
              </a:rPr>
              <a:t>"A", "B" ou "C"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22"/>
          <p:cNvSpPr/>
          <p:nvPr/>
        </p:nvSpPr>
        <p:spPr>
          <a:xfrm>
            <a:off x="4265640" y="4733640"/>
            <a:ext cx="36748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5b6b86"/>
                </a:solidFill>
                <a:latin typeface="Lato"/>
              </a:rPr>
              <a:t>Vantagens: clareza · reuso · teste isolado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29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30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31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32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3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734" name="TextBox 7"/>
          <p:cNvSpPr/>
          <p:nvPr/>
        </p:nvSpPr>
        <p:spPr>
          <a:xfrm>
            <a:off x="3299400" y="768240"/>
            <a:ext cx="50313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Nossa função classificar(valor)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8"/>
          <p:cNvSpPr/>
          <p:nvPr/>
        </p:nvSpPr>
        <p:spPr>
          <a:xfrm>
            <a:off x="4039920" y="1307520"/>
            <a:ext cx="3495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Extraímos a decisão para um bloco reutilizável.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30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Rounded Rectangle 11"/>
          <p:cNvSpPr/>
          <p:nvPr/>
        </p:nvSpPr>
        <p:spPr>
          <a:xfrm>
            <a:off x="896040" y="1810440"/>
            <a:ext cx="6491520" cy="365688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39" name="TextBox 12"/>
          <p:cNvSpPr/>
          <p:nvPr/>
        </p:nvSpPr>
        <p:spPr>
          <a:xfrm>
            <a:off x="3590640" y="1920240"/>
            <a:ext cx="11023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FUNÇÃO + TESTES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TextBox 13"/>
          <p:cNvSpPr/>
          <p:nvPr/>
        </p:nvSpPr>
        <p:spPr>
          <a:xfrm>
            <a:off x="2880000" y="2520000"/>
            <a:ext cx="2257920" cy="19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def classificar(valor):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if valor &lt; 30: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return "A"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elif valor &lt;= 70: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return "B"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return "C"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print(classificar(29))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print(classificar(30))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80" spc="-1" strike="noStrike">
                <a:solidFill>
                  <a:srgbClr val="071a4a"/>
                </a:solidFill>
                <a:latin typeface="DejaVu Sans Mono"/>
              </a:rPr>
              <a:t>print(classificar(71))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Rounded Rectangle 14"/>
          <p:cNvSpPr/>
          <p:nvPr/>
        </p:nvSpPr>
        <p:spPr>
          <a:xfrm>
            <a:off x="896040" y="5577840"/>
            <a:ext cx="6491520" cy="72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42" name="TextBox 15"/>
          <p:cNvSpPr/>
          <p:nvPr/>
        </p:nvSpPr>
        <p:spPr>
          <a:xfrm>
            <a:off x="1179720" y="565092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TextBox 16"/>
          <p:cNvSpPr/>
          <p:nvPr/>
        </p:nvSpPr>
        <p:spPr>
          <a:xfrm>
            <a:off x="4429440" y="5632560"/>
            <a:ext cx="146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B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Rounded Rectangle 17"/>
          <p:cNvSpPr/>
          <p:nvPr/>
        </p:nvSpPr>
        <p:spPr>
          <a:xfrm>
            <a:off x="7772400" y="1883520"/>
            <a:ext cx="3135600" cy="1078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45" name="TextBox 18"/>
          <p:cNvSpPr/>
          <p:nvPr/>
        </p:nvSpPr>
        <p:spPr>
          <a:xfrm>
            <a:off x="9198000" y="2002680"/>
            <a:ext cx="2840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DEF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Box 19"/>
          <p:cNvSpPr/>
          <p:nvPr/>
        </p:nvSpPr>
        <p:spPr>
          <a:xfrm>
            <a:off x="8736120" y="2467080"/>
            <a:ext cx="12074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Lato"/>
              </a:rPr>
              <a:t>define a função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Rounded Rectangle 20"/>
          <p:cNvSpPr/>
          <p:nvPr/>
        </p:nvSpPr>
        <p:spPr>
          <a:xfrm>
            <a:off x="7772400" y="3182040"/>
            <a:ext cx="3135600" cy="1078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48" name="TextBox 21"/>
          <p:cNvSpPr/>
          <p:nvPr/>
        </p:nvSpPr>
        <p:spPr>
          <a:xfrm>
            <a:off x="9115560" y="3300840"/>
            <a:ext cx="4485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VALOR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22"/>
          <p:cNvSpPr/>
          <p:nvPr/>
        </p:nvSpPr>
        <p:spPr>
          <a:xfrm>
            <a:off x="8503560" y="3765240"/>
            <a:ext cx="16725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Lato"/>
              </a:rPr>
              <a:t>parâmetro de entrada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Rounded Rectangle 23"/>
          <p:cNvSpPr/>
          <p:nvPr/>
        </p:nvSpPr>
        <p:spPr>
          <a:xfrm>
            <a:off x="7772400" y="4480560"/>
            <a:ext cx="3135600" cy="1078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51" name="TextBox 24"/>
          <p:cNvSpPr/>
          <p:nvPr/>
        </p:nvSpPr>
        <p:spPr>
          <a:xfrm>
            <a:off x="9073800" y="4599360"/>
            <a:ext cx="532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RETURN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Box 25"/>
          <p:cNvSpPr/>
          <p:nvPr/>
        </p:nvSpPr>
        <p:spPr>
          <a:xfrm>
            <a:off x="8580600" y="5063760"/>
            <a:ext cx="15184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350" spc="-1" strike="noStrike">
                <a:solidFill>
                  <a:srgbClr val="071a4a"/>
                </a:solidFill>
                <a:latin typeface="Lato"/>
              </a:rPr>
              <a:t>devolve o resultado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4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55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56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57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58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759" name="TextBox 7"/>
          <p:cNvSpPr/>
          <p:nvPr/>
        </p:nvSpPr>
        <p:spPr>
          <a:xfrm>
            <a:off x="2828520" y="768240"/>
            <a:ext cx="59731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return não é a mesma coisa que print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Box 8"/>
          <p:cNvSpPr/>
          <p:nvPr/>
        </p:nvSpPr>
        <p:spPr>
          <a:xfrm>
            <a:off x="2821680" y="1307520"/>
            <a:ext cx="59320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Mostrar um valor na tela é diferente de devolvê-lo para o restante do programa.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31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11"/>
          <p:cNvSpPr/>
          <p:nvPr/>
        </p:nvSpPr>
        <p:spPr>
          <a:xfrm>
            <a:off x="896040" y="1920240"/>
            <a:ext cx="4799880" cy="287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64" name="TextBox 12"/>
          <p:cNvSpPr/>
          <p:nvPr/>
        </p:nvSpPr>
        <p:spPr>
          <a:xfrm>
            <a:off x="2947320" y="2240640"/>
            <a:ext cx="6969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10b9f3"/>
                </a:solidFill>
                <a:latin typeface="DejaVu Sans Mono"/>
              </a:rPr>
              <a:t>print()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Box 13"/>
          <p:cNvSpPr/>
          <p:nvPr/>
        </p:nvSpPr>
        <p:spPr>
          <a:xfrm>
            <a:off x="1603080" y="2778480"/>
            <a:ext cx="33854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mostra informação para a pessoa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Rounded Rectangle 14"/>
          <p:cNvSpPr/>
          <p:nvPr/>
        </p:nvSpPr>
        <p:spPr>
          <a:xfrm>
            <a:off x="1170360" y="3355920"/>
            <a:ext cx="4159800" cy="10782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67" name="TextBox 15"/>
          <p:cNvSpPr/>
          <p:nvPr/>
        </p:nvSpPr>
        <p:spPr>
          <a:xfrm>
            <a:off x="2215800" y="3520440"/>
            <a:ext cx="2068920" cy="7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def mostrar(valor):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print(valor)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resultado = mostrar(52)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Rounded Rectangle 16"/>
          <p:cNvSpPr/>
          <p:nvPr/>
        </p:nvSpPr>
        <p:spPr>
          <a:xfrm>
            <a:off x="6153840" y="1920240"/>
            <a:ext cx="4799880" cy="287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69" name="TextBox 17"/>
          <p:cNvSpPr/>
          <p:nvPr/>
        </p:nvSpPr>
        <p:spPr>
          <a:xfrm>
            <a:off x="8250840" y="2240640"/>
            <a:ext cx="6055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200" spc="-1" strike="noStrike">
                <a:solidFill>
                  <a:srgbClr val="725ac1"/>
                </a:solidFill>
                <a:latin typeface="DejaVu Sans Mono"/>
              </a:rPr>
              <a:t>return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Box 18"/>
          <p:cNvSpPr/>
          <p:nvPr/>
        </p:nvSpPr>
        <p:spPr>
          <a:xfrm>
            <a:off x="7028640" y="2778480"/>
            <a:ext cx="30502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entrega um valor ao programa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Rounded Rectangle 19"/>
          <p:cNvSpPr/>
          <p:nvPr/>
        </p:nvSpPr>
        <p:spPr>
          <a:xfrm>
            <a:off x="6428160" y="3355920"/>
            <a:ext cx="4159800" cy="10782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72" name="TextBox 20"/>
          <p:cNvSpPr/>
          <p:nvPr/>
        </p:nvSpPr>
        <p:spPr>
          <a:xfrm>
            <a:off x="7428600" y="3520440"/>
            <a:ext cx="2158560" cy="7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def devolver(valor):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return valor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70" spc="-1" strike="noStrike">
                <a:solidFill>
                  <a:srgbClr val="071a4a"/>
                </a:solidFill>
                <a:latin typeface="DejaVu Sans Mono"/>
              </a:rPr>
              <a:t>resultado = devolver(52)</a:t>
            </a:r>
            <a:endParaRPr b="0" lang="pt-BR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Rounded Rectangle 21"/>
          <p:cNvSpPr/>
          <p:nvPr/>
        </p:nvSpPr>
        <p:spPr>
          <a:xfrm>
            <a:off x="1828800" y="5157360"/>
            <a:ext cx="8320320" cy="51120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74" name="TextBox 22"/>
          <p:cNvSpPr/>
          <p:nvPr/>
        </p:nvSpPr>
        <p:spPr>
          <a:xfrm>
            <a:off x="3854880" y="5308200"/>
            <a:ext cx="4267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Para montar registros, precisamos do valor retornado pela função.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76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77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78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79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80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781" name="TextBox 7"/>
          <p:cNvSpPr/>
          <p:nvPr/>
        </p:nvSpPr>
        <p:spPr>
          <a:xfrm>
            <a:off x="1916280" y="768240"/>
            <a:ext cx="77972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Dicionários: um registro com campos nomeados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TextBox 8"/>
          <p:cNvSpPr/>
          <p:nvPr/>
        </p:nvSpPr>
        <p:spPr>
          <a:xfrm>
            <a:off x="2570040" y="1307520"/>
            <a:ext cx="64350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Eles ajudam a representar uma leitura como um conjunto de informações relacionadas.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Rounded Rectangle 11"/>
          <p:cNvSpPr/>
          <p:nvPr/>
        </p:nvSpPr>
        <p:spPr>
          <a:xfrm>
            <a:off x="896040" y="1847160"/>
            <a:ext cx="6125760" cy="338256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86" name="TextBox 12"/>
          <p:cNvSpPr/>
          <p:nvPr/>
        </p:nvSpPr>
        <p:spPr>
          <a:xfrm>
            <a:off x="3525840" y="1956960"/>
            <a:ext cx="8661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UM REGISTRO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Box 13"/>
          <p:cNvSpPr/>
          <p:nvPr/>
        </p:nvSpPr>
        <p:spPr>
          <a:xfrm>
            <a:off x="2160000" y="2540880"/>
            <a:ext cx="3463200" cy="14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registro = {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"valor_sensor": 52,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"estado_didatico": "B",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"qualidade": "OK"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}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071a4a"/>
                </a:solidFill>
                <a:latin typeface="DejaVu Sans Mono"/>
              </a:rPr>
              <a:t>print(registro["estado_didatico"])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Rounded Rectangle 14"/>
          <p:cNvSpPr/>
          <p:nvPr/>
        </p:nvSpPr>
        <p:spPr>
          <a:xfrm>
            <a:off x="896040" y="5340240"/>
            <a:ext cx="6125760" cy="419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89" name="TextBox 15"/>
          <p:cNvSpPr/>
          <p:nvPr/>
        </p:nvSpPr>
        <p:spPr>
          <a:xfrm>
            <a:off x="1179720" y="5413320"/>
            <a:ext cx="374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850" spc="-1" strike="noStrike">
                <a:solidFill>
                  <a:srgbClr val="5b6b86"/>
                </a:solidFill>
                <a:latin typeface="Lato"/>
              </a:rPr>
              <a:t>SAÍDA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TextBox 16"/>
          <p:cNvSpPr/>
          <p:nvPr/>
        </p:nvSpPr>
        <p:spPr>
          <a:xfrm>
            <a:off x="4246560" y="5394960"/>
            <a:ext cx="146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71a4a"/>
                </a:solidFill>
                <a:latin typeface="DejaVu Sans Mono"/>
              </a:rPr>
              <a:t>B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Rounded Rectangle 17"/>
          <p:cNvSpPr/>
          <p:nvPr/>
        </p:nvSpPr>
        <p:spPr>
          <a:xfrm>
            <a:off x="7388280" y="1901880"/>
            <a:ext cx="3611160" cy="323640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792" name="TextBox 18"/>
          <p:cNvSpPr/>
          <p:nvPr/>
        </p:nvSpPr>
        <p:spPr>
          <a:xfrm>
            <a:off x="8589960" y="2261880"/>
            <a:ext cx="119844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10b9f3"/>
                </a:solidFill>
                <a:latin typeface="Inter Display"/>
              </a:rPr>
              <a:t>chave → valor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extBox 19"/>
          <p:cNvSpPr/>
          <p:nvPr/>
        </p:nvSpPr>
        <p:spPr>
          <a:xfrm>
            <a:off x="7920000" y="3060000"/>
            <a:ext cx="25243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"valor_sensor" → 52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"estado_didatico" → "B"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DejaVu Sans Mono"/>
              </a:rPr>
              <a:t>"qualidade" → "OK"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95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796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797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798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799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800" name="TextBox 7"/>
          <p:cNvSpPr/>
          <p:nvPr/>
        </p:nvSpPr>
        <p:spPr>
          <a:xfrm>
            <a:off x="4033800" y="768240"/>
            <a:ext cx="35622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De leituras a registros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Box 8"/>
          <p:cNvSpPr/>
          <p:nvPr/>
        </p:nvSpPr>
        <p:spPr>
          <a:xfrm>
            <a:off x="3530160" y="1307520"/>
            <a:ext cx="45147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Lista + função + dicionário formam o núcleo do projeto final.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Rounded Rectangle 11"/>
          <p:cNvSpPr/>
          <p:nvPr/>
        </p:nvSpPr>
        <p:spPr>
          <a:xfrm>
            <a:off x="749880" y="1774080"/>
            <a:ext cx="6811560" cy="38214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05" name="TextBox 12"/>
          <p:cNvSpPr/>
          <p:nvPr/>
        </p:nvSpPr>
        <p:spPr>
          <a:xfrm>
            <a:off x="3004560" y="1883520"/>
            <a:ext cx="2301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MONTANDO UMA LISTA DE REGISTROS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Box 13"/>
          <p:cNvSpPr/>
          <p:nvPr/>
        </p:nvSpPr>
        <p:spPr>
          <a:xfrm>
            <a:off x="2067480" y="2520000"/>
            <a:ext cx="4176360" cy="18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leituras = [18, 31, 45, 70, 82]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registros = []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for valor in leituras: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registro = {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"valor_sensor": valor,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"estado_didatico": classificar(valor),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"qualidade": "OK"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}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90" spc="-1" strike="noStrike">
                <a:solidFill>
                  <a:srgbClr val="071a4a"/>
                </a:solidFill>
                <a:latin typeface="DejaVu Sans Mono"/>
              </a:rPr>
              <a:t>registros.append(registro)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Rounded Rectangle 14"/>
          <p:cNvSpPr/>
          <p:nvPr/>
        </p:nvSpPr>
        <p:spPr>
          <a:xfrm>
            <a:off x="7882200" y="1901880"/>
            <a:ext cx="3126600" cy="3547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08" name="TextBox 15"/>
          <p:cNvSpPr/>
          <p:nvPr/>
        </p:nvSpPr>
        <p:spPr>
          <a:xfrm>
            <a:off x="9246960" y="2211480"/>
            <a:ext cx="3967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Fluxo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Rounded Rectangle 16"/>
          <p:cNvSpPr/>
          <p:nvPr/>
        </p:nvSpPr>
        <p:spPr>
          <a:xfrm>
            <a:off x="8275320" y="2670120"/>
            <a:ext cx="233100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10" name="TextBox 17"/>
          <p:cNvSpPr/>
          <p:nvPr/>
        </p:nvSpPr>
        <p:spPr>
          <a:xfrm>
            <a:off x="8989920" y="2740320"/>
            <a:ext cx="9014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lista de leituras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11" name="Connector 18"/>
          <p:cNvCxnSpPr/>
          <p:nvPr/>
        </p:nvCxnSpPr>
        <p:spPr>
          <a:xfrm>
            <a:off x="9445680" y="3017520"/>
            <a:ext cx="720" cy="119520"/>
          </a:xfrm>
          <a:prstGeom prst="straightConnector1">
            <a:avLst/>
          </a:prstGeom>
          <a:ln w="15240">
            <a:solidFill>
              <a:srgbClr val="91a0b6"/>
            </a:solidFill>
            <a:round/>
          </a:ln>
        </p:spPr>
      </p:cxnSp>
      <p:sp>
        <p:nvSpPr>
          <p:cNvPr id="812" name="Rounded Rectangle 19"/>
          <p:cNvSpPr/>
          <p:nvPr/>
        </p:nvSpPr>
        <p:spPr>
          <a:xfrm>
            <a:off x="8275320" y="3182040"/>
            <a:ext cx="2331000" cy="34668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13" name="TextBox 20"/>
          <p:cNvSpPr/>
          <p:nvPr/>
        </p:nvSpPr>
        <p:spPr>
          <a:xfrm>
            <a:off x="9331560" y="3252240"/>
            <a:ext cx="2185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for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14" name="Connector 21"/>
          <p:cNvCxnSpPr/>
          <p:nvPr/>
        </p:nvCxnSpPr>
        <p:spPr>
          <a:xfrm>
            <a:off x="9445680" y="3529440"/>
            <a:ext cx="720" cy="119520"/>
          </a:xfrm>
          <a:prstGeom prst="straightConnector1">
            <a:avLst/>
          </a:prstGeom>
          <a:ln w="15240">
            <a:solidFill>
              <a:srgbClr val="91a0b6"/>
            </a:solidFill>
            <a:round/>
          </a:ln>
        </p:spPr>
      </p:cxnSp>
      <p:sp>
        <p:nvSpPr>
          <p:cNvPr id="815" name="Rounded Rectangle 22"/>
          <p:cNvSpPr/>
          <p:nvPr/>
        </p:nvSpPr>
        <p:spPr>
          <a:xfrm>
            <a:off x="8275320" y="3694320"/>
            <a:ext cx="2331000" cy="34668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16" name="TextBox 23"/>
          <p:cNvSpPr/>
          <p:nvPr/>
        </p:nvSpPr>
        <p:spPr>
          <a:xfrm>
            <a:off x="8966520" y="3764520"/>
            <a:ext cx="9486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classificar(valor)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17" name="Connector 24"/>
          <p:cNvCxnSpPr/>
          <p:nvPr/>
        </p:nvCxnSpPr>
        <p:spPr>
          <a:xfrm>
            <a:off x="9445680" y="4041360"/>
            <a:ext cx="720" cy="119880"/>
          </a:xfrm>
          <a:prstGeom prst="straightConnector1">
            <a:avLst/>
          </a:prstGeom>
          <a:ln w="15240">
            <a:solidFill>
              <a:srgbClr val="91a0b6"/>
            </a:solidFill>
            <a:round/>
          </a:ln>
        </p:spPr>
      </p:cxnSp>
      <p:sp>
        <p:nvSpPr>
          <p:cNvPr id="818" name="Rounded Rectangle 25"/>
          <p:cNvSpPr/>
          <p:nvPr/>
        </p:nvSpPr>
        <p:spPr>
          <a:xfrm>
            <a:off x="8275320" y="4206240"/>
            <a:ext cx="2331000" cy="34668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19" name="TextBox 26"/>
          <p:cNvSpPr/>
          <p:nvPr/>
        </p:nvSpPr>
        <p:spPr>
          <a:xfrm>
            <a:off x="9135000" y="4276440"/>
            <a:ext cx="6116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dicionário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20" name="Connector 27"/>
          <p:cNvCxnSpPr/>
          <p:nvPr/>
        </p:nvCxnSpPr>
        <p:spPr>
          <a:xfrm>
            <a:off x="9445680" y="4553640"/>
            <a:ext cx="720" cy="119520"/>
          </a:xfrm>
          <a:prstGeom prst="straightConnector1">
            <a:avLst/>
          </a:prstGeom>
          <a:ln w="15240">
            <a:solidFill>
              <a:srgbClr val="91a0b6"/>
            </a:solidFill>
            <a:round/>
          </a:ln>
        </p:spPr>
      </p:cxnSp>
      <p:sp>
        <p:nvSpPr>
          <p:cNvPr id="821" name="Rounded Rectangle 28"/>
          <p:cNvSpPr/>
          <p:nvPr/>
        </p:nvSpPr>
        <p:spPr>
          <a:xfrm>
            <a:off x="8275320" y="4718160"/>
            <a:ext cx="2331000" cy="346680"/>
          </a:xfrm>
          <a:prstGeom prst="roundRect">
            <a:avLst>
              <a:gd name="adj" fmla="val 16667"/>
            </a:avLst>
          </a:prstGeom>
          <a:solidFill>
            <a:srgbClr val="2fb886"/>
          </a:solidFill>
          <a:ln w="12700">
            <a:solidFill>
              <a:srgbClr val="2fb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2" name="TextBox 29"/>
          <p:cNvSpPr/>
          <p:nvPr/>
        </p:nvSpPr>
        <p:spPr>
          <a:xfrm>
            <a:off x="9169200" y="4788360"/>
            <a:ext cx="5432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append()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Hexagon 1"/>
          <p:cNvSpPr/>
          <p:nvPr/>
        </p:nvSpPr>
        <p:spPr>
          <a:xfrm>
            <a:off x="10012680" y="219600"/>
            <a:ext cx="959400" cy="84060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4" name="Hexagon 2"/>
          <p:cNvSpPr/>
          <p:nvPr/>
        </p:nvSpPr>
        <p:spPr>
          <a:xfrm>
            <a:off x="109800" y="5376600"/>
            <a:ext cx="932040" cy="80388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pic>
        <p:nvPicPr>
          <p:cNvPr id="825" name="Picture 3" descr="image.png"/>
          <p:cNvPicPr/>
          <p:nvPr/>
        </p:nvPicPr>
        <p:blipFill>
          <a:blip r:embed="rId1"/>
          <a:stretch/>
        </p:blipFill>
        <p:spPr>
          <a:xfrm>
            <a:off x="9948600" y="228600"/>
            <a:ext cx="1169640" cy="309960"/>
          </a:xfrm>
          <a:prstGeom prst="rect">
            <a:avLst/>
          </a:prstGeom>
          <a:ln w="0">
            <a:noFill/>
          </a:ln>
        </p:spPr>
      </p:pic>
      <p:sp>
        <p:nvSpPr>
          <p:cNvPr id="826" name="TextBox 4"/>
          <p:cNvSpPr/>
          <p:nvPr/>
        </p:nvSpPr>
        <p:spPr>
          <a:xfrm>
            <a:off x="2539080" y="1260720"/>
            <a:ext cx="20901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DESAFIO INTEGRADO · 15 MIN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5"/>
          <p:cNvSpPr/>
          <p:nvPr/>
        </p:nvSpPr>
        <p:spPr>
          <a:xfrm>
            <a:off x="2212200" y="1876320"/>
            <a:ext cx="512136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3100" spc="-1" strike="noStrike">
                <a:solidFill>
                  <a:srgbClr val="ffffff"/>
                </a:solidFill>
                <a:latin typeface="Inter Display"/>
              </a:rPr>
              <a:t>Construa o monitor didático</a:t>
            </a:r>
            <a:endParaRPr b="0" lang="pt-BR" sz="3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6"/>
          <p:cNvSpPr/>
          <p:nvPr/>
        </p:nvSpPr>
        <p:spPr>
          <a:xfrm>
            <a:off x="720000" y="2746440"/>
            <a:ext cx="107697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700" spc="-1" strike="noStrike">
                <a:solidFill>
                  <a:srgbClr val="d5e0f1"/>
                </a:solidFill>
                <a:latin typeface="Lato"/>
              </a:rPr>
              <a:t>A partir de uma lista de leituras sintéticas, gere uma lista de registros com valor, faixa didática e qualidade técnica.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Rounded Rectangle 7"/>
          <p:cNvSpPr/>
          <p:nvPr/>
        </p:nvSpPr>
        <p:spPr>
          <a:xfrm>
            <a:off x="768240" y="4041720"/>
            <a:ext cx="116964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0" name="TextBox 8"/>
          <p:cNvSpPr/>
          <p:nvPr/>
        </p:nvSpPr>
        <p:spPr>
          <a:xfrm>
            <a:off x="1210320" y="4111920"/>
            <a:ext cx="2854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lista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9"/>
          <p:cNvSpPr/>
          <p:nvPr/>
        </p:nvSpPr>
        <p:spPr>
          <a:xfrm>
            <a:off x="2057400" y="4041720"/>
            <a:ext cx="1297800" cy="34668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2" name="TextBox 10"/>
          <p:cNvSpPr/>
          <p:nvPr/>
        </p:nvSpPr>
        <p:spPr>
          <a:xfrm>
            <a:off x="2485800" y="4111920"/>
            <a:ext cx="44100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função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Rounded Rectangle 11"/>
          <p:cNvSpPr/>
          <p:nvPr/>
        </p:nvSpPr>
        <p:spPr>
          <a:xfrm>
            <a:off x="3493080" y="4041720"/>
            <a:ext cx="959400" cy="34668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4" name="TextBox 12"/>
          <p:cNvSpPr/>
          <p:nvPr/>
        </p:nvSpPr>
        <p:spPr>
          <a:xfrm>
            <a:off x="3863520" y="4111920"/>
            <a:ext cx="21852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for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Rounded Rectangle 13"/>
          <p:cNvSpPr/>
          <p:nvPr/>
        </p:nvSpPr>
        <p:spPr>
          <a:xfrm>
            <a:off x="4590360" y="4041720"/>
            <a:ext cx="1608480" cy="34668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6" name="TextBox 14"/>
          <p:cNvSpPr/>
          <p:nvPr/>
        </p:nvSpPr>
        <p:spPr>
          <a:xfrm>
            <a:off x="5088600" y="4111920"/>
            <a:ext cx="6116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dicionário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Rounded Rectangle 15"/>
          <p:cNvSpPr/>
          <p:nvPr/>
        </p:nvSpPr>
        <p:spPr>
          <a:xfrm>
            <a:off x="6346080" y="4041720"/>
            <a:ext cx="1169640" cy="346680"/>
          </a:xfrm>
          <a:prstGeom prst="roundRect">
            <a:avLst>
              <a:gd name="adj" fmla="val 16667"/>
            </a:avLst>
          </a:prstGeom>
          <a:solidFill>
            <a:srgbClr val="2fb886"/>
          </a:solidFill>
          <a:ln w="12700">
            <a:solidFill>
              <a:srgbClr val="2fb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8" name="TextBox 16"/>
          <p:cNvSpPr/>
          <p:nvPr/>
        </p:nvSpPr>
        <p:spPr>
          <a:xfrm>
            <a:off x="6733800" y="4111920"/>
            <a:ext cx="39384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testes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Rounded Rectangle 17"/>
          <p:cNvSpPr/>
          <p:nvPr/>
        </p:nvSpPr>
        <p:spPr>
          <a:xfrm>
            <a:off x="1170360" y="5010840"/>
            <a:ext cx="9234720" cy="58464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40" name="TextBox 18"/>
          <p:cNvSpPr/>
          <p:nvPr/>
        </p:nvSpPr>
        <p:spPr>
          <a:xfrm>
            <a:off x="2981520" y="5198760"/>
            <a:ext cx="5612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Critério mínimo: o notebook executa do início ao fim e passa nos casos 29, 30, 70 e 71.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TextBox 1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ca9be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TextBox 2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ca9be"/>
                </a:solidFill>
                <a:latin typeface="Lato"/>
              </a:rPr>
              <a:t>34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44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845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846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847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848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849" name="TextBox 7"/>
          <p:cNvSpPr/>
          <p:nvPr/>
        </p:nvSpPr>
        <p:spPr>
          <a:xfrm>
            <a:off x="4288320" y="768240"/>
            <a:ext cx="30531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Estrutura sugerida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TextBox 8"/>
          <p:cNvSpPr/>
          <p:nvPr/>
        </p:nvSpPr>
        <p:spPr>
          <a:xfrm>
            <a:off x="3612600" y="1307520"/>
            <a:ext cx="4350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Complete as partes marcadas sem copiar a solução inteira.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Rounded Rectangle 11"/>
          <p:cNvSpPr/>
          <p:nvPr/>
        </p:nvSpPr>
        <p:spPr>
          <a:xfrm>
            <a:off x="804600" y="1737360"/>
            <a:ext cx="6582960" cy="40226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5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54" name="TextBox 12"/>
          <p:cNvSpPr/>
          <p:nvPr/>
        </p:nvSpPr>
        <p:spPr>
          <a:xfrm>
            <a:off x="3723840" y="1847160"/>
            <a:ext cx="7441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5b6b86"/>
                </a:solidFill>
                <a:latin typeface="Lato"/>
              </a:rPr>
              <a:t>ESQUELETO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Box 13"/>
          <p:cNvSpPr/>
          <p:nvPr/>
        </p:nvSpPr>
        <p:spPr>
          <a:xfrm>
            <a:off x="2068200" y="2409840"/>
            <a:ext cx="4051440" cy="26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leituras = [18, 31, 45, 70, 82]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def classificar(valor):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# TODO: retornar A, B ou C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...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registros = []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for valor in leituras: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registros.append({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"valor_sensor": valor,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"estado_didatico": classificar(valor),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"qualidade": "OK"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    </a:t>
            </a: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})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50" spc="-1" strike="noStrike">
                <a:solidFill>
                  <a:srgbClr val="071a4a"/>
                </a:solidFill>
                <a:latin typeface="DejaVu Sans Mono"/>
              </a:rPr>
              <a:t>print(registros)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Rounded Rectangle 14"/>
          <p:cNvSpPr/>
          <p:nvPr/>
        </p:nvSpPr>
        <p:spPr>
          <a:xfrm>
            <a:off x="7754040" y="1828800"/>
            <a:ext cx="3272760" cy="367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57" name="TextBox 15"/>
          <p:cNvSpPr/>
          <p:nvPr/>
        </p:nvSpPr>
        <p:spPr>
          <a:xfrm>
            <a:off x="9094320" y="2147400"/>
            <a:ext cx="6285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Checklist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TextBox 16"/>
          <p:cNvSpPr/>
          <p:nvPr/>
        </p:nvSpPr>
        <p:spPr>
          <a:xfrm>
            <a:off x="8047440" y="263340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TextBox 17"/>
          <p:cNvSpPr/>
          <p:nvPr/>
        </p:nvSpPr>
        <p:spPr>
          <a:xfrm>
            <a:off x="8598600" y="2633400"/>
            <a:ext cx="18399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a função retorna um valor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TextBox 18"/>
          <p:cNvSpPr/>
          <p:nvPr/>
        </p:nvSpPr>
        <p:spPr>
          <a:xfrm>
            <a:off x="8047440" y="309060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TextBox 19"/>
          <p:cNvSpPr/>
          <p:nvPr/>
        </p:nvSpPr>
        <p:spPr>
          <a:xfrm>
            <a:off x="8424000" y="3090600"/>
            <a:ext cx="21891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o for processa todas as leituras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TextBox 20"/>
          <p:cNvSpPr/>
          <p:nvPr/>
        </p:nvSpPr>
        <p:spPr>
          <a:xfrm>
            <a:off x="8047440" y="354780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TextBox 21"/>
          <p:cNvSpPr/>
          <p:nvPr/>
        </p:nvSpPr>
        <p:spPr>
          <a:xfrm>
            <a:off x="8602200" y="3547800"/>
            <a:ext cx="183240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cada item é um dicionário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Box 22"/>
          <p:cNvSpPr/>
          <p:nvPr/>
        </p:nvSpPr>
        <p:spPr>
          <a:xfrm>
            <a:off x="8047440" y="400500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Box 23"/>
          <p:cNvSpPr/>
          <p:nvPr/>
        </p:nvSpPr>
        <p:spPr>
          <a:xfrm>
            <a:off x="8247960" y="4005000"/>
            <a:ext cx="25412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os quatro casos de fronteira passam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TextBox 24"/>
          <p:cNvSpPr/>
          <p:nvPr/>
        </p:nvSpPr>
        <p:spPr>
          <a:xfrm>
            <a:off x="8047440" y="4462200"/>
            <a:ext cx="162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450" spc="-1" strike="noStrike">
                <a:solidFill>
                  <a:srgbClr val="10b9f3"/>
                </a:solidFill>
                <a:latin typeface="Lato"/>
              </a:rPr>
              <a:t>•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TextBox 25"/>
          <p:cNvSpPr/>
          <p:nvPr/>
        </p:nvSpPr>
        <p:spPr>
          <a:xfrm>
            <a:off x="8430840" y="4462200"/>
            <a:ext cx="217548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071a4a"/>
                </a:solidFill>
                <a:latin typeface="Lato"/>
              </a:rPr>
              <a:t>você consegue explicar o fluxo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69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870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871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872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873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874" name="TextBox 7"/>
          <p:cNvSpPr/>
          <p:nvPr/>
        </p:nvSpPr>
        <p:spPr>
          <a:xfrm>
            <a:off x="2890080" y="768240"/>
            <a:ext cx="58496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Terminou antes? Aumente o desafio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TextBox 8"/>
          <p:cNvSpPr/>
          <p:nvPr/>
        </p:nvSpPr>
        <p:spPr>
          <a:xfrm>
            <a:off x="3415320" y="1307520"/>
            <a:ext cx="47448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As extensões são opcionais — primeiro valide a solução mínima.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36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Rounded Rectangle 11"/>
          <p:cNvSpPr/>
          <p:nvPr/>
        </p:nvSpPr>
        <p:spPr>
          <a:xfrm>
            <a:off x="877680" y="1956960"/>
            <a:ext cx="241344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9" name="TextBox 12"/>
          <p:cNvSpPr/>
          <p:nvPr/>
        </p:nvSpPr>
        <p:spPr>
          <a:xfrm>
            <a:off x="1568160" y="2075760"/>
            <a:ext cx="10324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1 · CONTADORES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TextBox 13"/>
          <p:cNvSpPr/>
          <p:nvPr/>
        </p:nvSpPr>
        <p:spPr>
          <a:xfrm>
            <a:off x="1239480" y="2700000"/>
            <a:ext cx="18201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conte quantas leituras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caem em A, B e C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Rounded Rectangle 14"/>
          <p:cNvSpPr/>
          <p:nvPr/>
        </p:nvSpPr>
        <p:spPr>
          <a:xfrm>
            <a:off x="3456360" y="1956960"/>
            <a:ext cx="241344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2" name="TextBox 15"/>
          <p:cNvSpPr/>
          <p:nvPr/>
        </p:nvSpPr>
        <p:spPr>
          <a:xfrm>
            <a:off x="4277160" y="2075760"/>
            <a:ext cx="771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2 · RANDOM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Box 16"/>
          <p:cNvSpPr/>
          <p:nvPr/>
        </p:nvSpPr>
        <p:spPr>
          <a:xfrm>
            <a:off x="3780000" y="2700000"/>
            <a:ext cx="184320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gere uma nova lista de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leituras sintéticas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Rounded Rectangle 17"/>
          <p:cNvSpPr/>
          <p:nvPr/>
        </p:nvSpPr>
        <p:spPr>
          <a:xfrm>
            <a:off x="6035040" y="1956960"/>
            <a:ext cx="241344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5" name="TextBox 18"/>
          <p:cNvSpPr/>
          <p:nvPr/>
        </p:nvSpPr>
        <p:spPr>
          <a:xfrm>
            <a:off x="6668280" y="2075760"/>
            <a:ext cx="11466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3 · IDENTIFICADOR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TextBox 19"/>
          <p:cNvSpPr/>
          <p:nvPr/>
        </p:nvSpPr>
        <p:spPr>
          <a:xfrm>
            <a:off x="6300000" y="2700000"/>
            <a:ext cx="186588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adicione id_dispositivo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a cada registro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Rounded Rectangle 20"/>
          <p:cNvSpPr/>
          <p:nvPr/>
        </p:nvSpPr>
        <p:spPr>
          <a:xfrm>
            <a:off x="8613720" y="1956960"/>
            <a:ext cx="241344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8" name="TextBox 21"/>
          <p:cNvSpPr/>
          <p:nvPr/>
        </p:nvSpPr>
        <p:spPr>
          <a:xfrm>
            <a:off x="9371160" y="2075760"/>
            <a:ext cx="8982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4 · VALIDAÇÃO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TextBox 22"/>
          <p:cNvSpPr/>
          <p:nvPr/>
        </p:nvSpPr>
        <p:spPr>
          <a:xfrm>
            <a:off x="9180000" y="2700000"/>
            <a:ext cx="120744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recuse valores 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071a4a"/>
                </a:solidFill>
                <a:latin typeface="Lato"/>
              </a:rPr>
              <a:t>fora de 0–100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Rounded Rectangle 23"/>
          <p:cNvSpPr/>
          <p:nvPr/>
        </p:nvSpPr>
        <p:spPr>
          <a:xfrm>
            <a:off x="1225440" y="4791600"/>
            <a:ext cx="9600480" cy="566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91" name="TextBox 24"/>
          <p:cNvSpPr/>
          <p:nvPr/>
        </p:nvSpPr>
        <p:spPr>
          <a:xfrm>
            <a:off x="3150720" y="4969800"/>
            <a:ext cx="5749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Regra: extensão só depois de a versão básica funcionar e os testes de fronteira passarem.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93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894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895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896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897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898" name="TextBox 7"/>
          <p:cNvSpPr/>
          <p:nvPr/>
        </p:nvSpPr>
        <p:spPr>
          <a:xfrm>
            <a:off x="4164840" y="768240"/>
            <a:ext cx="330012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Depurar é investigar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TextBox 8"/>
          <p:cNvSpPr/>
          <p:nvPr/>
        </p:nvSpPr>
        <p:spPr>
          <a:xfrm>
            <a:off x="2988360" y="1307520"/>
            <a:ext cx="55983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Quando o resultado não é o esperado, procure o erro de forma sistemática.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Rounded Rectangle 11"/>
          <p:cNvSpPr/>
          <p:nvPr/>
        </p:nvSpPr>
        <p:spPr>
          <a:xfrm>
            <a:off x="841320" y="1847160"/>
            <a:ext cx="5074200" cy="1032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03" name="TextBox 12"/>
          <p:cNvSpPr/>
          <p:nvPr/>
        </p:nvSpPr>
        <p:spPr>
          <a:xfrm>
            <a:off x="1260000" y="2176920"/>
            <a:ext cx="777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Tipo errado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TextBox 13"/>
          <p:cNvSpPr/>
          <p:nvPr/>
        </p:nvSpPr>
        <p:spPr>
          <a:xfrm>
            <a:off x="2574000" y="2160000"/>
            <a:ext cx="1277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input() ainda é str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TextBox 14"/>
          <p:cNvSpPr/>
          <p:nvPr/>
        </p:nvSpPr>
        <p:spPr>
          <a:xfrm>
            <a:off x="4206240" y="2160000"/>
            <a:ext cx="15433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→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use type() e converta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Rounded Rectangle 15"/>
          <p:cNvSpPr/>
          <p:nvPr/>
        </p:nvSpPr>
        <p:spPr>
          <a:xfrm>
            <a:off x="6373440" y="1847160"/>
            <a:ext cx="5074200" cy="1032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07" name="TextBox 16"/>
          <p:cNvSpPr/>
          <p:nvPr/>
        </p:nvSpPr>
        <p:spPr>
          <a:xfrm>
            <a:off x="6660000" y="2176920"/>
            <a:ext cx="748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Indentação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TextBox 17"/>
          <p:cNvSpPr/>
          <p:nvPr/>
        </p:nvSpPr>
        <p:spPr>
          <a:xfrm>
            <a:off x="7904880" y="2160000"/>
            <a:ext cx="138600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bloco saiu do if/for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TextBox 18"/>
          <p:cNvSpPr/>
          <p:nvPr/>
        </p:nvSpPr>
        <p:spPr>
          <a:xfrm>
            <a:off x="9510840" y="2160000"/>
            <a:ext cx="1704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→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compare o alinhamento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Rounded Rectangle 19"/>
          <p:cNvSpPr/>
          <p:nvPr/>
        </p:nvSpPr>
        <p:spPr>
          <a:xfrm>
            <a:off x="841320" y="3511440"/>
            <a:ext cx="5074200" cy="808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11" name="TextBox 20"/>
          <p:cNvSpPr/>
          <p:nvPr/>
        </p:nvSpPr>
        <p:spPr>
          <a:xfrm>
            <a:off x="1325160" y="3674520"/>
            <a:ext cx="640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72585"/>
                </a:solidFill>
                <a:latin typeface="Lato"/>
              </a:rPr>
              <a:t>Condição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TextBox 21"/>
          <p:cNvSpPr/>
          <p:nvPr/>
        </p:nvSpPr>
        <p:spPr>
          <a:xfrm>
            <a:off x="2507760" y="3657600"/>
            <a:ext cx="14025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= em vez de ==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ou ordem incorreta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TextBox 22"/>
          <p:cNvSpPr/>
          <p:nvPr/>
        </p:nvSpPr>
        <p:spPr>
          <a:xfrm>
            <a:off x="4251240" y="3657600"/>
            <a:ext cx="1445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→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teste 29/30/70/71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Rounded Rectangle 23"/>
          <p:cNvSpPr/>
          <p:nvPr/>
        </p:nvSpPr>
        <p:spPr>
          <a:xfrm>
            <a:off x="6373440" y="3511440"/>
            <a:ext cx="5074200" cy="808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15" name="TextBox 24"/>
          <p:cNvSpPr/>
          <p:nvPr/>
        </p:nvSpPr>
        <p:spPr>
          <a:xfrm>
            <a:off x="6660000" y="3674520"/>
            <a:ext cx="3646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725ac1"/>
                </a:solidFill>
                <a:latin typeface="Lato"/>
              </a:rPr>
              <a:t>Loop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TextBox 25"/>
          <p:cNvSpPr/>
          <p:nvPr/>
        </p:nvSpPr>
        <p:spPr>
          <a:xfrm>
            <a:off x="7515720" y="3657600"/>
            <a:ext cx="178056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250" spc="-1" strike="noStrike">
                <a:solidFill>
                  <a:srgbClr val="071a4a"/>
                </a:solidFill>
                <a:latin typeface="Lato"/>
              </a:rPr>
              <a:t>só parte da lógica repete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TextBox 26"/>
          <p:cNvSpPr/>
          <p:nvPr/>
        </p:nvSpPr>
        <p:spPr>
          <a:xfrm>
            <a:off x="9540000" y="3600000"/>
            <a:ext cx="18630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→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coloque o fluxo completo 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     </a:t>
            </a:r>
            <a:r>
              <a:rPr b="0" lang="pt-BR" sz="1130" spc="-1" strike="noStrike">
                <a:solidFill>
                  <a:srgbClr val="5b6b86"/>
                </a:solidFill>
                <a:latin typeface="Lato"/>
              </a:rPr>
              <a:t>dentro do laço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Rounded Rectangle 27"/>
          <p:cNvSpPr/>
          <p:nvPr/>
        </p:nvSpPr>
        <p:spPr>
          <a:xfrm>
            <a:off x="1097280" y="5193720"/>
            <a:ext cx="9801720" cy="566280"/>
          </a:xfrm>
          <a:prstGeom prst="roundRect">
            <a:avLst>
              <a:gd name="adj" fmla="val 16667"/>
            </a:avLst>
          </a:prstGeom>
          <a:solidFill>
            <a:srgbClr val="fff5e8"/>
          </a:solidFill>
          <a:ln w="12700">
            <a:solidFill>
              <a:srgbClr val="f5c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19" name="TextBox 28"/>
          <p:cNvSpPr/>
          <p:nvPr/>
        </p:nvSpPr>
        <p:spPr>
          <a:xfrm>
            <a:off x="2325600" y="5372280"/>
            <a:ext cx="73447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8a4a0a"/>
                </a:solidFill>
                <a:latin typeface="Lato"/>
              </a:rPr>
              <a:t>Pergunte sempre: qual valor está na variável? qual condição está sendo testada? quantas vezes esta linha executa?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TextBox 1"/>
          <p:cNvSpPr/>
          <p:nvPr/>
        </p:nvSpPr>
        <p:spPr>
          <a:xfrm>
            <a:off x="1785600" y="175320"/>
            <a:ext cx="24451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820" spc="-1" strike="noStrike">
                <a:solidFill>
                  <a:srgbClr val="91a0b6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21" name="Connector 2"/>
          <p:cNvCxnSpPr/>
          <p:nvPr/>
        </p:nvCxnSpPr>
        <p:spPr>
          <a:xfrm>
            <a:off x="676440" y="484560"/>
            <a:ext cx="2387520" cy="720"/>
          </a:xfrm>
          <a:prstGeom prst="straightConnector1">
            <a:avLst/>
          </a:prstGeom>
          <a:ln w="25400">
            <a:solidFill>
              <a:srgbClr val="f72585"/>
            </a:solidFill>
            <a:round/>
          </a:ln>
        </p:spPr>
      </p:cxnSp>
      <p:cxnSp>
        <p:nvCxnSpPr>
          <p:cNvPr id="922" name="Connector 3"/>
          <p:cNvCxnSpPr/>
          <p:nvPr/>
        </p:nvCxnSpPr>
        <p:spPr>
          <a:xfrm>
            <a:off x="3063240" y="484560"/>
            <a:ext cx="1738080" cy="720"/>
          </a:xfrm>
          <a:prstGeom prst="straightConnector1">
            <a:avLst/>
          </a:prstGeom>
          <a:ln w="25400">
            <a:solidFill>
              <a:srgbClr val="f36b21"/>
            </a:solidFill>
            <a:round/>
          </a:ln>
        </p:spPr>
      </p:cxnSp>
      <p:cxnSp>
        <p:nvCxnSpPr>
          <p:cNvPr id="923" name="Connector 4"/>
          <p:cNvCxnSpPr/>
          <p:nvPr/>
        </p:nvCxnSpPr>
        <p:spPr>
          <a:xfrm>
            <a:off x="4800600" y="484560"/>
            <a:ext cx="2195280" cy="720"/>
          </a:xfrm>
          <a:prstGeom prst="straightConnector1">
            <a:avLst/>
          </a:prstGeom>
          <a:ln w="25400">
            <a:solidFill>
              <a:srgbClr val="10b9f3"/>
            </a:solidFill>
            <a:round/>
          </a:ln>
        </p:spPr>
      </p:cxnSp>
      <p:cxnSp>
        <p:nvCxnSpPr>
          <p:cNvPr id="924" name="Connector 5"/>
          <p:cNvCxnSpPr/>
          <p:nvPr/>
        </p:nvCxnSpPr>
        <p:spPr>
          <a:xfrm>
            <a:off x="6995160" y="484560"/>
            <a:ext cx="3566880" cy="720"/>
          </a:xfrm>
          <a:prstGeom prst="straightConnector1">
            <a:avLst/>
          </a:prstGeom>
          <a:ln w="0">
            <a:solidFill>
              <a:srgbClr val="d6deea"/>
            </a:solidFill>
          </a:ln>
        </p:spPr>
      </p:cxnSp>
      <p:pic>
        <p:nvPicPr>
          <p:cNvPr id="925" name="Picture 6" descr="image.png"/>
          <p:cNvPicPr/>
          <p:nvPr/>
        </p:nvPicPr>
        <p:blipFill>
          <a:blip r:embed="rId1"/>
          <a:stretch/>
        </p:blipFill>
        <p:spPr>
          <a:xfrm>
            <a:off x="10113120" y="128160"/>
            <a:ext cx="1142280" cy="302400"/>
          </a:xfrm>
          <a:prstGeom prst="rect">
            <a:avLst/>
          </a:prstGeom>
          <a:ln w="0">
            <a:noFill/>
          </a:ln>
        </p:spPr>
      </p:pic>
      <p:sp>
        <p:nvSpPr>
          <p:cNvPr id="926" name="TextBox 7"/>
          <p:cNvSpPr/>
          <p:nvPr/>
        </p:nvSpPr>
        <p:spPr>
          <a:xfrm>
            <a:off x="3249720" y="768240"/>
            <a:ext cx="51303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Do Python aos próximos cursos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Box 8"/>
          <p:cNvSpPr/>
          <p:nvPr/>
        </p:nvSpPr>
        <p:spPr>
          <a:xfrm>
            <a:off x="3899160" y="1307520"/>
            <a:ext cx="37771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pt-BR" sz="1330" spc="-1" strike="noStrike">
                <a:solidFill>
                  <a:srgbClr val="5b6b86"/>
                </a:solidFill>
                <a:latin typeface="Lato"/>
              </a:rPr>
              <a:t>Você já tem o núcleo que será reutilizado na trilha.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9"/>
          <p:cNvSpPr/>
          <p:nvPr/>
        </p:nvSpPr>
        <p:spPr>
          <a:xfrm>
            <a:off x="3406320" y="6419160"/>
            <a:ext cx="2586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PR-02 · Aprendendo a Programar em Python para Saúde Digital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TextBox 10"/>
          <p:cNvSpPr/>
          <p:nvPr/>
        </p:nvSpPr>
        <p:spPr>
          <a:xfrm>
            <a:off x="11189160" y="6419160"/>
            <a:ext cx="160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Rounded Rectangle 11"/>
          <p:cNvSpPr/>
          <p:nvPr/>
        </p:nvSpPr>
        <p:spPr>
          <a:xfrm>
            <a:off x="868680" y="1965960"/>
            <a:ext cx="2395080" cy="1663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31" name="TextBox 12"/>
          <p:cNvSpPr/>
          <p:nvPr/>
        </p:nvSpPr>
        <p:spPr>
          <a:xfrm>
            <a:off x="1450800" y="2280240"/>
            <a:ext cx="123048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10b9f3"/>
                </a:solidFill>
                <a:latin typeface="Inter Display"/>
              </a:rPr>
              <a:t>Python básico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TextBox 13"/>
          <p:cNvSpPr/>
          <p:nvPr/>
        </p:nvSpPr>
        <p:spPr>
          <a:xfrm>
            <a:off x="1476720" y="2939400"/>
            <a:ext cx="117864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</a:rPr>
              <a:t>variáveis + regras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3" name="Connector 14"/>
          <p:cNvCxnSpPr/>
          <p:nvPr/>
        </p:nvCxnSpPr>
        <p:spPr>
          <a:xfrm>
            <a:off x="3291480" y="2788920"/>
            <a:ext cx="284400" cy="720"/>
          </a:xfrm>
          <a:prstGeom prst="straightConnector1">
            <a:avLst/>
          </a:prstGeom>
          <a:ln w="19050">
            <a:solidFill>
              <a:srgbClr val="91a0b6"/>
            </a:solidFill>
            <a:round/>
          </a:ln>
        </p:spPr>
      </p:cxnSp>
      <p:sp>
        <p:nvSpPr>
          <p:cNvPr id="934" name="Rounded Rectangle 15"/>
          <p:cNvSpPr/>
          <p:nvPr/>
        </p:nvSpPr>
        <p:spPr>
          <a:xfrm>
            <a:off x="3639240" y="1965960"/>
            <a:ext cx="2395080" cy="1663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35" name="TextBox 16"/>
          <p:cNvSpPr/>
          <p:nvPr/>
        </p:nvSpPr>
        <p:spPr>
          <a:xfrm>
            <a:off x="4423320" y="2280240"/>
            <a:ext cx="82656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f36b21"/>
                </a:solidFill>
                <a:latin typeface="Inter Display"/>
              </a:rPr>
              <a:t>Coleções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TextBox 17"/>
          <p:cNvSpPr/>
          <p:nvPr/>
        </p:nvSpPr>
        <p:spPr>
          <a:xfrm>
            <a:off x="4211640" y="2939400"/>
            <a:ext cx="125028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</a:rPr>
              <a:t>listas + dicionários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7" name="Connector 18"/>
          <p:cNvCxnSpPr/>
          <p:nvPr/>
        </p:nvCxnSpPr>
        <p:spPr>
          <a:xfrm>
            <a:off x="6062400" y="2788920"/>
            <a:ext cx="284040" cy="720"/>
          </a:xfrm>
          <a:prstGeom prst="straightConnector1">
            <a:avLst/>
          </a:prstGeom>
          <a:ln w="19050">
            <a:solidFill>
              <a:srgbClr val="91a0b6"/>
            </a:solidFill>
            <a:round/>
          </a:ln>
        </p:spPr>
      </p:cxnSp>
      <p:sp>
        <p:nvSpPr>
          <p:cNvPr id="938" name="Rounded Rectangle 19"/>
          <p:cNvSpPr/>
          <p:nvPr/>
        </p:nvSpPr>
        <p:spPr>
          <a:xfrm>
            <a:off x="6409800" y="1965960"/>
            <a:ext cx="2395080" cy="1663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39" name="TextBox 20"/>
          <p:cNvSpPr/>
          <p:nvPr/>
        </p:nvSpPr>
        <p:spPr>
          <a:xfrm>
            <a:off x="7312680" y="2280240"/>
            <a:ext cx="58896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725ac1"/>
                </a:solidFill>
                <a:latin typeface="Inter Display"/>
              </a:rPr>
              <a:t>PR-03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TextBox 21"/>
          <p:cNvSpPr/>
          <p:nvPr/>
        </p:nvSpPr>
        <p:spPr>
          <a:xfrm>
            <a:off x="7036200" y="2939400"/>
            <a:ext cx="11419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</a:rPr>
              <a:t>Pandas + tabelas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41" name="Connector 22"/>
          <p:cNvCxnSpPr/>
          <p:nvPr/>
        </p:nvCxnSpPr>
        <p:spPr>
          <a:xfrm>
            <a:off x="8832960" y="2788920"/>
            <a:ext cx="284040" cy="720"/>
          </a:xfrm>
          <a:prstGeom prst="straightConnector1">
            <a:avLst/>
          </a:prstGeom>
          <a:ln w="19050">
            <a:solidFill>
              <a:srgbClr val="91a0b6"/>
            </a:solidFill>
            <a:round/>
          </a:ln>
        </p:spPr>
      </p:cxnSp>
      <p:sp>
        <p:nvSpPr>
          <p:cNvPr id="942" name="Rounded Rectangle 23"/>
          <p:cNvSpPr/>
          <p:nvPr/>
        </p:nvSpPr>
        <p:spPr>
          <a:xfrm>
            <a:off x="9180720" y="1965960"/>
            <a:ext cx="2395080" cy="1663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43" name="TextBox 24"/>
          <p:cNvSpPr/>
          <p:nvPr/>
        </p:nvSpPr>
        <p:spPr>
          <a:xfrm>
            <a:off x="10080720" y="2280240"/>
            <a:ext cx="59508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f72585"/>
                </a:solidFill>
                <a:latin typeface="Inter Display"/>
              </a:rPr>
              <a:t>PR-04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TextBox 25"/>
          <p:cNvSpPr/>
          <p:nvPr/>
        </p:nvSpPr>
        <p:spPr>
          <a:xfrm>
            <a:off x="9671400" y="2939400"/>
            <a:ext cx="1413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</a:rPr>
              <a:t>dados em tempo real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TextBox 26"/>
          <p:cNvSpPr/>
          <p:nvPr/>
        </p:nvSpPr>
        <p:spPr>
          <a:xfrm>
            <a:off x="1385280" y="4250520"/>
            <a:ext cx="10688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QUIZ DE SAÍDA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TextBox 27"/>
          <p:cNvSpPr/>
          <p:nvPr/>
        </p:nvSpPr>
        <p:spPr>
          <a:xfrm>
            <a:off x="780480" y="4590360"/>
            <a:ext cx="10234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Explique em 3 frases: qual é a entrada, qual é o processamento e qual é a saída do seu programa?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Rounded Rectangle 28"/>
          <p:cNvSpPr/>
          <p:nvPr/>
        </p:nvSpPr>
        <p:spPr>
          <a:xfrm>
            <a:off x="2907720" y="5486400"/>
            <a:ext cx="6354360" cy="34668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48" name="TextBox 29"/>
          <p:cNvSpPr/>
          <p:nvPr/>
        </p:nvSpPr>
        <p:spPr>
          <a:xfrm>
            <a:off x="3912120" y="5556600"/>
            <a:ext cx="434556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7360" rIns="2736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</a:rPr>
              <a:t>Você não precisa memorizar tudo. Precisa saber reconhecer, testar e adaptar.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</TotalTime>
  <Application>LibreOffice/24.2.7.2$Linux_X86_64 LibreOffice_project/420$Build-2</Application>
  <AppVersion>15.0000</AppVersion>
  <Words>0</Words>
  <Paragraphs>0</Paragraphs>
  <Company>Projeto Ocean - Residência em TIC 53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2026-09-10T18:13:50Z</dcterms:created>
  <dc:creator>Prof. Dr. Guillermo Alvarez Bestard</dc:creator>
  <dc:description/>
  <dc:language>pt-BR</dc:language>
  <cp:lastModifiedBy/>
  <dcterms:modified xsi:type="dcterms:W3CDTF">2026-10-09T22:29:41Z</dcterms:modified>
  <cp:revision>16</cp:revision>
  <dc:subject>PR-01 - Lógica de Programação Aplicada à Saúde com Scratch</dc:subject>
  <dc:title>PR-01 - Lógica de Programação Aplicada à Saúde com Scratch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35</vt:i4>
  </property>
  <property fmtid="{D5CDD505-2E9C-101B-9397-08002B2CF9AE}" pid="3" name="PresentationFormat">
    <vt:lpwstr>On-screen Show (16:9)</vt:lpwstr>
  </property>
  <property fmtid="{D5CDD505-2E9C-101B-9397-08002B2CF9AE}" pid="4" name="Slides">
    <vt:i4>35</vt:i4>
  </property>
</Properties>
</file>