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-182880" y="960120"/>
            <a:ext cx="685800" cy="589788"/>
          </a:xfrm>
          <a:prstGeom prst="hexagon">
            <a:avLst/>
          </a:prstGeom>
          <a:noFill/>
          <a:ln w="1524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1475720" y="1600200"/>
            <a:ext cx="658368" cy="566196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744200" y="5257800"/>
            <a:ext cx="566928" cy="487558"/>
          </a:xfrm>
          <a:prstGeom prst="hexagon">
            <a:avLst/>
          </a:prstGeom>
          <a:noFill/>
          <a:ln w="1524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411480" y="5349240"/>
            <a:ext cx="502920" cy="432511"/>
          </a:xfrm>
          <a:prstGeom prst="hexagon">
            <a:avLst/>
          </a:prstGeom>
          <a:noFill/>
          <a:ln w="1524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092440" y="-91440"/>
            <a:ext cx="548640" cy="471830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37744"/>
            <a:ext cx="1033271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0896"/>
            <a:ext cx="768096" cy="253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3840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0B9F3"/>
                </a:solidFill>
                <a:latin typeface="Lato"/>
              </a:rPr>
              <a:t>PR-04 · TRILHA PROGRAMAÇÃO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9784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50" b="1" i="0">
                <a:solidFill>
                  <a:srgbClr val="FFFFFF"/>
                </a:solidFill>
                <a:latin typeface="Inter Display"/>
              </a:rPr>
              <a:t>Python Aplicado à Saúde 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98755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CED8EA"/>
                </a:solidFill>
                <a:latin typeface="Lato"/>
              </a:rPr>
              <a:t>Monitoramento de dados de saúde em tempo real com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640080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64808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07792"/>
            <a:ext cx="71323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ED8EA"/>
                </a:solidFill>
                <a:latin typeface="Lato"/>
              </a:rPr>
              <a:t>Aquisição, processamento e visualização de sinais biométricos em tempo real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886200"/>
            <a:ext cx="960120" cy="347472"/>
          </a:xfrm>
          <a:prstGeom prst="round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904487"/>
            <a:ext cx="96012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Lato"/>
              </a:rPr>
              <a:t>3 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56231" y="3886200"/>
            <a:ext cx="1417320" cy="347472"/>
          </a:xfrm>
          <a:prstGeom prst="round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56231" y="3904487"/>
            <a:ext cx="141732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Lato"/>
              </a:rPr>
              <a:t>Google Colab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0712" y="3886200"/>
            <a:ext cx="1874519" cy="347472"/>
          </a:xfrm>
          <a:prstGeom prst="round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0712" y="3904487"/>
            <a:ext cx="1874519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Lato"/>
              </a:rPr>
              <a:t>Firebase Realtime 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22392" y="3886200"/>
            <a:ext cx="1417320" cy="347472"/>
          </a:xfrm>
          <a:prstGeom prst="roundRect">
            <a:avLst/>
          </a:prstGeom>
          <a:solidFill>
            <a:srgbClr val="725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22392" y="3904487"/>
            <a:ext cx="141732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Lato"/>
              </a:rPr>
              <a:t>saúde 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690872"/>
            <a:ext cx="69494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Lato"/>
              </a:rPr>
              <a:t>Prof. Dr. Guillermo Alvarez Bestard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029200"/>
            <a:ext cx="72237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19" b="0" i="0">
                <a:solidFill>
                  <a:srgbClr val="91A0B6"/>
                </a:solidFill>
                <a:latin typeface="Lato"/>
              </a:rPr>
              <a:t>Universidade de Brasília · Projeto Ocean · Residência em TIC 53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21040" y="4434840"/>
            <a:ext cx="2651760" cy="0"/>
          </a:xfrm>
          <a:prstGeom prst="line">
            <a:avLst/>
          </a:prstGeom>
          <a:ln w="27940">
            <a:solidFill>
              <a:srgbClr val="10B9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0" y="4736592"/>
            <a:ext cx="25603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CED8EA"/>
                </a:solidFill>
                <a:latin typeface="Lato"/>
              </a:rPr>
              <a:t>do sinal ao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O desafio do 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Uma fonte produz dados continuamente; vários participantes precisam observar e processar o mesmo fluxo.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00200"/>
            <a:ext cx="4892040" cy="1993392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1600200"/>
            <a:ext cx="50292" cy="1993392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728216"/>
            <a:ext cx="4617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Situação-problema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093976"/>
            <a:ext cx="4599431" cy="1399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5B6B86"/>
                </a:solidFill>
                <a:latin typeface="Lato"/>
              </a:rPr>
              <a:t>Uma única fonte de dados gera sinais biométricos continuamente. Vários participantes precisam receber o mesmo fluxo e analisá-lo ao mesmo tempo.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931920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5" y="3858768"/>
            <a:ext cx="46634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20" b="0" i="0">
                <a:solidFill>
                  <a:srgbClr val="14213D"/>
                </a:solidFill>
                <a:latin typeface="Lato"/>
              </a:rPr>
              <a:t>Como representar e publicar os sinais com Python?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370831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4297679"/>
            <a:ext cx="46634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20" b="0" i="0">
                <a:solidFill>
                  <a:srgbClr val="14213D"/>
                </a:solidFill>
                <a:latin typeface="Lato"/>
              </a:rPr>
              <a:t>Como distribuir o mesmo fluxo para todos?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809744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4736592"/>
            <a:ext cx="46634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20" b="0" i="0">
                <a:solidFill>
                  <a:srgbClr val="14213D"/>
                </a:solidFill>
                <a:latin typeface="Lato"/>
              </a:rPr>
              <a:t>Como processar, visualizar e armazenar em tempo real?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691640"/>
            <a:ext cx="2057400" cy="685800"/>
          </a:xfrm>
          <a:prstGeom prst="roundRect">
            <a:avLst/>
          </a:prstGeom>
          <a:solidFill>
            <a:srgbClr val="F8FBFE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1691640"/>
            <a:ext cx="50292" cy="68580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1819656"/>
            <a:ext cx="1783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Inter Display"/>
              </a:rPr>
              <a:t>Fonte biométrica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2743200"/>
            <a:ext cx="2057400" cy="685800"/>
          </a:xfrm>
          <a:prstGeom prst="roundRect">
            <a:avLst/>
          </a:prstGeom>
          <a:solidFill>
            <a:srgbClr val="FFF8F2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2743200"/>
            <a:ext cx="50292" cy="685800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2871216"/>
            <a:ext cx="1783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Inter Display"/>
              </a:rPr>
              <a:t>Firebase RTDB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4096512"/>
            <a:ext cx="1353312" cy="566928"/>
          </a:xfrm>
          <a:prstGeom prst="roundRect">
            <a:avLst/>
          </a:prstGeom>
          <a:solidFill>
            <a:srgbClr val="FFFDF5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0" y="4096512"/>
            <a:ext cx="50292" cy="566928"/>
          </a:xfrm>
          <a:prstGeom prst="rect">
            <a:avLst/>
          </a:prstGeom>
          <a:solidFill>
            <a:srgbClr val="F7B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9592" y="4224528"/>
            <a:ext cx="10789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Inter Display"/>
              </a:rPr>
              <a:t>Colab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79792" y="4096512"/>
            <a:ext cx="1353312" cy="566928"/>
          </a:xfrm>
          <a:prstGeom prst="roundRect">
            <a:avLst/>
          </a:prstGeom>
          <a:solidFill>
            <a:srgbClr val="FFFDF5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79792" y="4096512"/>
            <a:ext cx="50292" cy="566928"/>
          </a:xfrm>
          <a:prstGeom prst="rect">
            <a:avLst/>
          </a:prstGeom>
          <a:solidFill>
            <a:srgbClr val="F7B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44383" y="4224528"/>
            <a:ext cx="10789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Inter Display"/>
              </a:rPr>
              <a:t>Colab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4096512"/>
            <a:ext cx="1353312" cy="566928"/>
          </a:xfrm>
          <a:prstGeom prst="roundRect">
            <a:avLst/>
          </a:prstGeom>
          <a:solidFill>
            <a:srgbClr val="FFFDF5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4096512"/>
            <a:ext cx="50292" cy="566928"/>
          </a:xfrm>
          <a:prstGeom prst="rect">
            <a:avLst/>
          </a:prstGeom>
          <a:solidFill>
            <a:srgbClr val="F7B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0032" y="4224528"/>
            <a:ext cx="10789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Inter Display"/>
              </a:rPr>
              <a:t>Colab 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79792" y="2377440"/>
            <a:ext cx="0" cy="347472"/>
          </a:xfrm>
          <a:prstGeom prst="line">
            <a:avLst/>
          </a:prstGeom>
          <a:ln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382512" y="3438144"/>
            <a:ext cx="1097280" cy="649224"/>
          </a:xfrm>
          <a:prstGeom prst="line">
            <a:avLst/>
          </a:prstGeom>
          <a:ln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79792" y="3438144"/>
            <a:ext cx="658368" cy="649224"/>
          </a:xfrm>
          <a:prstGeom prst="line">
            <a:avLst/>
          </a:prstGeom>
          <a:ln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79792" y="3438144"/>
            <a:ext cx="2414016" cy="649224"/>
          </a:xfrm>
          <a:prstGeom prst="line">
            <a:avLst/>
          </a:prstGeom>
          <a:ln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97280" y="5605272"/>
            <a:ext cx="9875520" cy="475488"/>
          </a:xfrm>
          <a:prstGeom prst="roundRect">
            <a:avLst/>
          </a:prstGeom>
          <a:solidFill>
            <a:srgbClr val="FFF6FA"/>
          </a:solidFill>
          <a:ln>
            <a:solidFill>
              <a:srgbClr val="F8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E72B76"/>
                </a:solidFill>
                <a:latin typeface="Lato"/>
              </a:rPr>
              <a:t>Pergunta-guia: </a:t>
            </a:r>
            <a:r>
              <a:rPr sz="1400" b="1" i="0">
                <a:solidFill>
                  <a:srgbClr val="14213D"/>
                </a:solidFill>
                <a:latin typeface="Lato"/>
              </a:rPr>
              <a:t>como transformar um sinal físico em um fluxo de dados útil com Python?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O que vamos construir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Um notebook Python independente para cada participante.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162763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1554480"/>
            <a:ext cx="46634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40" b="0" i="0">
                <a:solidFill>
                  <a:srgbClr val="14213D"/>
                </a:solidFill>
                <a:latin typeface="Lato"/>
              </a:rPr>
              <a:t>Abrir o ambiente no Google Colab.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066543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1993391"/>
            <a:ext cx="46634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40" b="0" i="0">
                <a:solidFill>
                  <a:srgbClr val="14213D"/>
                </a:solidFill>
                <a:latin typeface="Lato"/>
              </a:rPr>
              <a:t>Ler dados do Firebase Realtime Database.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2505456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5" y="2432303"/>
            <a:ext cx="46634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40" b="0" i="0">
                <a:solidFill>
                  <a:srgbClr val="14213D"/>
                </a:solidFill>
                <a:latin typeface="Lato"/>
              </a:rPr>
              <a:t>Manter uma janela temporal em memória.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2944368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871215"/>
            <a:ext cx="46634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40" b="0" i="0">
                <a:solidFill>
                  <a:srgbClr val="14213D"/>
                </a:solidFill>
                <a:latin typeface="Lato"/>
              </a:rPr>
              <a:t>Visualizar os sinais continuamente.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3383279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3310127"/>
            <a:ext cx="46634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40" b="0" i="0">
                <a:solidFill>
                  <a:srgbClr val="14213D"/>
                </a:solidFill>
                <a:latin typeface="Lato"/>
              </a:rPr>
              <a:t>Aplicar processamento simples.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3822191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3749039"/>
            <a:ext cx="466344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440" b="0" i="0">
                <a:solidFill>
                  <a:srgbClr val="14213D"/>
                </a:solidFill>
                <a:latin typeface="Lato"/>
              </a:rPr>
              <a:t>Armazenar as amostras em CSV.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617720"/>
            <a:ext cx="4892040" cy="841248"/>
          </a:xfrm>
          <a:prstGeom prst="roundRect">
            <a:avLst/>
          </a:prstGeom>
          <a:solidFill>
            <a:srgbClr val="FFF4F9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617720"/>
            <a:ext cx="50292" cy="84124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745736"/>
            <a:ext cx="4617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Produto final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111496"/>
            <a:ext cx="4599431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80" b="0" i="0">
                <a:solidFill>
                  <a:srgbClr val="5B6B86"/>
                </a:solidFill>
                <a:latin typeface="Lato"/>
              </a:rPr>
              <a:t>Um notebook Python independente para cada participante.</a:t>
            </a:r>
          </a:p>
        </p:txBody>
      </p:sp>
      <p:pic>
        <p:nvPicPr>
          <p:cNvPr id="28" name="Picture 27" descr="plots_ecg_p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627632"/>
            <a:ext cx="5212080" cy="29372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36208" y="4590288"/>
            <a:ext cx="4983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 i="0">
                <a:solidFill>
                  <a:srgbClr val="5B6B86"/>
                </a:solidFill>
                <a:latin typeface="Lato"/>
              </a:rPr>
              <a:t>ECG: sinal elétrico do coração.
PPG IR/vermelho: sinais ópticos pulsáteis.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5138928"/>
            <a:ext cx="49834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60" b="0" i="0">
                <a:solidFill>
                  <a:srgbClr val="14213D"/>
                </a:solidFill>
                <a:latin typeface="Lato"/>
              </a:rPr>
              <a:t>ECG ← eletrodos/equipamento ECG    PPG ← oxímetro/sensor óptico/wearable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De onde podem vir os sinais?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Contexto fisiológico suficiente para compreender os dados — sem objetivo diagnóstico.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490472"/>
            <a:ext cx="5266944" cy="4133087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1490472"/>
            <a:ext cx="50292" cy="4133087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618488"/>
            <a:ext cx="4992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ECG — atividade elétrica cardíaca</a:t>
            </a:r>
          </a:p>
        </p:txBody>
      </p:sp>
      <p:pic>
        <p:nvPicPr>
          <p:cNvPr id="15" name="Picture 14" descr="ecg_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221992"/>
            <a:ext cx="1463040" cy="109728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2606040" y="1929384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6" y="1856231"/>
            <a:ext cx="2999232" cy="6949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Como é medido: eletrodos na pele captam diferenças de potencial produzidas pela atividade elétrica do coração.</a:t>
            </a:r>
          </a:p>
        </p:txBody>
      </p:sp>
      <p:sp>
        <p:nvSpPr>
          <p:cNvPr id="18" name="Oval 17"/>
          <p:cNvSpPr/>
          <p:nvPr/>
        </p:nvSpPr>
        <p:spPr>
          <a:xfrm>
            <a:off x="2606040" y="2624328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9776" y="2551176"/>
            <a:ext cx="2999232" cy="6949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Fontes possíveis: ECG de repouso, monitor multiparamétrico, Holter/event monitor ou AFE (Analog Front-End)/sensor com eletrodos.</a:t>
            </a:r>
          </a:p>
        </p:txBody>
      </p:sp>
      <p:sp>
        <p:nvSpPr>
          <p:cNvPr id="20" name="Oval 19"/>
          <p:cNvSpPr/>
          <p:nvPr/>
        </p:nvSpPr>
        <p:spPr>
          <a:xfrm>
            <a:off x="2606040" y="331927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3246120"/>
            <a:ext cx="2999232" cy="6949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Uso clínico: auxilia a avaliar frequência, ritmo e condução elétrica e pode mostrar padrões relevantes para arritmias e outras alterações cardíacas.</a:t>
            </a:r>
          </a:p>
        </p:txBody>
      </p:sp>
      <p:sp>
        <p:nvSpPr>
          <p:cNvPr id="22" name="Oval 21"/>
          <p:cNvSpPr/>
          <p:nvPr/>
        </p:nvSpPr>
        <p:spPr>
          <a:xfrm>
            <a:off x="2606040" y="4014215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9776" y="3941063"/>
            <a:ext cx="2999232" cy="6949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Faixa de frequências entre 0,5 Hz e 40 Hz.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1490472"/>
            <a:ext cx="5266944" cy="4133087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1344" y="1490472"/>
            <a:ext cx="50292" cy="4133087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1618488"/>
            <a:ext cx="4992624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PPG — pulso óptico periférico</a:t>
            </a:r>
          </a:p>
        </p:txBody>
      </p:sp>
      <p:pic>
        <p:nvPicPr>
          <p:cNvPr id="27" name="Picture 26" descr="pulse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267712"/>
            <a:ext cx="1325880" cy="821853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8001000" y="1929384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1856231"/>
            <a:ext cx="2999232" cy="6949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Como é medido: LEDs e fotodetector acompanham mudanças pulsáteis na luz transmitida/refletida pelo tecido.</a:t>
            </a:r>
          </a:p>
        </p:txBody>
      </p:sp>
      <p:sp>
        <p:nvSpPr>
          <p:cNvPr id="30" name="Oval 29"/>
          <p:cNvSpPr/>
          <p:nvPr/>
        </p:nvSpPr>
        <p:spPr>
          <a:xfrm>
            <a:off x="8001000" y="2624328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6" y="2551176"/>
            <a:ext cx="2999232" cy="6949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Fontes possíveis: oxímetro de dedo, sensor MAX30102, relógio/wearable ou outro módulo PPG.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3319272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3246120"/>
            <a:ext cx="2999232" cy="6949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Uso clínico: fornece frequência de pulso; em um oxímetro calibrado, os canais vermelho e infravermelho também são usados para estimar SpO₂.</a:t>
            </a:r>
          </a:p>
        </p:txBody>
      </p:sp>
      <p:sp>
        <p:nvSpPr>
          <p:cNvPr id="34" name="Oval 33"/>
          <p:cNvSpPr/>
          <p:nvPr/>
        </p:nvSpPr>
        <p:spPr>
          <a:xfrm>
            <a:off x="8001000" y="4014215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3941063"/>
            <a:ext cx="2999232" cy="6949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Faixa de frequências entre 0,5 Hz e 5 Hz.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5806440"/>
            <a:ext cx="10515600" cy="420624"/>
          </a:xfrm>
          <a:prstGeom prst="roundRect">
            <a:avLst/>
          </a:prstGeom>
          <a:solidFill>
            <a:srgbClr val="FFF6FA"/>
          </a:solidFill>
          <a:ln>
            <a:solidFill>
              <a:srgbClr val="F8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150" b="1" i="0">
                <a:solidFill>
                  <a:srgbClr val="E72B76"/>
                </a:solidFill>
                <a:latin typeface="Lato"/>
              </a:rPr>
              <a:t>No curso: </a:t>
            </a:r>
            <a:r>
              <a:rPr sz="1150" b="0" i="0">
                <a:solidFill>
                  <a:srgbClr val="14213D"/>
                </a:solidFill>
                <a:latin typeface="Lato"/>
              </a:rPr>
              <a:t>trabalhamos com ECG e PPG brutos sintéticos; não calcularemos SpO₂ nem faremos interpretação diagnóstica.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Ruído e artefatos: o que pode aparecer nos sinais?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444752"/>
            <a:ext cx="5257800" cy="3584448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444752"/>
            <a:ext cx="50292" cy="358444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72768"/>
            <a:ext cx="4983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ECG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194767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1874519"/>
            <a:ext cx="4572000" cy="6583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Deriva de base: respiração, movimento ou contato pele–eletrodo → a linha de base sobe e desce lentamente.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2606039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2532887"/>
            <a:ext cx="4572000" cy="6583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Movimento / músculo: tremor e atividade muscular → oscilações irregulares e picos falsos.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3264407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3191255"/>
            <a:ext cx="4572000" cy="6583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Rede elétrica: acoplamento de 50/60 Hz → ondulação rápida sobre o traçado.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3922775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3849623"/>
            <a:ext cx="4572000" cy="6583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Saturação: limite do AFE/ADC ou ganho excessivo → picos ficam “cortados”.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1444752"/>
            <a:ext cx="5257800" cy="3584448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0488" y="1444752"/>
            <a:ext cx="50292" cy="358444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1572768"/>
            <a:ext cx="4983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PPG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1947672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4536" y="1874519"/>
            <a:ext cx="4526280" cy="6583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Movimento: dedo/pulso/sensor se desloca → o artefato pode se confundir com o próprio pulso.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2606039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2532887"/>
            <a:ext cx="4526280" cy="6583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Contato / pressão: sensor frouxo ou muito apertado → muda amplitude e forma.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3264407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3191255"/>
            <a:ext cx="4526280" cy="6583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Luz ambiente: luz alcança o fotodetector → offset, oscilação ou saturação.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3922775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74536" y="3849623"/>
            <a:ext cx="4526280" cy="6583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Baixa perfusão / condições locais: temperatura, esmalte e outros fatores podem degradar medidas derivadas.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5257800"/>
            <a:ext cx="10515600" cy="658368"/>
          </a:xfrm>
          <a:prstGeom prst="roundRect">
            <a:avLst/>
          </a:prstGeom>
          <a:solidFill>
            <a:srgbClr val="FFF6FA"/>
          </a:solidFill>
          <a:ln>
            <a:solidFill>
              <a:srgbClr val="F8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200" b="1" i="0">
                <a:solidFill>
                  <a:srgbClr val="E72B76"/>
                </a:solidFill>
                <a:latin typeface="Lato"/>
              </a:rPr>
              <a:t>Efeito sobre a análise: </a:t>
            </a:r>
            <a:r>
              <a:rPr sz="1200" b="0" i="0">
                <a:solidFill>
                  <a:srgbClr val="14213D"/>
                </a:solidFill>
                <a:latin typeface="Lato"/>
              </a:rPr>
              <a:t>artefatos podem ocultar eventos, criar falsos picos, deslocar a linha de base ou gerar valores derivados incorretos. </a:t>
            </a:r>
            <a:r>
              <a:rPr sz="1200" b="1" i="0">
                <a:solidFill>
                  <a:srgbClr val="14213D"/>
                </a:solidFill>
                <a:latin typeface="Lato"/>
              </a:rPr>
              <a:t>Qualidade do sinal vem antes da interpretação.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Saúde Digital: do sinal ao dado útil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1965960"/>
            <a:ext cx="1863547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75688"/>
            <a:ext cx="1735531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Inter Display"/>
              </a:rPr>
              <a:t>Sinal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69387" y="239572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070555" y="1965960"/>
            <a:ext cx="1863547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4563" y="2075688"/>
            <a:ext cx="1735531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Inter Display"/>
              </a:rPr>
              <a:t>Aquisição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52390" y="239572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53558" y="1965960"/>
            <a:ext cx="1863547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7566" y="2075688"/>
            <a:ext cx="1735531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Inter Display"/>
              </a:rPr>
              <a:t>Distribuição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35393" y="239572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36561" y="1965960"/>
            <a:ext cx="1863547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00569" y="2075688"/>
            <a:ext cx="1735531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Inter Display"/>
              </a:rPr>
              <a:t>Python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18396" y="239572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19564" y="1965960"/>
            <a:ext cx="1863547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3572" y="2075688"/>
            <a:ext cx="1735531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14213D"/>
                </a:solidFill>
                <a:latin typeface="Inter Display"/>
              </a:rPr>
              <a:t>Informação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703320"/>
            <a:ext cx="3246120" cy="114300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3703320"/>
            <a:ext cx="50292" cy="114300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1" y="3831335"/>
            <a:ext cx="2971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Medir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" y="4197096"/>
            <a:ext cx="295351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B6B86"/>
                </a:solidFill>
                <a:latin typeface="Lato"/>
              </a:rPr>
              <a:t>Converter um fenômeno em dados digitais.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703320"/>
            <a:ext cx="3246120" cy="114300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60" y="3703320"/>
            <a:ext cx="50292" cy="114300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3831335"/>
            <a:ext cx="2971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Processar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4197096"/>
            <a:ext cx="295351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B6B86"/>
                </a:solidFill>
                <a:latin typeface="Lato"/>
              </a:rPr>
              <a:t>Organizar, filtrar e extrair características.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703320"/>
            <a:ext cx="3246120" cy="114300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3703320"/>
            <a:ext cx="50292" cy="114300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3831335"/>
            <a:ext cx="2971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Interpretar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4197096"/>
            <a:ext cx="295351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B6B86"/>
                </a:solidFill>
                <a:latin typeface="Lato"/>
              </a:rPr>
              <a:t>Exige contexto e validação. Hoje não faremos diagnóstico.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Arquitetura desta edição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ECG e PPG são sintéticos, gerados em Python e distribuídos pela nuvem.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" y="2057400"/>
            <a:ext cx="1890979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67128"/>
            <a:ext cx="1762963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Inter Display"/>
              </a:rPr>
              <a:t>Python
gerador sintético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51099" y="248716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52267" y="2057400"/>
            <a:ext cx="1890979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6275" y="2167128"/>
            <a:ext cx="1762963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Inter Display"/>
              </a:rPr>
              <a:t>Firebase
Realtime DB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61534" y="248716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2702" y="2057400"/>
            <a:ext cx="1890979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7B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6710" y="2167128"/>
            <a:ext cx="1762963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Inter Display"/>
              </a:rPr>
              <a:t>Colab
Aluno 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71969" y="248716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73137" y="2057400"/>
            <a:ext cx="1890979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7B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7145" y="2167128"/>
            <a:ext cx="1762963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Inter Display"/>
              </a:rPr>
              <a:t>Colab
Aluno 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82404" y="248716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383572" y="2057400"/>
            <a:ext cx="1890979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7B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47580" y="2167128"/>
            <a:ext cx="1762963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Inter Display"/>
              </a:rPr>
              <a:t>Colab
Aluno 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4069080"/>
            <a:ext cx="10104120" cy="822960"/>
          </a:xfrm>
          <a:prstGeom prst="roundRect">
            <a:avLst/>
          </a:prstGeom>
          <a:solidFill>
            <a:srgbClr val="EEF4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350" b="1" i="0">
                <a:solidFill>
                  <a:srgbClr val="10B9F3"/>
                </a:solidFill>
                <a:latin typeface="Lato"/>
              </a:rPr>
              <a:t>Neste curso: </a:t>
            </a:r>
            <a:r>
              <a:rPr sz="1350" b="0" i="0">
                <a:solidFill>
                  <a:srgbClr val="14213D"/>
                </a:solidFill>
                <a:latin typeface="Lato"/>
              </a:rPr>
              <a:t>ECG e PPG são sintéticos, gerados em Python e publicados em tempo real. Cada participante recebe o mesmo fluxo e trabalha de forma independente no próprio Colab.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Modos do gerador sintético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As falhas são simulações didáticas, não modelos clínicos completos.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508760"/>
            <a:ext cx="5166360" cy="224028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1508760"/>
            <a:ext cx="50292" cy="224028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636776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Forma do sinal</a:t>
            </a:r>
          </a:p>
        </p:txBody>
      </p:sp>
      <p:sp>
        <p:nvSpPr>
          <p:cNvPr id="15" name="Oval 14"/>
          <p:cNvSpPr/>
          <p:nvPr/>
        </p:nvSpPr>
        <p:spPr>
          <a:xfrm>
            <a:off x="941832" y="1975104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1901952"/>
            <a:ext cx="4498848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NORMAL: traçado estável de referência.</a:t>
            </a:r>
          </a:p>
        </p:txBody>
      </p:sp>
      <p:sp>
        <p:nvSpPr>
          <p:cNvPr id="17" name="Oval 16"/>
          <p:cNvSpPr/>
          <p:nvPr/>
        </p:nvSpPr>
        <p:spPr>
          <a:xfrm>
            <a:off x="941832" y="2331720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258568"/>
            <a:ext cx="4498848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NOISE: “granulado” rápido → ruído eletrônico/muscular.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2688336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2615184"/>
            <a:ext cx="4498848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BASELINE: linha de base deriva lentamente → respiração/contato.</a:t>
            </a:r>
          </a:p>
        </p:txBody>
      </p:sp>
      <p:sp>
        <p:nvSpPr>
          <p:cNvPr id="21" name="Oval 20"/>
          <p:cNvSpPr/>
          <p:nvPr/>
        </p:nvSpPr>
        <p:spPr>
          <a:xfrm>
            <a:off x="941832" y="304495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2971800"/>
            <a:ext cx="4498848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MOTION: oscilações irregulares → movimento do paciente/sensor.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977639"/>
            <a:ext cx="5166360" cy="1115568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3977639"/>
            <a:ext cx="50292" cy="111556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05655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Eventos transitórios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71416"/>
            <a:ext cx="487375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80" b="0" i="0">
                <a:solidFill>
                  <a:srgbClr val="5B6B86"/>
                </a:solidFill>
                <a:latin typeface="Lato"/>
              </a:rPr>
              <a:t>SPIKE: pico isolado muito alto → transiente de contato/cabo/interferência.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508760"/>
            <a:ext cx="5166360" cy="2395728"/>
          </a:xfrm>
          <a:prstGeom prst="roundRect">
            <a:avLst/>
          </a:prstGeom>
          <a:solidFill>
            <a:srgbClr val="FFF8F2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508760"/>
            <a:ext cx="50292" cy="239572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1636776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Faixa e qualidade da amostra</a:t>
            </a:r>
          </a:p>
        </p:txBody>
      </p:sp>
      <p:sp>
        <p:nvSpPr>
          <p:cNvPr id="30" name="Oval 29"/>
          <p:cNvSpPr/>
          <p:nvPr/>
        </p:nvSpPr>
        <p:spPr>
          <a:xfrm>
            <a:off x="6382512" y="1993392"/>
            <a:ext cx="100584" cy="100584"/>
          </a:xfrm>
          <a:prstGeom prst="ellipse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1920240"/>
            <a:ext cx="4480559" cy="4937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CLIPPING: topo/fundo achatado → saturação; informação perdida.</a:t>
            </a:r>
          </a:p>
        </p:txBody>
      </p:sp>
      <p:sp>
        <p:nvSpPr>
          <p:cNvPr id="32" name="Oval 31"/>
          <p:cNvSpPr/>
          <p:nvPr/>
        </p:nvSpPr>
        <p:spPr>
          <a:xfrm>
            <a:off x="6382512" y="2487168"/>
            <a:ext cx="100584" cy="100584"/>
          </a:xfrm>
          <a:prstGeom prst="ellipse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2414016"/>
            <a:ext cx="4480559" cy="4937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OUTLIER: ponto extremo isolado → falha pontual de medição/transferência.</a:t>
            </a:r>
          </a:p>
        </p:txBody>
      </p:sp>
      <p:sp>
        <p:nvSpPr>
          <p:cNvPr id="34" name="Oval 33"/>
          <p:cNvSpPr/>
          <p:nvPr/>
        </p:nvSpPr>
        <p:spPr>
          <a:xfrm>
            <a:off x="6382512" y="2980944"/>
            <a:ext cx="100584" cy="100584"/>
          </a:xfrm>
          <a:prstGeom prst="ellipse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2907792"/>
            <a:ext cx="4480559" cy="4937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DROPOUT: salto em seq e lacuna temporal → pacote não recebido/publicado.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160520"/>
            <a:ext cx="5166360" cy="132588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4160520"/>
            <a:ext cx="50292" cy="132588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4288536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Uso no curso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4654296"/>
            <a:ext cx="4873752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80" b="0" i="0">
                <a:solidFill>
                  <a:srgbClr val="5B6B86"/>
                </a:solidFill>
                <a:latin typeface="Lato"/>
              </a:rPr>
              <a:t>Começamos em NORMAL. Os checkpoints 5, 6 e 7 indicarão quando mudar o modo.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A fonte de dados é intercambiável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1572768"/>
            <a:ext cx="4754880" cy="233172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" y="1572768"/>
            <a:ext cx="50292" cy="233172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1700784"/>
            <a:ext cx="4480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4213D"/>
                </a:solidFill>
                <a:latin typeface="Inter Display"/>
              </a:rPr>
              <a:t>Fonte usada no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066543"/>
            <a:ext cx="4462272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5B6B86"/>
                </a:solidFill>
                <a:latin typeface="Lato"/>
              </a:rPr>
              <a:t>Python sintético
↓
mesmo contrato de dados
↓
Firebase RTDB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572768"/>
            <a:ext cx="4754880" cy="233172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1572768"/>
            <a:ext cx="50292" cy="233172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1700784"/>
            <a:ext cx="4480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4213D"/>
                </a:solidFill>
                <a:latin typeface="Inter Display"/>
              </a:rPr>
              <a:t>Fonte real alternativa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2066543"/>
            <a:ext cx="4462272" cy="1737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5B6B86"/>
                </a:solidFill>
                <a:latin typeface="Lato"/>
              </a:rPr>
              <a:t>Sensores + ESP32-S3
↓
mesmo contrato de dados
↓
Firebase RTDB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325112"/>
            <a:ext cx="10104120" cy="868680"/>
          </a:xfrm>
          <a:prstGeom prst="roundRect">
            <a:avLst/>
          </a:prstGeom>
          <a:solidFill>
            <a:srgbClr val="EEF4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350" b="1" i="0">
                <a:solidFill>
                  <a:srgbClr val="10B9F3"/>
                </a:solidFill>
                <a:latin typeface="Lato"/>
              </a:rPr>
              <a:t>Contrato de dados: </a:t>
            </a:r>
            <a:r>
              <a:rPr sz="1350" b="0" i="0">
                <a:solidFill>
                  <a:srgbClr val="14213D"/>
                </a:solidFill>
                <a:latin typeface="Lato"/>
              </a:rPr>
              <a:t>o trabalho do aluno depende do esquema recebido (session_id, seq, sample_start, fs, ECG e PPG), e não de como esses dados foram produzidos.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Onde o Python entra?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1874519"/>
            <a:ext cx="1603248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984248"/>
            <a:ext cx="147523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70" b="1" i="0">
                <a:solidFill>
                  <a:srgbClr val="14213D"/>
                </a:solidFill>
                <a:latin typeface="Inter Display"/>
              </a:rPr>
              <a:t>Ler
Firebase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80488" y="2304287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81656" y="1874519"/>
            <a:ext cx="1603248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5664" y="1984248"/>
            <a:ext cx="147523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70" b="1" i="0">
                <a:solidFill>
                  <a:srgbClr val="14213D"/>
                </a:solidFill>
                <a:latin typeface="Inter Display"/>
              </a:rPr>
              <a:t>Validar
bloco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3192" y="2304287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04360" y="1874519"/>
            <a:ext cx="1603248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8368" y="1984248"/>
            <a:ext cx="147523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70" b="1" i="0">
                <a:solidFill>
                  <a:srgbClr val="14213D"/>
                </a:solidFill>
                <a:latin typeface="Inter Display"/>
              </a:rPr>
              <a:t>Buffer
temporal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25896" y="2304287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27064" y="1874519"/>
            <a:ext cx="1603248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984248"/>
            <a:ext cx="147523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70" b="1" i="0">
                <a:solidFill>
                  <a:srgbClr val="14213D"/>
                </a:solidFill>
                <a:latin typeface="Inter Display"/>
              </a:rPr>
              <a:t>Processamento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48600" y="2304287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49768" y="1874519"/>
            <a:ext cx="1603248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3776" y="1984248"/>
            <a:ext cx="147523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70" b="1" i="0">
                <a:solidFill>
                  <a:srgbClr val="14213D"/>
                </a:solidFill>
                <a:latin typeface="Inter Display"/>
              </a:rPr>
              <a:t>Visualização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71304" y="2304287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72472" y="1874519"/>
            <a:ext cx="1603248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6480" y="1984248"/>
            <a:ext cx="147523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70" b="1" i="0">
                <a:solidFill>
                  <a:srgbClr val="14213D"/>
                </a:solidFill>
                <a:latin typeface="Inter Display"/>
              </a:rPr>
              <a:t>Armazenamento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3794760"/>
            <a:ext cx="4663440" cy="1207008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1560" y="3794760"/>
            <a:ext cx="50292" cy="120700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6151" y="3922776"/>
            <a:ext cx="4389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Infraestrutura pronta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1" y="4288536"/>
            <a:ext cx="4370831" cy="612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70" b="0" i="0">
                <a:solidFill>
                  <a:srgbClr val="5B6B86"/>
                </a:solidFill>
                <a:latin typeface="Lato"/>
              </a:rPr>
              <a:t>Gerador/publicador Python e configuração do Firebase são preparados antes da aula.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794760"/>
            <a:ext cx="4663440" cy="1207008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3794760"/>
            <a:ext cx="50292" cy="120700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1" y="3922776"/>
            <a:ext cx="4389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Laboratório do aluno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1" y="4288536"/>
            <a:ext cx="4370831" cy="612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70" b="0" i="0">
                <a:solidFill>
                  <a:srgbClr val="5B6B86"/>
                </a:solidFill>
                <a:latin typeface="Lato"/>
              </a:rPr>
              <a:t>O notebook Colab evolui por checkpoints, sem instalação local.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Google Colab: Python no navegador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490472"/>
            <a:ext cx="5669280" cy="1993392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490472"/>
            <a:ext cx="50292" cy="1993392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618488"/>
            <a:ext cx="5394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O que é?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984248"/>
            <a:ext cx="5376672" cy="1399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 i="0">
                <a:solidFill>
                  <a:srgbClr val="5B6B86"/>
                </a:solidFill>
                <a:latin typeface="Lato"/>
              </a:rPr>
              <a:t>O Google Colab é um ambiente de notebooks Jupyter hospedado na nuvem. Ele permite escrever e executar Python diretamente no navegador, sem instalar Python ou configurar um ambiente local.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822191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3749039"/>
            <a:ext cx="5212080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80" b="0" i="0">
                <a:solidFill>
                  <a:srgbClr val="14213D"/>
                </a:solidFill>
                <a:latin typeface="Lato"/>
              </a:rPr>
              <a:t>um notebook mistura texto, código e resultados;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423367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" y="4160520"/>
            <a:ext cx="5212080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80" b="0" i="0">
                <a:solidFill>
                  <a:srgbClr val="14213D"/>
                </a:solidFill>
                <a:latin typeface="Lato"/>
              </a:rPr>
              <a:t>o código roda em um ambiente de execução remoto;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64515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4572000"/>
            <a:ext cx="5212080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80" b="0" i="0">
                <a:solidFill>
                  <a:srgbClr val="14213D"/>
                </a:solidFill>
                <a:latin typeface="Lato"/>
              </a:rPr>
              <a:t>gráficos, tabelas e mensagens aparecem logo abaixo das células;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505663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4983480"/>
            <a:ext cx="5212080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80" b="0" i="0">
                <a:solidFill>
                  <a:srgbClr val="14213D"/>
                </a:solidFill>
                <a:latin typeface="Lato"/>
              </a:rPr>
              <a:t>o arquivo .ipynb pode ser aberto, copiado e salvo no Google Drive.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1847088"/>
            <a:ext cx="3310128" cy="1554480"/>
          </a:xfrm>
          <a:prstGeom prst="roundRect">
            <a:avLst/>
          </a:prstGeom>
          <a:solidFill>
            <a:srgbClr val="FFFDF5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1847088"/>
            <a:ext cx="50292" cy="1554480"/>
          </a:xfrm>
          <a:prstGeom prst="rect">
            <a:avLst/>
          </a:prstGeom>
          <a:solidFill>
            <a:srgbClr val="F7B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5512" y="1975104"/>
            <a:ext cx="303580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Notebook Colab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2340864"/>
            <a:ext cx="3017520" cy="9601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Texto: objetivo da etapa
x = np.arange(10)
plt.plot(x, x**2)
Saída: gráfico, tabela, mensagem...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27264" y="3886200"/>
            <a:ext cx="2395728" cy="804672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27264" y="3886200"/>
            <a:ext cx="50292" cy="804672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4014215"/>
            <a:ext cx="212140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4213D"/>
                </a:solidFill>
                <a:latin typeface="Inter Display"/>
              </a:rPr>
              <a:t>Runtime 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4379976"/>
            <a:ext cx="2103120" cy="2103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0" i="0">
                <a:solidFill>
                  <a:srgbClr val="5B6B86"/>
                </a:solidFill>
                <a:latin typeface="Lato"/>
              </a:rPr>
              <a:t>executado na nuvem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Como usaremos o Colab neste curso?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12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153619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1463040"/>
            <a:ext cx="5943600" cy="5577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80" b="0" i="0">
                <a:solidFill>
                  <a:srgbClr val="14213D"/>
                </a:solidFill>
                <a:latin typeface="Lato"/>
              </a:rPr>
              <a:t>Abrir o notebook do checkpoint correspondente.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093976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2020824"/>
            <a:ext cx="5943600" cy="5577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80" b="0" i="0">
                <a:solidFill>
                  <a:srgbClr val="14213D"/>
                </a:solidFill>
                <a:latin typeface="Lato"/>
              </a:rPr>
              <a:t>Executar as células na ordem, usando o botão Run ou Shift+Enter.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651760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2578608"/>
            <a:ext cx="5943600" cy="5577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80" b="0" i="0">
                <a:solidFill>
                  <a:srgbClr val="14213D"/>
                </a:solidFill>
                <a:latin typeface="Lato"/>
              </a:rPr>
              <a:t>Observar as saídas: dicionários JSON, mensagens, gráficos e tabelas.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209544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" y="3136391"/>
            <a:ext cx="5943600" cy="5577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80" b="0" i="0">
                <a:solidFill>
                  <a:srgbClr val="14213D"/>
                </a:solidFill>
                <a:latin typeface="Lato"/>
              </a:rPr>
              <a:t>Alterar apenas os trechos indicados no exercício e executar novamente.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767328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" y="3694176"/>
            <a:ext cx="5943600" cy="5577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80" b="0" i="0">
                <a:solidFill>
                  <a:srgbClr val="14213D"/>
                </a:solidFill>
                <a:latin typeface="Lato"/>
              </a:rPr>
              <a:t>Nos checkpoints de fluxo, deixar a célula de leitura ativa e interromper a execução quando solicitado.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600200"/>
            <a:ext cx="3611880" cy="1417320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CE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8664" y="1700784"/>
            <a:ext cx="3319272" cy="12161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19" b="0" i="0">
                <a:solidFill>
                  <a:srgbClr val="14213D"/>
                </a:solidFill>
                <a:latin typeface="DejaVu Sans Mono"/>
              </a:rPr>
              <a:t>import sys
import numpy as np
import requests
import matplotlib.pyplot as plt
FIREBASE_URL = "https://..."
STREAM_PATH = "oficina/live"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401568"/>
            <a:ext cx="3611880" cy="1426464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3401568"/>
            <a:ext cx="50292" cy="1426464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3529584"/>
            <a:ext cx="3337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Importante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3895344"/>
            <a:ext cx="3319272" cy="8321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40" b="0" i="0">
                <a:solidFill>
                  <a:srgbClr val="5B6B86"/>
                </a:solidFill>
                <a:latin typeface="Lato"/>
              </a:rPr>
              <a:t>O runtime do Colab é temporário. Se ele reiniciar, as variáveis e dados mantidos apenas em memória são perdidos e as células precisam ser executadas novamente.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Firebase Realtime Database: um banco JSON na nuvem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490472"/>
            <a:ext cx="5852160" cy="1956816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490472"/>
            <a:ext cx="50292" cy="1956816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618488"/>
            <a:ext cx="5577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O que é?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984248"/>
            <a:ext cx="5559552" cy="1362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0" i="0">
                <a:solidFill>
                  <a:srgbClr val="5B6B86"/>
                </a:solidFill>
                <a:latin typeface="Lato"/>
              </a:rPr>
              <a:t>O Firebase Realtime Database é um banco de dados hospedado na nuvem no qual os dados são organizados como uma árvore JSON e podem ser sincronizados em tempo real com clientes conectados.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77647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3703320"/>
            <a:ext cx="5486400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cada caminho da árvore identifica um conjunto de dados;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4133087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" y="4059935"/>
            <a:ext cx="5486400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os dados podem ser lidos por SDKs ou pela API REST — estilo de arquitetura para comunicação usando HTTP;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489703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4416551"/>
            <a:ext cx="5486400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alterações podem ser entregues continuamente aos clientes;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46319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4773167"/>
            <a:ext cx="5486400" cy="3566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14213D"/>
                </a:solidFill>
                <a:latin typeface="Lato"/>
              </a:rPr>
              <a:t>regras de segurança definem quem pode ler e escrever.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1737360"/>
            <a:ext cx="1508760" cy="512064"/>
          </a:xfrm>
          <a:prstGeom prst="roundRect">
            <a:avLst/>
          </a:prstGeom>
          <a:solidFill>
            <a:srgbClr val="FFF8F2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26679" y="1737360"/>
            <a:ext cx="50292" cy="512064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1865376"/>
            <a:ext cx="123443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Inter Display"/>
              </a:rPr>
              <a:t>oficina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2468880"/>
            <a:ext cx="1508760" cy="512064"/>
          </a:xfrm>
          <a:prstGeom prst="roundRect">
            <a:avLst/>
          </a:prstGeom>
          <a:solidFill>
            <a:srgbClr val="FFF8F2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26679" y="2468880"/>
            <a:ext cx="50292" cy="512064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2596896"/>
            <a:ext cx="123443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Inter Display"/>
              </a:rPr>
              <a:t>live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3337560"/>
            <a:ext cx="1143000" cy="512064"/>
          </a:xfrm>
          <a:prstGeom prst="roundRect">
            <a:avLst/>
          </a:prstGeom>
          <a:solidFill>
            <a:srgbClr val="FFFDF5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7960" y="3337560"/>
            <a:ext cx="50292" cy="512064"/>
          </a:xfrm>
          <a:prstGeom prst="rect">
            <a:avLst/>
          </a:prstGeom>
          <a:solidFill>
            <a:srgbClr val="F7B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3465576"/>
            <a:ext cx="868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4213D"/>
                </a:solidFill>
                <a:latin typeface="Inter Display"/>
              </a:rPr>
              <a:t>ecg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3337560"/>
            <a:ext cx="1143000" cy="512064"/>
          </a:xfrm>
          <a:prstGeom prst="roundRect">
            <a:avLst/>
          </a:prstGeom>
          <a:solidFill>
            <a:srgbClr val="FFFDF5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3337560"/>
            <a:ext cx="50292" cy="512064"/>
          </a:xfrm>
          <a:prstGeom prst="rect">
            <a:avLst/>
          </a:prstGeom>
          <a:solidFill>
            <a:srgbClr val="F7B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4152" y="3465576"/>
            <a:ext cx="868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4213D"/>
                </a:solidFill>
                <a:latin typeface="Inter Display"/>
              </a:rPr>
              <a:t>ppg_ir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60" y="3337560"/>
            <a:ext cx="1143000" cy="512064"/>
          </a:xfrm>
          <a:prstGeom prst="roundRect">
            <a:avLst/>
          </a:prstGeom>
          <a:solidFill>
            <a:srgbClr val="FFFDF5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81160" y="3337560"/>
            <a:ext cx="50292" cy="512064"/>
          </a:xfrm>
          <a:prstGeom prst="rect">
            <a:avLst/>
          </a:prstGeom>
          <a:solidFill>
            <a:srgbClr val="F7B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45752" y="3465576"/>
            <a:ext cx="868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4213D"/>
                </a:solidFill>
                <a:latin typeface="Inter Display"/>
              </a:rPr>
              <a:t>ppg_red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85632" y="2249424"/>
            <a:ext cx="0" cy="210312"/>
          </a:xfrm>
          <a:prstGeom prst="line">
            <a:avLst/>
          </a:prstGeom>
          <a:ln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114032" y="2980944"/>
            <a:ext cx="1371600" cy="338328"/>
          </a:xfrm>
          <a:prstGeom prst="line">
            <a:avLst/>
          </a:prstGeom>
          <a:ln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485632" y="2980944"/>
            <a:ext cx="0" cy="338328"/>
          </a:xfrm>
          <a:prstGeom prst="line">
            <a:avLst/>
          </a:prstGeom>
          <a:ln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85632" y="2980944"/>
            <a:ext cx="1371600" cy="338328"/>
          </a:xfrm>
          <a:prstGeom prst="line">
            <a:avLst/>
          </a:prstGeom>
          <a:ln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720840" y="4297680"/>
            <a:ext cx="3931920" cy="713232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20840" y="4297680"/>
            <a:ext cx="50292" cy="713232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85431" y="4425696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4213D"/>
                </a:solidFill>
                <a:latin typeface="Inter Display"/>
              </a:rPr>
              <a:t>Neste curso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85431" y="4791456"/>
            <a:ext cx="3639312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B6B86"/>
                </a:solidFill>
                <a:latin typeface="Lato"/>
              </a:rPr>
              <a:t>/oficina/live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Como usaremos o Firebase nos exemplos?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417320"/>
            <a:ext cx="5239512" cy="251460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417320"/>
            <a:ext cx="50292" cy="251460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45336"/>
            <a:ext cx="49651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1. Primeira leitura: 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" y="1938528"/>
            <a:ext cx="4828032" cy="93268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CE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039112"/>
            <a:ext cx="4535424" cy="7315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40" b="0" i="0">
                <a:solidFill>
                  <a:srgbClr val="14213D"/>
                </a:solidFill>
                <a:latin typeface="DejaVu Sans Mono"/>
              </a:rPr>
              <a:t>url = f"{FIREBASE_URL}/oficina/live.json"
r = requests.get(url, timeout=10)
pacote = r.json()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63240"/>
            <a:ext cx="47548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40" b="0" i="0">
                <a:solidFill>
                  <a:srgbClr val="5B6B86"/>
                </a:solidFill>
                <a:latin typeface="Lato"/>
              </a:rPr>
              <a:t>Um GET obtém o pacote que está armazenado naquele instante.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417320"/>
            <a:ext cx="5239512" cy="251460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417320"/>
            <a:ext cx="50292" cy="251460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545336"/>
            <a:ext cx="49651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2. Fluxo contínuo: 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1938528"/>
            <a:ext cx="4828032" cy="93268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CE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39112"/>
            <a:ext cx="4535424" cy="7315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14213D"/>
                </a:solidFill>
                <a:latin typeface="DejaVu Sans Mono"/>
              </a:rPr>
              <a:t>headers = {
  "Accept": "text/event-stream"
}
r = requests.get(
    url, headers=headers,
    stream=True)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063240"/>
            <a:ext cx="47548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40" b="0" i="0">
                <a:solidFill>
                  <a:srgbClr val="5B6B86"/>
                </a:solidFill>
                <a:latin typeface="Lato"/>
              </a:rPr>
              <a:t>A conexão permanece aberta e o Firebase envia as mudanças conforme elas ocorrem.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315968"/>
            <a:ext cx="2673096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92807" y="4425696"/>
            <a:ext cx="254508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4213D"/>
                </a:solidFill>
                <a:latin typeface="Inter Display"/>
              </a:rPr>
              <a:t>Publicador
escreve pacotes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20184" y="4745736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21352" y="4315968"/>
            <a:ext cx="2673096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5360" y="4425696"/>
            <a:ext cx="254508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4213D"/>
                </a:solidFill>
                <a:latin typeface="Inter Display"/>
              </a:rPr>
              <a:t>Firebase
/oficina/live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12735" y="4745736"/>
            <a:ext cx="182881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13904" y="4315968"/>
            <a:ext cx="2673096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7B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77912" y="4425696"/>
            <a:ext cx="254508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4213D"/>
                </a:solidFill>
                <a:latin typeface="Inter Display"/>
              </a:rPr>
              <a:t>Colab do aluno
lê e processa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5605272"/>
            <a:ext cx="9875520" cy="475488"/>
          </a:xfrm>
          <a:prstGeom prst="roundRect">
            <a:avLst/>
          </a:prstGeom>
          <a:solidFill>
            <a:srgbClr val="FFF6FA"/>
          </a:solidFill>
          <a:ln>
            <a:solidFill>
              <a:srgbClr val="F8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60" b="1" i="0">
                <a:solidFill>
                  <a:srgbClr val="E72B76"/>
                </a:solidFill>
                <a:latin typeface="Lato"/>
              </a:rPr>
              <a:t>Regra do curso: </a:t>
            </a:r>
            <a:r>
              <a:rPr sz="1160" b="0" i="0">
                <a:solidFill>
                  <a:srgbClr val="14213D"/>
                </a:solidFill>
                <a:latin typeface="Lato"/>
              </a:rPr>
              <a:t>os alunos usam o banco em leitura; somente o publicador controlado pelo instrutor escreve os pacotes.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Material entregue aos participantes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417320"/>
            <a:ext cx="6510528" cy="4443984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417320"/>
            <a:ext cx="50292" cy="4443984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45336"/>
            <a:ext cx="623620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Notebooks do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911095"/>
            <a:ext cx="6217920" cy="3849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60" b="0" i="0">
                <a:solidFill>
                  <a:srgbClr val="5B6B86"/>
                </a:solidFill>
                <a:latin typeface="Lato"/>
              </a:rPr>
              <a:t>checkpoint_00_ambiente_colab.ipynb
checkpoint_01_primeira_leitura_firebase.ipynb
checkpoint_02_fluxo_sse.ipynb
checkpoint_03_buffer_tempo_aquisicao.ipynb
checkpoint_04_visualizacao_sse.ipynb
checkpoint_05_processamento_ecg.ipynb
checkpoint_06_cliente_completo.ipynb
checkpoint_07_desafio_processamento.ipynb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417320"/>
            <a:ext cx="3840480" cy="146304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1417320"/>
            <a:ext cx="50292" cy="146304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545336"/>
            <a:ext cx="3566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Publicador sintético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1911095"/>
            <a:ext cx="3547872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5B6B86"/>
                </a:solidFill>
                <a:latin typeface="Lato"/>
              </a:rPr>
              <a:t>publicador_sintetico_firebase_colab.ipynb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172968"/>
            <a:ext cx="3840480" cy="2267712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43800" y="3172968"/>
            <a:ext cx="50292" cy="2267712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8392" y="3300984"/>
            <a:ext cx="3566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Importante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3666744"/>
            <a:ext cx="3547872" cy="1673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B6B86"/>
                </a:solidFill>
                <a:latin typeface="Lato"/>
              </a:rPr>
              <a:t>A cópia entregue aos alunos gera e mostra os pacotes localmente, mas a publicação no Firebase fica desabilitada. Um único publicador, controlado pelo instrutor, alimenta o banco durante o curso.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Links do 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Os endereços abaixo podem ser substituídos pela versão definitiva antes da oferta.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1783080"/>
            <a:ext cx="2871216" cy="2048256"/>
          </a:xfrm>
          <a:prstGeom prst="roundRect">
            <a:avLst/>
          </a:prstGeom>
          <a:solidFill>
            <a:srgbClr val="F9FBFE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1783080"/>
            <a:ext cx="50292" cy="2048256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1911095"/>
            <a:ext cx="25968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Google Colab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2276856"/>
            <a:ext cx="2578608" cy="1453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 i="0">
                <a:solidFill>
                  <a:srgbClr val="5B6B86"/>
                </a:solidFill>
                <a:latin typeface="Lato"/>
              </a:rPr>
              <a:t>https://colab.research.google.com/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55064" y="4096512"/>
            <a:ext cx="1298448" cy="411480"/>
          </a:xfrm>
          <a:prstGeom prst="round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55064" y="4114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Lato"/>
              </a:rPr>
              <a:t>Abrir Colab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78808" y="1783080"/>
            <a:ext cx="2871216" cy="2048256"/>
          </a:xfrm>
          <a:prstGeom prst="roundRect">
            <a:avLst/>
          </a:prstGeom>
          <a:solidFill>
            <a:srgbClr val="F9FBFE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78808" y="1783080"/>
            <a:ext cx="50292" cy="2048256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911095"/>
            <a:ext cx="25968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Firebase — dados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276856"/>
            <a:ext cx="2578608" cy="1453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 i="0">
                <a:solidFill>
                  <a:srgbClr val="5B6B86"/>
                </a:solidFill>
                <a:latin typeface="Lato"/>
              </a:rPr>
              <a:t>https://oficina-python-saude-teste-default-rtdb.firebaseio.com/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65192" y="4096512"/>
            <a:ext cx="1298448" cy="411480"/>
          </a:xfrm>
          <a:prstGeom prst="round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65192" y="4114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Lato"/>
              </a:rPr>
              <a:t>Ver banco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783080"/>
            <a:ext cx="2871216" cy="2048256"/>
          </a:xfrm>
          <a:prstGeom prst="roundRect">
            <a:avLst/>
          </a:prstGeom>
          <a:solidFill>
            <a:srgbClr val="F9FBFE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1783080"/>
            <a:ext cx="50292" cy="2048256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1" y="1911095"/>
            <a:ext cx="259689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Materiais no Drive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2276856"/>
            <a:ext cx="2578608" cy="1453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 i="0">
                <a:solidFill>
                  <a:srgbClr val="5B6B86"/>
                </a:solidFill>
                <a:latin typeface="Lato"/>
              </a:rPr>
              <a:t>https://drive.google.com/drive/folders/1E9b1Lwt3am7QmKsQM-t1VLBO3VT5u6TP?usp=sharing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84463" y="4096512"/>
            <a:ext cx="1298448" cy="411480"/>
          </a:xfrm>
          <a:prstGeom prst="round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3" y="4114800"/>
            <a:ext cx="12984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Lato"/>
              </a:rPr>
              <a:t>Abrir pasta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4864608"/>
            <a:ext cx="8503920" cy="713232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0" y="4864608"/>
            <a:ext cx="50292" cy="713232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93392" y="4992624"/>
            <a:ext cx="8229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4213D"/>
                </a:solidFill>
                <a:latin typeface="Inter Display"/>
              </a:rPr>
              <a:t>URL usada pelos notebooks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93392" y="5358384"/>
            <a:ext cx="8211312" cy="118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0" i="0">
                <a:solidFill>
                  <a:srgbClr val="5B6B86"/>
                </a:solidFill>
                <a:latin typeface="Lato"/>
              </a:rPr>
              <a:t>https://oficina-python-saude-teste-default-rtdb.firebaseio.com/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Como os dados aparecem no Firebase?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17</a:t>
            </a:r>
          </a:p>
        </p:txBody>
      </p:sp>
      <p:pic>
        <p:nvPicPr>
          <p:cNvPr id="11" name="Picture 10" descr="firebase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36192"/>
            <a:ext cx="6144768" cy="441118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0" y="1627632"/>
            <a:ext cx="3520440" cy="64008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627632"/>
            <a:ext cx="50292" cy="64008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1755648"/>
            <a:ext cx="3246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4213D"/>
                </a:solidFill>
                <a:latin typeface="Inter Display"/>
              </a:rPr>
              <a:t>Caminho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2121408"/>
            <a:ext cx="3227832" cy="457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5B6B86"/>
                </a:solidFill>
                <a:latin typeface="Lato"/>
              </a:rPr>
              <a:t>/oficina/live</a:t>
            </a:r>
          </a:p>
        </p:txBody>
      </p:sp>
      <p:sp>
        <p:nvSpPr>
          <p:cNvPr id="16" name="Oval 15"/>
          <p:cNvSpPr/>
          <p:nvPr/>
        </p:nvSpPr>
        <p:spPr>
          <a:xfrm>
            <a:off x="7296912" y="2615184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8" y="2542032"/>
            <a:ext cx="3657600" cy="4754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40" b="0" i="0">
                <a:solidFill>
                  <a:srgbClr val="14213D"/>
                </a:solidFill>
                <a:latin typeface="Lato"/>
              </a:rPr>
              <a:t>ecg, ppg_ir, ppg_red: vetores de amostras;</a:t>
            </a:r>
          </a:p>
        </p:txBody>
      </p:sp>
      <p:sp>
        <p:nvSpPr>
          <p:cNvPr id="18" name="Oval 17"/>
          <p:cNvSpPr/>
          <p:nvPr/>
        </p:nvSpPr>
        <p:spPr>
          <a:xfrm>
            <a:off x="7296912" y="309067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3017520"/>
            <a:ext cx="3657600" cy="4754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40" b="0" i="0">
                <a:solidFill>
                  <a:srgbClr val="14213D"/>
                </a:solidFill>
                <a:latin typeface="Lato"/>
              </a:rPr>
              <a:t>fs, n: frequência e tamanho do pacote;</a:t>
            </a:r>
          </a:p>
        </p:txBody>
      </p:sp>
      <p:sp>
        <p:nvSpPr>
          <p:cNvPr id="20" name="Oval 19"/>
          <p:cNvSpPr/>
          <p:nvPr/>
        </p:nvSpPr>
        <p:spPr>
          <a:xfrm>
            <a:off x="7296912" y="3566160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3493008"/>
            <a:ext cx="3657600" cy="4754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40" b="0" i="0">
                <a:solidFill>
                  <a:srgbClr val="14213D"/>
                </a:solidFill>
                <a:latin typeface="Lato"/>
              </a:rPr>
              <a:t>sample_start, seq, session_id: continuidade e sessão;</a:t>
            </a:r>
          </a:p>
        </p:txBody>
      </p:sp>
      <p:sp>
        <p:nvSpPr>
          <p:cNvPr id="22" name="Oval 21"/>
          <p:cNvSpPr/>
          <p:nvPr/>
        </p:nvSpPr>
        <p:spPr>
          <a:xfrm>
            <a:off x="7296912" y="4041648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3968496"/>
            <a:ext cx="3657600" cy="4754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40" b="0" i="0">
                <a:solidFill>
                  <a:srgbClr val="14213D"/>
                </a:solidFill>
                <a:latin typeface="Lato"/>
              </a:rPr>
              <a:t>source, timestamp_pub: origem e instante de publicação;</a:t>
            </a:r>
          </a:p>
        </p:txBody>
      </p:sp>
      <p:sp>
        <p:nvSpPr>
          <p:cNvPr id="24" name="Oval 23"/>
          <p:cNvSpPr/>
          <p:nvPr/>
        </p:nvSpPr>
        <p:spPr>
          <a:xfrm>
            <a:off x="7296912" y="4517136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4443983"/>
            <a:ext cx="3657600" cy="4754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40" b="0" i="0">
                <a:solidFill>
                  <a:srgbClr val="14213D"/>
                </a:solidFill>
                <a:latin typeface="Lato"/>
              </a:rPr>
              <a:t>live é sobrescrito a cada novo pacote.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Três ritmos diferentes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A aquisição, a publicação e o redesenho da tela não precisam ocorrer na mesma frequência.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1719072"/>
            <a:ext cx="3401568" cy="1993392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" y="1719072"/>
            <a:ext cx="50292" cy="1993392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" y="1847088"/>
            <a:ext cx="31272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Amostragem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2212848"/>
            <a:ext cx="3108960" cy="1399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B6B86"/>
                </a:solidFill>
                <a:latin typeface="Lato"/>
              </a:rPr>
              <a:t>Nesta oficina: 250 amostras/s. É o relógio que representa o fenômeno observado.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719072"/>
            <a:ext cx="3401568" cy="1993392"/>
          </a:xfrm>
          <a:prstGeom prst="roundRect">
            <a:avLst/>
          </a:prstGeom>
          <a:solidFill>
            <a:srgbClr val="FFF8F2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719072"/>
            <a:ext cx="50292" cy="1993392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847088"/>
            <a:ext cx="31272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Publicação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212848"/>
            <a:ext cx="3108960" cy="1399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B6B86"/>
                </a:solidFill>
                <a:latin typeface="Lato"/>
              </a:rPr>
              <a:t>50 amostras/pacote → aproximadamente 5 pacotes/s.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7848" y="1719072"/>
            <a:ext cx="3401568" cy="1993392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7848" y="1719072"/>
            <a:ext cx="50292" cy="1993392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847088"/>
            <a:ext cx="31272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Tela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212848"/>
            <a:ext cx="3108960" cy="1399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B6B86"/>
                </a:solidFill>
                <a:latin typeface="Lato"/>
              </a:rPr>
              <a:t>O gráfico pode ser redesenhado a cada ≈ 0,8 s sem mudar o sinal.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224528"/>
            <a:ext cx="8183879" cy="877824"/>
          </a:xfrm>
          <a:prstGeom prst="roundRect">
            <a:avLst/>
          </a:prstGeom>
          <a:solidFill>
            <a:srgbClr val="FFF6FA"/>
          </a:solidFill>
          <a:ln>
            <a:solidFill>
              <a:srgbClr val="F8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E72B76"/>
                </a:solidFill>
                <a:latin typeface="Lato"/>
              </a:rPr>
              <a:t>Regra central: </a:t>
            </a:r>
            <a:r>
              <a:rPr sz="1500" b="1" i="0">
                <a:solidFill>
                  <a:srgbClr val="14213D"/>
                </a:solidFill>
                <a:latin typeface="DejaVu Sans Mono"/>
              </a:rPr>
              <a:t>t_sinal = sample_index / f_s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-182880" y="960120"/>
            <a:ext cx="685800" cy="589788"/>
          </a:xfrm>
          <a:prstGeom prst="hexagon">
            <a:avLst/>
          </a:prstGeom>
          <a:noFill/>
          <a:ln w="1524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1475720" y="1600200"/>
            <a:ext cx="658368" cy="566196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744200" y="5257800"/>
            <a:ext cx="566928" cy="487558"/>
          </a:xfrm>
          <a:prstGeom prst="hexagon">
            <a:avLst/>
          </a:prstGeom>
          <a:noFill/>
          <a:ln w="1524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411480" y="5349240"/>
            <a:ext cx="502920" cy="432511"/>
          </a:xfrm>
          <a:prstGeom prst="hexagon">
            <a:avLst/>
          </a:prstGeom>
          <a:noFill/>
          <a:ln w="1524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092440" y="-91440"/>
            <a:ext cx="548640" cy="471830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37744"/>
            <a:ext cx="1033271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0896"/>
            <a:ext cx="768096" cy="253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3840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0B9F3"/>
                </a:solidFill>
                <a:latin typeface="Lato"/>
              </a:rPr>
              <a:t>CHECKPOINT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9784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50" b="1" i="0">
                <a:solidFill>
                  <a:srgbClr val="FFFFFF"/>
                </a:solidFill>
                <a:latin typeface="Inter Display"/>
              </a:rPr>
              <a:t>Ambiente Colab pronto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98755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CED8EA"/>
                </a:solidFill>
                <a:latin typeface="Lato"/>
              </a:rPr>
              <a:t>Abrir o notebook, importar as bibliotecas iniciais e confirmar que o ambiente está pronto para o curso.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640080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64808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63240"/>
            <a:ext cx="4983480" cy="1353312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063240"/>
            <a:ext cx="50292" cy="1353312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191256"/>
            <a:ext cx="4709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 Display"/>
              </a:rPr>
              <a:t>sys e NumPy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557016"/>
            <a:ext cx="4690872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CED8EA"/>
                </a:solidFill>
                <a:latin typeface="Lato"/>
              </a:rPr>
              <a:t>sys: consultar informações do Python executado no Colab.
numpy (np): trabalhar com vetores numéricos e operações sobre as amostras de ECG e PPG.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063240"/>
            <a:ext cx="4983480" cy="1353312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063240"/>
            <a:ext cx="50292" cy="1353312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191256"/>
            <a:ext cx="4709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 Display"/>
              </a:rPr>
              <a:t>requests e Matplotlib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557016"/>
            <a:ext cx="4690872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CED8EA"/>
                </a:solidFill>
                <a:latin typeface="Lato"/>
              </a:rPr>
              <a:t>requests: comunicar com o Firebase usando HTTP/REST e, depois, SSE.
matplotlib.pyplot (plt): criar gráficos dos sinais.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4965192"/>
            <a:ext cx="6492240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80" b="1" i="0">
                <a:solidFill>
                  <a:srgbClr val="FFFFFF"/>
                </a:solidFill>
                <a:latin typeface="Lato"/>
              </a:rPr>
              <a:t>Objetivo: todos com o ambiente operacional antes de abrir o fluxo.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Conectando o notebook ao Firebase: REST + 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417320"/>
            <a:ext cx="6492240" cy="3547872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CE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517904"/>
            <a:ext cx="6199631" cy="334670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10" b="0" i="0">
                <a:solidFill>
                  <a:srgbClr val="14213D"/>
                </a:solidFill>
                <a:latin typeface="DejaVu Sans Mono"/>
              </a:rPr>
              <a:t>FIREBASE_URL = "https://...firebaseio.com"
STREAM_PATH = "oficina/live"
url = f"{FIREBASE_URL}/{STREAM_PATH}.json"
headers = {"Accept": "text/event-stream"}
with requests.get(
    url, headers=headers, stream=True,
    timeout=(10, 35)
) as response:
   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417320"/>
            <a:ext cx="3840480" cy="246888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1417320"/>
            <a:ext cx="50292" cy="246888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1545336"/>
            <a:ext cx="3566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O que é SSE?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1" y="1911095"/>
            <a:ext cx="3547872" cy="1874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40" b="0" i="0">
                <a:solidFill>
                  <a:srgbClr val="5B6B86"/>
                </a:solidFill>
                <a:latin typeface="Lato"/>
              </a:rPr>
              <a:t>Server-Sent Events é um fluxo HTTP unidirecional: o cliente abre uma conexão e o servidor envia eventos de texto quando o dado muda.
• não exige um novo GET a cada atualização;
• no Firebase REST, usamos Accept: text/event-stream;
• eventos típicos: put e patch.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224528"/>
            <a:ext cx="3840480" cy="1143000"/>
          </a:xfrm>
          <a:prstGeom prst="roundRect">
            <a:avLst/>
          </a:prstGeom>
          <a:solidFill>
            <a:srgbClr val="FFF8F2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4224528"/>
            <a:ext cx="50292" cy="1143000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4352544"/>
            <a:ext cx="3566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Por que não polling?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4718304"/>
            <a:ext cx="354787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80" b="0" i="0">
                <a:solidFill>
                  <a:srgbClr val="5B6B86"/>
                </a:solidFill>
                <a:latin typeface="Lato"/>
              </a:rPr>
              <a:t>Se o nó mudar duas vezes entre duas consultas, um pacote pode passar despercebido.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-182880" y="960120"/>
            <a:ext cx="685800" cy="589788"/>
          </a:xfrm>
          <a:prstGeom prst="hexagon">
            <a:avLst/>
          </a:prstGeom>
          <a:noFill/>
          <a:ln w="1524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1475720" y="1600200"/>
            <a:ext cx="658368" cy="566196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744200" y="5257800"/>
            <a:ext cx="566928" cy="487558"/>
          </a:xfrm>
          <a:prstGeom prst="hexagon">
            <a:avLst/>
          </a:prstGeom>
          <a:noFill/>
          <a:ln w="1524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411480" y="5349240"/>
            <a:ext cx="502920" cy="432511"/>
          </a:xfrm>
          <a:prstGeom prst="hexagon">
            <a:avLst/>
          </a:prstGeom>
          <a:noFill/>
          <a:ln w="1524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092440" y="-91440"/>
            <a:ext cx="548640" cy="471830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37744"/>
            <a:ext cx="1033271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0896"/>
            <a:ext cx="768096" cy="253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3840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0B9F3"/>
                </a:solidFill>
                <a:latin typeface="Lato"/>
              </a:rPr>
              <a:t>CHECKPOINT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9784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50" b="1" i="0">
                <a:solidFill>
                  <a:srgbClr val="FFFFFF"/>
                </a:solidFill>
                <a:latin typeface="Inter Display"/>
              </a:rPr>
              <a:t>Primeira leitura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98755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CED8EA"/>
                </a:solidFill>
                <a:latin typeface="Lato"/>
              </a:rPr>
              <a:t>Ler o pacote atual do nó do curso e reconhecer a estrutura antes de abrir o stream.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640080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64808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743200"/>
            <a:ext cx="6537960" cy="2560320"/>
          </a:xfrm>
          <a:prstGeom prst="roundRect">
            <a:avLst/>
          </a:prstGeom>
          <a:solidFill>
            <a:srgbClr val="071A4A"/>
          </a:solidFill>
          <a:ln w="10160">
            <a:solidFill>
              <a:srgbClr val="24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3" y="2843784"/>
            <a:ext cx="6245352" cy="235915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  <a:latin typeface="DejaVu Sans Mono"/>
              </a:rPr>
              <a:t>pacote = ler_pacote_atual()
p = validar_pacote(pacote)
print(p["session_id"])
print(p["seq"])
print(p["sample_start"])
print(p["fs"], p["n"])
print(p["ecg"][:5])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743200"/>
            <a:ext cx="2971800" cy="2560320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743200"/>
            <a:ext cx="50292" cy="256032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2871216"/>
            <a:ext cx="2697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 Display"/>
              </a:rPr>
              <a:t>O que observar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236976"/>
            <a:ext cx="2679192" cy="1965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CED8EA"/>
                </a:solidFill>
                <a:latin typeface="Lato"/>
              </a:rPr>
              <a:t>session_id
seq
sample_start
fs e n
primeiras amostras de ECG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Validar antes de usar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Não processe um pacote sem conferir estrutura, tamanho e continuidade.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463040"/>
            <a:ext cx="6629400" cy="3456432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CE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63624"/>
            <a:ext cx="6336792" cy="325526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90" b="0" i="0">
                <a:solidFill>
                  <a:srgbClr val="14213D"/>
                </a:solidFill>
                <a:latin typeface="DejaVu Sans Mono"/>
              </a:rPr>
              <a:t>campos = (
 "session_id", "seq", "sample_start",
 "fs", "n", "ecg", "ppg_ir", "ppg_red"
)
n = int(pacote["n"])
if not (
 len(pacote["ecg"]) ==
 len(pacote["ppg_ir"]) ==
 len(pacote["ppg_red"]) == n
):
    raise ValueError(...)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600200"/>
            <a:ext cx="3520440" cy="269748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1600200"/>
            <a:ext cx="50292" cy="269748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1" y="1728216"/>
            <a:ext cx="3246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O que verificamos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148840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2075688"/>
            <a:ext cx="2907791" cy="3749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80" b="0" i="0">
                <a:solidFill>
                  <a:srgbClr val="14213D"/>
                </a:solidFill>
                <a:latin typeface="Lato"/>
              </a:rPr>
              <a:t>campos obrigatórios;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523744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2450592"/>
            <a:ext cx="2907791" cy="3749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80" b="0" i="0">
                <a:solidFill>
                  <a:srgbClr val="14213D"/>
                </a:solidFill>
                <a:latin typeface="Lato"/>
              </a:rPr>
              <a:t>tamanho das três séries;</a:t>
            </a:r>
          </a:p>
        </p:txBody>
      </p:sp>
      <p:sp>
        <p:nvSpPr>
          <p:cNvPr id="21" name="Oval 20"/>
          <p:cNvSpPr/>
          <p:nvPr/>
        </p:nvSpPr>
        <p:spPr>
          <a:xfrm>
            <a:off x="7845552" y="2898648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2825496"/>
            <a:ext cx="2907791" cy="3749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80" b="0" i="0">
                <a:solidFill>
                  <a:srgbClr val="14213D"/>
                </a:solidFill>
                <a:latin typeface="Lato"/>
              </a:rPr>
              <a:t>nova sessão;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327355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3200400"/>
            <a:ext cx="2907791" cy="3749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80" b="0" i="0">
                <a:solidFill>
                  <a:srgbClr val="14213D"/>
                </a:solidFill>
                <a:latin typeface="Lato"/>
              </a:rPr>
              <a:t>pacote duplicado/antigo;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3648456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9288" y="3575304"/>
            <a:ext cx="2907791" cy="3749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80" b="0" i="0">
                <a:solidFill>
                  <a:srgbClr val="14213D"/>
                </a:solidFill>
                <a:latin typeface="Lato"/>
              </a:rPr>
              <a:t>salto de sequência/amostras.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-182880" y="960120"/>
            <a:ext cx="685800" cy="589788"/>
          </a:xfrm>
          <a:prstGeom prst="hexagon">
            <a:avLst/>
          </a:prstGeom>
          <a:noFill/>
          <a:ln w="1524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1475720" y="1600200"/>
            <a:ext cx="658368" cy="566196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744200" y="5257800"/>
            <a:ext cx="566928" cy="487558"/>
          </a:xfrm>
          <a:prstGeom prst="hexagon">
            <a:avLst/>
          </a:prstGeom>
          <a:noFill/>
          <a:ln w="1524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411480" y="5349240"/>
            <a:ext cx="502920" cy="432511"/>
          </a:xfrm>
          <a:prstGeom prst="hexagon">
            <a:avLst/>
          </a:prstGeom>
          <a:noFill/>
          <a:ln w="1524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092440" y="-91440"/>
            <a:ext cx="548640" cy="471830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37744"/>
            <a:ext cx="1033271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0896"/>
            <a:ext cx="768096" cy="253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3840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0B9F3"/>
                </a:solidFill>
                <a:latin typeface="Lato"/>
              </a:rPr>
              <a:t>CHECKPOINT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9784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50" b="1" i="0">
                <a:solidFill>
                  <a:srgbClr val="FFFFFF"/>
                </a:solidFill>
                <a:latin typeface="Inter Display"/>
              </a:rPr>
              <a:t>Acompanhando o fluxo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98755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CED8EA"/>
                </a:solidFill>
                <a:latin typeface="Lato"/>
              </a:rPr>
              <a:t>Abrir o stream SSE, receber os eventos do Firebase e acompanhar session_id, seq e sample_start.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640080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64808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852928"/>
            <a:ext cx="10012680" cy="1143000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2852928"/>
            <a:ext cx="50292" cy="114300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1" y="2980944"/>
            <a:ext cx="973835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 Display"/>
              </a:rPr>
              <a:t>Ideia central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1" y="3346704"/>
            <a:ext cx="9720072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60" b="0" i="0">
                <a:solidFill>
                  <a:srgbClr val="CED8EA"/>
                </a:solidFill>
                <a:latin typeface="Lato"/>
              </a:rPr>
              <a:t>O Firebase envia cada alteração pela conexão aberta. seq detecta pacotes ausentes e sample_start permite verificar a continuidade das amostras.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325112"/>
            <a:ext cx="10012680" cy="1097280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4325112"/>
            <a:ext cx="50292" cy="109728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6151" y="4453128"/>
            <a:ext cx="973835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 Display"/>
              </a:rPr>
              <a:t>Bibliotecas acrescentadas neste checkpoint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1" y="4818888"/>
            <a:ext cx="9720072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CED8EA"/>
                </a:solidFill>
                <a:latin typeface="Lato"/>
              </a:rPr>
              <a:t>json: transformar o texto JSON recebido pelo SSE em dicionários Python.   ·   time: limitar a duração da captura e medir intervalos/latência.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Por que precisamos de um buffer?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Uma janela temporal mantém apenas os segundos mais recentes do sinal.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1572768"/>
            <a:ext cx="10058400" cy="786384"/>
          </a:xfrm>
          <a:prstGeom prst="roundRect">
            <a:avLst/>
          </a:prstGeom>
          <a:solidFill>
            <a:srgbClr val="F8FA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4213D"/>
                </a:solidFill>
                <a:latin typeface="Lato"/>
              </a:rPr>
              <a:t>Janela deslizante no relógio da aquisição    </a:t>
            </a:r>
            <a:r>
              <a:rPr sz="1320" b="0" i="0">
                <a:solidFill>
                  <a:srgbClr val="071A4A"/>
                </a:solidFill>
                <a:latin typeface="DejaVu Sans Mono"/>
              </a:rPr>
              <a:t>6250  6251  6252  …  6299  6350  6351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788920"/>
            <a:ext cx="4709160" cy="132588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788920"/>
            <a:ext cx="50292" cy="132588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2916936"/>
            <a:ext cx="4434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4213D"/>
                </a:solidFill>
                <a:latin typeface="Inter Display"/>
              </a:rPr>
              <a:t>Amostra recebida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282696"/>
            <a:ext cx="4416552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5B6B86"/>
                </a:solidFill>
                <a:latin typeface="Lato"/>
              </a:rPr>
              <a:t>Tempo: t = k / f_s.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2788920"/>
            <a:ext cx="4709160" cy="132588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2512" y="2788920"/>
            <a:ext cx="50292" cy="132588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916936"/>
            <a:ext cx="4434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4213D"/>
                </a:solidFill>
                <a:latin typeface="Inter Display"/>
              </a:rPr>
              <a:t>Amostra ausente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282696"/>
            <a:ext cx="4416552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60" b="0" i="0">
                <a:solidFill>
                  <a:srgbClr val="5B6B86"/>
                </a:solidFill>
                <a:latin typeface="Lato"/>
              </a:rPr>
              <a:t>Inserimos NaN: o gráfico mostra uma interrupção em vez de unir dados que não são contíguos.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09160"/>
            <a:ext cx="992124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40" b="0" i="0">
                <a:solidFill>
                  <a:srgbClr val="5B6B86"/>
                </a:solidFill>
                <a:latin typeface="Lato"/>
              </a:rPr>
              <a:t>Cada número representa um sample_index.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-182880" y="960120"/>
            <a:ext cx="685800" cy="589788"/>
          </a:xfrm>
          <a:prstGeom prst="hexagon">
            <a:avLst/>
          </a:prstGeom>
          <a:noFill/>
          <a:ln w="1524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1475720" y="1600200"/>
            <a:ext cx="658368" cy="566196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744200" y="5257800"/>
            <a:ext cx="566928" cy="487558"/>
          </a:xfrm>
          <a:prstGeom prst="hexagon">
            <a:avLst/>
          </a:prstGeom>
          <a:noFill/>
          <a:ln w="1524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411480" y="5349240"/>
            <a:ext cx="502920" cy="432511"/>
          </a:xfrm>
          <a:prstGeom prst="hexagon">
            <a:avLst/>
          </a:prstGeom>
          <a:noFill/>
          <a:ln w="1524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092440" y="-91440"/>
            <a:ext cx="548640" cy="471830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37744"/>
            <a:ext cx="1033271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0896"/>
            <a:ext cx="768096" cy="253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3840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0B9F3"/>
                </a:solidFill>
                <a:latin typeface="Lato"/>
              </a:rPr>
              <a:t>CHECKPOINT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9784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50" b="1" i="0">
                <a:solidFill>
                  <a:srgbClr val="FFFFFF"/>
                </a:solidFill>
                <a:latin typeface="Inter Display"/>
              </a:rPr>
              <a:t>Janela temporal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98755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CED8EA"/>
                </a:solidFill>
                <a:latin typeface="Lato"/>
              </a:rPr>
              <a:t>Manter os últimos segundos de sinal, reconstruir o tempo por índice/frequência e tornar perdas visíveis.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640080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64808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788920"/>
            <a:ext cx="6720840" cy="2450592"/>
          </a:xfrm>
          <a:prstGeom prst="roundRect">
            <a:avLst/>
          </a:prstGeom>
          <a:solidFill>
            <a:srgbClr val="071A4A"/>
          </a:solidFill>
          <a:ln w="10160">
            <a:solidFill>
              <a:srgbClr val="24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2889503"/>
            <a:ext cx="6428231" cy="22494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  <a:latin typeface="DejaVu Sans Mono"/>
              </a:rPr>
              <a:t>expected = last_sample_end + 1
if sample_start &gt; expected:
    for k in range(expected, sample_start):
        sample_buf.append(k)
        ecg_buf.append(np.nan)
for i, value in enumerate(ecg):
    sample_buf.append(sample_start + i)
    ecg_buf.append(value)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788920"/>
            <a:ext cx="3063240" cy="2450592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788920"/>
            <a:ext cx="50292" cy="2450592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2916936"/>
            <a:ext cx="2788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 Display"/>
              </a:rPr>
              <a:t>Biblioteca acrescentada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282696"/>
            <a:ext cx="2770632" cy="1856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60" b="0" i="0">
                <a:solidFill>
                  <a:srgbClr val="CED8EA"/>
                </a:solidFill>
                <a:latin typeface="Lato"/>
              </a:rPr>
              <a:t>collections.deque: buffer eficiente para acrescentar novas amostras e retirar as mais antigas sem deslocar toda a lista.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De números a um sinal visível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1737360"/>
            <a:ext cx="3310128" cy="1261872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1737360"/>
            <a:ext cx="50292" cy="1261872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65376"/>
            <a:ext cx="303580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4213D"/>
                </a:solidFill>
                <a:latin typeface="Inter Display"/>
              </a:rPr>
              <a:t>Lista de valores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31136"/>
            <a:ext cx="3017520" cy="6675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50" b="0" i="0">
                <a:solidFill>
                  <a:srgbClr val="5B6B86"/>
                </a:solidFill>
                <a:latin typeface="Lato"/>
              </a:rPr>
              <a:t>0.02, 0.07, 0.13, 0.92, -0.31, 0.05, 0.01,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10128"/>
            <a:ext cx="310896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0" i="0">
                <a:solidFill>
                  <a:srgbClr val="5B6B86"/>
                </a:solidFill>
                <a:latin typeface="Lato"/>
              </a:rPr>
              <a:t>Difícil perceber ritmo, ruído, tendência e artefatos.</a:t>
            </a:r>
          </a:p>
        </p:txBody>
      </p:sp>
      <p:pic>
        <p:nvPicPr>
          <p:cNvPr id="16" name="Picture 15" descr="signal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554480"/>
            <a:ext cx="6492240" cy="276723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874519" y="5230368"/>
            <a:ext cx="8503920" cy="566928"/>
          </a:xfrm>
          <a:prstGeom prst="roundRect">
            <a:avLst/>
          </a:prstGeom>
          <a:solidFill>
            <a:srgbClr val="F8FA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4213D"/>
                </a:solidFill>
                <a:latin typeface="Lato"/>
              </a:rPr>
              <a:t>Visualizar é tornar a estrutura temporal perceptível.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-182880" y="960120"/>
            <a:ext cx="685800" cy="589788"/>
          </a:xfrm>
          <a:prstGeom prst="hexagon">
            <a:avLst/>
          </a:prstGeom>
          <a:noFill/>
          <a:ln w="1524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1475720" y="1600200"/>
            <a:ext cx="658368" cy="566196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744200" y="5257800"/>
            <a:ext cx="566928" cy="487558"/>
          </a:xfrm>
          <a:prstGeom prst="hexagon">
            <a:avLst/>
          </a:prstGeom>
          <a:noFill/>
          <a:ln w="1524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411480" y="5349240"/>
            <a:ext cx="502920" cy="432511"/>
          </a:xfrm>
          <a:prstGeom prst="hexagon">
            <a:avLst/>
          </a:prstGeom>
          <a:noFill/>
          <a:ln w="1524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092440" y="-91440"/>
            <a:ext cx="548640" cy="471830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37744"/>
            <a:ext cx="1033271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0896"/>
            <a:ext cx="768096" cy="253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3840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0B9F3"/>
                </a:solidFill>
                <a:latin typeface="Lato"/>
              </a:rPr>
              <a:t>CHECKPOINT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9784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50" b="1" i="0">
                <a:solidFill>
                  <a:srgbClr val="FFFFFF"/>
                </a:solidFill>
                <a:latin typeface="Inter Display"/>
              </a:rPr>
              <a:t>Gráfico no Google Colab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98755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CED8EA"/>
                </a:solidFill>
                <a:latin typeface="Lato"/>
              </a:rPr>
              <a:t>Visualizar ECG e PPG na mesma referência temporal, preservando lacunas quando houver perda de dados.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640080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64808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788920"/>
            <a:ext cx="6629400" cy="2423160"/>
          </a:xfrm>
          <a:prstGeom prst="roundRect">
            <a:avLst/>
          </a:prstGeom>
          <a:solidFill>
            <a:srgbClr val="071A4A"/>
          </a:solidFill>
          <a:ln w="10160">
            <a:solidFill>
              <a:srgbClr val="24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2889503"/>
            <a:ext cx="6336792" cy="222199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  <a:latin typeface="DejaVu Sans Mono"/>
              </a:rPr>
              <a:t>latest = sample_buf[-1]
tx = [
  (k - latest) / fs
  for k in sample_buf
]
ax[0].plot(tx, ecg_buf)
ax[1].plot(tx, ir_buf, label="PPG IR")
ax[1].plot(tx, red_buf, label="PPG Red")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788920"/>
            <a:ext cx="3182112" cy="2423160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788920"/>
            <a:ext cx="50292" cy="242316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1" y="2916936"/>
            <a:ext cx="29077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 Display"/>
              </a:rPr>
              <a:t>Recurso acrescentado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1" y="3282696"/>
            <a:ext cx="2889504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CED8EA"/>
                </a:solidFill>
                <a:latin typeface="Lato"/>
              </a:rPr>
              <a:t>IPython.display: clear_output() limpa a saída anterior e display() mostra a figura atualizada no mesmo espaço do Colab.
O instante de chegada do pacote não é usado no eixo 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Por que processar?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Processar não significa automaticamente “melhorar”: toda operação altera o sinal.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28</a:t>
            </a:r>
          </a:p>
        </p:txBody>
      </p:sp>
      <p:pic>
        <p:nvPicPr>
          <p:cNvPr id="12" name="Picture 11" descr="processed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08760"/>
            <a:ext cx="6903720" cy="258405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01000" y="1508760"/>
            <a:ext cx="3337560" cy="3072384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508760"/>
            <a:ext cx="50292" cy="3072384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636776"/>
            <a:ext cx="3063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Objetivos didáticos</a:t>
            </a:r>
          </a:p>
        </p:txBody>
      </p:sp>
      <p:sp>
        <p:nvSpPr>
          <p:cNvPr id="16" name="Oval 15"/>
          <p:cNvSpPr/>
          <p:nvPr/>
        </p:nvSpPr>
        <p:spPr>
          <a:xfrm>
            <a:off x="8211312" y="199339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697479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Lato"/>
              </a:rPr>
              <a:t>reduzir ruído visual;</a:t>
            </a:r>
          </a:p>
        </p:txBody>
      </p:sp>
      <p:sp>
        <p:nvSpPr>
          <p:cNvPr id="18" name="Oval 17"/>
          <p:cNvSpPr/>
          <p:nvPr/>
        </p:nvSpPr>
        <p:spPr>
          <a:xfrm>
            <a:off x="8211312" y="2386584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313432"/>
            <a:ext cx="2697479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Lato"/>
              </a:rPr>
              <a:t>remover offset;</a:t>
            </a:r>
          </a:p>
        </p:txBody>
      </p:sp>
      <p:sp>
        <p:nvSpPr>
          <p:cNvPr id="20" name="Oval 19"/>
          <p:cNvSpPr/>
          <p:nvPr/>
        </p:nvSpPr>
        <p:spPr>
          <a:xfrm>
            <a:off x="8211312" y="2779776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706624"/>
            <a:ext cx="2697479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Lato"/>
              </a:rPr>
              <a:t>normalizar;</a:t>
            </a:r>
          </a:p>
        </p:txBody>
      </p:sp>
      <p:sp>
        <p:nvSpPr>
          <p:cNvPr id="22" name="Oval 21"/>
          <p:cNvSpPr/>
          <p:nvPr/>
        </p:nvSpPr>
        <p:spPr>
          <a:xfrm>
            <a:off x="8211312" y="3172968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099816"/>
            <a:ext cx="2697479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Lato"/>
              </a:rPr>
              <a:t>calcular estatísticas de janela;</a:t>
            </a:r>
          </a:p>
        </p:txBody>
      </p:sp>
      <p:sp>
        <p:nvSpPr>
          <p:cNvPr id="24" name="Oval 23"/>
          <p:cNvSpPr/>
          <p:nvPr/>
        </p:nvSpPr>
        <p:spPr>
          <a:xfrm>
            <a:off x="8211312" y="3566160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3493008"/>
            <a:ext cx="2697479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Lato"/>
              </a:rPr>
              <a:t>comparar bruto × processado.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956048"/>
            <a:ext cx="10195560" cy="658368"/>
          </a:xfrm>
          <a:prstGeom prst="roundRect">
            <a:avLst/>
          </a:prstGeom>
          <a:solidFill>
            <a:srgbClr val="FFF6FA"/>
          </a:solidFill>
          <a:ln>
            <a:solidFill>
              <a:srgbClr val="F8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20" b="1" i="0">
                <a:solidFill>
                  <a:srgbClr val="E72B76"/>
                </a:solidFill>
                <a:latin typeface="Lato"/>
              </a:rPr>
              <a:t>Processar não significa automaticamente “melhorar”: </a:t>
            </a:r>
            <a:r>
              <a:rPr sz="1320" b="1" i="0">
                <a:solidFill>
                  <a:srgbClr val="14213D"/>
                </a:solidFill>
                <a:latin typeface="Lato"/>
              </a:rPr>
              <a:t>toda operação altera o sinal.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-182880" y="960120"/>
            <a:ext cx="685800" cy="589788"/>
          </a:xfrm>
          <a:prstGeom prst="hexagon">
            <a:avLst/>
          </a:prstGeom>
          <a:noFill/>
          <a:ln w="1524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1475720" y="1600200"/>
            <a:ext cx="658368" cy="566196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744200" y="5257800"/>
            <a:ext cx="566928" cy="487558"/>
          </a:xfrm>
          <a:prstGeom prst="hexagon">
            <a:avLst/>
          </a:prstGeom>
          <a:noFill/>
          <a:ln w="1524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411480" y="5349240"/>
            <a:ext cx="502920" cy="432511"/>
          </a:xfrm>
          <a:prstGeom prst="hexagon">
            <a:avLst/>
          </a:prstGeom>
          <a:noFill/>
          <a:ln w="1524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092440" y="-91440"/>
            <a:ext cx="548640" cy="471830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37744"/>
            <a:ext cx="1033271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0896"/>
            <a:ext cx="768096" cy="253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3840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0B9F3"/>
                </a:solidFill>
                <a:latin typeface="Lato"/>
              </a:rPr>
              <a:t>CHECKPOINT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9784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50" b="1" i="0">
                <a:solidFill>
                  <a:srgbClr val="FFFFFF"/>
                </a:solidFill>
                <a:latin typeface="Inter Display"/>
              </a:rPr>
              <a:t>Uma operação simples com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98755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CED8EA"/>
                </a:solidFill>
                <a:latin typeface="Lato"/>
              </a:rPr>
              <a:t>Comparar ECG bruto e suavizado sem “atravessar” lacunas de dados representadas por NaN.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640080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64808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60" b="1" i="0">
                <a:solidFill>
                  <a:srgbClr val="F36B21"/>
                </a:solidFill>
                <a:latin typeface="Lato"/>
              </a:rPr>
              <a:t>Instrutor: alterar o gerador para MODO = "NOISE" antes deste checkpoint.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2980944"/>
            <a:ext cx="8869680" cy="2057400"/>
          </a:xfrm>
          <a:prstGeom prst="roundRect">
            <a:avLst/>
          </a:prstGeom>
          <a:solidFill>
            <a:srgbClr val="071A4A"/>
          </a:solidFill>
          <a:ln w="10160">
            <a:solidFill>
              <a:srgbClr val="24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63624" y="3081527"/>
            <a:ext cx="8577072" cy="185623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DejaVu Sans Mono"/>
              </a:rPr>
              <a:t># Exemplo didatico:
# processar cada trecho finito separadamente
segmento = ecg[i:j]
if len(segmento) &gt;= 7:
    suave = np.convolve(
        segmento,
        np.ones(7)/7,
        mode="same"
    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330952"/>
            <a:ext cx="8046720" cy="548640"/>
          </a:xfrm>
          <a:prstGeom prst="roundRect">
            <a:avLst/>
          </a:prstGeom>
          <a:solidFill>
            <a:srgbClr val="10275C"/>
          </a:solidFill>
          <a:ln>
            <a:solidFill>
              <a:srgbClr val="24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80" b="1" i="0">
                <a:solidFill>
                  <a:srgbClr val="E72B76"/>
                </a:solidFill>
                <a:latin typeface="Lato"/>
              </a:rPr>
              <a:t>Importante: </a:t>
            </a:r>
            <a:r>
              <a:rPr sz="1180" b="0" i="0">
                <a:solidFill>
                  <a:srgbClr val="FFFFFF"/>
                </a:solidFill>
                <a:latin typeface="Lato"/>
              </a:rPr>
              <a:t>a suavização é apenas uma demonstração de processamento; não é filtro clínico nem medida diagnóstica.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Armazenar para poder reproduzir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Registrar as amostras torna o experimento verificável e reutilizável.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463040"/>
            <a:ext cx="6492240" cy="3255264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CE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63624"/>
            <a:ext cx="6199631" cy="30540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4213D"/>
                </a:solidFill>
                <a:latin typeface="DejaVu Sans Mono"/>
              </a:rPr>
              <a:t>registros.append([
  session_id,
  sample_index,
  sample_index / fs,
  seq,
  i,
  ecg, ppg_ir, ppg_red,
  "OK"
])
# Em uma perda:
status = "MISSING"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1600200"/>
            <a:ext cx="3611880" cy="251460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71231" y="1600200"/>
            <a:ext cx="50292" cy="251460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1728216"/>
            <a:ext cx="33375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CSV do curso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213055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6136" y="2057400"/>
            <a:ext cx="297180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Lato"/>
              </a:rPr>
              <a:t>sessão;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0" y="2468880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2395728"/>
            <a:ext cx="297180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Lato"/>
              </a:rPr>
              <a:t>índice e tempo do sinal;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0" y="2807208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46136" y="2734056"/>
            <a:ext cx="297180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Lato"/>
              </a:rPr>
              <a:t>pacote;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0" y="3145536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6136" y="3072384"/>
            <a:ext cx="297180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Lato"/>
              </a:rPr>
              <a:t>três canais;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0" y="3483864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6136" y="3410712"/>
            <a:ext cx="297180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14213D"/>
                </a:solidFill>
                <a:latin typeface="Lato"/>
              </a:rPr>
              <a:t>estado OK / MISSING.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074920"/>
            <a:ext cx="10012680" cy="585216"/>
          </a:xfrm>
          <a:prstGeom prst="roundRect">
            <a:avLst/>
          </a:prstGeom>
          <a:solidFill>
            <a:srgbClr val="FFF6FA"/>
          </a:solidFill>
          <a:ln>
            <a:solidFill>
              <a:srgbClr val="F8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50" b="1" i="0">
                <a:solidFill>
                  <a:srgbClr val="E72B76"/>
                </a:solidFill>
                <a:latin typeface="Lato"/>
              </a:rPr>
              <a:t>Por quê? </a:t>
            </a:r>
            <a:r>
              <a:rPr sz="1250" b="0" i="0">
                <a:solidFill>
                  <a:srgbClr val="14213D"/>
                </a:solidFill>
                <a:latin typeface="Lato"/>
              </a:rPr>
              <a:t>para reproduzir, inspecionar e comparar o que aconteceu no fluxo.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-182880" y="960120"/>
            <a:ext cx="685800" cy="589788"/>
          </a:xfrm>
          <a:prstGeom prst="hexagon">
            <a:avLst/>
          </a:prstGeom>
          <a:noFill/>
          <a:ln w="1524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1475720" y="1600200"/>
            <a:ext cx="658368" cy="566196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744200" y="5257800"/>
            <a:ext cx="566928" cy="487558"/>
          </a:xfrm>
          <a:prstGeom prst="hexagon">
            <a:avLst/>
          </a:prstGeom>
          <a:noFill/>
          <a:ln w="1524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411480" y="5349240"/>
            <a:ext cx="502920" cy="432511"/>
          </a:xfrm>
          <a:prstGeom prst="hexagon">
            <a:avLst/>
          </a:prstGeom>
          <a:noFill/>
          <a:ln w="1524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092440" y="-91440"/>
            <a:ext cx="548640" cy="471830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37744"/>
            <a:ext cx="1033271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0896"/>
            <a:ext cx="768096" cy="253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3840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0B9F3"/>
                </a:solidFill>
                <a:latin typeface="Lato"/>
              </a:rPr>
              <a:t>CHECKPOINT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9784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50" b="1" i="0">
                <a:solidFill>
                  <a:srgbClr val="FFFFFF"/>
                </a:solidFill>
                <a:latin typeface="Inter Display"/>
              </a:rPr>
              <a:t>Cliente 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98755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CED8EA"/>
                </a:solidFill>
                <a:latin typeface="Lato"/>
              </a:rPr>
              <a:t>Executar o cliente completo: SSE, sessões, tempo de aquisição, perdas, gráfico e CSV.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640080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64808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60" b="1" i="0">
                <a:solidFill>
                  <a:srgbClr val="F36B21"/>
                </a:solidFill>
                <a:latin typeface="Lato"/>
              </a:rPr>
              <a:t>Instrutor: alterar o gerador para MODO = "DROPOUT" para produzir perdas de pacotes.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999232"/>
            <a:ext cx="4709160" cy="2130552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2999232"/>
            <a:ext cx="50292" cy="2130552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3127248"/>
            <a:ext cx="4434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 Display"/>
              </a:rPr>
              <a:t>Indicadores técnicos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493008"/>
            <a:ext cx="4416552" cy="1536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CED8EA"/>
                </a:solidFill>
                <a:latin typeface="Lato"/>
              </a:rPr>
              <a:t>pacotes recebidos/ausentes;
amostras ausentes;
duplicados/antigos;
intervalo de rede;
latência aproximada.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999232"/>
            <a:ext cx="4709160" cy="2130552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999232"/>
            <a:ext cx="50292" cy="2130552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127248"/>
            <a:ext cx="4434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 Display"/>
              </a:rPr>
              <a:t>Depois da recepção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493008"/>
            <a:ext cx="4416552" cy="1536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CED8EA"/>
                </a:solidFill>
                <a:latin typeface="Lato"/>
              </a:rPr>
              <a:t>Pandas/CSV;
processamento em janela;
comparação de algoritmos;
análise de qualidade.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Checkpoint 6 — novas bibliotecas para armazenar e analisar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691640"/>
            <a:ext cx="5212080" cy="214884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691640"/>
            <a:ext cx="50292" cy="214884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819656"/>
            <a:ext cx="4937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csv e statistics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185416"/>
            <a:ext cx="4919472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5B6B86"/>
                </a:solidFill>
                <a:latin typeface="Lato"/>
              </a:rPr>
              <a:t>csv: gravar cada amostra recebida em um arquivo que poderá ser baixado e reutilizado.
statistics: calcular medidas simples, como a mediana do intervalo e da latência da rede.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5212080" cy="214884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50292" cy="214884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819656"/>
            <a:ext cx="4937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google.colab.files e 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185416"/>
            <a:ext cx="4919472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5B6B86"/>
                </a:solidFill>
                <a:latin typeface="Lato"/>
              </a:rPr>
              <a:t>google.colab.files: iniciar o download do CSV gerado no ambiente do Colab.
pandas (pd): ler o CSV como um DataFrame, isto é, uma tabela que facilita inspeção e análise.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4389120"/>
            <a:ext cx="9098280" cy="768096"/>
          </a:xfrm>
          <a:prstGeom prst="roundRect">
            <a:avLst/>
          </a:prstGeom>
          <a:solidFill>
            <a:srgbClr val="FFF6FA"/>
          </a:solidFill>
          <a:ln>
            <a:solidFill>
              <a:srgbClr val="F8D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80" b="1" i="0">
                <a:solidFill>
                  <a:srgbClr val="E72B76"/>
                </a:solidFill>
                <a:latin typeface="Lato"/>
              </a:rPr>
              <a:t>Quando aparecem? </a:t>
            </a:r>
            <a:r>
              <a:rPr sz="1280" b="0" i="0">
                <a:solidFill>
                  <a:srgbClr val="14213D"/>
                </a:solidFill>
                <a:latin typeface="Lato"/>
              </a:rPr>
              <a:t>pandas e google.colab.files só são importados nas células em que passam a ser necessários.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Processamento específico para ECG e PPG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Exemplos didáticos preservados; parâmetros dependem do sinal e não constituem algoritmo clínico validado.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417320"/>
            <a:ext cx="5239512" cy="379476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1417320"/>
            <a:ext cx="50292" cy="379476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545336"/>
            <a:ext cx="49651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ECG — exemplo didático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911095"/>
            <a:ext cx="4946904" cy="3200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5B6B86"/>
                </a:solidFill>
                <a:latin typeface="Lato"/>
              </a:rPr>
              <a:t>Remover deriva/ruído e localizar picos R para estimar a frequência cardíaca.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2331720"/>
            <a:ext cx="4818888" cy="2084831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CE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2432303"/>
            <a:ext cx="4526279" cy="188366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14213D"/>
                </a:solidFill>
                <a:latin typeface="DejaVu Sans Mono"/>
              </a:rPr>
              <a:t>ec = bandpass(ecg, fs, 0.5, 40)
r, _ = find_peaks(
    ec, distance=int(0.35*fs),
    prominence=0.25
)
fc = 60/np.median(np.diff(r)/fs)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417320"/>
            <a:ext cx="5239512" cy="379476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417320"/>
            <a:ext cx="50292" cy="379476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1545336"/>
            <a:ext cx="496519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PPG — exemplo didático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1911095"/>
            <a:ext cx="4946904" cy="3200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5B6B86"/>
                </a:solidFill>
                <a:latin typeface="Lato"/>
              </a:rPr>
              <a:t>Isolar a banda pulsátil e localizar pulsos no canal infravermelho.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9944" y="2331720"/>
            <a:ext cx="4818888" cy="2084831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CE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2432303"/>
            <a:ext cx="4526279" cy="188366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14213D"/>
                </a:solidFill>
                <a:latin typeface="DejaVu Sans Mono"/>
              </a:rPr>
              <a:t>pp = bandpass(ppg_ir, fs, 0.5, 5)
p, _ = find_peaks(
    pp, distance=int(0.35*fs),
    prominence=0.5*np.std(pp)
)
fp = 60/np.median(np.diff(p)/fs)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5449824"/>
            <a:ext cx="10241280" cy="493776"/>
          </a:xfrm>
          <a:prstGeom prst="roundRect">
            <a:avLst/>
          </a:prstGeom>
          <a:solidFill>
            <a:srgbClr val="F8FA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30" b="1" i="0">
                <a:solidFill>
                  <a:srgbClr val="10B9F3"/>
                </a:solidFill>
                <a:latin typeface="Lato"/>
              </a:rPr>
              <a:t>scipy.signal: </a:t>
            </a:r>
            <a:r>
              <a:rPr sz="1130" b="0" i="0">
                <a:solidFill>
                  <a:srgbClr val="14213D"/>
                </a:solidFill>
                <a:latin typeface="Lato"/>
              </a:rPr>
              <a:t>butter projeta o filtro, sosfiltfilt aplica a filtragem sem deslocar os picos no tempo e find_peaks localiza picos/pulsos.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-182880" y="960120"/>
            <a:ext cx="685800" cy="589788"/>
          </a:xfrm>
          <a:prstGeom prst="hexagon">
            <a:avLst/>
          </a:prstGeom>
          <a:noFill/>
          <a:ln w="1524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1475720" y="1600200"/>
            <a:ext cx="658368" cy="566196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744200" y="5257800"/>
            <a:ext cx="566928" cy="487558"/>
          </a:xfrm>
          <a:prstGeom prst="hexagon">
            <a:avLst/>
          </a:prstGeom>
          <a:noFill/>
          <a:ln w="1524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411480" y="5349240"/>
            <a:ext cx="502920" cy="432511"/>
          </a:xfrm>
          <a:prstGeom prst="hexagon">
            <a:avLst/>
          </a:prstGeom>
          <a:noFill/>
          <a:ln w="1524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092440" y="-91440"/>
            <a:ext cx="548640" cy="471830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37744"/>
            <a:ext cx="1033271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0896"/>
            <a:ext cx="768096" cy="253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3840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0B9F3"/>
                </a:solidFill>
                <a:latin typeface="Lato"/>
              </a:rPr>
              <a:t>CHECKPOINT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9784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50" b="1" i="0">
                <a:solidFill>
                  <a:srgbClr val="FFFFFF"/>
                </a:solidFill>
                <a:latin typeface="Inter Display"/>
              </a:rPr>
              <a:t>Desafio final de processamento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98755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CED8EA"/>
                </a:solidFill>
                <a:latin typeface="Lato"/>
              </a:rPr>
              <a:t>Usar uma janela recebida do Firebase para extrair um indicador do ECG e outro do PPG e comparar os resultados.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640080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64808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60" b="1" i="0">
                <a:solidFill>
                  <a:srgbClr val="F36B21"/>
                </a:solidFill>
                <a:latin typeface="Lato"/>
              </a:rPr>
              <a:t>Instrutor: retornar o gerador para MODO = "NORMAL" antes do desafio.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971800"/>
            <a:ext cx="3401568" cy="2148840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2971800"/>
            <a:ext cx="50292" cy="214884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099816"/>
            <a:ext cx="31272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 Display"/>
              </a:rPr>
              <a:t>Desafio A — ECG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65576"/>
            <a:ext cx="310896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0" i="0">
                <a:solidFill>
                  <a:srgbClr val="CED8EA"/>
                </a:solidFill>
                <a:latin typeface="Lato"/>
              </a:rPr>
              <a:t>Filtrar o ECG, detectar picos R, calcular FC e marcar os picos no gráfico.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2971800"/>
            <a:ext cx="3401568" cy="2148840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07408" y="2971800"/>
            <a:ext cx="50292" cy="214884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099816"/>
            <a:ext cx="31272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 Display"/>
              </a:rPr>
              <a:t>Desafio B — PPG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65576"/>
            <a:ext cx="310896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30" b="0" i="0">
                <a:solidFill>
                  <a:srgbClr val="CED8EA"/>
                </a:solidFill>
                <a:latin typeface="Lato"/>
              </a:rPr>
              <a:t>Filtrar ppg_ir, detectar pulsos, calcular frequência de pulso e comparar com a FC.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2971800"/>
            <a:ext cx="3401568" cy="2148840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73568" y="2971800"/>
            <a:ext cx="50292" cy="2148840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3099816"/>
            <a:ext cx="31272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 Display"/>
              </a:rPr>
              <a:t>Bônus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465576"/>
            <a:ext cx="310896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40" b="0" i="0">
                <a:solidFill>
                  <a:srgbClr val="CED8EA"/>
                </a:solidFill>
                <a:latin typeface="Lato"/>
              </a:rPr>
              <a:t>Comparar os dois canais PPG e discutir artefatos, qualidade de sinal e o atraso entre ECG e pulso sem interpretação diagnóstica. Se houver tempo, repetir com NOISE ou MOTION.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Fonte real alternativa: ESP32-S3 + sensores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5B6B86"/>
                </a:solidFill>
                <a:latin typeface="Lato"/>
              </a:rPr>
              <a:t>A troca da fonte não altera o contrato de dados usado pelos notebooks.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35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874519"/>
            <a:ext cx="2532888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984248"/>
            <a:ext cx="240487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80" b="1" i="0">
                <a:solidFill>
                  <a:srgbClr val="14213D"/>
                </a:solidFill>
                <a:latin typeface="Inter Display"/>
              </a:rPr>
              <a:t>ECG
eletrodos + AD8232/AFE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28416" y="2304287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29584" y="1874519"/>
            <a:ext cx="2532888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1" y="1984248"/>
            <a:ext cx="240487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80" b="1" i="0">
                <a:solidFill>
                  <a:srgbClr val="14213D"/>
                </a:solidFill>
                <a:latin typeface="Inter Display"/>
              </a:rPr>
              <a:t>ESP32-S3
aquisição + sample_index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59" y="2304287"/>
            <a:ext cx="182881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81927" y="1874519"/>
            <a:ext cx="2532888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1984248"/>
            <a:ext cx="240487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80" b="1" i="0">
                <a:solidFill>
                  <a:srgbClr val="14213D"/>
                </a:solidFill>
                <a:latin typeface="Inter Display"/>
              </a:rPr>
              <a:t>Publicador Python
USB/UART ou Wi-Fi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33103" y="2304287"/>
            <a:ext cx="182881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34272" y="1874519"/>
            <a:ext cx="2532888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984248"/>
            <a:ext cx="2404872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80" b="1" i="0">
                <a:solidFill>
                  <a:srgbClr val="14213D"/>
                </a:solidFill>
                <a:latin typeface="Inter Display"/>
              </a:rPr>
              <a:t>Firebase RTDB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063240"/>
            <a:ext cx="2286000" cy="768096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063240"/>
            <a:ext cx="50292" cy="768096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191256"/>
            <a:ext cx="20116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4213D"/>
                </a:solidFill>
                <a:latin typeface="Inter Display"/>
              </a:rPr>
              <a:t>PPG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557016"/>
            <a:ext cx="1993392" cy="1737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19" b="0" i="0">
                <a:solidFill>
                  <a:srgbClr val="5B6B86"/>
                </a:solidFill>
                <a:latin typeface="Lato"/>
              </a:rPr>
              <a:t>MAX30102 / sensor de oxímetro
vermelho + IR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090672" y="2304288"/>
            <a:ext cx="521208" cy="1133856"/>
          </a:xfrm>
          <a:prstGeom prst="line">
            <a:avLst/>
          </a:prstGeom>
          <a:ln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4261104"/>
            <a:ext cx="4983480" cy="109728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261104"/>
            <a:ext cx="50292" cy="109728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4389120"/>
            <a:ext cx="4709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Sensores previstos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754880"/>
            <a:ext cx="4690872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5B6B86"/>
                </a:solidFill>
                <a:latin typeface="Lato"/>
              </a:rPr>
              <a:t>ECG: eletrodos descartáveis Ag/AgCl com front-end AD8232 (ou AFE/ADC biomédico equivalente).
PPG: MAX30102, com LED vermelho, LED infravermelho e fotodetector.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1072" y="4261104"/>
            <a:ext cx="4983480" cy="109728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261104"/>
            <a:ext cx="50292" cy="109728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389120"/>
            <a:ext cx="4709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Alternativa transparente para o aluno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754880"/>
            <a:ext cx="4690872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 i="0">
                <a:solidFill>
                  <a:srgbClr val="5B6B86"/>
                </a:solidFill>
                <a:latin typeface="Lato"/>
              </a:rPr>
              <a:t>O sistema real pode substituir o gerador sintético durante o mesmo curso. Mantendo sample_start, fs, ECG e PPG, os notebooks de análise permanecem os mesmos.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-182880" y="960120"/>
            <a:ext cx="685800" cy="589788"/>
          </a:xfrm>
          <a:prstGeom prst="hexagon">
            <a:avLst/>
          </a:prstGeom>
          <a:noFill/>
          <a:ln w="1524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1475720" y="1600200"/>
            <a:ext cx="658368" cy="566196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744200" y="5257800"/>
            <a:ext cx="566928" cy="487558"/>
          </a:xfrm>
          <a:prstGeom prst="hexagon">
            <a:avLst/>
          </a:prstGeom>
          <a:noFill/>
          <a:ln w="1524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411480" y="5349240"/>
            <a:ext cx="502920" cy="432511"/>
          </a:xfrm>
          <a:prstGeom prst="hexagon">
            <a:avLst/>
          </a:prstGeom>
          <a:noFill/>
          <a:ln w="1524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092440" y="-91440"/>
            <a:ext cx="548640" cy="471830"/>
          </a:xfrm>
          <a:prstGeom prst="hexagon">
            <a:avLst/>
          </a:prstGeom>
          <a:noFill/>
          <a:ln w="1524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237744"/>
            <a:ext cx="1033271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0896"/>
            <a:ext cx="768096" cy="253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914400"/>
            <a:ext cx="3840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0B9F3"/>
                </a:solidFill>
                <a:latin typeface="Lato"/>
              </a:rPr>
              <a:t>FECHAMENTO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9784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50" b="1" i="0">
                <a:solidFill>
                  <a:srgbClr val="FFFFFF"/>
                </a:solidFill>
                <a:latin typeface="Inter Display"/>
              </a:rPr>
              <a:t>O pipeline 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98755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CED8EA"/>
                </a:solidFill>
                <a:latin typeface="Lato"/>
              </a:rPr>
              <a:t>Do fluxo publicado ao arquivo reproduzível.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640080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64808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834640"/>
            <a:ext cx="1569720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944368"/>
            <a:ext cx="1441704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20" b="1" i="0">
                <a:solidFill>
                  <a:srgbClr val="14213D"/>
                </a:solidFill>
                <a:latin typeface="Inter Display"/>
              </a:rPr>
              <a:t>Assinar
Firebase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56688" y="326440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57856" y="2834640"/>
            <a:ext cx="1569720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1864" y="2944368"/>
            <a:ext cx="1441704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20" b="1" i="0">
                <a:solidFill>
                  <a:srgbClr val="14213D"/>
                </a:solidFill>
                <a:latin typeface="Inter Display"/>
              </a:rPr>
              <a:t>Validar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45863" y="3264408"/>
            <a:ext cx="182881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47032" y="2834640"/>
            <a:ext cx="1569720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1040" y="2944368"/>
            <a:ext cx="1441704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20" b="1" i="0">
                <a:solidFill>
                  <a:srgbClr val="14213D"/>
                </a:solidFill>
                <a:latin typeface="Inter Display"/>
              </a:rPr>
              <a:t>Bufferizar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326440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36208" y="2834640"/>
            <a:ext cx="1569720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2944368"/>
            <a:ext cx="1441704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20" b="1" i="0">
                <a:solidFill>
                  <a:srgbClr val="14213D"/>
                </a:solidFill>
                <a:latin typeface="Inter Display"/>
              </a:rPr>
              <a:t>Processar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24216" y="326440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25384" y="2834640"/>
            <a:ext cx="1569720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10B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9392" y="2944368"/>
            <a:ext cx="1441704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20" b="1" i="0">
                <a:solidFill>
                  <a:srgbClr val="14213D"/>
                </a:solidFill>
                <a:latin typeface="Inter Display"/>
              </a:rPr>
              <a:t>Visualizar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13392" y="326440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14560" y="2834640"/>
            <a:ext cx="1569720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725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8568" y="2944368"/>
            <a:ext cx="1441704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20" b="1" i="0">
                <a:solidFill>
                  <a:srgbClr val="14213D"/>
                </a:solidFill>
                <a:latin typeface="Inter Display"/>
              </a:rPr>
              <a:t>Salvar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261104"/>
            <a:ext cx="3127248" cy="932688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" y="4261104"/>
            <a:ext cx="50292" cy="9326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4712" y="4389120"/>
            <a:ext cx="285292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 Display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" y="4754880"/>
            <a:ext cx="283464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30" b="0" i="0">
                <a:solidFill>
                  <a:srgbClr val="CED8EA"/>
                </a:solidFill>
                <a:latin typeface="Lato"/>
              </a:rPr>
              <a:t>Python conecta aquisição, nuvem e análise.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4261104"/>
            <a:ext cx="3127248" cy="932688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26280" y="4261104"/>
            <a:ext cx="50292" cy="9326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0872" y="4389120"/>
            <a:ext cx="285292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 Display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0872" y="4754880"/>
            <a:ext cx="283464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30" b="0" i="0">
                <a:solidFill>
                  <a:srgbClr val="CED8EA"/>
                </a:solidFill>
                <a:latin typeface="Lato"/>
              </a:rPr>
              <a:t>Dado biométrico exige qualidade, contexto e privacidade.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4261104"/>
            <a:ext cx="3127248" cy="932688"/>
          </a:xfrm>
          <a:prstGeom prst="roundRect">
            <a:avLst/>
          </a:prstGeom>
          <a:solidFill>
            <a:srgbClr val="10275C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92440" y="4261104"/>
            <a:ext cx="50292" cy="9326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57031" y="4389120"/>
            <a:ext cx="285292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 Display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1" y="4754880"/>
            <a:ext cx="283464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30" b="0" i="0">
                <a:solidFill>
                  <a:srgbClr val="CED8EA"/>
                </a:solidFill>
                <a:latin typeface="Lato"/>
              </a:rPr>
              <a:t>Protótipo educacional não é dispositivo médico.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5577840"/>
            <a:ext cx="585216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 Display"/>
              </a:rPr>
              <a:t>Obrigado! Perguntas + demonstrações rápidas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 · SLIDE DE RESERVA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R1 — Solução rápida de problemas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37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1536192"/>
            <a:ext cx="3063240" cy="438912"/>
          </a:xfrm>
          <a:prstGeom prst="rect">
            <a:avLst/>
          </a:prstGeom>
          <a:solidFill>
            <a:srgbClr val="071A4A"/>
          </a:solidFill>
          <a:ln>
            <a:solidFill>
              <a:srgbClr val="07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591056"/>
            <a:ext cx="284378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Lato"/>
              </a:rPr>
              <a:t>Sintoma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4487" y="1536192"/>
            <a:ext cx="7452360" cy="438912"/>
          </a:xfrm>
          <a:prstGeom prst="rect">
            <a:avLst/>
          </a:prstGeom>
          <a:solidFill>
            <a:srgbClr val="071A4A"/>
          </a:solidFill>
          <a:ln>
            <a:solidFill>
              <a:srgbClr val="07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5" y="1591056"/>
            <a:ext cx="723290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Lato"/>
              </a:rPr>
              <a:t>Verificar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1975104"/>
            <a:ext cx="3063240" cy="539496"/>
          </a:xfrm>
          <a:prstGeom prst="rect">
            <a:avLst/>
          </a:prstGeom>
          <a:solidFill>
            <a:srgbClr val="F8FAFD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039112"/>
            <a:ext cx="28620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Firebase retorna erro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04487" y="1975104"/>
            <a:ext cx="7452360" cy="539496"/>
          </a:xfrm>
          <a:prstGeom prst="rect">
            <a:avLst/>
          </a:prstGeom>
          <a:solidFill>
            <a:srgbClr val="F8FAFD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2039112"/>
            <a:ext cx="72511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URL, nó oficina/live, regras e conectividade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2514600"/>
            <a:ext cx="306324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2578608"/>
            <a:ext cx="28620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Cliente não recebe eventos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04487" y="2514600"/>
            <a:ext cx="745236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2578608"/>
            <a:ext cx="72511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publicador está executando? stream SSE abriu?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3054096"/>
            <a:ext cx="3063240" cy="539496"/>
          </a:xfrm>
          <a:prstGeom prst="rect">
            <a:avLst/>
          </a:prstGeom>
          <a:solidFill>
            <a:srgbClr val="F8FAFD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118103"/>
            <a:ext cx="28620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Cliente mostra dados antigos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04487" y="3054096"/>
            <a:ext cx="7452360" cy="539496"/>
          </a:xfrm>
          <a:prstGeom prst="rect">
            <a:avLst/>
          </a:prstGeom>
          <a:solidFill>
            <a:srgbClr val="F8FAFD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5072" y="3118103"/>
            <a:ext cx="72511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aguardar novo session_id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593591"/>
            <a:ext cx="306324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3657599"/>
            <a:ext cx="28620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Pacotes duplicados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04487" y="3593591"/>
            <a:ext cx="745236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5072" y="3657599"/>
            <a:ext cx="72511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reconexão/estado inicial; cliente deve ignorá-los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4133087"/>
            <a:ext cx="3063240" cy="539496"/>
          </a:xfrm>
          <a:prstGeom prst="rect">
            <a:avLst/>
          </a:prstGeom>
          <a:solidFill>
            <a:srgbClr val="F8FAFD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4197096"/>
            <a:ext cx="28620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Buraco no gráfico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04487" y="4133087"/>
            <a:ext cx="7452360" cy="539496"/>
          </a:xfrm>
          <a:prstGeom prst="rect">
            <a:avLst/>
          </a:prstGeom>
          <a:solidFill>
            <a:srgbClr val="F8FAFD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05072" y="4197096"/>
            <a:ext cx="72511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verificar seq/sample_start; pode ser perda real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" y="4672583"/>
            <a:ext cx="306324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4736592"/>
            <a:ext cx="28620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Gráfico lento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04487" y="4672583"/>
            <a:ext cx="745236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5072" y="4736592"/>
            <a:ext cx="72511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reduzir frequência de redesenho, não a taxa de aquisição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5212079"/>
            <a:ext cx="3063240" cy="539496"/>
          </a:xfrm>
          <a:prstGeom prst="rect">
            <a:avLst/>
          </a:prstGeom>
          <a:solidFill>
            <a:srgbClr val="F8FAFD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" y="5276088"/>
            <a:ext cx="28620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Colab parou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04487" y="5212079"/>
            <a:ext cx="7452360" cy="539496"/>
          </a:xfrm>
          <a:prstGeom prst="rect">
            <a:avLst/>
          </a:prstGeom>
          <a:solidFill>
            <a:srgbClr val="F8FAFD"/>
          </a:solidFill>
          <a:ln w="508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05072" y="5276088"/>
            <a:ext cx="72511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 i="0">
                <a:solidFill>
                  <a:srgbClr val="14213D"/>
                </a:solidFill>
                <a:latin typeface="Lato"/>
              </a:rPr>
              <a:t>Runtime, conexão e célula interrompida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 · SLIDE DE RESERVA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R2 — Publicador, Firebase e vários 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965960"/>
            <a:ext cx="1836115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E72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075688"/>
            <a:ext cx="1708099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4213D"/>
                </a:solidFill>
                <a:latin typeface="Inter Display"/>
              </a:rPr>
              <a:t>Publicador
fonte única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60243" y="239572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061411" y="1965960"/>
            <a:ext cx="1836115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3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5419" y="2075688"/>
            <a:ext cx="1708099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4213D"/>
                </a:solidFill>
                <a:latin typeface="Inter Display"/>
              </a:rPr>
              <a:t>Firebase
Realtime DB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15814" y="239572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16982" y="1965960"/>
            <a:ext cx="1836115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7B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0990" y="2075688"/>
            <a:ext cx="1708099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4213D"/>
                </a:solidFill>
                <a:latin typeface="Inter Display"/>
              </a:rPr>
              <a:t>Colab 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71385" y="239572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72553" y="1965960"/>
            <a:ext cx="1836115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7B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6561" y="2075688"/>
            <a:ext cx="1708099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4213D"/>
                </a:solidFill>
                <a:latin typeface="Inter Display"/>
              </a:rPr>
              <a:t>Colab 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26956" y="2395728"/>
            <a:ext cx="182880" cy="0"/>
          </a:xfrm>
          <a:prstGeom prst="line">
            <a:avLst/>
          </a:prstGeom>
          <a:ln w="16510">
            <a:solidFill>
              <a:srgbClr val="5B6B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28124" y="1965960"/>
            <a:ext cx="1836115" cy="868680"/>
          </a:xfrm>
          <a:prstGeom prst="roundRect">
            <a:avLst/>
          </a:prstGeom>
          <a:solidFill>
            <a:srgbClr val="F7FAFE"/>
          </a:solidFill>
          <a:ln w="17780">
            <a:solidFill>
              <a:srgbClr val="F7B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2132" y="2075688"/>
            <a:ext cx="1708099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4213D"/>
                </a:solidFill>
                <a:latin typeface="Inter Display"/>
              </a:rPr>
              <a:t>Colab 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4315968"/>
            <a:ext cx="9646920" cy="804672"/>
          </a:xfrm>
          <a:prstGeom prst="roundRect">
            <a:avLst/>
          </a:prstGeom>
          <a:solidFill>
            <a:srgbClr val="EEF4FB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0B9F3"/>
                </a:solidFill>
                <a:latin typeface="Lato"/>
              </a:rPr>
              <a:t>O Firebase desacopla a fonte de dados dos notebooks: </a:t>
            </a:r>
            <a:r>
              <a:rPr sz="1300" b="0" i="0">
                <a:solidFill>
                  <a:srgbClr val="14213D"/>
                </a:solidFill>
                <a:latin typeface="Lato"/>
              </a:rPr>
              <a:t>clientes podem entrar e sair sem interferir no publicador.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 · SLIDE DE RESERVA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R3 — Por que publicar em blocos?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874519"/>
            <a:ext cx="3246120" cy="182880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874519"/>
            <a:ext cx="50292" cy="182880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002536"/>
            <a:ext cx="2971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Aquisição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368296"/>
            <a:ext cx="2953512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B6B86"/>
                </a:solidFill>
                <a:latin typeface="Lato"/>
              </a:rPr>
              <a:t>250 Hz: 250 amostras de cada canal por segundo no curso.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874519"/>
            <a:ext cx="3246120" cy="1828800"/>
          </a:xfrm>
          <a:prstGeom prst="roundRect">
            <a:avLst/>
          </a:prstGeom>
          <a:solidFill>
            <a:srgbClr val="FFF8F2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1874519"/>
            <a:ext cx="50292" cy="1828800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002536"/>
            <a:ext cx="2971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Firebase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368296"/>
            <a:ext cx="2953512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B6B86"/>
                </a:solidFill>
                <a:latin typeface="Lato"/>
              </a:rPr>
              <a:t>50 amostras/pacote: cerca de 5 atualizações/s.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874519"/>
            <a:ext cx="3246120" cy="182880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874519"/>
            <a:ext cx="50292" cy="182880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2002536"/>
            <a:ext cx="2971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Colab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368296"/>
            <a:ext cx="2953512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B6B86"/>
                </a:solidFill>
                <a:latin typeface="Lato"/>
              </a:rPr>
              <a:t>O stream entrega os pacotes; a figura pode ser redesenhada mais lentamente.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" y="4389120"/>
            <a:ext cx="9189720" cy="694944"/>
          </a:xfrm>
          <a:prstGeom prst="roundRect">
            <a:avLst/>
          </a:prstGeom>
          <a:solidFill>
            <a:srgbClr val="F8FA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20" b="1" i="0">
                <a:solidFill>
                  <a:srgbClr val="14213D"/>
                </a:solidFill>
                <a:latin typeface="Lato"/>
              </a:rPr>
              <a:t>Agrupar reduz overhead sem usar o relógio da rede como relógio do sinal.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 · SLIDE DE RESERVA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R4 — Contingência: publicador sintético em Colab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627632"/>
            <a:ext cx="5532120" cy="1060704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627632"/>
            <a:ext cx="50292" cy="1060704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755648"/>
            <a:ext cx="5257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Publicador controlado pelo instrutor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121408"/>
            <a:ext cx="5239512" cy="46634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B6B86"/>
                </a:solidFill>
                <a:latin typeface="Lato"/>
              </a:rPr>
              <a:t>publicador_sintetico_firebase_colab.ipynb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304495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2971800"/>
            <a:ext cx="525780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40" b="0" i="0">
                <a:solidFill>
                  <a:srgbClr val="14213D"/>
                </a:solidFill>
                <a:latin typeface="Lato"/>
              </a:rPr>
              <a:t>mesma URL e nó oficina/live;</a:t>
            </a:r>
          </a:p>
        </p:txBody>
      </p:sp>
      <p:sp>
        <p:nvSpPr>
          <p:cNvPr id="17" name="Oval 16"/>
          <p:cNvSpPr/>
          <p:nvPr/>
        </p:nvSpPr>
        <p:spPr>
          <a:xfrm>
            <a:off x="987552" y="3483864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3410712"/>
            <a:ext cx="525780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40" b="0" i="0">
                <a:solidFill>
                  <a:srgbClr val="14213D"/>
                </a:solidFill>
                <a:latin typeface="Lato"/>
              </a:rPr>
              <a:t>modo NORMAL para o fluxo estável;</a:t>
            </a:r>
          </a:p>
        </p:txBody>
      </p:sp>
      <p:sp>
        <p:nvSpPr>
          <p:cNvPr id="19" name="Oval 18"/>
          <p:cNvSpPr/>
          <p:nvPr/>
        </p:nvSpPr>
        <p:spPr>
          <a:xfrm>
            <a:off x="987552" y="3922776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3849624"/>
            <a:ext cx="525780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40" b="0" i="0">
                <a:solidFill>
                  <a:srgbClr val="14213D"/>
                </a:solidFill>
                <a:latin typeface="Lato"/>
              </a:rPr>
              <a:t>modos de ruído/artefato para discussão;</a:t>
            </a:r>
          </a:p>
        </p:txBody>
      </p:sp>
      <p:sp>
        <p:nvSpPr>
          <p:cNvPr id="21" name="Oval 20"/>
          <p:cNvSpPr/>
          <p:nvPr/>
        </p:nvSpPr>
        <p:spPr>
          <a:xfrm>
            <a:off x="987552" y="4361688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1288" y="4288536"/>
            <a:ext cx="525780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40" b="0" i="0">
                <a:solidFill>
                  <a:srgbClr val="14213D"/>
                </a:solidFill>
                <a:latin typeface="Lato"/>
              </a:rPr>
              <a:t>source = SIM identifica a origem sintética.</a:t>
            </a:r>
          </a:p>
        </p:txBody>
      </p:sp>
      <p:pic>
        <p:nvPicPr>
          <p:cNvPr id="23" name="Picture 22" descr="colab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673352"/>
            <a:ext cx="3886200" cy="337292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 · SLIDE DE RESERVA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R5 — Segurança, privacidade e interoperabilidade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41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417320"/>
            <a:ext cx="5230368" cy="406908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417320"/>
            <a:ext cx="50292" cy="406908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45336"/>
            <a:ext cx="49560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Projeto didático: dados sintéticos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911095"/>
            <a:ext cx="4937759" cy="3474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40" b="0" i="0">
                <a:solidFill>
                  <a:srgbClr val="5B6B86"/>
                </a:solidFill>
                <a:latin typeface="Lato"/>
              </a:rPr>
              <a:t>Uma configuração simples é permitir leitura pública e bloquear toda escrita dos clientes: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377440"/>
            <a:ext cx="4800600" cy="1627632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CE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2478024"/>
            <a:ext cx="4507992" cy="1426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14213D"/>
                </a:solidFill>
                <a:latin typeface="DejaVu Sans Mono"/>
              </a:rPr>
              <a:t>{
 "rules": {
   ".read": true,
   ".write": false
 }
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79392"/>
            <a:ext cx="4736592" cy="7040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60" b="0" i="0">
                <a:solidFill>
                  <a:srgbClr val="5B6B86"/>
                </a:solidFill>
                <a:latin typeface="Lato"/>
              </a:rPr>
              <a:t>O publicador do instrutor usa ambiente confiável/Admin SDK; os alunos apenas leem.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417320"/>
            <a:ext cx="5230368" cy="406908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417320"/>
            <a:ext cx="50292" cy="406908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1545336"/>
            <a:ext cx="49560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Aplicação clínica real</a:t>
            </a:r>
          </a:p>
        </p:txBody>
      </p:sp>
      <p:sp>
        <p:nvSpPr>
          <p:cNvPr id="21" name="Oval 20"/>
          <p:cNvSpPr/>
          <p:nvPr/>
        </p:nvSpPr>
        <p:spPr>
          <a:xfrm>
            <a:off x="6409944" y="2020824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947672"/>
            <a:ext cx="4544568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dispositivo → gateway/backend autenticado → API segura;</a:t>
            </a:r>
          </a:p>
        </p:txBody>
      </p:sp>
      <p:sp>
        <p:nvSpPr>
          <p:cNvPr id="23" name="Oval 22"/>
          <p:cNvSpPr/>
          <p:nvPr/>
        </p:nvSpPr>
        <p:spPr>
          <a:xfrm>
            <a:off x="6409944" y="2551176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478024"/>
            <a:ext cx="4544568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transporte por HTTPS/TLS e autorização (p.ex. OAuth 2.0/SMART);</a:t>
            </a:r>
          </a:p>
        </p:txBody>
      </p:sp>
      <p:sp>
        <p:nvSpPr>
          <p:cNvPr id="25" name="Oval 24"/>
          <p:cNvSpPr/>
          <p:nvPr/>
        </p:nvSpPr>
        <p:spPr>
          <a:xfrm>
            <a:off x="6409944" y="3081528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008376"/>
            <a:ext cx="4544568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HL7 FHIR para recursos/dados clínicos e APIs;</a:t>
            </a:r>
          </a:p>
        </p:txBody>
      </p:sp>
      <p:sp>
        <p:nvSpPr>
          <p:cNvPr id="27" name="Oval 26"/>
          <p:cNvSpPr/>
          <p:nvPr/>
        </p:nvSpPr>
        <p:spPr>
          <a:xfrm>
            <a:off x="6409944" y="3611880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538728"/>
            <a:ext cx="4544568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ISO/IEEE 11073 quando aplicável à comunicação de dispositivos;</a:t>
            </a:r>
          </a:p>
        </p:txBody>
      </p:sp>
      <p:sp>
        <p:nvSpPr>
          <p:cNvPr id="29" name="Oval 28"/>
          <p:cNvSpPr/>
          <p:nvPr/>
        </p:nvSpPr>
        <p:spPr>
          <a:xfrm>
            <a:off x="6409944" y="4142232"/>
            <a:ext cx="100584" cy="100584"/>
          </a:xfrm>
          <a:prstGeom prst="ellipse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069080"/>
            <a:ext cx="4544568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70" b="0" i="0">
                <a:solidFill>
                  <a:srgbClr val="14213D"/>
                </a:solidFill>
                <a:latin typeface="Lato"/>
              </a:rPr>
              <a:t>ciclo de vida de cibersegurança: IEC 81001-5-1.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32704"/>
            <a:ext cx="10149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60" b="0" i="0">
                <a:solidFill>
                  <a:srgbClr val="5B6B86"/>
                </a:solidFill>
                <a:latin typeface="Lato"/>
              </a:rPr>
              <a:t>FHIR organiza/intercambia dados; não é, por si só, um protocolo de segurança. Dados de saúde identificáveis são dados pessoais sensíveis no contexto da LGPD.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 · SLIDE DE RESERVA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R6 — Artefatos e limitações dos sinais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42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1737360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1664208"/>
            <a:ext cx="10058400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14213D"/>
                </a:solidFill>
                <a:latin typeface="Lato"/>
              </a:rPr>
              <a:t>movimento, contato, iluminação, posicionamento e ruído elétrico podem alterar o sinal;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267712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2194560"/>
            <a:ext cx="10058400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14213D"/>
                </a:solidFill>
                <a:latin typeface="Lato"/>
              </a:rPr>
              <a:t>saturação e faixa dinâmica podem esconder informação;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2798064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2724912"/>
            <a:ext cx="10058400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14213D"/>
                </a:solidFill>
                <a:latin typeface="Lato"/>
              </a:rPr>
              <a:t>filtros mudam a forma de onda e precisam ser documentados;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3328416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255264"/>
            <a:ext cx="10058400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14213D"/>
                </a:solidFill>
                <a:latin typeface="Lato"/>
              </a:rPr>
              <a:t>atraso de rede/publicação é diferente do tempo de aquisição;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858768"/>
            <a:ext cx="100584" cy="100584"/>
          </a:xfrm>
          <a:prstGeom prst="ellipse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3785615"/>
            <a:ext cx="10058400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14213D"/>
                </a:solidFill>
                <a:latin typeface="Lato"/>
              </a:rPr>
              <a:t>um valor visualmente “bonito” não garante validade fisiológica.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4736592"/>
            <a:ext cx="9692640" cy="932688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34440" y="4736592"/>
            <a:ext cx="50292" cy="9326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99032" y="4864607"/>
            <a:ext cx="941831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4213D"/>
                </a:solidFill>
                <a:latin typeface="Inter Display"/>
              </a:rPr>
              <a:t>Neste curso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5230368"/>
            <a:ext cx="9400032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5B6B86"/>
                </a:solidFill>
                <a:latin typeface="Lato"/>
              </a:rPr>
              <a:t>Os sinais e indicadores são usados para aprender programação, instrumentação e fluxo de dados — não para diagnóstico.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"/>
            <a:ext cx="6217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20" b="0" i="0">
                <a:solidFill>
                  <a:srgbClr val="5B6B86"/>
                </a:solidFill>
                <a:latin typeface="Lato"/>
              </a:rPr>
              <a:t>RESIDÊNCIA EM TIC 53 · TRILHA PROGRAMAÇÃO · SLIDE DE RESERVA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"/>
            <a:ext cx="2240280" cy="18288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393192"/>
            <a:ext cx="1737360" cy="18288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09160" y="393192"/>
            <a:ext cx="2194560" cy="18288"/>
          </a:xfrm>
          <a:prstGeom prst="rect">
            <a:avLst/>
          </a:prstGeom>
          <a:solidFill>
            <a:srgbClr val="F3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393192"/>
            <a:ext cx="2240280" cy="18288"/>
          </a:xfrm>
          <a:prstGeom prst="rect">
            <a:avLst/>
          </a:prstGeom>
          <a:solidFill>
            <a:srgbClr val="CE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ce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18872"/>
            <a:ext cx="713232" cy="23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0936"/>
            <a:ext cx="106527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750" b="1" i="0">
                <a:solidFill>
                  <a:srgbClr val="14213D"/>
                </a:solidFill>
                <a:latin typeface="Inter Display"/>
              </a:rPr>
              <a:t>R7 — Próximos 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9672"/>
            <a:ext cx="5852160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/>
            <a:r>
              <a:rPr sz="700" b="0" i="0">
                <a:solidFill>
                  <a:srgbClr val="91A0B6"/>
                </a:solidFill>
                <a:latin typeface="Lato"/>
              </a:rPr>
              <a:t>Prof. Dr. Guillermo Alvarez Bestard · Projeto Ocean · Residência em TIC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292608" cy="146304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r"/>
            <a:r>
              <a:rPr sz="720" b="0" i="0">
                <a:solidFill>
                  <a:srgbClr val="91A0B6"/>
                </a:solidFill>
                <a:latin typeface="Lato"/>
              </a:rPr>
              <a:t>43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673352"/>
            <a:ext cx="5074920" cy="3108960"/>
          </a:xfrm>
          <a:prstGeom prst="roundRect">
            <a:avLst/>
          </a:prstGeom>
          <a:solidFill>
            <a:srgbClr val="EEF4FB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673352"/>
            <a:ext cx="50292" cy="3108960"/>
          </a:xfrm>
          <a:prstGeom prst="rect">
            <a:avLst/>
          </a:prstGeom>
          <a:solidFill>
            <a:srgbClr val="10B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1801368"/>
            <a:ext cx="4800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Programação e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167128"/>
            <a:ext cx="4782312" cy="2514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5B6B86"/>
                </a:solidFill>
                <a:latin typeface="Lato"/>
              </a:rPr>
              <a:t>Python e NumPy
Pandas
visualização
bancos de dados
APIs e dashboards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673352"/>
            <a:ext cx="5074920" cy="3108960"/>
          </a:xfrm>
          <a:prstGeom prst="roundRect">
            <a:avLst/>
          </a:prstGeom>
          <a:solidFill>
            <a:srgbClr val="FFF6FA"/>
          </a:solidFill>
          <a:ln w="889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673352"/>
            <a:ext cx="50292" cy="3108960"/>
          </a:xfrm>
          <a:prstGeom prst="rect">
            <a:avLst/>
          </a:prstGeom>
          <a:solidFill>
            <a:srgbClr val="E72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801368"/>
            <a:ext cx="4800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Inter Display"/>
              </a:rPr>
              <a:t>Saúde Digital e sistemas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167128"/>
            <a:ext cx="4782312" cy="2514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5B6B86"/>
                </a:solidFill>
                <a:latin typeface="Lato"/>
              </a:rPr>
              <a:t>sensores biomédicos
processamento de sinais
IoT
sistemas embarcados
IA na borda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5212080"/>
            <a:ext cx="9646920" cy="640080"/>
          </a:xfrm>
          <a:prstGeom prst="roundRect">
            <a:avLst/>
          </a:prstGeom>
          <a:solidFill>
            <a:srgbClr val="F8FAFD"/>
          </a:solidFill>
          <a:ln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50" b="1" i="0">
                <a:solidFill>
                  <a:srgbClr val="14213D"/>
                </a:solidFill>
                <a:latin typeface="Lato"/>
              </a:rPr>
              <a:t>O curso funciona como ponte entre Programação, IoT e Processamento de Sinais em Saúde Digital.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